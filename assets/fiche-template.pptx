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</a:t>
            </a:r>
            <a:r>
              <a:rPr sz="2000" b="1" spc="-30" dirty="0">
                <a:solidFill>
                  <a:srgbClr val="4388B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Action</a:t>
            </a:r>
            <a:r>
              <a:rPr sz="2000" b="1" spc="-30" dirty="0">
                <a:solidFill>
                  <a:srgbClr val="4388B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-</a:t>
            </a:r>
            <a:r>
              <a:rPr sz="2000" b="1" spc="-30" dirty="0">
                <a:solidFill>
                  <a:srgbClr val="4388B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Atelier</a:t>
            </a:r>
            <a:r>
              <a:rPr sz="2000" b="1" spc="-25" dirty="0">
                <a:solidFill>
                  <a:srgbClr val="4388B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388BC"/>
                </a:solidFill>
                <a:latin typeface="Arial"/>
                <a:cs typeface="Arial"/>
              </a:rPr>
              <a:t>Doctolib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1h30</a:t>
            </a:r>
            <a:r>
              <a:rPr sz="1050" spc="-25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(+</a:t>
            </a:r>
            <a:r>
              <a:rPr sz="1050" spc="-25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options)</a:t>
            </a:r>
            <a:r>
              <a:rPr sz="1050" spc="240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|</a:t>
            </a:r>
            <a:r>
              <a:rPr sz="1050" spc="240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Guide</a:t>
            </a:r>
            <a:r>
              <a:rPr sz="1050" spc="-25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d'animation</a:t>
            </a:r>
            <a:r>
              <a:rPr sz="1050" spc="-25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pour</a:t>
            </a:r>
            <a:r>
              <a:rPr sz="1050" spc="-25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les</a:t>
            </a:r>
            <a:r>
              <a:rPr sz="1050" spc="-25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Conseillers</a:t>
            </a:r>
            <a:r>
              <a:rPr sz="1050" spc="-25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Numeriques</a:t>
            </a:r>
            <a:r>
              <a:rPr sz="1050" spc="-20" dirty="0">
                <a:solidFill>
                  <a:srgbClr val="6E6E6D"/>
                </a:solidFill>
                <a:latin typeface="Arial"/>
                <a:cs typeface="Arial"/>
              </a:rPr>
              <a:t>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Decouvrir l'interface </a:t>
            </a:r>
            <a:r>
              <a:rPr sz="1000" spc="-10" dirty="0">
                <a:solidFill>
                  <a:srgbClr val="2B2B2B"/>
                </a:solidFill>
                <a:latin typeface="Arial"/>
                <a:cs typeface="Arial"/>
              </a:rPr>
              <a:t>Doctolib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Creer son compte pas a</a:t>
            </a:r>
            <a:r>
              <a:rPr sz="1000" spc="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B2B2B"/>
                </a:solidFill>
                <a:latin typeface="Arial"/>
                <a:cs typeface="Arial"/>
              </a:rPr>
              <a:t>pas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Prendre un RDV en </a:t>
            </a:r>
            <a:r>
              <a:rPr sz="1000" spc="-10" dirty="0">
                <a:solidFill>
                  <a:srgbClr val="2B2B2B"/>
                </a:solidFill>
                <a:latin typeface="Arial"/>
                <a:cs typeface="Arial"/>
              </a:rPr>
              <a:t>autonomie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Renforcer la confiance </a:t>
            </a:r>
            <a:r>
              <a:rPr sz="1000" spc="-10" dirty="0">
                <a:solidFill>
                  <a:srgbClr val="2B2B2B"/>
                </a:solidFill>
                <a:latin typeface="Arial"/>
                <a:cs typeface="Arial"/>
              </a:rPr>
              <a:t>numerique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</a:t>
            </a:r>
            <a:r>
              <a:rPr sz="1000" spc="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ou tablette</a:t>
            </a:r>
            <a:r>
              <a:rPr sz="1000" spc="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par</a:t>
            </a:r>
            <a:r>
              <a:rPr sz="1000" spc="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B2B2B"/>
                </a:solidFill>
                <a:latin typeface="Arial"/>
                <a:cs typeface="Arial"/>
              </a:rPr>
              <a:t>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</a:t>
            </a:r>
            <a:r>
              <a:rPr sz="1000" spc="1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B2B2B"/>
                </a:solidFill>
                <a:latin typeface="Arial"/>
                <a:cs typeface="Arial"/>
              </a:rPr>
              <a:t>Wi-</a:t>
            </a:r>
            <a:r>
              <a:rPr sz="1000" spc="-25" dirty="0">
                <a:solidFill>
                  <a:srgbClr val="2B2B2B"/>
                </a:solidFill>
                <a:latin typeface="Arial"/>
                <a:cs typeface="Arial"/>
              </a:rPr>
              <a:t>Fi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ecran / </a:t>
            </a:r>
            <a:r>
              <a:rPr sz="1000" spc="-10" dirty="0">
                <a:solidFill>
                  <a:srgbClr val="2B2B2B"/>
                </a:solidFill>
                <a:latin typeface="Arial"/>
                <a:cs typeface="Arial"/>
              </a:rPr>
              <a:t>videoprojecteur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memo (1 par </a:t>
            </a:r>
            <a:r>
              <a:rPr sz="1000" spc="-10" dirty="0">
                <a:solidFill>
                  <a:srgbClr val="2B2B2B"/>
                </a:solidFill>
                <a:latin typeface="Arial"/>
                <a:cs typeface="Arial"/>
              </a:rPr>
              <a:t>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10</a:t>
            </a:r>
            <a:r>
              <a:rPr sz="850" b="1" spc="-10" dirty="0">
                <a:solidFill>
                  <a:srgbClr val="5EB3D2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5EB3D2"/>
                </a:solidFill>
                <a:latin typeface="Arial"/>
                <a:cs typeface="Arial"/>
              </a:rPr>
              <a:t>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Accueil</a:t>
            </a:r>
            <a:r>
              <a:rPr sz="1050" b="1" spc="-2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et</a:t>
            </a:r>
            <a:r>
              <a:rPr sz="1050" b="1" spc="-2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introduction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Accueil, presentation de la seance et des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objectifs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Tour de table : qui a deja entendu parler de Doctolib </a:t>
            </a:r>
            <a:r>
              <a:rPr sz="900" spc="-50" dirty="0">
                <a:solidFill>
                  <a:srgbClr val="2B2B2B"/>
                </a:solidFill>
                <a:latin typeface="Arial"/>
                <a:cs typeface="Arial"/>
              </a:rPr>
              <a:t>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Rassurer : Aucun vrai RDV ne sera pris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aujourd'hui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15</a:t>
            </a:r>
            <a:r>
              <a:rPr sz="850" b="1" spc="-10" dirty="0">
                <a:solidFill>
                  <a:srgbClr val="4388BC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4388BC"/>
                </a:solidFill>
                <a:latin typeface="Arial"/>
                <a:cs typeface="Arial"/>
              </a:rPr>
              <a:t>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Presentation</a:t>
            </a:r>
            <a:r>
              <a:rPr sz="1050" b="1" spc="-3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de</a:t>
            </a:r>
            <a:r>
              <a:rPr sz="1050" b="1" spc="-3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Doctolib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Montrer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page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d'accueil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doctolib.fr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sur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grand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ecran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Expliquer : gratuit, securise, 24h/24, rappel </a:t>
            </a:r>
            <a:r>
              <a:rPr sz="900" spc="-25" dirty="0">
                <a:solidFill>
                  <a:srgbClr val="2B2B2B"/>
                </a:solidFill>
                <a:latin typeface="Arial"/>
                <a:cs typeface="Arial"/>
              </a:rPr>
              <a:t>SMS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Repondre aux premieres questions et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apprehensions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0:25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20</a:t>
            </a:r>
            <a:r>
              <a:rPr sz="850" b="1" spc="-10" dirty="0">
                <a:solidFill>
                  <a:srgbClr val="187C88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187C88"/>
                </a:solidFill>
                <a:latin typeface="Arial"/>
                <a:cs typeface="Arial"/>
              </a:rPr>
              <a:t>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Demonstration</a:t>
            </a:r>
            <a:r>
              <a:rPr sz="1050" b="1" spc="5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animateur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Creer un compte en direct, etape par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etape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Rechercher un medecin generaliste + code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postal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Montrer le calendrier des creneaux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disponibles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0:45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25</a:t>
            </a:r>
            <a:r>
              <a:rPr sz="850" b="1" spc="-10" dirty="0">
                <a:solidFill>
                  <a:srgbClr val="4388BC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4388BC"/>
                </a:solidFill>
                <a:latin typeface="Arial"/>
                <a:cs typeface="Arial"/>
              </a:rPr>
              <a:t>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Pratique 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guidee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Chaque participant cree son propre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compte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Recherche guidee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d'un medecin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sur son appareil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personnel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L'animateur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circule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pour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aider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 individuellement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1:10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10</a:t>
            </a:r>
            <a:r>
              <a:rPr sz="850" b="1" spc="-10" dirty="0">
                <a:solidFill>
                  <a:srgbClr val="187C88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187C88"/>
                </a:solidFill>
                <a:latin typeface="Arial"/>
                <a:cs typeface="Arial"/>
              </a:rPr>
              <a:t>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Mise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en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situation</a:t>
            </a:r>
            <a:r>
              <a:rPr sz="1050" b="1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complete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Simulation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: de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 recherche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jusqu'a la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confirmation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de </a:t>
            </a:r>
            <a:r>
              <a:rPr sz="900" spc="-25" dirty="0">
                <a:solidFill>
                  <a:srgbClr val="2B2B2B"/>
                </a:solidFill>
                <a:latin typeface="Arial"/>
                <a:cs typeface="Arial"/>
              </a:rPr>
              <a:t>RDV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Montrer comment annuler ou reporter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rapidement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1:20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10</a:t>
            </a:r>
            <a:r>
              <a:rPr sz="850" b="1" spc="-10" dirty="0">
                <a:solidFill>
                  <a:srgbClr val="5EB3D2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5EB3D2"/>
                </a:solidFill>
                <a:latin typeface="Arial"/>
                <a:cs typeface="Arial"/>
              </a:rPr>
              <a:t>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Cloture</a:t>
            </a:r>
            <a:r>
              <a:rPr sz="1050" b="1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et</a:t>
            </a:r>
            <a:r>
              <a:rPr sz="1050" b="1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questions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Recapitulatif des 6 themes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abordes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Distribution de la fiche memo a chaque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participant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Questions libres - rappel des contacts Conseillers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Numeriques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: certains auront besoin de plus de temps pour la creation de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compte.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Prevoir</a:t>
            </a:r>
            <a:r>
              <a:rPr sz="900" spc="7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un</a:t>
            </a:r>
            <a:r>
              <a:rPr sz="900" spc="7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compte</a:t>
            </a:r>
            <a:r>
              <a:rPr sz="900" spc="7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de</a:t>
            </a:r>
            <a:r>
              <a:rPr sz="900" spc="7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demonstration</a:t>
            </a:r>
            <a:r>
              <a:rPr sz="900" spc="7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spc="-200" dirty="0">
                <a:solidFill>
                  <a:srgbClr val="2B2B2B"/>
                </a:solidFill>
                <a:latin typeface="Arial"/>
                <a:cs typeface="Arial"/>
              </a:rPr>
              <a:t>p</a:t>
            </a:r>
            <a:r>
              <a:rPr sz="1200" i="1" spc="-300" baseline="13888" dirty="0">
                <a:solidFill>
                  <a:srgbClr val="6E6E6D"/>
                </a:solidFill>
                <a:latin typeface="Arial"/>
                <a:cs typeface="Arial"/>
              </a:rPr>
              <a:t>v</a:t>
            </a:r>
            <a:r>
              <a:rPr sz="900" spc="-200" dirty="0">
                <a:solidFill>
                  <a:srgbClr val="2B2B2B"/>
                </a:solidFill>
                <a:latin typeface="Arial"/>
                <a:cs typeface="Arial"/>
              </a:rPr>
              <a:t>o</a:t>
            </a:r>
            <a:r>
              <a:rPr sz="1200" i="1" spc="-300" baseline="13888" dirty="0">
                <a:solidFill>
                  <a:srgbClr val="6E6E6D"/>
                </a:solidFill>
                <a:latin typeface="Arial"/>
                <a:cs typeface="Arial"/>
              </a:rPr>
              <a:t>1</a:t>
            </a:r>
            <a:r>
              <a:rPr sz="900" spc="-200" dirty="0">
                <a:solidFill>
                  <a:srgbClr val="2B2B2B"/>
                </a:solidFill>
                <a:latin typeface="Arial"/>
                <a:cs typeface="Arial"/>
              </a:rPr>
              <a:t>u</a:t>
            </a:r>
            <a:r>
              <a:rPr sz="1200" i="1" spc="-300" baseline="13888" dirty="0">
                <a:solidFill>
                  <a:srgbClr val="6E6E6D"/>
                </a:solidFill>
                <a:latin typeface="Arial"/>
                <a:cs typeface="Arial"/>
              </a:rPr>
              <a:t>.1</a:t>
            </a:r>
            <a:r>
              <a:rPr sz="900" spc="-200" dirty="0">
                <a:solidFill>
                  <a:srgbClr val="2B2B2B"/>
                </a:solidFill>
                <a:latin typeface="Arial"/>
                <a:cs typeface="Arial"/>
              </a:rPr>
              <a:t>r</a:t>
            </a:r>
            <a:r>
              <a:rPr sz="900" spc="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200" i="1" spc="-615" baseline="13888" dirty="0">
                <a:solidFill>
                  <a:srgbClr val="6E6E6D"/>
                </a:solidFill>
                <a:latin typeface="Arial"/>
                <a:cs typeface="Arial"/>
              </a:rPr>
              <a:t>–</a:t>
            </a:r>
            <a:r>
              <a:rPr sz="900" spc="-185" dirty="0">
                <a:solidFill>
                  <a:srgbClr val="2B2B2B"/>
                </a:solidFill>
                <a:latin typeface="Arial"/>
                <a:cs typeface="Arial"/>
              </a:rPr>
              <a:t>ne</a:t>
            </a:r>
            <a:r>
              <a:rPr sz="1200" i="1" spc="-277" baseline="13888" dirty="0">
                <a:solidFill>
                  <a:srgbClr val="6E6E6D"/>
                </a:solidFill>
                <a:latin typeface="Arial"/>
                <a:cs typeface="Arial"/>
              </a:rPr>
              <a:t>20</a:t>
            </a:r>
            <a:r>
              <a:rPr sz="900" spc="-185" dirty="0">
                <a:solidFill>
                  <a:srgbClr val="2B2B2B"/>
                </a:solidFill>
                <a:latin typeface="Arial"/>
                <a:cs typeface="Arial"/>
              </a:rPr>
              <a:t>p</a:t>
            </a:r>
            <a:r>
              <a:rPr sz="1200" i="1" spc="-277" baseline="13888" dirty="0">
                <a:solidFill>
                  <a:srgbClr val="6E6E6D"/>
                </a:solidFill>
                <a:latin typeface="Arial"/>
                <a:cs typeface="Arial"/>
              </a:rPr>
              <a:t>2</a:t>
            </a:r>
            <a:r>
              <a:rPr sz="900" spc="-185" dirty="0">
                <a:solidFill>
                  <a:srgbClr val="2B2B2B"/>
                </a:solidFill>
                <a:latin typeface="Arial"/>
                <a:cs typeface="Arial"/>
              </a:rPr>
              <a:t>a</a:t>
            </a:r>
            <a:r>
              <a:rPr sz="1200" i="1" spc="-277" baseline="13888" dirty="0">
                <a:solidFill>
                  <a:srgbClr val="6E6E6D"/>
                </a:solidFill>
                <a:latin typeface="Arial"/>
                <a:cs typeface="Arial"/>
              </a:rPr>
              <a:t>5</a:t>
            </a:r>
            <a:r>
              <a:rPr sz="900" spc="-185" dirty="0">
                <a:solidFill>
                  <a:srgbClr val="2B2B2B"/>
                </a:solidFill>
                <a:latin typeface="Arial"/>
                <a:cs typeface="Arial"/>
              </a:rPr>
              <a:t>s</a:t>
            </a:r>
            <a:r>
              <a:rPr sz="1200" i="1" spc="-277" baseline="13888" dirty="0">
                <a:solidFill>
                  <a:srgbClr val="6E6E6D"/>
                </a:solidFill>
                <a:latin typeface="Arial"/>
                <a:cs typeface="Arial"/>
              </a:rPr>
              <a:t>–</a:t>
            </a:r>
            <a:r>
              <a:rPr sz="900" spc="-175" dirty="0">
                <a:solidFill>
                  <a:srgbClr val="2B2B2B"/>
                </a:solidFill>
                <a:latin typeface="Arial"/>
                <a:cs typeface="Arial"/>
              </a:rPr>
              <a:t>e</a:t>
            </a:r>
            <a:r>
              <a:rPr sz="1200" i="1" spc="-644" baseline="13888" dirty="0">
                <a:solidFill>
                  <a:srgbClr val="6E6E6D"/>
                </a:solidFill>
                <a:latin typeface="Arial"/>
                <a:cs typeface="Arial"/>
              </a:rPr>
              <a:t>C</a:t>
            </a:r>
            <a:r>
              <a:rPr sz="900" spc="-45" dirty="0">
                <a:solidFill>
                  <a:srgbClr val="2B2B2B"/>
                </a:solidFill>
                <a:latin typeface="Arial"/>
                <a:cs typeface="Arial"/>
              </a:rPr>
              <a:t>x</a:t>
            </a:r>
            <a:r>
              <a:rPr sz="1200" i="1" spc="-832" baseline="13888" dirty="0">
                <a:solidFill>
                  <a:srgbClr val="6E6E6D"/>
                </a:solidFill>
                <a:latin typeface="Arial"/>
                <a:cs typeface="Arial"/>
              </a:rPr>
              <a:t>D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p</a:t>
            </a:r>
            <a:r>
              <a:rPr sz="900" spc="-470" dirty="0">
                <a:solidFill>
                  <a:srgbClr val="2B2B2B"/>
                </a:solidFill>
                <a:latin typeface="Arial"/>
                <a:cs typeface="Arial"/>
              </a:rPr>
              <a:t>o</a:t>
            </a:r>
            <a:r>
              <a:rPr sz="1200" i="1" spc="-15" baseline="13888" dirty="0">
                <a:solidFill>
                  <a:srgbClr val="6E6E6D"/>
                </a:solidFill>
                <a:latin typeface="Arial"/>
                <a:cs typeface="Arial"/>
              </a:rPr>
              <a:t>4</a:t>
            </a:r>
            <a:r>
              <a:rPr sz="1200" i="1" spc="-682" baseline="13888" dirty="0">
                <a:solidFill>
                  <a:srgbClr val="6E6E6D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s</a:t>
            </a:r>
            <a:r>
              <a:rPr sz="900" spc="-310" dirty="0">
                <a:solidFill>
                  <a:srgbClr val="2B2B2B"/>
                </a:solidFill>
                <a:latin typeface="Arial"/>
                <a:cs typeface="Arial"/>
              </a:rPr>
              <a:t>e</a:t>
            </a:r>
            <a:r>
              <a:rPr sz="1200" i="1" spc="-382" baseline="13888" dirty="0">
                <a:solidFill>
                  <a:srgbClr val="6E6E6D"/>
                </a:solidFill>
                <a:latin typeface="Arial"/>
                <a:cs typeface="Arial"/>
              </a:rPr>
              <a:t>S</a:t>
            </a:r>
            <a:r>
              <a:rPr sz="900" spc="-80" dirty="0">
                <a:solidFill>
                  <a:srgbClr val="2B2B2B"/>
                </a:solidFill>
                <a:latin typeface="Arial"/>
                <a:cs typeface="Arial"/>
              </a:rPr>
              <a:t>r</a:t>
            </a:r>
            <a:r>
              <a:rPr sz="1200" i="1" spc="-225" baseline="13888" dirty="0">
                <a:solidFill>
                  <a:srgbClr val="6E6E6D"/>
                </a:solidFill>
                <a:latin typeface="Arial"/>
                <a:cs typeface="Arial"/>
              </a:rPr>
              <a:t>e</a:t>
            </a:r>
            <a:r>
              <a:rPr sz="900" spc="-330" dirty="0">
                <a:solidFill>
                  <a:srgbClr val="2B2B2B"/>
                </a:solidFill>
                <a:latin typeface="Arial"/>
                <a:cs typeface="Arial"/>
              </a:rPr>
              <a:t>v</a:t>
            </a:r>
            <a:r>
              <a:rPr sz="1200" i="1" spc="-15" baseline="13888" dirty="0">
                <a:solidFill>
                  <a:srgbClr val="6E6E6D"/>
                </a:solidFill>
                <a:latin typeface="Arial"/>
                <a:cs typeface="Arial"/>
              </a:rPr>
              <a:t>r</a:t>
            </a:r>
            <a:r>
              <a:rPr sz="1200" i="1" spc="-540" baseline="13888" dirty="0">
                <a:solidFill>
                  <a:srgbClr val="6E6E6D"/>
                </a:solidFill>
                <a:latin typeface="Arial"/>
                <a:cs typeface="Arial"/>
              </a:rPr>
              <a:t>v</a:t>
            </a:r>
            <a:r>
              <a:rPr sz="900" spc="-165" dirty="0">
                <a:solidFill>
                  <a:srgbClr val="2B2B2B"/>
                </a:solidFill>
                <a:latin typeface="Arial"/>
                <a:cs typeface="Arial"/>
              </a:rPr>
              <a:t>o</a:t>
            </a:r>
            <a:r>
              <a:rPr sz="1200" i="1" spc="-60" baseline="13888" dirty="0">
                <a:solidFill>
                  <a:srgbClr val="6E6E6D"/>
                </a:solidFill>
                <a:latin typeface="Arial"/>
                <a:cs typeface="Arial"/>
              </a:rPr>
              <a:t>i</a:t>
            </a:r>
            <a:r>
              <a:rPr sz="900" spc="-434" dirty="0">
                <a:solidFill>
                  <a:srgbClr val="2B2B2B"/>
                </a:solidFill>
                <a:latin typeface="Arial"/>
                <a:cs typeface="Arial"/>
              </a:rPr>
              <a:t>s</a:t>
            </a:r>
            <a:r>
              <a:rPr sz="1200" i="1" spc="-15" baseline="13888" dirty="0">
                <a:solidFill>
                  <a:srgbClr val="6E6E6D"/>
                </a:solidFill>
                <a:latin typeface="Arial"/>
                <a:cs typeface="Arial"/>
              </a:rPr>
              <a:t>c</a:t>
            </a:r>
            <a:r>
              <a:rPr sz="1200" i="1" spc="-284" baseline="13888" dirty="0">
                <a:solidFill>
                  <a:srgbClr val="6E6E6D"/>
                </a:solidFill>
                <a:latin typeface="Arial"/>
                <a:cs typeface="Arial"/>
              </a:rPr>
              <a:t>e</a:t>
            </a:r>
            <a:r>
              <a:rPr sz="900" spc="-120" dirty="0">
                <a:solidFill>
                  <a:srgbClr val="2B2B2B"/>
                </a:solidFill>
                <a:latin typeface="Arial"/>
                <a:cs typeface="Arial"/>
              </a:rPr>
              <a:t>d</a:t>
            </a:r>
            <a:r>
              <a:rPr sz="1200" i="1" spc="-195" baseline="13888" dirty="0">
                <a:solidFill>
                  <a:srgbClr val="6E6E6D"/>
                </a:solidFill>
                <a:latin typeface="Arial"/>
                <a:cs typeface="Arial"/>
              </a:rPr>
              <a:t>I</a:t>
            </a:r>
            <a:r>
              <a:rPr sz="900" spc="-400" dirty="0">
                <a:solidFill>
                  <a:srgbClr val="2B2B2B"/>
                </a:solidFill>
                <a:latin typeface="Arial"/>
                <a:cs typeface="Arial"/>
              </a:rPr>
              <a:t>o</a:t>
            </a:r>
            <a:r>
              <a:rPr sz="1200" i="1" spc="-112" baseline="13888" dirty="0">
                <a:solidFill>
                  <a:srgbClr val="6E6E6D"/>
                </a:solidFill>
                <a:latin typeface="Arial"/>
                <a:cs typeface="Arial"/>
              </a:rPr>
              <a:t>n</a:t>
            </a:r>
            <a:r>
              <a:rPr sz="900" spc="-455" dirty="0">
                <a:solidFill>
                  <a:srgbClr val="2B2B2B"/>
                </a:solidFill>
                <a:latin typeface="Arial"/>
                <a:cs typeface="Arial"/>
              </a:rPr>
              <a:t>n</a:t>
            </a:r>
            <a:r>
              <a:rPr sz="1200" i="1" spc="-15" baseline="13888" dirty="0">
                <a:solidFill>
                  <a:srgbClr val="6E6E6D"/>
                </a:solidFill>
                <a:latin typeface="Arial"/>
                <a:cs typeface="Arial"/>
              </a:rPr>
              <a:t>c</a:t>
            </a:r>
            <a:r>
              <a:rPr sz="1200" i="1" spc="-225" baseline="13888" dirty="0">
                <a:solidFill>
                  <a:srgbClr val="6E6E6D"/>
                </a:solidFill>
                <a:latin typeface="Arial"/>
                <a:cs typeface="Arial"/>
              </a:rPr>
              <a:t>l</a:t>
            </a:r>
            <a:r>
              <a:rPr sz="900" spc="-375" dirty="0">
                <a:solidFill>
                  <a:srgbClr val="2B2B2B"/>
                </a:solidFill>
                <a:latin typeface="Arial"/>
                <a:cs typeface="Arial"/>
              </a:rPr>
              <a:t>n</a:t>
            </a:r>
            <a:r>
              <a:rPr sz="1200" i="1" spc="-150" baseline="13888" dirty="0">
                <a:solidFill>
                  <a:srgbClr val="6E6E6D"/>
                </a:solidFill>
                <a:latin typeface="Arial"/>
                <a:cs typeface="Arial"/>
              </a:rPr>
              <a:t>u</a:t>
            </a:r>
            <a:r>
              <a:rPr sz="900" spc="-430" dirty="0">
                <a:solidFill>
                  <a:srgbClr val="2B2B2B"/>
                </a:solidFill>
                <a:latin typeface="Arial"/>
                <a:cs typeface="Arial"/>
              </a:rPr>
              <a:t>e</a:t>
            </a:r>
            <a:r>
              <a:rPr sz="1200" i="1" spc="-15" baseline="13888" dirty="0">
                <a:solidFill>
                  <a:srgbClr val="6E6E6D"/>
                </a:solidFill>
                <a:latin typeface="Arial"/>
                <a:cs typeface="Arial"/>
              </a:rPr>
              <a:t>s</a:t>
            </a:r>
            <a:r>
              <a:rPr sz="1200" i="1" spc="-254" baseline="13888" dirty="0">
                <a:solidFill>
                  <a:srgbClr val="6E6E6D"/>
                </a:solidFill>
                <a:latin typeface="Arial"/>
                <a:cs typeface="Arial"/>
              </a:rPr>
              <a:t>i</a:t>
            </a:r>
            <a:r>
              <a:rPr sz="900" spc="-355" dirty="0">
                <a:solidFill>
                  <a:srgbClr val="2B2B2B"/>
                </a:solidFill>
                <a:latin typeface="Arial"/>
                <a:cs typeface="Arial"/>
              </a:rPr>
              <a:t>e</a:t>
            </a:r>
            <a:r>
              <a:rPr sz="1200" i="1" spc="-179" baseline="13888" dirty="0">
                <a:solidFill>
                  <a:srgbClr val="6E6E6D"/>
                </a:solidFill>
                <a:latin typeface="Arial"/>
                <a:cs typeface="Arial"/>
              </a:rPr>
              <a:t>o</a:t>
            </a:r>
            <a:r>
              <a:rPr sz="900" spc="-360" dirty="0">
                <a:solidFill>
                  <a:srgbClr val="2B2B2B"/>
                </a:solidFill>
                <a:latin typeface="Arial"/>
                <a:cs typeface="Arial"/>
              </a:rPr>
              <a:t>s</a:t>
            </a:r>
            <a:r>
              <a:rPr sz="1200" i="1" spc="-15" baseline="13888" dirty="0">
                <a:solidFill>
                  <a:srgbClr val="6E6E6D"/>
                </a:solidFill>
                <a:latin typeface="Arial"/>
                <a:cs typeface="Arial"/>
              </a:rPr>
              <a:t>n</a:t>
            </a:r>
            <a:r>
              <a:rPr sz="1200" i="1" spc="-37" baseline="13888" dirty="0">
                <a:solidFill>
                  <a:srgbClr val="6E6E6D"/>
                </a:solidFill>
                <a:latin typeface="Arial"/>
                <a:cs typeface="Arial"/>
              </a:rPr>
              <a:t> 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p</a:t>
            </a:r>
            <a:r>
              <a:rPr sz="1200" i="1" spc="-209" baseline="13888" dirty="0">
                <a:solidFill>
                  <a:srgbClr val="6E6E6D"/>
                </a:solidFill>
                <a:latin typeface="Arial"/>
                <a:cs typeface="Arial"/>
              </a:rPr>
              <a:t>N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e</a:t>
            </a:r>
            <a:r>
              <a:rPr sz="1200" i="1" spc="-209" baseline="13888" dirty="0">
                <a:solidFill>
                  <a:srgbClr val="6E6E6D"/>
                </a:solidFill>
                <a:latin typeface="Arial"/>
                <a:cs typeface="Arial"/>
              </a:rPr>
              <a:t>u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r</a:t>
            </a:r>
            <a:r>
              <a:rPr sz="1200" i="1" spc="-209" baseline="13888" dirty="0">
                <a:solidFill>
                  <a:srgbClr val="6E6E6D"/>
                </a:solidFill>
                <a:latin typeface="Arial"/>
                <a:cs typeface="Arial"/>
              </a:rPr>
              <a:t>m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so</a:t>
            </a:r>
            <a:r>
              <a:rPr sz="1200" i="1" spc="-209" baseline="13888" dirty="0">
                <a:solidFill>
                  <a:srgbClr val="6E6E6D"/>
                </a:solidFill>
                <a:latin typeface="Arial"/>
                <a:cs typeface="Arial"/>
              </a:rPr>
              <a:t>ér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n</a:t>
            </a:r>
            <a:r>
              <a:rPr sz="1200" i="1" spc="-209" baseline="13888" dirty="0">
                <a:solidFill>
                  <a:srgbClr val="6E6E6D"/>
                </a:solidFill>
                <a:latin typeface="Arial"/>
                <a:cs typeface="Arial"/>
              </a:rPr>
              <a:t>iq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n</a:t>
            </a:r>
            <a:r>
              <a:rPr sz="1200" i="1" spc="-209" baseline="13888" dirty="0">
                <a:solidFill>
                  <a:srgbClr val="6E6E6D"/>
                </a:solidFill>
                <a:latin typeface="Arial"/>
                <a:cs typeface="Arial"/>
              </a:rPr>
              <a:t>u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e</a:t>
            </a:r>
            <a:r>
              <a:rPr sz="1200" i="1" spc="-209" baseline="13888" dirty="0">
                <a:solidFill>
                  <a:srgbClr val="6E6E6D"/>
                </a:solidFill>
                <a:latin typeface="Arial"/>
                <a:cs typeface="Arial"/>
              </a:rPr>
              <a:t>e</a:t>
            </a:r>
            <a:r>
              <a:rPr sz="900" spc="-140" dirty="0">
                <a:solidFill>
                  <a:srgbClr val="2B2B2B"/>
                </a:solidFill>
                <a:latin typeface="Arial"/>
                <a:cs typeface="Arial"/>
              </a:rPr>
              <a:t>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Aborder les blocs optionnels uniquement si les 4 etapes de base sont bien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assimilees.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en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distribuant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 fiche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memo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(recto-verso) -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c'est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le support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qu'ils</a:t>
            </a:r>
            <a:r>
              <a:rPr sz="900" spc="-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Arial"/>
                <a:cs typeface="Arial"/>
              </a:rPr>
              <a:t>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