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Numérique &amp; Environnement</a:t>
            </a:r>
          </a:p>
          <a:p>
            <a:pPr algn="l">
              <a:spcBef>
                <a:spcPts val="0"/>
              </a:spcBef>
              <a:spcAft>
                <a:spcPts val="100"/>
              </a:spcAft>
            </a:pPr>
            <a:r>
              <a:rPr sz="1000" b="0" i="0">
                <a:solidFill>
                  <a:srgbClr val="6E6E6D"/>
                </a:solidFill>
                <a:latin typeface="Arial"/>
              </a:rPr>
              <a:t>Le numérique : un secteur qui pèse lourd | Nos appareils : le cœur du problème | L'usage quotidien : des impacts souvent invisibles</a:t>
            </a:r>
          </a:p>
        </p:txBody>
      </p:sp>
      <p:sp>
        <p:nvSpPr>
          <p:cNvPr id="4" name="Rectangle 3"/>
          <p:cNvSpPr/>
          <p:nvPr/>
        </p:nvSpPr>
        <p:spPr>
          <a:xfrm>
            <a:off x="532800" y="17496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Le numérique : un secteur qui pèse lourd</a:t>
            </a:r>
          </a:p>
        </p:txBody>
      </p:sp>
      <p:sp>
        <p:nvSpPr>
          <p:cNvPr id="9" name="TextBox 8"/>
          <p:cNvSpPr txBox="1"/>
          <p:nvPr/>
        </p:nvSpPr>
        <p:spPr>
          <a:xfrm>
            <a:off x="1159200" y="22140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On l'oublie souvent, mais le numérique est l'un des secteurs les plus émetteurs de gaz à effet de serre au monde. Et sa croissance est rapide.</a:t>
            </a:r>
          </a:p>
          <a:p>
            <a:pPr algn="l">
              <a:spcBef>
                <a:spcPts val="0"/>
              </a:spcBef>
              <a:spcAft>
                <a:spcPts val="100"/>
              </a:spcAft>
            </a:pPr>
            <a:r>
              <a:rPr sz="1000" b="0" i="0">
                <a:solidFill>
                  <a:srgbClr val="2B2B2B"/>
                </a:solidFill>
                <a:latin typeface="Arial"/>
              </a:rPr>
              <a:t>→ Des émissions mondiales</a:t>
            </a:r>
          </a:p>
          <a:p>
            <a:pPr algn="l">
              <a:spcBef>
                <a:spcPts val="0"/>
              </a:spcBef>
              <a:spcAft>
                <a:spcPts val="100"/>
              </a:spcAft>
            </a:pPr>
            <a:r>
              <a:rPr sz="1000" b="0" i="0">
                <a:solidFill>
                  <a:srgbClr val="2B2B2B"/>
                </a:solidFill>
                <a:latin typeface="Arial"/>
              </a:rPr>
              <a:t>→ Le numérique représente aujourd'hui environ 4 % des émissions mondiales de CO — autant que l'aviation civile.</a:t>
            </a:r>
          </a:p>
          <a:p>
            <a:pPr algn="l">
              <a:spcBef>
                <a:spcPts val="0"/>
              </a:spcBef>
              <a:spcAft>
                <a:spcPts val="100"/>
              </a:spcAft>
            </a:pPr>
            <a:r>
              <a:rPr sz="1000" b="0" i="0">
                <a:solidFill>
                  <a:srgbClr val="2B2B2B"/>
                </a:solidFill>
                <a:latin typeface="Arial"/>
              </a:rPr>
              <a:t>→ De la consommation électrique</a:t>
            </a:r>
          </a:p>
        </p:txBody>
      </p:sp>
      <p:sp>
        <p:nvSpPr>
          <p:cNvPr id="10" name="Rectangle 9"/>
          <p:cNvSpPr/>
          <p:nvPr/>
        </p:nvSpPr>
        <p:spPr>
          <a:xfrm>
            <a:off x="532800" y="3348000"/>
            <a:ext cx="6490800" cy="16848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348000"/>
            <a:ext cx="572400" cy="1684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3769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3414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4" name="TextBox 13"/>
          <p:cNvSpPr txBox="1"/>
          <p:nvPr/>
        </p:nvSpPr>
        <p:spPr>
          <a:xfrm>
            <a:off x="1177200" y="33840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Nos appareils : le cœur du problème</a:t>
            </a:r>
          </a:p>
        </p:txBody>
      </p:sp>
      <p:sp>
        <p:nvSpPr>
          <p:cNvPr id="15" name="TextBox 14"/>
          <p:cNvSpPr txBox="1"/>
          <p:nvPr/>
        </p:nvSpPr>
        <p:spPr>
          <a:xfrm>
            <a:off x="1159200" y="38124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La fabrication de nos appareils numériques est de loin la source d'impact la plus importante — bien plus que leur utilisation quotidienne.</a:t>
            </a:r>
          </a:p>
          <a:p>
            <a:pPr algn="l">
              <a:spcBef>
                <a:spcPts val="0"/>
              </a:spcBef>
              <a:spcAft>
                <a:spcPts val="100"/>
              </a:spcAft>
            </a:pPr>
            <a:r>
              <a:rPr sz="1000" b="0" i="0">
                <a:solidFill>
                  <a:srgbClr val="2B2B2B"/>
                </a:solidFill>
                <a:latin typeface="Arial"/>
              </a:rPr>
              <a:t>→ Un smartphone neuf</a:t>
            </a:r>
          </a:p>
          <a:p>
            <a:pPr algn="l">
              <a:spcBef>
                <a:spcPts val="0"/>
              </a:spcBef>
              <a:spcAft>
                <a:spcPts val="100"/>
              </a:spcAft>
            </a:pPr>
            <a:r>
              <a:rPr sz="1000" b="0" i="0">
                <a:solidFill>
                  <a:srgbClr val="2B2B2B"/>
                </a:solidFill>
                <a:latin typeface="Arial"/>
              </a:rPr>
              <a:t>→ Fabriquer un smartphone émet en moyenne 70 kg de CO — soit l'équivalent de 700 km en voiture, ou d'un vol Paris–Marseille. Et 80 % de cet impact vient de la fabrication, pas de l'usage.</a:t>
            </a:r>
          </a:p>
          <a:p>
            <a:pPr algn="l">
              <a:spcBef>
                <a:spcPts val="0"/>
              </a:spcBef>
              <a:spcAft>
                <a:spcPts val="100"/>
              </a:spcAft>
            </a:pPr>
            <a:r>
              <a:rPr sz="1000" b="0" i="0">
                <a:solidFill>
                  <a:srgbClr val="2B2B2B"/>
                </a:solidFill>
                <a:latin typeface="Arial"/>
              </a:rPr>
              <a:t>→ Un ordinateur portable</a:t>
            </a:r>
          </a:p>
        </p:txBody>
      </p:sp>
      <p:sp>
        <p:nvSpPr>
          <p:cNvPr id="16" name="Rectangle 15"/>
          <p:cNvSpPr/>
          <p:nvPr/>
        </p:nvSpPr>
        <p:spPr>
          <a:xfrm>
            <a:off x="532800" y="5097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5097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5518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20" name="TextBox 19"/>
          <p:cNvSpPr txBox="1"/>
          <p:nvPr/>
        </p:nvSpPr>
        <p:spPr>
          <a:xfrm>
            <a:off x="1177200" y="5133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L'usage quotidien : des impacts souvent invisibles</a:t>
            </a:r>
          </a:p>
        </p:txBody>
      </p:sp>
      <p:sp>
        <p:nvSpPr>
          <p:cNvPr id="21" name="TextBox 20"/>
          <p:cNvSpPr txBox="1"/>
          <p:nvPr/>
        </p:nvSpPr>
        <p:spPr>
          <a:xfrm>
            <a:off x="1159200" y="5562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Streaming vidéo</a:t>
            </a:r>
          </a:p>
          <a:p>
            <a:pPr algn="l">
              <a:spcBef>
                <a:spcPts val="0"/>
              </a:spcBef>
              <a:spcAft>
                <a:spcPts val="100"/>
              </a:spcAft>
            </a:pPr>
            <a:r>
              <a:rPr sz="1000" b="0" i="0">
                <a:solidFill>
                  <a:srgbClr val="2B2B2B"/>
                </a:solidFill>
                <a:latin typeface="Arial"/>
              </a:rPr>
              <a:t>→ Regarder une heure de vidéo en streaming émet environ 36 g de CO — soit à peu près 1 km en voiture. Multiplié par des milliards d'utilisateurs, l'impact devient colossal.</a:t>
            </a:r>
          </a:p>
          <a:p>
            <a:pPr algn="l">
              <a:spcBef>
                <a:spcPts val="0"/>
              </a:spcBef>
              <a:spcAft>
                <a:spcPts val="100"/>
              </a:spcAft>
            </a:pPr>
            <a:r>
              <a:rPr sz="1000" b="0" i="0">
                <a:solidFill>
                  <a:srgbClr val="2B2B2B"/>
                </a:solidFill>
                <a:latin typeface="Arial"/>
              </a:rPr>
              <a:t>→ La qualité HD et 4K consomme 3 à 4 fois plus de données qu'une vidéo en définition standard.</a:t>
            </a:r>
          </a:p>
          <a:p>
            <a:pPr algn="l">
              <a:spcBef>
                <a:spcPts val="0"/>
              </a:spcBef>
              <a:spcAft>
                <a:spcPts val="100"/>
              </a:spcAft>
            </a:pPr>
            <a:r>
              <a:rPr sz="1000" b="0" i="0">
                <a:solidFill>
                  <a:srgbClr val="2B2B2B"/>
                </a:solidFill>
                <a:latin typeface="Arial"/>
              </a:rPr>
              <a:t>→ Les e-mails</a:t>
            </a:r>
          </a:p>
        </p:txBody>
      </p:sp>
      <p:sp>
        <p:nvSpPr>
          <p:cNvPr id="22" name="Rectangle 21"/>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Les data centers : des usines énergivores | La montagne de déchets électroniques | L'obsolescence : le piège du renouvellement</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Numérique &amp; Environnement</a:t>
            </a:r>
          </a:p>
          <a:p>
            <a:pPr algn="l">
              <a:spcBef>
                <a:spcPts val="0"/>
              </a:spcBef>
              <a:spcAft>
                <a:spcPts val="100"/>
              </a:spcAft>
            </a:pPr>
            <a:r>
              <a:rPr sz="1000" b="0" i="0">
                <a:solidFill>
                  <a:srgbClr val="6E6E6D"/>
                </a:solidFill>
                <a:latin typeface="Arial"/>
              </a:rPr>
              <a:t>Le numérique : un secteur qui pèse lourd | Nos appareils : le cœur du problème | L'usage quotidien : des impacts souvent invisibles</a:t>
            </a:r>
          </a:p>
        </p:txBody>
      </p:sp>
      <p:sp>
        <p:nvSpPr>
          <p:cNvPr id="4" name="Rectangle 3"/>
          <p:cNvSpPr/>
          <p:nvPr/>
        </p:nvSpPr>
        <p:spPr>
          <a:xfrm>
            <a:off x="532800" y="1749600"/>
            <a:ext cx="6490800" cy="2138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213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Les data centers : des usines énergivores</a:t>
            </a:r>
          </a:p>
        </p:txBody>
      </p:sp>
      <p:sp>
        <p:nvSpPr>
          <p:cNvPr id="9" name="TextBox 8"/>
          <p:cNvSpPr txBox="1"/>
          <p:nvPr/>
        </p:nvSpPr>
        <p:spPr>
          <a:xfrm>
            <a:off x="1159200" y="2214000"/>
            <a:ext cx="5828400" cy="16380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a:p>
            <a:pPr algn="l">
              <a:spcBef>
                <a:spcPts val="0"/>
              </a:spcBef>
              <a:spcAft>
                <a:spcPts val="100"/>
              </a:spcAft>
            </a:pPr>
            <a:r>
              <a:rPr sz="1000" b="0" i="0">
                <a:solidFill>
                  <a:srgbClr val="2B2B2B"/>
                </a:solidFill>
                <a:latin typeface="Arial"/>
              </a:rPr>
              <a:t>→ d'eau par kWh</a:t>
            </a:r>
          </a:p>
          <a:p>
            <a:pPr algn="l">
              <a:spcBef>
                <a:spcPts val="0"/>
              </a:spcBef>
              <a:spcAft>
                <a:spcPts val="100"/>
              </a:spcAft>
            </a:pPr>
            <a:r>
              <a:rPr sz="1000" b="0" i="0">
                <a:solidFill>
                  <a:srgbClr val="2B2B2B"/>
                </a:solidFill>
                <a:latin typeface="Arial"/>
              </a:rPr>
              <a:t>→ Pour chaque kilowatt-heure d'électricité consommée par un data center, entre 1 et 3 litres d'eau sont utilisés pour le refroidissement des serveurs. Une consommation équivalente à une douche de 5 minutes toutes les 30 secondes pour un centre moyen.</a:t>
            </a:r>
          </a:p>
          <a:p>
            <a:pPr algn="l">
              <a:spcBef>
                <a:spcPts val="0"/>
              </a:spcBef>
              <a:spcAft>
                <a:spcPts val="100"/>
              </a:spcAft>
            </a:pPr>
            <a:r>
              <a:rPr sz="1000" b="0" i="0">
                <a:solidFill>
                  <a:srgbClr val="2B2B2B"/>
                </a:solidFill>
                <a:latin typeface="Arial"/>
              </a:rPr>
              <a:t>→ de l'électricité mondiale</a:t>
            </a:r>
          </a:p>
        </p:txBody>
      </p:sp>
      <p:sp>
        <p:nvSpPr>
          <p:cNvPr id="10" name="Rectangle 9"/>
          <p:cNvSpPr/>
          <p:nvPr/>
        </p:nvSpPr>
        <p:spPr>
          <a:xfrm>
            <a:off x="532800" y="39528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9528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4374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4019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4" name="TextBox 13"/>
          <p:cNvSpPr txBox="1"/>
          <p:nvPr/>
        </p:nvSpPr>
        <p:spPr>
          <a:xfrm>
            <a:off x="1177200" y="3988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La montagne de déchets électroniques</a:t>
            </a:r>
          </a:p>
        </p:txBody>
      </p:sp>
      <p:sp>
        <p:nvSpPr>
          <p:cNvPr id="15" name="TextBox 14"/>
          <p:cNvSpPr txBox="1"/>
          <p:nvPr/>
        </p:nvSpPr>
        <p:spPr>
          <a:xfrm>
            <a:off x="1159200" y="44172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a:p>
            <a:pPr algn="l">
              <a:spcBef>
                <a:spcPts val="0"/>
              </a:spcBef>
              <a:spcAft>
                <a:spcPts val="100"/>
              </a:spcAft>
            </a:pPr>
            <a:r>
              <a:rPr sz="1000" b="0" i="0">
                <a:solidFill>
                  <a:srgbClr val="2B2B2B"/>
                </a:solidFill>
                <a:latin typeface="Arial"/>
              </a:rPr>
              <a:t>→ 50 millions de tonnes par an</a:t>
            </a:r>
          </a:p>
          <a:p>
            <a:pPr algn="l">
              <a:spcBef>
                <a:spcPts val="0"/>
              </a:spcBef>
              <a:spcAft>
                <a:spcPts val="100"/>
              </a:spcAft>
            </a:pPr>
            <a:r>
              <a:rPr sz="1000" b="0" i="0">
                <a:solidFill>
                  <a:srgbClr val="2B2B2B"/>
                </a:solidFill>
                <a:latin typeface="Arial"/>
              </a:rPr>
              <a:t>→ Chaque année, la planète génère un volume colossal de déchets électroniques, équivalent à jeter 1000 ordinateurs portables chaque seconde.</a:t>
            </a:r>
          </a:p>
          <a:p>
            <a:pPr algn="l">
              <a:spcBef>
                <a:spcPts val="0"/>
              </a:spcBef>
              <a:spcAft>
                <a:spcPts val="100"/>
              </a:spcAft>
            </a:pPr>
            <a:r>
              <a:rPr sz="1000" b="0" i="0">
                <a:solidFill>
                  <a:srgbClr val="2B2B2B"/>
                </a:solidFill>
                <a:latin typeface="Arial"/>
              </a:rPr>
              <a:t>→ Moins de 20% recyclé</a:t>
            </a:r>
          </a:p>
        </p:txBody>
      </p:sp>
      <p:sp>
        <p:nvSpPr>
          <p:cNvPr id="16" name="Rectangle 15"/>
          <p:cNvSpPr/>
          <p:nvPr/>
        </p:nvSpPr>
        <p:spPr>
          <a:xfrm>
            <a:off x="532800" y="5702400"/>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5702400"/>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61235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5768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20" name="TextBox 19"/>
          <p:cNvSpPr txBox="1"/>
          <p:nvPr/>
        </p:nvSpPr>
        <p:spPr>
          <a:xfrm>
            <a:off x="1177200" y="573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L'obsolescence : le piège du renouvellement</a:t>
            </a:r>
          </a:p>
        </p:txBody>
      </p:sp>
      <p:sp>
        <p:nvSpPr>
          <p:cNvPr id="21" name="TextBox 20"/>
          <p:cNvSpPr txBox="1"/>
          <p:nvPr/>
        </p:nvSpPr>
        <p:spPr>
          <a:xfrm>
            <a:off x="1159200" y="61668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a:p>
            <a:pPr algn="l">
              <a:spcBef>
                <a:spcPts val="0"/>
              </a:spcBef>
              <a:spcAft>
                <a:spcPts val="100"/>
              </a:spcAft>
            </a:pPr>
            <a:r>
              <a:rPr sz="1000" b="0" i="0">
                <a:solidFill>
                  <a:srgbClr val="2B2B2B"/>
                </a:solidFill>
                <a:latin typeface="Arial"/>
              </a:rPr>
              <a:t>→ Obsolescence Programmée</a:t>
            </a:r>
          </a:p>
          <a:p>
            <a:pPr algn="l">
              <a:spcBef>
                <a:spcPts val="0"/>
              </a:spcBef>
              <a:spcAft>
                <a:spcPts val="100"/>
              </a:spcAft>
            </a:pPr>
            <a:r>
              <a:rPr sz="1000" b="0" i="0">
                <a:solidFill>
                  <a:srgbClr val="2B2B2B"/>
                </a:solidFill>
                <a:latin typeface="Arial"/>
              </a:rPr>
              <a:t>→ Les produits sont conçus pour avoir une durée de vie limitée, par des composants fragiles, une mise à jour logicielle impossible, ou une réparabilité rendue délibérément difficile ou coûteuse.</a:t>
            </a:r>
          </a:p>
          <a:p>
            <a:pPr algn="l">
              <a:spcBef>
                <a:spcPts val="0"/>
              </a:spcBef>
              <a:spcAft>
                <a:spcPts val="100"/>
              </a:spcAft>
            </a:pPr>
            <a:r>
              <a:rPr sz="1000" b="0" i="0">
                <a:solidFill>
                  <a:srgbClr val="2B2B2B"/>
                </a:solidFill>
                <a:latin typeface="Arial"/>
              </a:rPr>
              <a:t>→ Obsolescence Perçue</a:t>
            </a:r>
          </a:p>
        </p:txBody>
      </p:sp>
      <p:sp>
        <p:nvSpPr>
          <p:cNvPr id="22" name="Rectangle 21"/>
          <p:cNvSpPr/>
          <p:nvPr/>
        </p:nvSpPr>
        <p:spPr>
          <a:xfrm>
            <a:off x="532800" y="76031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32800" y="76031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6000" y="80244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32800" y="76697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6" name="TextBox 25"/>
          <p:cNvSpPr txBox="1"/>
          <p:nvPr/>
        </p:nvSpPr>
        <p:spPr>
          <a:xfrm>
            <a:off x="1177200" y="76392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Allonger la vie de ses appareils</a:t>
            </a:r>
          </a:p>
        </p:txBody>
      </p:sp>
      <p:sp>
        <p:nvSpPr>
          <p:cNvPr id="27" name="TextBox 26"/>
          <p:cNvSpPr txBox="1"/>
          <p:nvPr/>
        </p:nvSpPr>
        <p:spPr>
          <a:xfrm>
            <a:off x="1159200" y="80676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a:p>
            <a:pPr algn="l">
              <a:spcBef>
                <a:spcPts val="0"/>
              </a:spcBef>
              <a:spcAft>
                <a:spcPts val="100"/>
              </a:spcAft>
            </a:pPr>
            <a:r>
              <a:rPr sz="1000" b="0" i="0">
                <a:solidFill>
                  <a:srgbClr val="2B2B2B"/>
                </a:solidFill>
                <a:latin typeface="Arial"/>
              </a:rPr>
              <a:t>→ Réparer plutôt que jeter</a:t>
            </a:r>
          </a:p>
          <a:p>
            <a:pPr algn="l">
              <a:spcBef>
                <a:spcPts val="0"/>
              </a:spcBef>
              <a:spcAft>
                <a:spcPts val="100"/>
              </a:spcAft>
            </a:pPr>
            <a:r>
              <a:rPr sz="1000" b="0" i="0">
                <a:solidFill>
                  <a:srgbClr val="2B2B2B"/>
                </a:solidFill>
                <a:latin typeface="Arial"/>
              </a:rPr>
              <a:t>→ De plus en plus de services et de tutoriels existent. Un petit composant défectueux ne doit pas condamner tout un appareil. Pensez aux ateliers de réparation ou aux associations.</a:t>
            </a:r>
          </a:p>
          <a:p>
            <a:pPr algn="l">
              <a:spcBef>
                <a:spcPts val="0"/>
              </a:spcBef>
              <a:spcAft>
                <a:spcPts val="100"/>
              </a:spcAft>
            </a:pPr>
            <a:r>
              <a:rPr sz="1000" b="0" i="0">
                <a:solidFill>
                  <a:srgbClr val="2B2B2B"/>
                </a:solidFill>
                <a:latin typeface="Arial"/>
              </a:rPr>
              <a:t>→ Acheter reconditionné</a:t>
            </a:r>
          </a:p>
        </p:txBody>
      </p:sp>
      <p:sp>
        <p:nvSpPr>
          <p:cNvPr id="28" name="Rectangle 27"/>
          <p:cNvSpPr/>
          <p:nvPr/>
        </p:nvSpPr>
        <p:spPr>
          <a:xfrm>
            <a:off x="532800" y="96120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98400" y="98676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76800" y="9640800"/>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Des ressources rares et précieuses</a:t>
            </a:r>
          </a:p>
        </p:txBody>
      </p:sp>
      <p:sp>
        <p:nvSpPr>
          <p:cNvPr id="31" name="TextBox 30"/>
          <p:cNvSpPr txBox="1"/>
          <p:nvPr/>
        </p:nvSpPr>
        <p:spPr>
          <a:xfrm>
            <a:off x="676800" y="98928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1050" b="0" i="0">
                <a:solidFill>
                  <a:srgbClr val="2B2B2B"/>
                </a:solidFill>
                <a:latin typeface="Arial"/>
              </a:rPr>
              <a:t>→ Un cocktail de métaux stratégiques</a:t>
            </a:r>
          </a:p>
          <a:p>
            <a:pPr algn="l">
              <a:spcBef>
                <a:spcPts val="0"/>
              </a:spcBef>
              <a:spcAft>
                <a:spcPts val="100"/>
              </a:spcAft>
            </a:pPr>
            <a:r>
              <a:rPr sz="105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a:p>
            <a:pPr algn="l">
              <a:spcBef>
                <a:spcPts val="0"/>
              </a:spcBef>
              <a:spcAft>
                <a:spcPts val="100"/>
              </a:spcAft>
            </a:pPr>
            <a:r>
              <a:rPr sz="1050" b="0" i="0">
                <a:solidFill>
                  <a:srgbClr val="2B2B2B"/>
                </a:solidFill>
                <a:latin typeface="Arial"/>
              </a:rPr>
              <a:t>→ Des conditions d'extraction alarmantes</a:t>
            </a:r>
          </a:p>
        </p:txBody>
      </p:sp>
      <p:sp>
        <p:nvSpPr>
          <p:cNvPr id="32" name="Rectangle 31"/>
          <p:cNvSpPr/>
          <p:nvPr/>
        </p:nvSpPr>
        <p:spPr>
          <a:xfrm>
            <a:off x="532800" y="109404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98400" y="111960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76800" y="10969200"/>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Le numérique responsable en entreprise</a:t>
            </a:r>
          </a:p>
        </p:txBody>
      </p:sp>
      <p:sp>
        <p:nvSpPr>
          <p:cNvPr id="35" name="TextBox 34"/>
          <p:cNvSpPr txBox="1"/>
          <p:nvPr/>
        </p:nvSpPr>
        <p:spPr>
          <a:xfrm>
            <a:off x="676800" y="112212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1050" b="0" i="0">
                <a:solidFill>
                  <a:srgbClr val="2B2B2B"/>
                </a:solidFill>
                <a:latin typeface="Arial"/>
              </a:rPr>
              <a:t>→ Politique d'achat responsable</a:t>
            </a:r>
          </a:p>
          <a:p>
            <a:pPr algn="l">
              <a:spcBef>
                <a:spcPts val="0"/>
              </a:spcBef>
              <a:spcAft>
                <a:spcPts val="100"/>
              </a:spcAft>
            </a:pPr>
            <a:r>
              <a:rPr sz="1050" b="0" i="0">
                <a:solidFill>
                  <a:srgbClr val="2B2B2B"/>
                </a:solidFill>
                <a:latin typeface="Arial"/>
              </a:rPr>
              <a:t>→ Privilégiez les équipements reconditionnés ou conçus pour durer. Demandez des garanties de réparabilité et de disponibilité des pièces détachées à vos fournisseurs.</a:t>
            </a:r>
          </a:p>
          <a:p>
            <a:pPr algn="l">
              <a:spcBef>
                <a:spcPts val="0"/>
              </a:spcBef>
              <a:spcAft>
                <a:spcPts val="100"/>
              </a:spcAft>
            </a:pPr>
            <a:r>
              <a:rPr sz="1050" b="0" i="0">
                <a:solidFill>
                  <a:srgbClr val="2B2B2B"/>
                </a:solidFill>
                <a:latin typeface="Arial"/>
              </a:rPr>
              <a:t>→ Charte numérique interne</a:t>
            </a:r>
          </a:p>
        </p:txBody>
      </p:sp>
      <p:sp>
        <p:nvSpPr>
          <p:cNvPr id="36" name="Rectangle 35"/>
          <p:cNvSpPr/>
          <p:nvPr/>
        </p:nvSpPr>
        <p:spPr>
          <a:xfrm>
            <a:off x="532800" y="122688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98400" y="125244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76800" y="122975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Pour aller plus loin — Sources</a:t>
            </a:r>
          </a:p>
        </p:txBody>
      </p:sp>
      <p:sp>
        <p:nvSpPr>
          <p:cNvPr id="39" name="TextBox 38"/>
          <p:cNvSpPr txBox="1"/>
          <p:nvPr/>
        </p:nvSpPr>
        <p:spPr>
          <a:xfrm>
            <a:off x="676800" y="125496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105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1050" b="0" i="0">
                <a:solidFill>
                  <a:srgbClr val="2B2B2B"/>
                </a:solidFill>
                <a:latin typeface="Arial"/>
              </a:rPr>
              <a:t>→ GreenIT.fr, Benchmark Green IT 2024, Novembre 2024 — greenit.fr</a:t>
            </a:r>
          </a:p>
          <a:p>
            <a:pPr algn="l">
              <a:spcBef>
                <a:spcPts val="0"/>
              </a:spcBef>
              <a:spcAft>
                <a:spcPts val="100"/>
              </a:spcAft>
            </a:pPr>
            <a:r>
              <a:rPr sz="1050" b="0" i="0">
                <a:solidFill>
                  <a:srgbClr val="2B2B2B"/>
                </a:solidFill>
                <a:latin typeface="Arial"/>
              </a:rPr>
              <a:t>→ Agence Internationale de l'Énergie (AIE), Electricity 2024 — iea.org</a:t>
            </a:r>
          </a:p>
        </p:txBody>
      </p:sp>
      <p:sp>
        <p:nvSpPr>
          <p:cNvPr id="40" name="Rectangle 39"/>
          <p:cNvSpPr/>
          <p:nvPr/>
        </p:nvSpPr>
        <p:spPr>
          <a:xfrm>
            <a:off x="532800" y="13705199"/>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221200" y="14291999"/>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792800" y="13769999"/>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43" name="TextBox 4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