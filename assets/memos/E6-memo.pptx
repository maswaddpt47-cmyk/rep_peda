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180800"/>
            <a:ext cx="50580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4388BC"/>
                </a:solidFill>
                <a:latin typeface="Arial"/>
              </a:rPr>
              <a:t>Mon mémo — Numérique &amp; Environnement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Le numérique : un secteur qui pèse lourd | Nos appareils : le cœur du problème | L'usage quotidien : des impacts souvent invis…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Le numérique : un secteur qui pèse lourd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On l'oublie souvent, mais le numérique est l'un des secteurs les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Des émissions mondiales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numérique représente aujourd'hui environ 4 % des émissions mon…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De la consommation électrique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Nos appareils : le cœur du problème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fabrication de nos appareils numériques est de loin la source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smartphone neuf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Fabriquer un smartphone émet en moyenne 70 kg de CO — soit l'équi…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ordinateur portable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L'usage quotidien : des impacts souvent invis…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Streaming vidéo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Regarder une heure de vidéo en streaming émet environ 36 g de CO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qualité HD et 4K consomme 3 à 4 fois plus de données qu'une vi…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e-mails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data centers : des usines énergivores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Ces infrastructures discrètes sont le moteur de notre monde numér…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d'eau par kWh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Pour chaque kilowatt-heure d'électricité consommée par un data ce…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de l'électricité mondiale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La montagne de déchets électroniques | L'obsolescence : le piège du renouvellement | Allonger la vie de ses appareils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180800"/>
            <a:ext cx="50580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4388BC"/>
                </a:solidFill>
                <a:latin typeface="Arial"/>
              </a:rPr>
              <a:t>Mon mémo — Numérique &amp; Environnement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Le numérique : un secteur qui pèse lourd | Nos appareils : le cœur du problème | L'usage quotidien : des impacts souvent invis…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La montagne de déchets électroniques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Déchets d'Équipements Électriques et Électroniques (DEEE), ou…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50 millions de tonnes par an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Chaque année, la planète génère un volume colossal de déchets éle…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Moins de 20% recyclé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L'obsolescence : le piège du renouvellement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L'obsolescence, qu'elle soit programmée ou perçue, est un facteur…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Obsolescence Programmée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produits sont conçus pour avoir une durée de vie limitée, par…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Obsolescence Perçue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Allonger la vie de ses appareils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Plutôt que de céder à l'obsolescence programmée ou perçue, adopto…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Réparer plutôt que jeter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De plus en plus de services et de tutoriels existent. Un petit co…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Acheter reconditionné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166800"/>
            <a:ext cx="6490800" cy="1263600"/>
          </a:xfrm>
          <a:prstGeom prst="rect">
            <a:avLst/>
          </a:prstGeom>
          <a:solidFill>
            <a:srgbClr val="FFFCE7"/>
          </a:solidFill>
          <a:ln w="8890">
            <a:solidFill>
              <a:srgbClr val="F8A8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98400" y="6422400"/>
            <a:ext cx="6159600" cy="7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76800" y="6195599"/>
            <a:ext cx="6292800" cy="23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5D4037"/>
                </a:solidFill>
                <a:latin typeface="Arial"/>
              </a:rPr>
              <a:t>Des ressources rares et précieuses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800" y="6447600"/>
            <a:ext cx="6292800" cy="94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Derrière chaque écran, chaque circuit imprimé, se cache un monde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Un cocktail de métaux stratégiques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Nos appareils dépendent de ressources comme le lithium (batteries…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Des conditions d'extraction alarmantes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2800" y="7495200"/>
            <a:ext cx="6490800" cy="1263600"/>
          </a:xfrm>
          <a:prstGeom prst="rect">
            <a:avLst/>
          </a:prstGeom>
          <a:solidFill>
            <a:srgbClr val="FFFCE7"/>
          </a:solidFill>
          <a:ln w="8890">
            <a:solidFill>
              <a:srgbClr val="F8A8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98400" y="7750800"/>
            <a:ext cx="6159600" cy="7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76800" y="7523999"/>
            <a:ext cx="6292800" cy="23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5D4037"/>
                </a:solidFill>
                <a:latin typeface="Arial"/>
              </a:rPr>
              <a:t>Le numérique responsable en entreprise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800" y="7776000"/>
            <a:ext cx="6292800" cy="94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Intégrer le numérique responsable au sein de votre organisation p…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Politique d'achat responsable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Privilégiez les équipements reconditionnés ou conçus pour durer.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Charte numérique interne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32800" y="8823600"/>
            <a:ext cx="6490800" cy="1263600"/>
          </a:xfrm>
          <a:prstGeom prst="rect">
            <a:avLst/>
          </a:prstGeom>
          <a:solidFill>
            <a:srgbClr val="FFFCE7"/>
          </a:solidFill>
          <a:ln w="8890">
            <a:solidFill>
              <a:srgbClr val="F8A8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98400" y="9079200"/>
            <a:ext cx="6159600" cy="7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76800" y="8852399"/>
            <a:ext cx="6292800" cy="23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5D4037"/>
                </a:solidFill>
                <a:latin typeface="Arial"/>
              </a:rPr>
              <a:t>Pour aller plus loin — Sources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800" y="9104400"/>
            <a:ext cx="6292800" cy="94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Le numérique responsable, c'est l'affaire de tous. Chaque geste c…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ADEME-Arcep, Évaluation de l'impact environnemental du numérique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GreenIT.fr, Benchmark Green IT 2024, Novembre 2024 — greenit.fr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Agence Internationale de l'Énergie (AIE), Electricity 2024 — iea.…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2800" y="10259999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2221200" y="10846799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792800" y="10324799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