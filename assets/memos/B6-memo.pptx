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32800" y="1180800"/>
            <a:ext cx="6490800" cy="511200"/>
          </a:xfrm>
          <a:prstGeom prst="rect">
            <a:avLst/>
          </a:prstGeom>
          <a:noFill/>
        </p:spPr>
        <p:txBody>
          <a:bodyPr wrap="square" tIns="0" bIns="0" lIns="18000" rIns="18000">
            <a:spAutoFit/>
          </a:bodyPr>
          <a:lstStyle/>
          <a:p>
            <a:pPr algn="l">
              <a:spcBef>
                <a:spcPts val="0"/>
              </a:spcBef>
              <a:spcAft>
                <a:spcPts val="100"/>
              </a:spcAft>
            </a:pPr>
            <a:r>
              <a:rPr sz="1800" b="1" i="0">
                <a:solidFill>
                  <a:srgbClr val="4388BC"/>
                </a:solidFill>
                <a:latin typeface="Arial"/>
              </a:rPr>
              <a:t>Mon mémo — Créer et gérer votre Espace Personnel sur Mon Espace Santé</a:t>
            </a:r>
          </a:p>
          <a:p>
            <a:pPr algn="l">
              <a:spcBef>
                <a:spcPts val="0"/>
              </a:spcBef>
              <a:spcAft>
                <a:spcPts val="100"/>
              </a:spcAft>
            </a:pPr>
            <a:r>
              <a:rPr sz="1000" b="0" i="0">
                <a:solidFill>
                  <a:srgbClr val="6E6E6D"/>
                </a:solidFill>
                <a:latin typeface="Arial"/>
              </a:rPr>
              <a:t>Introduction | Pourquoi s'inscrire ? | Avant de commencer</a:t>
            </a:r>
          </a:p>
        </p:txBody>
      </p:sp>
      <p:sp>
        <p:nvSpPr>
          <p:cNvPr id="3" name="Rectangle 2"/>
          <p:cNvSpPr/>
          <p:nvPr/>
        </p:nvSpPr>
        <p:spPr>
          <a:xfrm>
            <a:off x="532800" y="1749600"/>
            <a:ext cx="6490800" cy="16848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32800" y="1749600"/>
            <a:ext cx="572400" cy="1684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206000" y="21708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2800" y="18162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1</a:t>
            </a:r>
          </a:p>
        </p:txBody>
      </p:sp>
      <p:sp>
        <p:nvSpPr>
          <p:cNvPr id="7" name="TextBox 6"/>
          <p:cNvSpPr txBox="1"/>
          <p:nvPr/>
        </p:nvSpPr>
        <p:spPr>
          <a:xfrm>
            <a:off x="1177200" y="17856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Introduction</a:t>
            </a:r>
          </a:p>
        </p:txBody>
      </p:sp>
      <p:sp>
        <p:nvSpPr>
          <p:cNvPr id="8" name="TextBox 7"/>
          <p:cNvSpPr txBox="1"/>
          <p:nvPr/>
        </p:nvSpPr>
        <p:spPr>
          <a:xfrm>
            <a:off x="1159200" y="2214000"/>
            <a:ext cx="5828400" cy="11843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Mon Espace Santé : c'est quoi exactement ?</a:t>
            </a:r>
          </a:p>
          <a:p>
            <a:pPr algn="l">
              <a:spcBef>
                <a:spcPts val="0"/>
              </a:spcBef>
              <a:spcAft>
                <a:spcPts val="100"/>
              </a:spcAft>
            </a:pPr>
            <a:r>
              <a:rPr sz="1000" b="0" i="0">
                <a:solidFill>
                  <a:srgbClr val="2B2B2B"/>
                </a:solidFill>
                <a:latin typeface="Arial"/>
              </a:rPr>
              <a:t>→ Mon Espace Santé est le service numérique officiel de l'Assurance Maladie. Il vous permet de centraliser toutes vos informations de santé en un seul endroit sécurisé, accessible depuis votre ordinateur, tablette ou smartphone.</a:t>
            </a:r>
          </a:p>
          <a:p>
            <a:pPr algn="l">
              <a:spcBef>
                <a:spcPts val="0"/>
              </a:spcBef>
              <a:spcAft>
                <a:spcPts val="100"/>
              </a:spcAft>
            </a:pPr>
            <a:r>
              <a:rPr sz="1000" b="0" i="0">
                <a:solidFill>
                  <a:srgbClr val="2B2B2B"/>
                </a:solidFill>
                <a:latin typeface="Arial"/>
              </a:rPr>
              <a:t>→ Vos documents</a:t>
            </a:r>
          </a:p>
          <a:p>
            <a:pPr algn="l">
              <a:spcBef>
                <a:spcPts val="0"/>
              </a:spcBef>
              <a:spcAft>
                <a:spcPts val="100"/>
              </a:spcAft>
            </a:pPr>
            <a:r>
              <a:rPr sz="1000" b="0" i="0">
                <a:solidFill>
                  <a:srgbClr val="2B2B2B"/>
                </a:solidFill>
                <a:latin typeface="Arial"/>
              </a:rPr>
              <a:t>→ Ordonnances, résultats d'analyses, comptes-rendus médicaux — tout au même endroit.</a:t>
            </a:r>
          </a:p>
        </p:txBody>
      </p:sp>
      <p:sp>
        <p:nvSpPr>
          <p:cNvPr id="9" name="Rectangle 8"/>
          <p:cNvSpPr/>
          <p:nvPr/>
        </p:nvSpPr>
        <p:spPr>
          <a:xfrm>
            <a:off x="532800" y="3499199"/>
            <a:ext cx="6490800" cy="1382400"/>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32800" y="3499199"/>
            <a:ext cx="572400" cy="1382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206000" y="3920399"/>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2800" y="35658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2</a:t>
            </a:r>
          </a:p>
        </p:txBody>
      </p:sp>
      <p:sp>
        <p:nvSpPr>
          <p:cNvPr id="13" name="TextBox 12"/>
          <p:cNvSpPr txBox="1"/>
          <p:nvPr/>
        </p:nvSpPr>
        <p:spPr>
          <a:xfrm>
            <a:off x="1177200" y="3535199"/>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Pourquoi s'inscrire ?</a:t>
            </a:r>
          </a:p>
        </p:txBody>
      </p:sp>
      <p:sp>
        <p:nvSpPr>
          <p:cNvPr id="14" name="TextBox 13"/>
          <p:cNvSpPr txBox="1"/>
          <p:nvPr/>
        </p:nvSpPr>
        <p:spPr>
          <a:xfrm>
            <a:off x="1159200" y="3963599"/>
            <a:ext cx="5828400" cy="8819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Les bénéfices concrets au quotidien</a:t>
            </a:r>
          </a:p>
          <a:p>
            <a:pPr algn="l">
              <a:spcBef>
                <a:spcPts val="0"/>
              </a:spcBef>
              <a:spcAft>
                <a:spcPts val="100"/>
              </a:spcAft>
            </a:pPr>
            <a:r>
              <a:rPr sz="1000" b="0" i="0">
                <a:solidFill>
                  <a:srgbClr val="2B2B2B"/>
                </a:solidFill>
                <a:latin typeface="Arial"/>
              </a:rPr>
              <a:t>→ Finies les recherches de papiers</a:t>
            </a:r>
          </a:p>
          <a:p>
            <a:pPr algn="l">
              <a:spcBef>
                <a:spcPts val="0"/>
              </a:spcBef>
              <a:spcAft>
                <a:spcPts val="100"/>
              </a:spcAft>
            </a:pPr>
            <a:r>
              <a:rPr sz="1000" b="0" i="0">
                <a:solidFill>
                  <a:srgbClr val="2B2B2B"/>
                </a:solidFill>
                <a:latin typeface="Arial"/>
              </a:rPr>
              <a:t>→ Vos ordonnances, résultats et comptes-rendus sont stockés numériquement. Plus besoin de fouiller dans vos tiroirs avant un rendez-vous médical.</a:t>
            </a:r>
          </a:p>
          <a:p>
            <a:pPr algn="l">
              <a:spcBef>
                <a:spcPts val="0"/>
              </a:spcBef>
              <a:spcAft>
                <a:spcPts val="100"/>
              </a:spcAft>
            </a:pPr>
            <a:r>
              <a:rPr sz="1000" b="0" i="0">
                <a:solidFill>
                  <a:srgbClr val="2B2B2B"/>
                </a:solidFill>
                <a:latin typeface="Arial"/>
              </a:rPr>
              <a:t>→ Un meilleur suivi médical</a:t>
            </a:r>
          </a:p>
        </p:txBody>
      </p:sp>
      <p:sp>
        <p:nvSpPr>
          <p:cNvPr id="15" name="Rectangle 14"/>
          <p:cNvSpPr/>
          <p:nvPr/>
        </p:nvSpPr>
        <p:spPr>
          <a:xfrm>
            <a:off x="532800" y="4946399"/>
            <a:ext cx="6490800" cy="13824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32800" y="4946399"/>
            <a:ext cx="572400" cy="1382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206000" y="5367599"/>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2800" y="50130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3</a:t>
            </a:r>
          </a:p>
        </p:txBody>
      </p:sp>
      <p:sp>
        <p:nvSpPr>
          <p:cNvPr id="19" name="TextBox 18"/>
          <p:cNvSpPr txBox="1"/>
          <p:nvPr/>
        </p:nvSpPr>
        <p:spPr>
          <a:xfrm>
            <a:off x="1177200" y="4982399"/>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Avant de commencer</a:t>
            </a:r>
          </a:p>
        </p:txBody>
      </p:sp>
      <p:sp>
        <p:nvSpPr>
          <p:cNvPr id="20" name="TextBox 19"/>
          <p:cNvSpPr txBox="1"/>
          <p:nvPr/>
        </p:nvSpPr>
        <p:spPr>
          <a:xfrm>
            <a:off x="1159200" y="5410799"/>
            <a:ext cx="5828400" cy="8819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Ce dont vous avez besoin pour vous inscrire</a:t>
            </a:r>
          </a:p>
          <a:p>
            <a:pPr algn="l">
              <a:spcBef>
                <a:spcPts val="0"/>
              </a:spcBef>
              <a:spcAft>
                <a:spcPts val="100"/>
              </a:spcAft>
            </a:pPr>
            <a:r>
              <a:rPr sz="1000" b="0" i="0">
                <a:solidFill>
                  <a:srgbClr val="2B2B2B"/>
                </a:solidFill>
                <a:latin typeface="Arial"/>
              </a:rPr>
              <a:t>→ Votre numéro de Sécurité Sociale</a:t>
            </a:r>
          </a:p>
          <a:p>
            <a:pPr algn="l">
              <a:spcBef>
                <a:spcPts val="0"/>
              </a:spcBef>
              <a:spcAft>
                <a:spcPts val="100"/>
              </a:spcAft>
            </a:pPr>
            <a:r>
              <a:rPr sz="1000" b="0" i="0">
                <a:solidFill>
                  <a:srgbClr val="2B2B2B"/>
                </a:solidFill>
                <a:latin typeface="Arial"/>
              </a:rPr>
              <a:t>→ Le numéro à 15 chiffres figurant sur votre carte Vitale ou votre attestation d'Assurance Maladie.</a:t>
            </a:r>
          </a:p>
          <a:p>
            <a:pPr algn="l">
              <a:spcBef>
                <a:spcPts val="0"/>
              </a:spcBef>
              <a:spcAft>
                <a:spcPts val="100"/>
              </a:spcAft>
            </a:pPr>
            <a:r>
              <a:rPr sz="1000" b="0" i="0">
                <a:solidFill>
                  <a:srgbClr val="2B2B2B"/>
                </a:solidFill>
                <a:latin typeface="Arial"/>
              </a:rPr>
              <a:t>→ Une adresse e-mail valide</a:t>
            </a:r>
          </a:p>
        </p:txBody>
      </p:sp>
      <p:sp>
        <p:nvSpPr>
          <p:cNvPr id="21" name="Rectangle 20"/>
          <p:cNvSpPr/>
          <p:nvPr/>
        </p:nvSpPr>
        <p:spPr>
          <a:xfrm>
            <a:off x="532800" y="6393599"/>
            <a:ext cx="6490800" cy="1371600"/>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32800" y="6393599"/>
            <a:ext cx="572400" cy="13716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206000" y="68148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32800" y="6460199"/>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4</a:t>
            </a:r>
          </a:p>
        </p:txBody>
      </p:sp>
      <p:sp>
        <p:nvSpPr>
          <p:cNvPr id="25" name="TextBox 24"/>
          <p:cNvSpPr txBox="1"/>
          <p:nvPr/>
        </p:nvSpPr>
        <p:spPr>
          <a:xfrm>
            <a:off x="1177200" y="64296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Connexion sécurisée</a:t>
            </a:r>
          </a:p>
        </p:txBody>
      </p:sp>
      <p:sp>
        <p:nvSpPr>
          <p:cNvPr id="26" name="TextBox 25"/>
          <p:cNvSpPr txBox="1"/>
          <p:nvPr/>
        </p:nvSpPr>
        <p:spPr>
          <a:xfrm>
            <a:off x="1159200" y="6858000"/>
            <a:ext cx="5828400" cy="871200"/>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Se connecter à Mon Espace Santé</a:t>
            </a:r>
          </a:p>
          <a:p>
            <a:pPr algn="l">
              <a:spcBef>
                <a:spcPts val="0"/>
              </a:spcBef>
              <a:spcAft>
                <a:spcPts val="100"/>
              </a:spcAft>
            </a:pPr>
            <a:r>
              <a:rPr sz="1000" b="0" i="0">
                <a:solidFill>
                  <a:srgbClr val="2B2B2B"/>
                </a:solidFill>
                <a:latin typeface="Arial"/>
              </a:rPr>
              <a:t>→ Une fois votre compte créé, vous pouvez vous connecter</a:t>
            </a:r>
          </a:p>
          <a:p>
            <a:pPr algn="l">
              <a:spcBef>
                <a:spcPts val="0"/>
              </a:spcBef>
              <a:spcAft>
                <a:spcPts val="100"/>
              </a:spcAft>
            </a:pPr>
            <a:r>
              <a:rPr sz="1000" b="0" i="0">
                <a:solidFill>
                  <a:srgbClr val="2B2B2B"/>
                </a:solidFill>
                <a:latin typeface="Arial"/>
              </a:rPr>
              <a:t>→ de deux façons :</a:t>
            </a:r>
          </a:p>
          <a:p>
            <a:pPr algn="l">
              <a:spcBef>
                <a:spcPts val="0"/>
              </a:spcBef>
              <a:spcAft>
                <a:spcPts val="100"/>
              </a:spcAft>
            </a:pPr>
            <a:r>
              <a:rPr sz="1000" b="0" i="0">
                <a:solidFill>
                  <a:srgbClr val="2B2B2B"/>
                </a:solidFill>
                <a:latin typeface="Arial"/>
              </a:rPr>
              <a:t>→ Via votre compte Ameli</a:t>
            </a:r>
          </a:p>
        </p:txBody>
      </p:sp>
      <p:sp>
        <p:nvSpPr>
          <p:cNvPr id="27" name="Rectangle 26"/>
          <p:cNvSpPr/>
          <p:nvPr/>
        </p:nvSpPr>
        <p:spPr>
          <a:xfrm>
            <a:off x="532800" y="7901999"/>
            <a:ext cx="6490800" cy="658800"/>
          </a:xfrm>
          <a:prstGeom prst="rect">
            <a:avLst/>
          </a:prstGeom>
          <a:solidFill>
            <a:srgbClr val="EFF7FF"/>
          </a:solidFill>
          <a:ln w="635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540799" y="7937999"/>
            <a:ext cx="5410800" cy="604800"/>
          </a:xfrm>
          <a:prstGeom prst="rect">
            <a:avLst/>
          </a:prstGeom>
          <a:noFill/>
        </p:spPr>
        <p:txBody>
          <a:bodyPr wrap="square" tIns="0" bIns="0" lIns="18000" rIns="18000">
            <a:spAutoFit/>
          </a:bodyPr>
          <a:lstStyle/>
          <a:p>
            <a:pPr algn="l">
              <a:spcBef>
                <a:spcPts val="0"/>
              </a:spcBef>
              <a:spcAft>
                <a:spcPts val="100"/>
              </a:spcAft>
            </a:pPr>
            <a:r>
              <a:rPr sz="1050" b="1" i="0">
                <a:solidFill>
                  <a:srgbClr val="4388BC"/>
                </a:solidFill>
                <a:latin typeface="Arial"/>
              </a:rPr>
              <a:t>→ Suite en page 2 : Personnalisation | Vos documents | Partage &amp; Confidentialité</a:t>
            </a:r>
          </a:p>
          <a:p>
            <a:pPr algn="l">
              <a:spcBef>
                <a:spcPts val="0"/>
              </a:spcBef>
              <a:spcAft>
                <a:spcPts val="100"/>
              </a:spcAft>
            </a:pPr>
            <a:r>
              <a:rPr sz="850" b="0" i="0">
                <a:solidFill>
                  <a:srgbClr val="6E6E6D"/>
                </a:solidFill>
                <a:latin typeface="Arial"/>
              </a:rPr>
              <a:t>Votre Conseiller Numérique : 05 53 47 31 32  ·  conseiller-numerique@lotetgaronne.fr</a:t>
            </a:r>
          </a:p>
        </p:txBody>
      </p:sp>
      <p:sp>
        <p:nvSpPr>
          <p:cNvPr id="29" name="TextBox 28"/>
          <p:cNvSpPr txBox="1"/>
          <p:nvPr/>
        </p:nvSpPr>
        <p:spPr>
          <a:xfrm>
            <a:off x="2383200" y="9925200"/>
            <a:ext cx="2797200" cy="180000"/>
          </a:xfrm>
          <a:prstGeom prst="rect">
            <a:avLst/>
          </a:prstGeom>
          <a:noFill/>
        </p:spPr>
        <p:txBody>
          <a:bodyPr wrap="square" tIns="0" bIns="0" lIns="18000" rIns="18000">
            <a:spAutoFit/>
          </a:bodyPr>
          <a:lstStyle/>
          <a:p>
            <a:pPr algn="ctr">
              <a:spcBef>
                <a:spcPts val="0"/>
              </a:spcBef>
              <a:spcAft>
                <a:spcPts val="100"/>
              </a:spcAft>
            </a:pPr>
            <a:r>
              <a:rPr sz="800" b="0" i="0">
                <a:solidFill>
                  <a:srgbClr val="6E6E6D"/>
                </a:solidFill>
                <a:latin typeface="Arial"/>
              </a:rPr>
              <a:t>v1.0 – 2025 – CD47 Service Inclusion Numérique  |  Page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32800" y="1180800"/>
            <a:ext cx="6490800" cy="511200"/>
          </a:xfrm>
          <a:prstGeom prst="rect">
            <a:avLst/>
          </a:prstGeom>
          <a:noFill/>
        </p:spPr>
        <p:txBody>
          <a:bodyPr wrap="square" tIns="0" bIns="0" lIns="18000" rIns="18000">
            <a:spAutoFit/>
          </a:bodyPr>
          <a:lstStyle/>
          <a:p>
            <a:pPr algn="l">
              <a:spcBef>
                <a:spcPts val="0"/>
              </a:spcBef>
              <a:spcAft>
                <a:spcPts val="100"/>
              </a:spcAft>
            </a:pPr>
            <a:r>
              <a:rPr sz="1800" b="1" i="0">
                <a:solidFill>
                  <a:srgbClr val="4388BC"/>
                </a:solidFill>
                <a:latin typeface="Arial"/>
              </a:rPr>
              <a:t>Mon mémo — Créer et gérer votre Espace Personnel sur Mon Espace Santé</a:t>
            </a:r>
          </a:p>
          <a:p>
            <a:pPr algn="l">
              <a:spcBef>
                <a:spcPts val="0"/>
              </a:spcBef>
              <a:spcAft>
                <a:spcPts val="100"/>
              </a:spcAft>
            </a:pPr>
            <a:r>
              <a:rPr sz="1000" b="0" i="0">
                <a:solidFill>
                  <a:srgbClr val="6E6E6D"/>
                </a:solidFill>
                <a:latin typeface="Arial"/>
              </a:rPr>
              <a:t>Introduction | Pourquoi s'inscrire ? | Avant de commencer</a:t>
            </a:r>
          </a:p>
        </p:txBody>
      </p:sp>
      <p:sp>
        <p:nvSpPr>
          <p:cNvPr id="3" name="Rectangle 2"/>
          <p:cNvSpPr/>
          <p:nvPr/>
        </p:nvSpPr>
        <p:spPr>
          <a:xfrm>
            <a:off x="532800" y="1749600"/>
            <a:ext cx="6490800" cy="15336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32800" y="1749600"/>
            <a:ext cx="572400" cy="15336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206000" y="21708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2800" y="18162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5</a:t>
            </a:r>
          </a:p>
        </p:txBody>
      </p:sp>
      <p:sp>
        <p:nvSpPr>
          <p:cNvPr id="7" name="TextBox 6"/>
          <p:cNvSpPr txBox="1"/>
          <p:nvPr/>
        </p:nvSpPr>
        <p:spPr>
          <a:xfrm>
            <a:off x="1177200" y="17856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Personnalisation</a:t>
            </a:r>
          </a:p>
        </p:txBody>
      </p:sp>
      <p:sp>
        <p:nvSpPr>
          <p:cNvPr id="8" name="TextBox 7"/>
          <p:cNvSpPr txBox="1"/>
          <p:nvPr/>
        </p:nvSpPr>
        <p:spPr>
          <a:xfrm>
            <a:off x="1159200" y="2214000"/>
            <a:ext cx="5828400" cy="10331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Compléter votre profil de santé</a:t>
            </a:r>
          </a:p>
          <a:p>
            <a:pPr algn="l">
              <a:spcBef>
                <a:spcPts val="0"/>
              </a:spcBef>
              <a:spcAft>
                <a:spcPts val="100"/>
              </a:spcAft>
            </a:pPr>
            <a:r>
              <a:rPr sz="1000" b="0" i="0">
                <a:solidFill>
                  <a:srgbClr val="2B2B2B"/>
                </a:solidFill>
                <a:latin typeface="Arial"/>
              </a:rPr>
              <a:t>→ Informations personnelles</a:t>
            </a:r>
          </a:p>
          <a:p>
            <a:pPr algn="l">
              <a:spcBef>
                <a:spcPts val="0"/>
              </a:spcBef>
              <a:spcAft>
                <a:spcPts val="100"/>
              </a:spcAft>
            </a:pPr>
            <a:r>
              <a:rPr sz="1000" b="0" i="0">
                <a:solidFill>
                  <a:srgbClr val="2B2B2B"/>
                </a:solidFill>
                <a:latin typeface="Arial"/>
              </a:rPr>
              <a:t>→ Vérifiez que vos coordonnées sont à jour : adresse, téléphone, médecin traitant déclaré. Ces informations sont essentielles pour que les professionnels de santé puissent vous contacter.</a:t>
            </a:r>
          </a:p>
          <a:p>
            <a:pPr algn="l">
              <a:spcBef>
                <a:spcPts val="0"/>
              </a:spcBef>
              <a:spcAft>
                <a:spcPts val="100"/>
              </a:spcAft>
            </a:pPr>
            <a:r>
              <a:rPr sz="1000" b="0" i="0">
                <a:solidFill>
                  <a:srgbClr val="2B2B2B"/>
                </a:solidFill>
                <a:latin typeface="Arial"/>
              </a:rPr>
              <a:t>→ Antécédents médicaux</a:t>
            </a:r>
          </a:p>
        </p:txBody>
      </p:sp>
      <p:sp>
        <p:nvSpPr>
          <p:cNvPr id="9" name="Rectangle 8"/>
          <p:cNvSpPr/>
          <p:nvPr/>
        </p:nvSpPr>
        <p:spPr>
          <a:xfrm>
            <a:off x="532800" y="3348000"/>
            <a:ext cx="6490800" cy="1371600"/>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32800" y="3348000"/>
            <a:ext cx="572400" cy="13716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206000" y="37692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2800" y="34146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6</a:t>
            </a:r>
          </a:p>
        </p:txBody>
      </p:sp>
      <p:sp>
        <p:nvSpPr>
          <p:cNvPr id="13" name="TextBox 12"/>
          <p:cNvSpPr txBox="1"/>
          <p:nvPr/>
        </p:nvSpPr>
        <p:spPr>
          <a:xfrm>
            <a:off x="1177200" y="33840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Vos documents</a:t>
            </a:r>
          </a:p>
        </p:txBody>
      </p:sp>
      <p:sp>
        <p:nvSpPr>
          <p:cNvPr id="14" name="TextBox 13"/>
          <p:cNvSpPr txBox="1"/>
          <p:nvPr/>
        </p:nvSpPr>
        <p:spPr>
          <a:xfrm>
            <a:off x="1159200" y="3812400"/>
            <a:ext cx="5828400" cy="871200"/>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Quels documents ajouter ?</a:t>
            </a:r>
          </a:p>
          <a:p>
            <a:pPr algn="l">
              <a:spcBef>
                <a:spcPts val="0"/>
              </a:spcBef>
              <a:spcAft>
                <a:spcPts val="100"/>
              </a:spcAft>
            </a:pPr>
            <a:r>
              <a:rPr sz="1000" b="0" i="0">
                <a:solidFill>
                  <a:srgbClr val="2B2B2B"/>
                </a:solidFill>
                <a:latin typeface="Arial"/>
              </a:rPr>
              <a:t>→ Ordonnances médicales</a:t>
            </a:r>
          </a:p>
          <a:p>
            <a:pPr algn="l">
              <a:spcBef>
                <a:spcPts val="0"/>
              </a:spcBef>
              <a:spcAft>
                <a:spcPts val="100"/>
              </a:spcAft>
            </a:pPr>
            <a:r>
              <a:rPr sz="1000" b="0" i="0">
                <a:solidFill>
                  <a:srgbClr val="2B2B2B"/>
                </a:solidFill>
                <a:latin typeface="Arial"/>
              </a:rPr>
              <a:t>→ Résultats d'analyses sanguines ou urinaires</a:t>
            </a:r>
          </a:p>
          <a:p>
            <a:pPr algn="l">
              <a:spcBef>
                <a:spcPts val="0"/>
              </a:spcBef>
              <a:spcAft>
                <a:spcPts val="100"/>
              </a:spcAft>
            </a:pPr>
            <a:r>
              <a:rPr sz="1000" b="0" i="0">
                <a:solidFill>
                  <a:srgbClr val="2B2B2B"/>
                </a:solidFill>
                <a:latin typeface="Arial"/>
              </a:rPr>
              <a:t>→ Comptes-rendus d'imagerie (radio, scanner, IRM)</a:t>
            </a:r>
          </a:p>
        </p:txBody>
      </p:sp>
      <p:sp>
        <p:nvSpPr>
          <p:cNvPr id="15" name="Rectangle 14"/>
          <p:cNvSpPr/>
          <p:nvPr/>
        </p:nvSpPr>
        <p:spPr>
          <a:xfrm>
            <a:off x="532800" y="4784400"/>
            <a:ext cx="6490800" cy="15336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32800" y="4784400"/>
            <a:ext cx="572400" cy="15336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206000" y="52056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2800" y="48510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7</a:t>
            </a:r>
          </a:p>
        </p:txBody>
      </p:sp>
      <p:sp>
        <p:nvSpPr>
          <p:cNvPr id="19" name="TextBox 18"/>
          <p:cNvSpPr txBox="1"/>
          <p:nvPr/>
        </p:nvSpPr>
        <p:spPr>
          <a:xfrm>
            <a:off x="1177200" y="48204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Partage &amp; Confidentialité</a:t>
            </a:r>
          </a:p>
        </p:txBody>
      </p:sp>
      <p:sp>
        <p:nvSpPr>
          <p:cNvPr id="20" name="TextBox 19"/>
          <p:cNvSpPr txBox="1"/>
          <p:nvPr/>
        </p:nvSpPr>
        <p:spPr>
          <a:xfrm>
            <a:off x="1159200" y="5248800"/>
            <a:ext cx="5828400" cy="10331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Gérer les accès à votre espace santé</a:t>
            </a:r>
          </a:p>
          <a:p>
            <a:pPr algn="l">
              <a:spcBef>
                <a:spcPts val="0"/>
              </a:spcBef>
              <a:spcAft>
                <a:spcPts val="100"/>
              </a:spcAft>
            </a:pPr>
            <a:r>
              <a:rPr sz="1000" b="0" i="0">
                <a:solidFill>
                  <a:srgbClr val="2B2B2B"/>
                </a:solidFill>
                <a:latin typeface="Arial"/>
              </a:rPr>
              <a:t>→ Vous restez maître de vos données à tout moment. Mon Espace Santé vous offre un contrôle total sur qui peut consulter vos informations.</a:t>
            </a:r>
          </a:p>
          <a:p>
            <a:pPr algn="l">
              <a:spcBef>
                <a:spcPts val="0"/>
              </a:spcBef>
              <a:spcAft>
                <a:spcPts val="100"/>
              </a:spcAft>
            </a:pPr>
            <a:r>
              <a:rPr sz="1000" b="0" i="0">
                <a:solidFill>
                  <a:srgbClr val="2B2B2B"/>
                </a:solidFill>
                <a:latin typeface="Arial"/>
              </a:rPr>
              <a:t>→ Accès ouvert</a:t>
            </a:r>
          </a:p>
          <a:p>
            <a:pPr algn="l">
              <a:spcBef>
                <a:spcPts val="0"/>
              </a:spcBef>
              <a:spcAft>
                <a:spcPts val="100"/>
              </a:spcAft>
            </a:pPr>
            <a:r>
              <a:rPr sz="1000" b="0" i="0">
                <a:solidFill>
                  <a:srgbClr val="2B2B2B"/>
                </a:solidFill>
                <a:latin typeface="Arial"/>
              </a:rPr>
              <a:t>→ Autorisez vos médecins et pharmaciens à consulter votre dossier lors d'une visite ou d'une dispensation de médicaments.</a:t>
            </a:r>
          </a:p>
        </p:txBody>
      </p:sp>
      <p:sp>
        <p:nvSpPr>
          <p:cNvPr id="21" name="Rectangle 20"/>
          <p:cNvSpPr/>
          <p:nvPr/>
        </p:nvSpPr>
        <p:spPr>
          <a:xfrm>
            <a:off x="532800" y="8892000"/>
            <a:ext cx="6490800" cy="1512000"/>
          </a:xfrm>
          <a:prstGeom prst="rect">
            <a:avLst/>
          </a:prstGeom>
          <a:solidFill>
            <a:srgbClr val="EBF5FF"/>
          </a:solidFill>
          <a:ln w="1016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221200" y="9478800"/>
            <a:ext cx="3110400" cy="72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792800" y="8956800"/>
            <a:ext cx="4140000" cy="1404000"/>
          </a:xfrm>
          <a:prstGeom prst="rect">
            <a:avLst/>
          </a:prstGeom>
          <a:noFill/>
        </p:spPr>
        <p:txBody>
          <a:bodyPr wrap="square" tIns="0" bIns="0" lIns="18000" rIns="18000">
            <a:spAutoFit/>
          </a:bodyPr>
          <a:lstStyle/>
          <a:p>
            <a:pPr algn="l">
              <a:spcBef>
                <a:spcPts val="0"/>
              </a:spcBef>
              <a:spcAft>
                <a:spcPts val="100"/>
              </a:spcAft>
            </a:pPr>
            <a:r>
              <a:rPr sz="1300" b="1" i="0">
                <a:solidFill>
                  <a:srgbClr val="4388BC"/>
                </a:solidFill>
                <a:latin typeface="Arial"/>
              </a:rPr>
              <a:t>Besoin d'aide ?</a:t>
            </a:r>
          </a:p>
          <a:p>
            <a:pPr algn="l">
              <a:spcBef>
                <a:spcPts val="0"/>
              </a:spcBef>
              <a:spcAft>
                <a:spcPts val="100"/>
              </a:spcAft>
            </a:pPr>
            <a:r>
              <a:rPr sz="1100" b="1" i="0">
                <a:solidFill>
                  <a:srgbClr val="187C88"/>
                </a:solidFill>
                <a:latin typeface="Arial"/>
              </a:rPr>
              <a:t>Votre Conseiller Numérique est là pour vous accompagner !</a:t>
            </a:r>
          </a:p>
          <a:p>
            <a:pPr algn="l">
              <a:spcBef>
                <a:spcPts val="0"/>
              </a:spcBef>
              <a:spcAft>
                <a:spcPts val="100"/>
              </a:spcAft>
            </a:pPr>
            <a:r>
              <a:rPr sz="1100" b="0" i="0">
                <a:solidFill>
                  <a:srgbClr val="2B2B2B"/>
                </a:solidFill>
                <a:latin typeface="Arial"/>
              </a:rPr>
              <a:t>conseiller-numerique@lotetgaronne.fr  ·  Tél : 05 53 47 31 32</a:t>
            </a:r>
          </a:p>
          <a:p>
            <a:pPr algn="l">
              <a:spcBef>
                <a:spcPts val="0"/>
              </a:spcBef>
              <a:spcAft>
                <a:spcPts val="100"/>
              </a:spcAft>
            </a:pPr>
            <a:r>
              <a:rPr sz="1000" b="0" i="0">
                <a:solidFill>
                  <a:srgbClr val="6E6E6D"/>
                </a:solidFill>
                <a:latin typeface="Arial"/>
              </a:rPr>
              <a:t>www.lotetgaronne.fr/inclusion-numerique</a:t>
            </a:r>
          </a:p>
          <a:p>
            <a:pPr algn="l">
              <a:spcBef>
                <a:spcPts val="0"/>
              </a:spcBef>
              <a:spcAft>
                <a:spcPts val="100"/>
              </a:spcAft>
            </a:pPr>
            <a:r>
              <a:rPr sz="900" b="0" i="0">
                <a:solidFill>
                  <a:srgbClr val="6E6E6D"/>
                </a:solidFill>
                <a:latin typeface="Arial"/>
              </a:rPr>
              <a:t>Direction des Systèmes d'Information — Service Inclusion Numérique — CD47</a:t>
            </a:r>
          </a:p>
        </p:txBody>
      </p:sp>
      <p:sp>
        <p:nvSpPr>
          <p:cNvPr id="24" name="TextBox 23"/>
          <p:cNvSpPr txBox="1"/>
          <p:nvPr/>
        </p:nvSpPr>
        <p:spPr>
          <a:xfrm>
            <a:off x="2383200" y="9925200"/>
            <a:ext cx="2797200" cy="180000"/>
          </a:xfrm>
          <a:prstGeom prst="rect">
            <a:avLst/>
          </a:prstGeom>
          <a:noFill/>
        </p:spPr>
        <p:txBody>
          <a:bodyPr wrap="square" tIns="0" bIns="0" lIns="18000" rIns="18000">
            <a:spAutoFit/>
          </a:bodyPr>
          <a:lstStyle/>
          <a:p>
            <a:pPr algn="ctr">
              <a:spcBef>
                <a:spcPts val="0"/>
              </a:spcBef>
              <a:spcAft>
                <a:spcPts val="100"/>
              </a:spcAft>
            </a:pPr>
            <a:r>
              <a:rPr sz="800" b="0" i="0">
                <a:solidFill>
                  <a:srgbClr val="6E6E6D"/>
                </a:solidFill>
                <a:latin typeface="Arial"/>
              </a:rPr>
              <a:t>v1.0 – 2025 – CD47 Service Inclusion Numérique  |  Page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