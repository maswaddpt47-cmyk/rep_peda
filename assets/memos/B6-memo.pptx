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Introduction</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Mon Espace Santé : c'est quoi exactement ?</a:t>
            </a:r>
          </a:p>
          <a:p>
            <a:pPr algn="l">
              <a:spcBef>
                <a:spcPts val="0"/>
              </a:spcBef>
              <a:spcAft>
                <a:spcPts val="100"/>
              </a:spcAft>
            </a:pPr>
            <a:r>
              <a:rPr sz="1000" b="0" i="0">
                <a:solidFill>
                  <a:srgbClr val="2B2B2B"/>
                </a:solidFill>
                <a:latin typeface="Arial"/>
              </a:rPr>
              <a:t>→ Mon Espace Santé est le service numérique officiel de l'Assurance Maladie. Il vous permet de centraliser toutes vos informations de santé en un seul endroit sécurisé, accessible depuis votre ordinateur, tablette ou smartphone.</a:t>
            </a:r>
          </a:p>
          <a:p>
            <a:pPr algn="l">
              <a:spcBef>
                <a:spcPts val="0"/>
              </a:spcBef>
              <a:spcAft>
                <a:spcPts val="100"/>
              </a:spcAft>
            </a:pPr>
            <a:r>
              <a:rPr sz="1000" b="0" i="0">
                <a:solidFill>
                  <a:srgbClr val="2B2B2B"/>
                </a:solidFill>
                <a:latin typeface="Arial"/>
              </a:rPr>
              <a:t>→ Vos documents</a:t>
            </a:r>
          </a:p>
          <a:p>
            <a:pPr algn="l">
              <a:spcBef>
                <a:spcPts val="0"/>
              </a:spcBef>
              <a:spcAft>
                <a:spcPts val="100"/>
              </a:spcAft>
            </a:pPr>
            <a:r>
              <a:rPr sz="1000" b="0" i="0">
                <a:solidFill>
                  <a:srgbClr val="2B2B2B"/>
                </a:solidFill>
                <a:latin typeface="Arial"/>
              </a:rPr>
              <a:t>→ Ordonnances, résultats d'analyses, comptes-rendus médicaux — tout au même endroit.</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Pourquoi s'inscrire ?</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bénéfices concrets au quotidien</a:t>
            </a:r>
          </a:p>
          <a:p>
            <a:pPr algn="l">
              <a:spcBef>
                <a:spcPts val="0"/>
              </a:spcBef>
              <a:spcAft>
                <a:spcPts val="100"/>
              </a:spcAft>
            </a:pPr>
            <a:r>
              <a:rPr sz="1000" b="0" i="0">
                <a:solidFill>
                  <a:srgbClr val="2B2B2B"/>
                </a:solidFill>
                <a:latin typeface="Arial"/>
              </a:rPr>
              <a:t>→ Finies les recherches de papiers</a:t>
            </a:r>
          </a:p>
          <a:p>
            <a:pPr algn="l">
              <a:spcBef>
                <a:spcPts val="0"/>
              </a:spcBef>
              <a:spcAft>
                <a:spcPts val="100"/>
              </a:spcAft>
            </a:pPr>
            <a:r>
              <a:rPr sz="1000" b="0" i="0">
                <a:solidFill>
                  <a:srgbClr val="2B2B2B"/>
                </a:solidFill>
                <a:latin typeface="Arial"/>
              </a:rPr>
              <a:t>→ Vos ordonnances, résultats et comptes-rendus sont stockés numériquement. Plus besoin de fouiller dans vos tiroirs avant un rendez-vous médical.</a:t>
            </a:r>
          </a:p>
          <a:p>
            <a:pPr algn="l">
              <a:spcBef>
                <a:spcPts val="0"/>
              </a:spcBef>
              <a:spcAft>
                <a:spcPts val="100"/>
              </a:spcAft>
            </a:pPr>
            <a:r>
              <a:rPr sz="1000" b="0" i="0">
                <a:solidFill>
                  <a:srgbClr val="2B2B2B"/>
                </a:solidFill>
                <a:latin typeface="Arial"/>
              </a:rPr>
              <a:t>→ Un meilleur suivi médical</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Avant de commencer</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 dont vous avez besoin pour vous inscrire</a:t>
            </a:r>
          </a:p>
          <a:p>
            <a:pPr algn="l">
              <a:spcBef>
                <a:spcPts val="0"/>
              </a:spcBef>
              <a:spcAft>
                <a:spcPts val="100"/>
              </a:spcAft>
            </a:pPr>
            <a:r>
              <a:rPr sz="1000" b="0" i="0">
                <a:solidFill>
                  <a:srgbClr val="2B2B2B"/>
                </a:solidFill>
                <a:latin typeface="Arial"/>
              </a:rPr>
              <a:t>→ Votre numéro de Sécurité Sociale</a:t>
            </a:r>
          </a:p>
          <a:p>
            <a:pPr algn="l">
              <a:spcBef>
                <a:spcPts val="0"/>
              </a:spcBef>
              <a:spcAft>
                <a:spcPts val="100"/>
              </a:spcAft>
            </a:pPr>
            <a:r>
              <a:rPr sz="1000" b="0" i="0">
                <a:solidFill>
                  <a:srgbClr val="2B2B2B"/>
                </a:solidFill>
                <a:latin typeface="Arial"/>
              </a:rPr>
              <a:t>→ Le numéro à 15 chiffres figurant sur votre carte Vitale ou votre attestation d'Assurance Maladie.</a:t>
            </a:r>
          </a:p>
          <a:p>
            <a:pPr algn="l">
              <a:spcBef>
                <a:spcPts val="0"/>
              </a:spcBef>
              <a:spcAft>
                <a:spcPts val="100"/>
              </a:spcAft>
            </a:pPr>
            <a:r>
              <a:rPr sz="1000" b="0" i="0">
                <a:solidFill>
                  <a:srgbClr val="2B2B2B"/>
                </a:solidFill>
                <a:latin typeface="Arial"/>
              </a:rPr>
              <a:t>→ Une adresse e-mail valide</a:t>
            </a:r>
          </a:p>
        </p:txBody>
      </p:sp>
      <p:sp>
        <p:nvSpPr>
          <p:cNvPr id="21" name="Rectangle 20"/>
          <p:cNvSpPr/>
          <p:nvPr/>
        </p:nvSpPr>
        <p:spPr>
          <a:xfrm>
            <a:off x="532800" y="60587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0587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48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1253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09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Connexion sécurisée</a:t>
            </a:r>
          </a:p>
        </p:txBody>
      </p:sp>
      <p:sp>
        <p:nvSpPr>
          <p:cNvPr id="26" name="TextBox 25"/>
          <p:cNvSpPr txBox="1"/>
          <p:nvPr/>
        </p:nvSpPr>
        <p:spPr>
          <a:xfrm>
            <a:off x="1159200" y="65232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 connecter à Mon Espace Santé</a:t>
            </a:r>
          </a:p>
          <a:p>
            <a:pPr algn="l">
              <a:spcBef>
                <a:spcPts val="0"/>
              </a:spcBef>
              <a:spcAft>
                <a:spcPts val="100"/>
              </a:spcAft>
            </a:pPr>
            <a:r>
              <a:rPr sz="1000" b="0" i="0">
                <a:solidFill>
                  <a:srgbClr val="2B2B2B"/>
                </a:solidFill>
                <a:latin typeface="Arial"/>
              </a:rPr>
              <a:t>→ Une fois votre compte créé, vous pouvez vous connecter de deux façons :</a:t>
            </a:r>
          </a:p>
          <a:p>
            <a:pPr algn="l">
              <a:spcBef>
                <a:spcPts val="0"/>
              </a:spcBef>
              <a:spcAft>
                <a:spcPts val="100"/>
              </a:spcAft>
            </a:pPr>
            <a:r>
              <a:rPr sz="1000" b="0" i="0">
                <a:solidFill>
                  <a:srgbClr val="2B2B2B"/>
                </a:solidFill>
                <a:latin typeface="Arial"/>
              </a:rPr>
              <a:t>→ Via votre compte Ameli</a:t>
            </a:r>
          </a:p>
          <a:p>
            <a:pPr algn="l">
              <a:spcBef>
                <a:spcPts val="0"/>
              </a:spcBef>
              <a:spcAft>
                <a:spcPts val="100"/>
              </a:spcAft>
            </a:pPr>
            <a:r>
              <a:rPr sz="1000" b="0" i="0">
                <a:solidFill>
                  <a:srgbClr val="2B2B2B"/>
                </a:solidFill>
                <a:latin typeface="Arial"/>
              </a:rPr>
              <a:t>→ Utilisez vos identifiants habituels Ameli (numéro de Sécurité Sociale + mot de passe). C'est la méthode la plus courante si vous utilisez déjà le site ameli.fr.</a:t>
            </a:r>
          </a:p>
        </p:txBody>
      </p:sp>
      <p:sp>
        <p:nvSpPr>
          <p:cNvPr id="27" name="Rectangle 26"/>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Personnalisation | Vos documents | Partage &amp; Confidentialité</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Créer et gérer votre Espace Personnel sur Mon Espace Santé</a:t>
            </a:r>
          </a:p>
          <a:p>
            <a:pPr algn="l">
              <a:spcBef>
                <a:spcPts val="0"/>
              </a:spcBef>
              <a:spcAft>
                <a:spcPts val="100"/>
              </a:spcAft>
            </a:pPr>
            <a:r>
              <a:rPr sz="1000" b="0" i="0">
                <a:solidFill>
                  <a:srgbClr val="6E6E6D"/>
                </a:solidFill>
                <a:latin typeface="Arial"/>
              </a:rPr>
              <a:t>Introduction | Pourquoi s'inscrire ? | Avant de commencer</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Personnalisation</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Compléter votre profil de santé</a:t>
            </a:r>
          </a:p>
          <a:p>
            <a:pPr algn="l">
              <a:spcBef>
                <a:spcPts val="0"/>
              </a:spcBef>
              <a:spcAft>
                <a:spcPts val="100"/>
              </a:spcAft>
            </a:pPr>
            <a:r>
              <a:rPr sz="1000" b="0" i="0">
                <a:solidFill>
                  <a:srgbClr val="2B2B2B"/>
                </a:solidFill>
                <a:latin typeface="Arial"/>
              </a:rPr>
              <a:t>→ Informations personnelles</a:t>
            </a:r>
          </a:p>
          <a:p>
            <a:pPr algn="l">
              <a:spcBef>
                <a:spcPts val="0"/>
              </a:spcBef>
              <a:spcAft>
                <a:spcPts val="100"/>
              </a:spcAft>
            </a:pPr>
            <a:r>
              <a:rPr sz="1000" b="0" i="0">
                <a:solidFill>
                  <a:srgbClr val="2B2B2B"/>
                </a:solidFill>
                <a:latin typeface="Arial"/>
              </a:rPr>
              <a:t>→ Vérifiez que vos coordonnées sont à jour : adresse, téléphone, médecin traitant déclaré. Ces informations sont essentielles pour que les professionnels de santé puissent vous contacter.</a:t>
            </a:r>
          </a:p>
          <a:p>
            <a:pPr algn="l">
              <a:spcBef>
                <a:spcPts val="0"/>
              </a:spcBef>
              <a:spcAft>
                <a:spcPts val="100"/>
              </a:spcAft>
            </a:pPr>
            <a:r>
              <a:rPr sz="1000" b="0" i="0">
                <a:solidFill>
                  <a:srgbClr val="2B2B2B"/>
                </a:solidFill>
                <a:latin typeface="Arial"/>
              </a:rPr>
              <a:t>→ Antécédents médicaux</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Vos documents</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Quels documents ajouter ?</a:t>
            </a:r>
          </a:p>
          <a:p>
            <a:pPr algn="l">
              <a:spcBef>
                <a:spcPts val="0"/>
              </a:spcBef>
              <a:spcAft>
                <a:spcPts val="100"/>
              </a:spcAft>
            </a:pPr>
            <a:r>
              <a:rPr sz="1000" b="0" i="0">
                <a:solidFill>
                  <a:srgbClr val="2B2B2B"/>
                </a:solidFill>
                <a:latin typeface="Arial"/>
              </a:rPr>
              <a:t>→ Ordonnances médicales</a:t>
            </a:r>
          </a:p>
          <a:p>
            <a:pPr algn="l">
              <a:spcBef>
                <a:spcPts val="0"/>
              </a:spcBef>
              <a:spcAft>
                <a:spcPts val="100"/>
              </a:spcAft>
            </a:pPr>
            <a:r>
              <a:rPr sz="1000" b="0" i="0">
                <a:solidFill>
                  <a:srgbClr val="2B2B2B"/>
                </a:solidFill>
                <a:latin typeface="Arial"/>
              </a:rPr>
              <a:t>→ Résultats d'analyses sanguines ou urinaires</a:t>
            </a:r>
          </a:p>
          <a:p>
            <a:pPr algn="l">
              <a:spcBef>
                <a:spcPts val="0"/>
              </a:spcBef>
              <a:spcAft>
                <a:spcPts val="100"/>
              </a:spcAft>
            </a:pPr>
            <a:r>
              <a:rPr sz="1000" b="0" i="0">
                <a:solidFill>
                  <a:srgbClr val="2B2B2B"/>
                </a:solidFill>
                <a:latin typeface="Arial"/>
              </a:rPr>
              <a:t>→ Comptes-rendus d'imagerie (radio, scanner, IRM)</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Partage &amp; Confidentialité</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Gérer les accès à votre espace santé</a:t>
            </a:r>
          </a:p>
          <a:p>
            <a:pPr algn="l">
              <a:spcBef>
                <a:spcPts val="0"/>
              </a:spcBef>
              <a:spcAft>
                <a:spcPts val="100"/>
              </a:spcAft>
            </a:pPr>
            <a:r>
              <a:rPr sz="1000" b="0" i="0">
                <a:solidFill>
                  <a:srgbClr val="2B2B2B"/>
                </a:solidFill>
                <a:latin typeface="Arial"/>
              </a:rPr>
              <a:t>→ Vous restez maître de vos données à tout moment. Mon Espace Santé vous offre un contrôle total sur qui peut consulter vos informations.</a:t>
            </a:r>
          </a:p>
          <a:p>
            <a:pPr algn="l">
              <a:spcBef>
                <a:spcPts val="0"/>
              </a:spcBef>
              <a:spcAft>
                <a:spcPts val="100"/>
              </a:spcAft>
            </a:pPr>
            <a:r>
              <a:rPr sz="1000" b="0" i="0">
                <a:solidFill>
                  <a:srgbClr val="2B2B2B"/>
                </a:solidFill>
                <a:latin typeface="Arial"/>
              </a:rPr>
              <a:t>→ Accès ouvert</a:t>
            </a:r>
          </a:p>
          <a:p>
            <a:pPr algn="l">
              <a:spcBef>
                <a:spcPts val="0"/>
              </a:spcBef>
              <a:spcAft>
                <a:spcPts val="100"/>
              </a:spcAft>
            </a:pPr>
            <a:r>
              <a:rPr sz="1000" b="0" i="0">
                <a:solidFill>
                  <a:srgbClr val="2B2B2B"/>
                </a:solidFill>
                <a:latin typeface="Arial"/>
              </a:rPr>
              <a:t>→ Autorisez vos médecins et pharmaciens à consulter votre dossier lors d'une visite ou d'une dispensation de médicaments.</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