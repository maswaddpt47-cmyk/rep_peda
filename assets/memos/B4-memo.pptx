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4" name="Rectangle 3"/>
          <p:cNvSpPr/>
          <p:nvPr/>
        </p:nvSpPr>
        <p:spPr>
          <a:xfrm>
            <a:off x="532800" y="1749600"/>
            <a:ext cx="6490800" cy="16848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684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les démarches en ligne semblent compliquées</a:t>
            </a:r>
          </a:p>
        </p:txBody>
      </p:sp>
      <p:sp>
        <p:nvSpPr>
          <p:cNvPr id="9" name="TextBox 8"/>
          <p:cNvSpPr txBox="1"/>
          <p:nvPr/>
        </p:nvSpPr>
        <p:spPr>
          <a:xfrm>
            <a:off x="1159200" y="22140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a:p>
            <a:pPr algn="l">
              <a:spcBef>
                <a:spcPts val="0"/>
              </a:spcBef>
              <a:spcAft>
                <a:spcPts val="100"/>
              </a:spcAft>
            </a:pPr>
            <a:r>
              <a:rPr sz="1000" b="0" i="0">
                <a:solidFill>
                  <a:srgbClr val="2B2B2B"/>
                </a:solidFill>
                <a:latin typeface="Arial"/>
              </a:rPr>
              <a:t>→ Trop de sites différents</a:t>
            </a:r>
          </a:p>
          <a:p>
            <a:pPr algn="l">
              <a:spcBef>
                <a:spcPts val="0"/>
              </a:spcBef>
              <a:spcAft>
                <a:spcPts val="100"/>
              </a:spcAft>
            </a:pPr>
            <a:r>
              <a:rPr sz="1000" b="0" i="0">
                <a:solidFill>
                  <a:srgbClr val="2B2B2B"/>
                </a:solidFill>
                <a:latin typeface="Arial"/>
              </a:rPr>
              <a:t>→ impots.gouv.fr, ameli.fr, caf.fr, service-public.fr On ne sait plus où aller en premier.</a:t>
            </a:r>
          </a:p>
          <a:p>
            <a:pPr algn="l">
              <a:spcBef>
                <a:spcPts val="0"/>
              </a:spcBef>
              <a:spcAft>
                <a:spcPts val="100"/>
              </a:spcAft>
            </a:pPr>
            <a:r>
              <a:rPr sz="1000" b="0" i="0">
                <a:solidFill>
                  <a:srgbClr val="2B2B2B"/>
                </a:solidFill>
                <a:latin typeface="Arial"/>
              </a:rPr>
              <a:t>→ Peur des erreurs</a:t>
            </a:r>
          </a:p>
        </p:txBody>
      </p:sp>
      <p:sp>
        <p:nvSpPr>
          <p:cNvPr id="10" name="Rectangle 9"/>
          <p:cNvSpPr/>
          <p:nvPr/>
        </p:nvSpPr>
        <p:spPr>
          <a:xfrm>
            <a:off x="532800" y="34991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4991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39203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565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4" name="TextBox 13"/>
          <p:cNvSpPr txBox="1"/>
          <p:nvPr/>
        </p:nvSpPr>
        <p:spPr>
          <a:xfrm>
            <a:off x="1177200" y="35351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Service-public.fr : votre portail officiel</a:t>
            </a:r>
          </a:p>
        </p:txBody>
      </p:sp>
      <p:sp>
        <p:nvSpPr>
          <p:cNvPr id="15" name="TextBox 14"/>
          <p:cNvSpPr txBox="1"/>
          <p:nvPr/>
        </p:nvSpPr>
        <p:spPr>
          <a:xfrm>
            <a:off x="1159200" y="39635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a:p>
            <a:pPr algn="l">
              <a:spcBef>
                <a:spcPts val="0"/>
              </a:spcBef>
              <a:spcAft>
                <a:spcPts val="100"/>
              </a:spcAft>
            </a:pPr>
            <a:r>
              <a:rPr sz="1000" b="0" i="0">
                <a:solidFill>
                  <a:srgbClr val="2B2B2B"/>
                </a:solidFill>
                <a:latin typeface="Arial"/>
              </a:rPr>
              <a:t>→ S'informer</a:t>
            </a:r>
          </a:p>
          <a:p>
            <a:pPr algn="l">
              <a:spcBef>
                <a:spcPts val="0"/>
              </a:spcBef>
              <a:spcAft>
                <a:spcPts val="100"/>
              </a:spcAft>
            </a:pPr>
            <a:r>
              <a:rPr sz="1000" b="0" i="0">
                <a:solidFill>
                  <a:srgbClr val="2B2B2B"/>
                </a:solidFill>
                <a:latin typeface="Arial"/>
              </a:rPr>
              <a:t>→ Fiches pratiques claires sur vos droits et obligations, rédigées en langage accessible.</a:t>
            </a:r>
          </a:p>
          <a:p>
            <a:pPr algn="l">
              <a:spcBef>
                <a:spcPts val="0"/>
              </a:spcBef>
              <a:spcAft>
                <a:spcPts val="100"/>
              </a:spcAft>
            </a:pPr>
            <a:r>
              <a:rPr sz="1000" b="0" i="0">
                <a:solidFill>
                  <a:srgbClr val="2B2B2B"/>
                </a:solidFill>
                <a:latin typeface="Arial"/>
              </a:rPr>
              <a:t>→ Faire une démarche</a:t>
            </a:r>
          </a:p>
        </p:txBody>
      </p:sp>
      <p:sp>
        <p:nvSpPr>
          <p:cNvPr id="16" name="Rectangle 15"/>
          <p:cNvSpPr/>
          <p:nvPr/>
        </p:nvSpPr>
        <p:spPr>
          <a:xfrm>
            <a:off x="532800" y="5399999"/>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399999"/>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8211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4666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20" name="TextBox 19"/>
          <p:cNvSpPr txBox="1"/>
          <p:nvPr/>
        </p:nvSpPr>
        <p:spPr>
          <a:xfrm>
            <a:off x="1177200" y="54359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naviguer sur service-public.fr</a:t>
            </a:r>
          </a:p>
        </p:txBody>
      </p:sp>
      <p:sp>
        <p:nvSpPr>
          <p:cNvPr id="21" name="TextBox 20"/>
          <p:cNvSpPr txBox="1"/>
          <p:nvPr/>
        </p:nvSpPr>
        <p:spPr>
          <a:xfrm>
            <a:off x="1159200" y="58644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 site est organisé de manière logique. Voici comment l'utiliser efficacement, étape par étape, même si vous n'êtes pas à l'aise avec Internet.</a:t>
            </a:r>
          </a:p>
          <a:p>
            <a:pPr algn="l">
              <a:spcBef>
                <a:spcPts val="0"/>
              </a:spcBef>
              <a:spcAft>
                <a:spcPts val="100"/>
              </a:spcAft>
            </a:pPr>
            <a:r>
              <a:rPr sz="1000" b="0" i="0">
                <a:solidFill>
                  <a:srgbClr val="2B2B2B"/>
                </a:solidFill>
                <a:latin typeface="Arial"/>
              </a:rPr>
              <a:t>→ Choisir profil</a:t>
            </a:r>
          </a:p>
          <a:p>
            <a:pPr algn="l">
              <a:spcBef>
                <a:spcPts val="0"/>
              </a:spcBef>
              <a:spcAft>
                <a:spcPts val="100"/>
              </a:spcAft>
            </a:pPr>
            <a:r>
              <a:rPr sz="1000" b="0" i="0">
                <a:solidFill>
                  <a:srgbClr val="2B2B2B"/>
                </a:solidFill>
                <a:latin typeface="Arial"/>
              </a:rPr>
              <a:t>→ Particulier, pro ou association</a:t>
            </a:r>
          </a:p>
          <a:p>
            <a:pPr algn="l">
              <a:spcBef>
                <a:spcPts val="0"/>
              </a:spcBef>
              <a:spcAft>
                <a:spcPts val="100"/>
              </a:spcAft>
            </a:pPr>
            <a:r>
              <a:rPr sz="1000" b="0" i="0">
                <a:solidFill>
                  <a:srgbClr val="2B2B2B"/>
                </a:solidFill>
                <a:latin typeface="Arial"/>
              </a:rPr>
              <a:t>→ Suivre la fiche</a:t>
            </a:r>
          </a:p>
        </p:txBody>
      </p:sp>
      <p:sp>
        <p:nvSpPr>
          <p:cNvPr id="22" name="Rectangle 21"/>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La Boussole des jeunes : pour les 16–30 ans | FranceConnect : une clé pour tous les services | Les principaux sites par thème</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4" name="TextBox 23"/>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2.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Les démarches administratives en ligne</a:t>
            </a:r>
          </a:p>
          <a:p>
            <a:pPr algn="l">
              <a:spcBef>
                <a:spcPts val="0"/>
              </a:spcBef>
              <a:spcAft>
                <a:spcPts val="100"/>
              </a:spcAft>
            </a:pPr>
            <a:r>
              <a:rPr sz="1000" b="0" i="0">
                <a:solidFill>
                  <a:srgbClr val="6E6E6D"/>
                </a:solidFill>
                <a:latin typeface="Arial"/>
              </a:rPr>
              <a:t>Pourquoi les démarches en ligne semblent compliquées | Service-public.fr : votre portail officiel | Comment naviguer sur service-public.fr</a:t>
            </a:r>
          </a:p>
        </p:txBody>
      </p:sp>
      <p:sp>
        <p:nvSpPr>
          <p:cNvPr id="4" name="Rectangle 3"/>
          <p:cNvSpPr/>
          <p:nvPr/>
        </p:nvSpPr>
        <p:spPr>
          <a:xfrm>
            <a:off x="532800" y="1749600"/>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32800" y="1749600"/>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8" name="TextBox 7"/>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La Boussole des jeunes : pour les 16–30 ans</a:t>
            </a:r>
          </a:p>
        </p:txBody>
      </p:sp>
      <p:sp>
        <p:nvSpPr>
          <p:cNvPr id="9" name="TextBox 8"/>
          <p:cNvSpPr txBox="1"/>
          <p:nvPr/>
        </p:nvSpPr>
        <p:spPr>
          <a:xfrm>
            <a:off x="1159200" y="22140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a:p>
            <a:pPr algn="l">
              <a:spcBef>
                <a:spcPts val="0"/>
              </a:spcBef>
              <a:spcAft>
                <a:spcPts val="100"/>
              </a:spcAft>
            </a:pPr>
            <a:r>
              <a:rPr sz="1000" b="0" i="0">
                <a:solidFill>
                  <a:srgbClr val="2B2B2B"/>
                </a:solidFill>
                <a:latin typeface="Arial"/>
              </a:rPr>
              <a:t>→ Aides financières</a:t>
            </a:r>
          </a:p>
          <a:p>
            <a:pPr algn="l">
              <a:spcBef>
                <a:spcPts val="0"/>
              </a:spcBef>
              <a:spcAft>
                <a:spcPts val="100"/>
              </a:spcAft>
            </a:pPr>
            <a:r>
              <a:rPr sz="1000" b="0" i="0">
                <a:solidFill>
                  <a:srgbClr val="2B2B2B"/>
                </a:solidFill>
                <a:latin typeface="Arial"/>
              </a:rPr>
              <a:t>→ Découvrez les aides au logement, les bourses, le RSA jeunes, la Garantie Jeunes et bien d'autres dispositifs selon votre profil.</a:t>
            </a:r>
          </a:p>
          <a:p>
            <a:pPr algn="l">
              <a:spcBef>
                <a:spcPts val="0"/>
              </a:spcBef>
              <a:spcAft>
                <a:spcPts val="100"/>
              </a:spcAft>
            </a:pPr>
            <a:r>
              <a:rPr sz="1000" b="0" i="0">
                <a:solidFill>
                  <a:srgbClr val="2B2B2B"/>
                </a:solidFill>
                <a:latin typeface="Arial"/>
              </a:rPr>
              <a:t>→ Emploi &amp; formation</a:t>
            </a:r>
          </a:p>
        </p:txBody>
      </p:sp>
      <p:sp>
        <p:nvSpPr>
          <p:cNvPr id="10" name="Rectangle 9"/>
          <p:cNvSpPr/>
          <p:nvPr/>
        </p:nvSpPr>
        <p:spPr>
          <a:xfrm>
            <a:off x="532800" y="3650400"/>
            <a:ext cx="6490800" cy="1533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32800" y="3650400"/>
            <a:ext cx="572400" cy="1533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206000" y="4071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2800" y="37170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4" name="TextBox 13"/>
          <p:cNvSpPr txBox="1"/>
          <p:nvPr/>
        </p:nvSpPr>
        <p:spPr>
          <a:xfrm>
            <a:off x="1177200" y="3686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FranceConnect : une clé pour tous les services</a:t>
            </a:r>
          </a:p>
        </p:txBody>
      </p:sp>
      <p:sp>
        <p:nvSpPr>
          <p:cNvPr id="15" name="TextBox 14"/>
          <p:cNvSpPr txBox="1"/>
          <p:nvPr/>
        </p:nvSpPr>
        <p:spPr>
          <a:xfrm>
            <a:off x="1159200" y="4114800"/>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a:p>
            <a:pPr algn="l">
              <a:spcBef>
                <a:spcPts val="0"/>
              </a:spcBef>
              <a:spcAft>
                <a:spcPts val="100"/>
              </a:spcAft>
            </a:pPr>
            <a:r>
              <a:rPr sz="1000" b="0" i="0">
                <a:solidFill>
                  <a:srgbClr val="2B2B2B"/>
                </a:solidFill>
                <a:latin typeface="Arial"/>
              </a:rPr>
              <a:t>→ Comment ça marche ?</a:t>
            </a:r>
          </a:p>
          <a:p>
            <a:pPr algn="l">
              <a:spcBef>
                <a:spcPts val="0"/>
              </a:spcBef>
              <a:spcAft>
                <a:spcPts val="100"/>
              </a:spcAft>
            </a:pPr>
            <a:r>
              <a:rPr sz="1000" b="0" i="0">
                <a:solidFill>
                  <a:srgbClr val="2B2B2B"/>
                </a:solidFill>
                <a:latin typeface="Arial"/>
              </a:rPr>
              <a:t>→ Cliquez sur « Se connecter avec FranceConnect »</a:t>
            </a:r>
          </a:p>
          <a:p>
            <a:pPr algn="l">
              <a:spcBef>
                <a:spcPts val="0"/>
              </a:spcBef>
              <a:spcAft>
                <a:spcPts val="100"/>
              </a:spcAft>
            </a:pPr>
            <a:r>
              <a:rPr sz="1000" b="0" i="0">
                <a:solidFill>
                  <a:srgbClr val="2B2B2B"/>
                </a:solidFill>
                <a:latin typeface="Arial"/>
              </a:rPr>
              <a:t>→ Choisissez votre fournisseur d'identité (impots.gouv, ameli)</a:t>
            </a:r>
          </a:p>
        </p:txBody>
      </p:sp>
      <p:sp>
        <p:nvSpPr>
          <p:cNvPr id="16" name="Rectangle 15"/>
          <p:cNvSpPr/>
          <p:nvPr/>
        </p:nvSpPr>
        <p:spPr>
          <a:xfrm>
            <a:off x="532800" y="5248800"/>
            <a:ext cx="6490800" cy="16848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2800" y="5248800"/>
            <a:ext cx="572400" cy="1684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6000" y="56700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32800" y="5315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20" name="TextBox 19"/>
          <p:cNvSpPr txBox="1"/>
          <p:nvPr/>
        </p:nvSpPr>
        <p:spPr>
          <a:xfrm>
            <a:off x="1177200" y="52848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Les principaux sites par thème</a:t>
            </a:r>
          </a:p>
        </p:txBody>
      </p:sp>
      <p:sp>
        <p:nvSpPr>
          <p:cNvPr id="21" name="TextBox 20"/>
          <p:cNvSpPr txBox="1"/>
          <p:nvPr/>
        </p:nvSpPr>
        <p:spPr>
          <a:xfrm>
            <a:off x="1159200" y="5713200"/>
            <a:ext cx="5828400" cy="11843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Voici un panorama des sites officiels les plus utiles au quotidien. Tous sont gratuits et accessibles depuis un ordinateur, une tablette ou un smartphone.</a:t>
            </a:r>
          </a:p>
          <a:p>
            <a:pPr algn="l">
              <a:spcBef>
                <a:spcPts val="0"/>
              </a:spcBef>
              <a:spcAft>
                <a:spcPts val="100"/>
              </a:spcAft>
            </a:pPr>
            <a:r>
              <a:rPr sz="1000" b="0" i="0">
                <a:solidFill>
                  <a:srgbClr val="2B2B2B"/>
                </a:solidFill>
                <a:latin typeface="Arial"/>
              </a:rPr>
              <a:t>→ impots.gouv.fr — Déclaration de revenus, paiement, simulation d'impôt, remboursements. Accessible via FranceConnect.</a:t>
            </a:r>
          </a:p>
          <a:p>
            <a:pPr algn="l">
              <a:spcBef>
                <a:spcPts val="0"/>
              </a:spcBef>
              <a:spcAft>
                <a:spcPts val="100"/>
              </a:spcAft>
            </a:pPr>
            <a:r>
              <a:rPr sz="1000" b="0" i="0">
                <a:solidFill>
                  <a:srgbClr val="2B2B2B"/>
                </a:solidFill>
                <a:latin typeface="Arial"/>
              </a:rPr>
              <a:t>→ ameli.fr — Remboursements, carte vitale, arrêts de travail, médecin traitant. Votre espace personnel Ameli.</a:t>
            </a:r>
          </a:p>
          <a:p>
            <a:pPr algn="l">
              <a:spcBef>
                <a:spcPts val="0"/>
              </a:spcBef>
              <a:spcAft>
                <a:spcPts val="100"/>
              </a:spcAft>
            </a:pPr>
            <a:r>
              <a:rPr sz="1000" b="0" i="0">
                <a:solidFill>
                  <a:srgbClr val="2B2B2B"/>
                </a:solidFill>
                <a:latin typeface="Arial"/>
              </a:rPr>
              <a:t>→ Famille &amp; logement</a:t>
            </a:r>
          </a:p>
        </p:txBody>
      </p:sp>
      <p:sp>
        <p:nvSpPr>
          <p:cNvPr id="22" name="Rectangle 21"/>
          <p:cNvSpPr/>
          <p:nvPr/>
        </p:nvSpPr>
        <p:spPr>
          <a:xfrm>
            <a:off x="532800" y="69983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32800" y="69983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6000" y="74196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32800" y="7064999"/>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7</a:t>
            </a:r>
          </a:p>
        </p:txBody>
      </p:sp>
      <p:sp>
        <p:nvSpPr>
          <p:cNvPr id="26" name="TextBox 25"/>
          <p:cNvSpPr txBox="1"/>
          <p:nvPr/>
        </p:nvSpPr>
        <p:spPr>
          <a:xfrm>
            <a:off x="1177200" y="70344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Vous n'êtes pas seule : les lieux d'aide</a:t>
            </a:r>
          </a:p>
        </p:txBody>
      </p:sp>
      <p:sp>
        <p:nvSpPr>
          <p:cNvPr id="27" name="TextBox 26"/>
          <p:cNvSpPr txBox="1"/>
          <p:nvPr/>
        </p:nvSpPr>
        <p:spPr>
          <a:xfrm>
            <a:off x="1159200" y="7462800"/>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Effectuer des démarches en ligne ne veut pas dire être seul face à l'écran. De nombreux professionnels et bénévoles sont là pour vous accompagner, gratuitement, près de chez vous.</a:t>
            </a:r>
          </a:p>
          <a:p>
            <a:pPr algn="l">
              <a:spcBef>
                <a:spcPts val="0"/>
              </a:spcBef>
              <a:spcAft>
                <a:spcPts val="100"/>
              </a:spcAft>
            </a:pPr>
            <a:r>
              <a:rPr sz="1000" b="0" i="0">
                <a:solidFill>
                  <a:srgbClr val="2B2B2B"/>
                </a:solidFill>
                <a:latin typeface="Arial"/>
              </a:rPr>
              <a:t>→ France Services</a:t>
            </a:r>
          </a:p>
          <a:p>
            <a:pPr algn="l">
              <a:spcBef>
                <a:spcPts val="0"/>
              </a:spcBef>
              <a:spcAft>
                <a:spcPts val="100"/>
              </a:spcAft>
            </a:pPr>
            <a:r>
              <a:rPr sz="1000" b="0" i="0">
                <a:solidFill>
                  <a:srgbClr val="2B2B2B"/>
                </a:solidFill>
                <a:latin typeface="Arial"/>
              </a:rPr>
              <a:t>→ Un réseau de plus de 2 700 espaces en France où des agents formés vous aident à réaliser toutes vos démarches administratives en ligne, gratuitement. Disponible en zones urbaines et rurales.</a:t>
            </a:r>
          </a:p>
          <a:p>
            <a:pPr algn="l">
              <a:spcBef>
                <a:spcPts val="0"/>
              </a:spcBef>
              <a:spcAft>
                <a:spcPts val="100"/>
              </a:spcAft>
            </a:pPr>
            <a:r>
              <a:rPr sz="1000" b="0" i="0">
                <a:solidFill>
                  <a:srgbClr val="2B2B2B"/>
                </a:solidFill>
                <a:latin typeface="Arial"/>
              </a:rPr>
              <a:t>→ Bibliothèques et médiathèques</a:t>
            </a:r>
          </a:p>
        </p:txBody>
      </p:sp>
      <p:sp>
        <p:nvSpPr>
          <p:cNvPr id="28" name="Rectangle 27"/>
          <p:cNvSpPr/>
          <p:nvPr/>
        </p:nvSpPr>
        <p:spPr>
          <a:xfrm>
            <a:off x="532800" y="91152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221200" y="97020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792800" y="91800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31" name="TextBox 30"/>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