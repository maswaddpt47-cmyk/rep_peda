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Les démarches administratives en ligne</a:t>
            </a:r>
          </a:p>
          <a:p>
            <a:pPr algn="l">
              <a:spcBef>
                <a:spcPts val="0"/>
              </a:spcBef>
              <a:spcAft>
                <a:spcPts val="100"/>
              </a:spcAft>
            </a:pPr>
            <a:r>
              <a:rPr sz="1000" b="0" i="0">
                <a:solidFill>
                  <a:srgbClr val="6E6E6D"/>
                </a:solidFill>
                <a:latin typeface="Arial"/>
              </a:rPr>
              <a:t>Pourquoi les démarches en ligne semblent compliquées | Service-public.fr : votre portail officiel | Comment naviguer sur service-public.fr</a:t>
            </a:r>
          </a:p>
        </p:txBody>
      </p:sp>
      <p:sp>
        <p:nvSpPr>
          <p:cNvPr id="3" name="Rectangle 2"/>
          <p:cNvSpPr/>
          <p:nvPr/>
        </p:nvSpPr>
        <p:spPr>
          <a:xfrm>
            <a:off x="532800" y="17496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1</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Pourquoi les démarches en ligne semblent compliquées</a:t>
            </a:r>
          </a:p>
        </p:txBody>
      </p:sp>
      <p:sp>
        <p:nvSpPr>
          <p:cNvPr id="8" name="TextBox 7"/>
          <p:cNvSpPr txBox="1"/>
          <p:nvPr/>
        </p:nvSpPr>
        <p:spPr>
          <a:xfrm>
            <a:off x="1159200" y="22140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Beaucoup de personnes hésitent à effectuer leurs démarches administratives en ligne. Et c'est tout à fait normal ! Les sites sont nombreux, les formulaires parfois longs, et la peur de faire une erreur peut bloquer.</a:t>
            </a:r>
          </a:p>
          <a:p>
            <a:pPr algn="l">
              <a:spcBef>
                <a:spcPts val="0"/>
              </a:spcBef>
              <a:spcAft>
                <a:spcPts val="100"/>
              </a:spcAft>
            </a:pPr>
            <a:r>
              <a:rPr sz="1000" b="0" i="0">
                <a:solidFill>
                  <a:srgbClr val="2B2B2B"/>
                </a:solidFill>
                <a:latin typeface="Arial"/>
              </a:rPr>
              <a:t>→ Trop de sites différents</a:t>
            </a:r>
          </a:p>
          <a:p>
            <a:pPr algn="l">
              <a:spcBef>
                <a:spcPts val="0"/>
              </a:spcBef>
              <a:spcAft>
                <a:spcPts val="100"/>
              </a:spcAft>
            </a:pPr>
            <a:r>
              <a:rPr sz="1000" b="0" i="0">
                <a:solidFill>
                  <a:srgbClr val="2B2B2B"/>
                </a:solidFill>
                <a:latin typeface="Arial"/>
              </a:rPr>
              <a:t>→ impots.gouv.fr, ameli.fr, caf.fr, service-public.fr On ne sait plus où aller en premier.</a:t>
            </a:r>
          </a:p>
          <a:p>
            <a:pPr algn="l">
              <a:spcBef>
                <a:spcPts val="0"/>
              </a:spcBef>
              <a:spcAft>
                <a:spcPts val="100"/>
              </a:spcAft>
            </a:pPr>
            <a:r>
              <a:rPr sz="1000" b="0" i="0">
                <a:solidFill>
                  <a:srgbClr val="2B2B2B"/>
                </a:solidFill>
                <a:latin typeface="Arial"/>
              </a:rPr>
              <a:t>→ Peur des erreurs</a:t>
            </a:r>
          </a:p>
        </p:txBody>
      </p:sp>
      <p:sp>
        <p:nvSpPr>
          <p:cNvPr id="9" name="Rectangle 8"/>
          <p:cNvSpPr/>
          <p:nvPr/>
        </p:nvSpPr>
        <p:spPr>
          <a:xfrm>
            <a:off x="532800" y="3499199"/>
            <a:ext cx="6490800" cy="1835999"/>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499199"/>
            <a:ext cx="572400" cy="1835999"/>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9203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5658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2</a:t>
            </a:r>
          </a:p>
        </p:txBody>
      </p:sp>
      <p:sp>
        <p:nvSpPr>
          <p:cNvPr id="13" name="TextBox 12"/>
          <p:cNvSpPr txBox="1"/>
          <p:nvPr/>
        </p:nvSpPr>
        <p:spPr>
          <a:xfrm>
            <a:off x="1177200" y="35351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Service-public.fr : votre portail officiel</a:t>
            </a:r>
          </a:p>
        </p:txBody>
      </p:sp>
      <p:sp>
        <p:nvSpPr>
          <p:cNvPr id="14" name="TextBox 13"/>
          <p:cNvSpPr txBox="1"/>
          <p:nvPr/>
        </p:nvSpPr>
        <p:spPr>
          <a:xfrm>
            <a:off x="1159200" y="3963599"/>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Service-public.fr est le site officiel de l'administration française. Géré par la Direction de l'information légale et administrative (DILA), c'est votre point d'entrée unique et fiable pour toutes vos démarches. Il remplace les longues files d'attente en préfecture ou en mairie.</a:t>
            </a:r>
          </a:p>
          <a:p>
            <a:pPr algn="l">
              <a:spcBef>
                <a:spcPts val="0"/>
              </a:spcBef>
              <a:spcAft>
                <a:spcPts val="100"/>
              </a:spcAft>
            </a:pPr>
            <a:r>
              <a:rPr sz="1000" b="0" i="0">
                <a:solidFill>
                  <a:srgbClr val="2B2B2B"/>
                </a:solidFill>
                <a:latin typeface="Arial"/>
              </a:rPr>
              <a:t>→ S'informer</a:t>
            </a:r>
          </a:p>
          <a:p>
            <a:pPr algn="l">
              <a:spcBef>
                <a:spcPts val="0"/>
              </a:spcBef>
              <a:spcAft>
                <a:spcPts val="100"/>
              </a:spcAft>
            </a:pPr>
            <a:r>
              <a:rPr sz="1000" b="0" i="0">
                <a:solidFill>
                  <a:srgbClr val="2B2B2B"/>
                </a:solidFill>
                <a:latin typeface="Arial"/>
              </a:rPr>
              <a:t>→ Fiches pratiques claires sur vos droits et obligations, rédigées en langage accessible.</a:t>
            </a:r>
          </a:p>
          <a:p>
            <a:pPr algn="l">
              <a:spcBef>
                <a:spcPts val="0"/>
              </a:spcBef>
              <a:spcAft>
                <a:spcPts val="100"/>
              </a:spcAft>
            </a:pPr>
            <a:r>
              <a:rPr sz="1000" b="0" i="0">
                <a:solidFill>
                  <a:srgbClr val="2B2B2B"/>
                </a:solidFill>
                <a:latin typeface="Arial"/>
              </a:rPr>
              <a:t>→ Faire une démarche</a:t>
            </a:r>
          </a:p>
        </p:txBody>
      </p:sp>
      <p:sp>
        <p:nvSpPr>
          <p:cNvPr id="15" name="Rectangle 14"/>
          <p:cNvSpPr/>
          <p:nvPr/>
        </p:nvSpPr>
        <p:spPr>
          <a:xfrm>
            <a:off x="532800" y="5399999"/>
            <a:ext cx="6490800" cy="13824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399999"/>
            <a:ext cx="572400" cy="1382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8211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466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3</a:t>
            </a:r>
          </a:p>
        </p:txBody>
      </p:sp>
      <p:sp>
        <p:nvSpPr>
          <p:cNvPr id="19" name="TextBox 18"/>
          <p:cNvSpPr txBox="1"/>
          <p:nvPr/>
        </p:nvSpPr>
        <p:spPr>
          <a:xfrm>
            <a:off x="1177200" y="54359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Comment naviguer sur service-public.fr</a:t>
            </a:r>
          </a:p>
        </p:txBody>
      </p:sp>
      <p:sp>
        <p:nvSpPr>
          <p:cNvPr id="20" name="TextBox 19"/>
          <p:cNvSpPr txBox="1"/>
          <p:nvPr/>
        </p:nvSpPr>
        <p:spPr>
          <a:xfrm>
            <a:off x="1159200" y="5864400"/>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Le site est organisé de manière logique. Voici comment l'utiliser efficacement, étape par étape, même si vous n'êtes pas à l'aise avec Internet.</a:t>
            </a:r>
          </a:p>
          <a:p>
            <a:pPr algn="l">
              <a:spcBef>
                <a:spcPts val="0"/>
              </a:spcBef>
              <a:spcAft>
                <a:spcPts val="100"/>
              </a:spcAft>
            </a:pPr>
            <a:r>
              <a:rPr sz="1000" b="0" i="0">
                <a:solidFill>
                  <a:srgbClr val="2B2B2B"/>
                </a:solidFill>
                <a:latin typeface="Arial"/>
              </a:rPr>
              <a:t>→ Choisir profil</a:t>
            </a:r>
          </a:p>
          <a:p>
            <a:pPr algn="l">
              <a:spcBef>
                <a:spcPts val="0"/>
              </a:spcBef>
              <a:spcAft>
                <a:spcPts val="100"/>
              </a:spcAft>
            </a:pPr>
            <a:r>
              <a:rPr sz="1000" b="0" i="0">
                <a:solidFill>
                  <a:srgbClr val="2B2B2B"/>
                </a:solidFill>
                <a:latin typeface="Arial"/>
              </a:rPr>
              <a:t>→ Particulier, pro ou association</a:t>
            </a:r>
          </a:p>
          <a:p>
            <a:pPr algn="l">
              <a:spcBef>
                <a:spcPts val="0"/>
              </a:spcBef>
              <a:spcAft>
                <a:spcPts val="100"/>
              </a:spcAft>
            </a:pPr>
            <a:r>
              <a:rPr sz="1000" b="0" i="0">
                <a:solidFill>
                  <a:srgbClr val="2B2B2B"/>
                </a:solidFill>
                <a:latin typeface="Arial"/>
              </a:rPr>
              <a:t>→ Suivre la fiche</a:t>
            </a:r>
          </a:p>
        </p:txBody>
      </p:sp>
      <p:sp>
        <p:nvSpPr>
          <p:cNvPr id="21" name="Rectangle 20"/>
          <p:cNvSpPr/>
          <p:nvPr/>
        </p:nvSpPr>
        <p:spPr>
          <a:xfrm>
            <a:off x="532800" y="7639200"/>
            <a:ext cx="6490800" cy="658800"/>
          </a:xfrm>
          <a:prstGeom prst="rect">
            <a:avLst/>
          </a:prstGeom>
          <a:solidFill>
            <a:srgbClr val="EFF7FF"/>
          </a:solidFill>
          <a:ln w="635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40799" y="7675200"/>
            <a:ext cx="5410800" cy="604800"/>
          </a:xfrm>
          <a:prstGeom prst="rect">
            <a:avLst/>
          </a:prstGeom>
          <a:noFill/>
        </p:spPr>
        <p:txBody>
          <a:bodyPr wrap="square" tIns="0" bIns="0" lIns="18000" rIns="18000">
            <a:spAutoFit/>
          </a:bodyPr>
          <a:lstStyle/>
          <a:p>
            <a:pPr algn="l">
              <a:spcBef>
                <a:spcPts val="0"/>
              </a:spcBef>
              <a:spcAft>
                <a:spcPts val="100"/>
              </a:spcAft>
            </a:pPr>
            <a:r>
              <a:rPr sz="1050" b="1" i="0">
                <a:solidFill>
                  <a:srgbClr val="4388BC"/>
                </a:solidFill>
                <a:latin typeface="Arial"/>
              </a:rPr>
              <a:t>→ Suite en page 2 : La Boussole des jeunes : pour les 16–30 ans | FranceConnect : une clé pour tous les services | Les principaux sites par thème</a:t>
            </a:r>
          </a:p>
          <a:p>
            <a:pPr algn="l">
              <a:spcBef>
                <a:spcPts val="0"/>
              </a:spcBef>
              <a:spcAft>
                <a:spcPts val="100"/>
              </a:spcAft>
            </a:pPr>
            <a:r>
              <a:rPr sz="850" b="0" i="0">
                <a:solidFill>
                  <a:srgbClr val="6E6E6D"/>
                </a:solidFill>
                <a:latin typeface="Arial"/>
              </a:rPr>
              <a:t>Votre Conseiller Numérique : 05 53 47 31 32  ·  conseiller-numerique@lotetgaronne.fr</a:t>
            </a:r>
          </a:p>
        </p:txBody>
      </p:sp>
      <p:sp>
        <p:nvSpPr>
          <p:cNvPr id="23" name="TextBox 22"/>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Les démarches administratives en ligne</a:t>
            </a:r>
          </a:p>
          <a:p>
            <a:pPr algn="l">
              <a:spcBef>
                <a:spcPts val="0"/>
              </a:spcBef>
              <a:spcAft>
                <a:spcPts val="100"/>
              </a:spcAft>
            </a:pPr>
            <a:r>
              <a:rPr sz="1000" b="0" i="0">
                <a:solidFill>
                  <a:srgbClr val="6E6E6D"/>
                </a:solidFill>
                <a:latin typeface="Arial"/>
              </a:rPr>
              <a:t>Pourquoi les démarches en ligne semblent compliquées | Service-public.fr : votre portail officiel | Comment naviguer sur service-public.fr</a:t>
            </a:r>
          </a:p>
        </p:txBody>
      </p:sp>
      <p:sp>
        <p:nvSpPr>
          <p:cNvPr id="3" name="Rectangle 2"/>
          <p:cNvSpPr/>
          <p:nvPr/>
        </p:nvSpPr>
        <p:spPr>
          <a:xfrm>
            <a:off x="532800" y="1749600"/>
            <a:ext cx="6490800" cy="1835999"/>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835999"/>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4</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La Boussole des jeunes : pour les 16–30 ans</a:t>
            </a:r>
          </a:p>
        </p:txBody>
      </p:sp>
      <p:sp>
        <p:nvSpPr>
          <p:cNvPr id="8" name="TextBox 7"/>
          <p:cNvSpPr txBox="1"/>
          <p:nvPr/>
        </p:nvSpPr>
        <p:spPr>
          <a:xfrm>
            <a:off x="1159200" y="2214000"/>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boussole.jeunes.gouv.fr est un outil numérique gratuit conçu spécifiquement pour aider les jeunes de 16 à 30 ans à s'orienter dans leurs démarches administratives, sociales et professionnelles. En quelques questions simples, il vous dirige vers les aides et dispositifs qui correspondent à votre situation.</a:t>
            </a:r>
          </a:p>
          <a:p>
            <a:pPr algn="l">
              <a:spcBef>
                <a:spcPts val="0"/>
              </a:spcBef>
              <a:spcAft>
                <a:spcPts val="100"/>
              </a:spcAft>
            </a:pPr>
            <a:r>
              <a:rPr sz="1000" b="0" i="0">
                <a:solidFill>
                  <a:srgbClr val="2B2B2B"/>
                </a:solidFill>
                <a:latin typeface="Arial"/>
              </a:rPr>
              <a:t>→ Aides financières</a:t>
            </a:r>
          </a:p>
          <a:p>
            <a:pPr algn="l">
              <a:spcBef>
                <a:spcPts val="0"/>
              </a:spcBef>
              <a:spcAft>
                <a:spcPts val="100"/>
              </a:spcAft>
            </a:pPr>
            <a:r>
              <a:rPr sz="1000" b="0" i="0">
                <a:solidFill>
                  <a:srgbClr val="2B2B2B"/>
                </a:solidFill>
                <a:latin typeface="Arial"/>
              </a:rPr>
              <a:t>→ Découvrez les aides au logement, les bourses, le RSA jeunes, la Garantie Jeunes et bien d'autres dispositifs selon votre profil.</a:t>
            </a:r>
          </a:p>
          <a:p>
            <a:pPr algn="l">
              <a:spcBef>
                <a:spcPts val="0"/>
              </a:spcBef>
              <a:spcAft>
                <a:spcPts val="100"/>
              </a:spcAft>
            </a:pPr>
            <a:r>
              <a:rPr sz="1000" b="0" i="0">
                <a:solidFill>
                  <a:srgbClr val="2B2B2B"/>
                </a:solidFill>
                <a:latin typeface="Arial"/>
              </a:rPr>
              <a:t>→ Emploi &amp; formation</a:t>
            </a:r>
          </a:p>
        </p:txBody>
      </p:sp>
      <p:sp>
        <p:nvSpPr>
          <p:cNvPr id="9" name="Rectangle 8"/>
          <p:cNvSpPr/>
          <p:nvPr/>
        </p:nvSpPr>
        <p:spPr>
          <a:xfrm>
            <a:off x="532800" y="3650400"/>
            <a:ext cx="6490800" cy="15336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650400"/>
            <a:ext cx="572400" cy="15336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40716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7170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5</a:t>
            </a:r>
          </a:p>
        </p:txBody>
      </p:sp>
      <p:sp>
        <p:nvSpPr>
          <p:cNvPr id="13" name="TextBox 12"/>
          <p:cNvSpPr txBox="1"/>
          <p:nvPr/>
        </p:nvSpPr>
        <p:spPr>
          <a:xfrm>
            <a:off x="1177200" y="36864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FranceConnect : une clé pour tous les services</a:t>
            </a:r>
          </a:p>
        </p:txBody>
      </p:sp>
      <p:sp>
        <p:nvSpPr>
          <p:cNvPr id="14" name="TextBox 13"/>
          <p:cNvSpPr txBox="1"/>
          <p:nvPr/>
        </p:nvSpPr>
        <p:spPr>
          <a:xfrm>
            <a:off x="1159200" y="41148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FranceConnect est un dispositif officiel de l'État qui vous permet de vous connecter à la majorité des services publics en ligne avec un seul identifiant. Plus besoin de retenir des dizaines de mots de passe différents !</a:t>
            </a:r>
          </a:p>
          <a:p>
            <a:pPr algn="l">
              <a:spcBef>
                <a:spcPts val="0"/>
              </a:spcBef>
              <a:spcAft>
                <a:spcPts val="100"/>
              </a:spcAft>
            </a:pPr>
            <a:r>
              <a:rPr sz="1000" b="0" i="0">
                <a:solidFill>
                  <a:srgbClr val="2B2B2B"/>
                </a:solidFill>
                <a:latin typeface="Arial"/>
              </a:rPr>
              <a:t>→ Comment ça marche ?</a:t>
            </a:r>
          </a:p>
          <a:p>
            <a:pPr algn="l">
              <a:spcBef>
                <a:spcPts val="0"/>
              </a:spcBef>
              <a:spcAft>
                <a:spcPts val="100"/>
              </a:spcAft>
            </a:pPr>
            <a:r>
              <a:rPr sz="1000" b="0" i="0">
                <a:solidFill>
                  <a:srgbClr val="2B2B2B"/>
                </a:solidFill>
                <a:latin typeface="Arial"/>
              </a:rPr>
              <a:t>→ Cliquez sur « Se connecter avec FranceConnect »</a:t>
            </a:r>
          </a:p>
          <a:p>
            <a:pPr algn="l">
              <a:spcBef>
                <a:spcPts val="0"/>
              </a:spcBef>
              <a:spcAft>
                <a:spcPts val="100"/>
              </a:spcAft>
            </a:pPr>
            <a:r>
              <a:rPr sz="1000" b="0" i="0">
                <a:solidFill>
                  <a:srgbClr val="2B2B2B"/>
                </a:solidFill>
                <a:latin typeface="Arial"/>
              </a:rPr>
              <a:t>→ Choisissez votre fournisseur d'identité (impots.gouv, ameli)</a:t>
            </a:r>
          </a:p>
        </p:txBody>
      </p:sp>
      <p:sp>
        <p:nvSpPr>
          <p:cNvPr id="15" name="Rectangle 14"/>
          <p:cNvSpPr/>
          <p:nvPr/>
        </p:nvSpPr>
        <p:spPr>
          <a:xfrm>
            <a:off x="532800" y="5248800"/>
            <a:ext cx="6490800" cy="16848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248800"/>
            <a:ext cx="572400" cy="1684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6700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3154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6</a:t>
            </a:r>
          </a:p>
        </p:txBody>
      </p:sp>
      <p:sp>
        <p:nvSpPr>
          <p:cNvPr id="19" name="TextBox 18"/>
          <p:cNvSpPr txBox="1"/>
          <p:nvPr/>
        </p:nvSpPr>
        <p:spPr>
          <a:xfrm>
            <a:off x="1177200" y="52848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Les principaux sites par thème</a:t>
            </a:r>
          </a:p>
        </p:txBody>
      </p:sp>
      <p:sp>
        <p:nvSpPr>
          <p:cNvPr id="20" name="TextBox 19"/>
          <p:cNvSpPr txBox="1"/>
          <p:nvPr/>
        </p:nvSpPr>
        <p:spPr>
          <a:xfrm>
            <a:off x="1159200" y="57132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Voici un panorama des sites officiels les plus utiles au quotidien. Tous sont gratuits et accessibles depuis un ordinateur, une tablette ou un smartphone.</a:t>
            </a:r>
          </a:p>
          <a:p>
            <a:pPr algn="l">
              <a:spcBef>
                <a:spcPts val="0"/>
              </a:spcBef>
              <a:spcAft>
                <a:spcPts val="100"/>
              </a:spcAft>
            </a:pPr>
            <a:r>
              <a:rPr sz="1000" b="0" i="0">
                <a:solidFill>
                  <a:srgbClr val="2B2B2B"/>
                </a:solidFill>
                <a:latin typeface="Arial"/>
              </a:rPr>
              <a:t>→ impots.gouv.fr — Déclaration de revenus, paiement, simulation d'impôt, remboursements. Accessible via FranceConnect.</a:t>
            </a:r>
          </a:p>
          <a:p>
            <a:pPr algn="l">
              <a:spcBef>
                <a:spcPts val="0"/>
              </a:spcBef>
              <a:spcAft>
                <a:spcPts val="100"/>
              </a:spcAft>
            </a:pPr>
            <a:r>
              <a:rPr sz="1000" b="0" i="0">
                <a:solidFill>
                  <a:srgbClr val="2B2B2B"/>
                </a:solidFill>
                <a:latin typeface="Arial"/>
              </a:rPr>
              <a:t>→ ameli.fr — Remboursements, carte vitale, arrêts de travail, médecin traitant. Votre espace personnel Ameli.</a:t>
            </a:r>
          </a:p>
          <a:p>
            <a:pPr algn="l">
              <a:spcBef>
                <a:spcPts val="0"/>
              </a:spcBef>
              <a:spcAft>
                <a:spcPts val="100"/>
              </a:spcAft>
            </a:pPr>
            <a:r>
              <a:rPr sz="1000" b="0" i="0">
                <a:solidFill>
                  <a:srgbClr val="2B2B2B"/>
                </a:solidFill>
                <a:latin typeface="Arial"/>
              </a:rPr>
              <a:t>→ Famille &amp; logement</a:t>
            </a:r>
          </a:p>
        </p:txBody>
      </p:sp>
      <p:sp>
        <p:nvSpPr>
          <p:cNvPr id="21" name="Rectangle 20"/>
          <p:cNvSpPr/>
          <p:nvPr/>
        </p:nvSpPr>
        <p:spPr>
          <a:xfrm>
            <a:off x="532800" y="6998399"/>
            <a:ext cx="6490800" cy="1835999"/>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32800" y="6998399"/>
            <a:ext cx="572400" cy="1835999"/>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06000" y="74196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2800" y="7064999"/>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7</a:t>
            </a:r>
          </a:p>
        </p:txBody>
      </p:sp>
      <p:sp>
        <p:nvSpPr>
          <p:cNvPr id="25" name="TextBox 24"/>
          <p:cNvSpPr txBox="1"/>
          <p:nvPr/>
        </p:nvSpPr>
        <p:spPr>
          <a:xfrm>
            <a:off x="1177200" y="70344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Vous n'êtes pas seule : les lieux d'aide</a:t>
            </a:r>
          </a:p>
        </p:txBody>
      </p:sp>
      <p:sp>
        <p:nvSpPr>
          <p:cNvPr id="26" name="TextBox 25"/>
          <p:cNvSpPr txBox="1"/>
          <p:nvPr/>
        </p:nvSpPr>
        <p:spPr>
          <a:xfrm>
            <a:off x="1159200" y="7462800"/>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Effectuer des démarches en ligne ne veut pas dire être seul face à l'écran. De nombreux professionnels et bénévoles sont là pour vous accompagner, gratuitement, près de chez vous.</a:t>
            </a:r>
          </a:p>
          <a:p>
            <a:pPr algn="l">
              <a:spcBef>
                <a:spcPts val="0"/>
              </a:spcBef>
              <a:spcAft>
                <a:spcPts val="100"/>
              </a:spcAft>
            </a:pPr>
            <a:r>
              <a:rPr sz="1000" b="0" i="0">
                <a:solidFill>
                  <a:srgbClr val="2B2B2B"/>
                </a:solidFill>
                <a:latin typeface="Arial"/>
              </a:rPr>
              <a:t>→ France Services</a:t>
            </a:r>
          </a:p>
          <a:p>
            <a:pPr algn="l">
              <a:spcBef>
                <a:spcPts val="0"/>
              </a:spcBef>
              <a:spcAft>
                <a:spcPts val="100"/>
              </a:spcAft>
            </a:pPr>
            <a:r>
              <a:rPr sz="1000" b="0" i="0">
                <a:solidFill>
                  <a:srgbClr val="2B2B2B"/>
                </a:solidFill>
                <a:latin typeface="Arial"/>
              </a:rPr>
              <a:t>→ Un réseau de plus de 2 700 espaces en France où des agents formés vous aident à réaliser toutes vos démarches administratives en ligne, gratuitement. Disponible en zones urbaines et rurales.</a:t>
            </a:r>
          </a:p>
          <a:p>
            <a:pPr algn="l">
              <a:spcBef>
                <a:spcPts val="0"/>
              </a:spcBef>
              <a:spcAft>
                <a:spcPts val="100"/>
              </a:spcAft>
            </a:pPr>
            <a:r>
              <a:rPr sz="1000" b="0" i="0">
                <a:solidFill>
                  <a:srgbClr val="2B2B2B"/>
                </a:solidFill>
                <a:latin typeface="Arial"/>
              </a:rPr>
              <a:t>→ Bibliothèques et médiathèques</a:t>
            </a:r>
          </a:p>
        </p:txBody>
      </p:sp>
      <p:sp>
        <p:nvSpPr>
          <p:cNvPr id="27" name="Rectangle 26"/>
          <p:cNvSpPr/>
          <p:nvPr/>
        </p:nvSpPr>
        <p:spPr>
          <a:xfrm>
            <a:off x="532800" y="9115200"/>
            <a:ext cx="6490800" cy="1512000"/>
          </a:xfrm>
          <a:prstGeom prst="rect">
            <a:avLst/>
          </a:prstGeom>
          <a:solidFill>
            <a:srgbClr val="EBF5FF"/>
          </a:solidFill>
          <a:ln w="1016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221200" y="9702000"/>
            <a:ext cx="3110400" cy="72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792800" y="9180000"/>
            <a:ext cx="4140000" cy="1404000"/>
          </a:xfrm>
          <a:prstGeom prst="rect">
            <a:avLst/>
          </a:prstGeom>
          <a:noFill/>
        </p:spPr>
        <p:txBody>
          <a:bodyPr wrap="square" tIns="0" bIns="0" lIns="18000" rIns="18000">
            <a:spAutoFit/>
          </a:bodyPr>
          <a:lstStyle/>
          <a:p>
            <a:pPr algn="l">
              <a:spcBef>
                <a:spcPts val="0"/>
              </a:spcBef>
              <a:spcAft>
                <a:spcPts val="100"/>
              </a:spcAft>
            </a:pPr>
            <a:r>
              <a:rPr sz="1300" b="1" i="0">
                <a:solidFill>
                  <a:srgbClr val="4388BC"/>
                </a:solidFill>
                <a:latin typeface="Arial"/>
              </a:rPr>
              <a:t>Besoin d'aide ?</a:t>
            </a:r>
          </a:p>
          <a:p>
            <a:pPr algn="l">
              <a:spcBef>
                <a:spcPts val="0"/>
              </a:spcBef>
              <a:spcAft>
                <a:spcPts val="100"/>
              </a:spcAft>
            </a:pPr>
            <a:r>
              <a:rPr sz="1100" b="1" i="0">
                <a:solidFill>
                  <a:srgbClr val="187C88"/>
                </a:solidFill>
                <a:latin typeface="Arial"/>
              </a:rPr>
              <a:t>Votre Conseiller Numérique est là pour vous accompagner !</a:t>
            </a:r>
          </a:p>
          <a:p>
            <a:pPr algn="l">
              <a:spcBef>
                <a:spcPts val="0"/>
              </a:spcBef>
              <a:spcAft>
                <a:spcPts val="100"/>
              </a:spcAft>
            </a:pPr>
            <a:r>
              <a:rPr sz="1100" b="0" i="0">
                <a:solidFill>
                  <a:srgbClr val="2B2B2B"/>
                </a:solidFill>
                <a:latin typeface="Arial"/>
              </a:rPr>
              <a:t>conseiller-numerique@lotetgaronne.fr  ·  Tél : 05 53 47 31 32</a:t>
            </a:r>
          </a:p>
          <a:p>
            <a:pPr algn="l">
              <a:spcBef>
                <a:spcPts val="0"/>
              </a:spcBef>
              <a:spcAft>
                <a:spcPts val="100"/>
              </a:spcAft>
            </a:pPr>
            <a:r>
              <a:rPr sz="1000" b="0" i="0">
                <a:solidFill>
                  <a:srgbClr val="6E6E6D"/>
                </a:solidFill>
                <a:latin typeface="Arial"/>
              </a:rPr>
              <a:t>www.lotetgaronne.fr/inclusion-numerique</a:t>
            </a:r>
          </a:p>
          <a:p>
            <a:pPr algn="l">
              <a:spcBef>
                <a:spcPts val="0"/>
              </a:spcBef>
              <a:spcAft>
                <a:spcPts val="100"/>
              </a:spcAft>
            </a:pPr>
            <a:r>
              <a:rPr sz="900" b="0" i="0">
                <a:solidFill>
                  <a:srgbClr val="6E6E6D"/>
                </a:solidFill>
                <a:latin typeface="Arial"/>
              </a:rPr>
              <a:t>Direction des Systèmes d'Information — Service Inclusion Numérique — CD47</a:t>
            </a:r>
          </a:p>
        </p:txBody>
      </p:sp>
      <p:sp>
        <p:nvSpPr>
          <p:cNvPr id="30" name="TextBox 29"/>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