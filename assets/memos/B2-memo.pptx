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7556399" cy="10692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2800" y="1180800"/>
            <a:ext cx="6490800" cy="511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800" b="1" i="0">
                <a:solidFill>
                  <a:srgbClr val="4388BC"/>
                </a:solidFill>
                <a:latin typeface="Arial"/>
              </a:rPr>
              <a:t>Mon mémo — Pièces jointes par e-mail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6E6E6D"/>
                </a:solidFill>
                <a:latin typeface="Arial"/>
              </a:rPr>
              <a:t>Qu'est-ce qu'une pièce jointe ? | Les types de fichiers — Ce que disent les extensions | Envoyer une pièce jointe avec Gmail</a:t>
            </a:r>
          </a:p>
        </p:txBody>
      </p:sp>
      <p:sp>
        <p:nvSpPr>
          <p:cNvPr id="3" name="Rectangle 2"/>
          <p:cNvSpPr/>
          <p:nvPr/>
        </p:nvSpPr>
        <p:spPr>
          <a:xfrm>
            <a:off x="532800" y="1749600"/>
            <a:ext cx="6490800" cy="1684800"/>
          </a:xfrm>
          <a:prstGeom prst="rect">
            <a:avLst/>
          </a:prstGeom>
          <a:solidFill>
            <a:srgbClr val="ECF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532800" y="1749600"/>
            <a:ext cx="572400" cy="1684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ectangle 4"/>
          <p:cNvSpPr/>
          <p:nvPr/>
        </p:nvSpPr>
        <p:spPr>
          <a:xfrm>
            <a:off x="1206000" y="2170800"/>
            <a:ext cx="57528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32800" y="1816200"/>
            <a:ext cx="572400" cy="28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77200" y="1785600"/>
            <a:ext cx="5810400" cy="3707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4388BC"/>
                </a:solidFill>
                <a:latin typeface="Arial"/>
              </a:rPr>
              <a:t>Qu'est-ce qu'une pièce jointe 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9200" y="2214000"/>
            <a:ext cx="5828400" cy="11843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Une pièce jointe, c'est simplement un fichier que l'on accroche à un e-mail, comme on agrafait autrefois un document à une lettre. Ce fichier voyage avec le message et le destinataire peut le consulter ou le sauvegarder sur son propre appareil.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Lettres, CV, contrats, formulaires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Photos de famille, captures d'écran, illustrations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Vidéos, fichiers audio, enregistrements</a:t>
            </a:r>
          </a:p>
        </p:txBody>
      </p:sp>
      <p:sp>
        <p:nvSpPr>
          <p:cNvPr id="9" name="Rectangle 8"/>
          <p:cNvSpPr/>
          <p:nvPr/>
        </p:nvSpPr>
        <p:spPr>
          <a:xfrm>
            <a:off x="532800" y="3499199"/>
            <a:ext cx="6490800" cy="1533600"/>
          </a:xfrm>
          <a:prstGeom prst="rect">
            <a:avLst/>
          </a:prstGeom>
          <a:solidFill>
            <a:srgbClr val="EBF7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532800" y="3499199"/>
            <a:ext cx="572400" cy="15336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1206000" y="3920399"/>
            <a:ext cx="57528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532800" y="3565800"/>
            <a:ext cx="572400" cy="28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77200" y="3535199"/>
            <a:ext cx="5810400" cy="3707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187C88"/>
                </a:solidFill>
                <a:latin typeface="Arial"/>
              </a:rPr>
              <a:t>Les types de fichiers — Ce que disent les extensions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59200" y="3963599"/>
            <a:ext cx="5828400" cy="10331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Chaque fichier porte une extension — les quelques lettres après le point dans son nom (ex. : photo.jpg). C'est votre premier repère pour savoir de quoi il s'agit.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Texte et documents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.pdf — document universel, se lit partout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.docx — fichier Word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32800" y="5097599"/>
            <a:ext cx="6490800" cy="1382400"/>
          </a:xfrm>
          <a:prstGeom prst="rect">
            <a:avLst/>
          </a:prstGeom>
          <a:solidFill>
            <a:srgbClr val="ECF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532800" y="5097599"/>
            <a:ext cx="572400" cy="1382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1206000" y="5518799"/>
            <a:ext cx="57528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532800" y="5164200"/>
            <a:ext cx="572400" cy="28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77200" y="5133599"/>
            <a:ext cx="5810400" cy="3707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4388BC"/>
                </a:solidFill>
                <a:latin typeface="Arial"/>
              </a:rPr>
              <a:t>Envoyer une pièce jointe avec Gmail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59200" y="5561999"/>
            <a:ext cx="5828400" cy="8819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Gmail est l'un des services de messagerie les plus utilisés en France. Joindre un fichier est simple et rapide depuis un ordinateur ou un smartphone.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Cliquer Envoyer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Cliquer trombone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Destinataire &amp; objet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32800" y="6544800"/>
            <a:ext cx="6490800" cy="1371600"/>
          </a:xfrm>
          <a:prstGeom prst="rect">
            <a:avLst/>
          </a:prstGeom>
          <a:solidFill>
            <a:srgbClr val="EBF7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Rectangle 21"/>
          <p:cNvSpPr/>
          <p:nvPr/>
        </p:nvSpPr>
        <p:spPr>
          <a:xfrm>
            <a:off x="532800" y="6544800"/>
            <a:ext cx="572400" cy="13716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ectangle 22"/>
          <p:cNvSpPr/>
          <p:nvPr/>
        </p:nvSpPr>
        <p:spPr>
          <a:xfrm>
            <a:off x="1206000" y="6966000"/>
            <a:ext cx="57528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532800" y="6611399"/>
            <a:ext cx="572400" cy="28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77200" y="6580800"/>
            <a:ext cx="5810400" cy="3707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187C88"/>
                </a:solidFill>
                <a:latin typeface="Arial"/>
              </a:rPr>
              <a:t>Envoyer une pièce jointe avec Outlook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59200" y="7009200"/>
            <a:ext cx="5828400" cy="871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Sur ordinateur (application)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Cliquer sur Nouveau message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Dans le ruban, cliquer sur Joindre un fichier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Choisir Parcourir cet ordinateur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32800" y="8053199"/>
            <a:ext cx="6490800" cy="658800"/>
          </a:xfrm>
          <a:prstGeom prst="rect">
            <a:avLst/>
          </a:prstGeom>
          <a:solidFill>
            <a:srgbClr val="EFF7FF"/>
          </a:solidFill>
          <a:ln w="6350">
            <a:solidFill>
              <a:srgbClr val="4388B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1540799" y="8089200"/>
            <a:ext cx="5410800" cy="6048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50" b="1" i="0">
                <a:solidFill>
                  <a:srgbClr val="4388BC"/>
                </a:solidFill>
                <a:latin typeface="Arial"/>
              </a:rPr>
              <a:t>→ Suite en page 2 : Envoyer une pièce jointe avec Proton Mail | Comparatif des trois messageries | Recevoir et ouvrir une pièce jointe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6E6E6D"/>
                </a:solidFill>
                <a:latin typeface="Arial"/>
              </a:rPr>
              <a:t>Votre Conseiller Numérique : 05 53 47 31 32  ·  conseiller-numerique@lotetgaronne.fr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83200" y="9925200"/>
            <a:ext cx="2797200" cy="180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6E6E6D"/>
                </a:solidFill>
                <a:latin typeface="Arial"/>
              </a:rPr>
              <a:t>v1.0 – 2025 – CD47 Service Inclusion Numérique  |  Page 1/2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2800" y="1180800"/>
            <a:ext cx="6490800" cy="511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800" b="1" i="0">
                <a:solidFill>
                  <a:srgbClr val="4388BC"/>
                </a:solidFill>
                <a:latin typeface="Arial"/>
              </a:rPr>
              <a:t>Mon mémo — Pièces jointes par e-mail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6E6E6D"/>
                </a:solidFill>
                <a:latin typeface="Arial"/>
              </a:rPr>
              <a:t>Qu'est-ce qu'une pièce jointe ? | Les types de fichiers — Ce que disent les extensions | Envoyer une pièce jointe avec Gmail</a:t>
            </a:r>
          </a:p>
        </p:txBody>
      </p:sp>
      <p:sp>
        <p:nvSpPr>
          <p:cNvPr id="3" name="Rectangle 2"/>
          <p:cNvSpPr/>
          <p:nvPr/>
        </p:nvSpPr>
        <p:spPr>
          <a:xfrm>
            <a:off x="532800" y="1749600"/>
            <a:ext cx="6490800" cy="1533600"/>
          </a:xfrm>
          <a:prstGeom prst="rect">
            <a:avLst/>
          </a:prstGeom>
          <a:solidFill>
            <a:srgbClr val="ECF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532800" y="1749600"/>
            <a:ext cx="572400" cy="15336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ectangle 4"/>
          <p:cNvSpPr/>
          <p:nvPr/>
        </p:nvSpPr>
        <p:spPr>
          <a:xfrm>
            <a:off x="1206000" y="2170800"/>
            <a:ext cx="57528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32800" y="1816200"/>
            <a:ext cx="572400" cy="28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77200" y="1785600"/>
            <a:ext cx="5810400" cy="3707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4388BC"/>
                </a:solidFill>
                <a:latin typeface="Arial"/>
              </a:rPr>
              <a:t>Envoyer une pièce jointe avec Proton Mail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9200" y="2214000"/>
            <a:ext cx="5828400" cy="10331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Proton Mail est une messagerie axée sur la confidentialité et le chiffrement. Populaire auprès de ceux qui souhaitent protéger leurs échanges, elle reste simple à utiliser au quotidien.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Ouvrir la composition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Cliquer sur Nouveau message depuis la boîte de réception.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Joindre le fichier</a:t>
            </a:r>
          </a:p>
        </p:txBody>
      </p:sp>
      <p:sp>
        <p:nvSpPr>
          <p:cNvPr id="9" name="Rectangle 8"/>
          <p:cNvSpPr/>
          <p:nvPr/>
        </p:nvSpPr>
        <p:spPr>
          <a:xfrm>
            <a:off x="532800" y="3348000"/>
            <a:ext cx="6490800" cy="1382400"/>
          </a:xfrm>
          <a:prstGeom prst="rect">
            <a:avLst/>
          </a:prstGeom>
          <a:solidFill>
            <a:srgbClr val="EBF7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532800" y="3348000"/>
            <a:ext cx="572400" cy="13824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1206000" y="3769200"/>
            <a:ext cx="57528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532800" y="3414600"/>
            <a:ext cx="572400" cy="28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77200" y="3384000"/>
            <a:ext cx="5810400" cy="3707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187C88"/>
                </a:solidFill>
                <a:latin typeface="Arial"/>
              </a:rPr>
              <a:t>Comparatif des trois messageries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59200" y="3812400"/>
            <a:ext cx="5828400" cy="8819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Chaque service a ses forces. Voici un aperçu rapide pour choisir ou mieux comprendre celui que vous utilisez.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Proton Mail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Limite pièce jointe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Stockage cloud intégré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32800" y="4795200"/>
            <a:ext cx="6490800" cy="1684800"/>
          </a:xfrm>
          <a:prstGeom prst="rect">
            <a:avLst/>
          </a:prstGeom>
          <a:solidFill>
            <a:srgbClr val="ECF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532800" y="4795200"/>
            <a:ext cx="572400" cy="1684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1206000" y="5216400"/>
            <a:ext cx="57528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532800" y="4861800"/>
            <a:ext cx="572400" cy="28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77200" y="4831200"/>
            <a:ext cx="5810400" cy="3707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4388BC"/>
                </a:solidFill>
                <a:latin typeface="Arial"/>
              </a:rPr>
              <a:t>Recevoir et ouvrir une pièce jointe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59200" y="5259600"/>
            <a:ext cx="5828400" cy="11843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Quand vous recevez un e-mail avec une pièce jointe, une icône de trombone apparaît dans la liste de vos messages. À l'ouverture, le fichier est affiché en bas ou en haut du message selon le service utilisé.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Prévisualiser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Cliquer sur l'aperçu du fichier pour le lire directement dans le navigateur, sans le télécharger.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Télécharger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32800" y="8892000"/>
            <a:ext cx="6490800" cy="1512000"/>
          </a:xfrm>
          <a:prstGeom prst="rect">
            <a:avLst/>
          </a:prstGeom>
          <a:solidFill>
            <a:srgbClr val="EBF5FF"/>
          </a:solidFill>
          <a:ln w="10160">
            <a:solidFill>
              <a:srgbClr val="4388B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Rectangle 21"/>
          <p:cNvSpPr/>
          <p:nvPr/>
        </p:nvSpPr>
        <p:spPr>
          <a:xfrm>
            <a:off x="2221200" y="9478800"/>
            <a:ext cx="3110400" cy="72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1792800" y="8956800"/>
            <a:ext cx="4140000" cy="1404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300" b="1" i="0">
                <a:solidFill>
                  <a:srgbClr val="4388BC"/>
                </a:solidFill>
                <a:latin typeface="Arial"/>
              </a:rPr>
              <a:t>Besoin d'aide ?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187C88"/>
                </a:solidFill>
                <a:latin typeface="Arial"/>
              </a:rPr>
              <a:t>Votre Conseiller Numérique est là pour vous accompagner !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2B2B2B"/>
                </a:solidFill>
                <a:latin typeface="Arial"/>
              </a:rPr>
              <a:t>conseiller-numerique@lotetgaronne.fr  ·  Tél : 05 53 47 31 32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6E6E6D"/>
                </a:solidFill>
                <a:latin typeface="Arial"/>
              </a:rPr>
              <a:t>www.lotetgaronne.fr/inclusion-numerique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0" i="0">
                <a:solidFill>
                  <a:srgbClr val="6E6E6D"/>
                </a:solidFill>
                <a:latin typeface="Arial"/>
              </a:rPr>
              <a:t>Direction des Systèmes d'Information — Service Inclusion Numérique — CD47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383200" y="9925200"/>
            <a:ext cx="2797200" cy="180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6E6E6D"/>
                </a:solidFill>
                <a:latin typeface="Arial"/>
              </a:rPr>
              <a:t>v1.0 – 2025 – CD47 Service Inclusion Numérique  |  Page 2/2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