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7556399" cy="10692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32800" y="1180800"/>
            <a:ext cx="6490800" cy="511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800" b="1" i="0">
                <a:solidFill>
                  <a:srgbClr val="4388BC"/>
                </a:solidFill>
                <a:latin typeface="Arial"/>
              </a:rPr>
              <a:t>Mon mémo — Écrans et Jeunesse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6E6E6D"/>
                </a:solidFill>
                <a:latin typeface="Arial"/>
              </a:rPr>
              <a:t>Chapitre 1 — État des lieux | Chapitre 2 — Comprendre les mécanismes | Chapitre 3 — Les risques réels</a:t>
            </a:r>
          </a:p>
        </p:txBody>
      </p:sp>
      <p:sp>
        <p:nvSpPr>
          <p:cNvPr id="3" name="Rectangle 2"/>
          <p:cNvSpPr/>
          <p:nvPr/>
        </p:nvSpPr>
        <p:spPr>
          <a:xfrm>
            <a:off x="532800" y="1749600"/>
            <a:ext cx="6490800" cy="1371600"/>
          </a:xfrm>
          <a:prstGeom prst="rect">
            <a:avLst/>
          </a:prstGeom>
          <a:solidFill>
            <a:srgbClr val="ECF5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Rectangle 3"/>
          <p:cNvSpPr/>
          <p:nvPr/>
        </p:nvSpPr>
        <p:spPr>
          <a:xfrm>
            <a:off x="532800" y="1749600"/>
            <a:ext cx="572400" cy="1371600"/>
          </a:xfrm>
          <a:prstGeom prst="rect">
            <a:avLst/>
          </a:prstGeom>
          <a:solidFill>
            <a:srgbClr val="4388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Rectangle 4"/>
          <p:cNvSpPr/>
          <p:nvPr/>
        </p:nvSpPr>
        <p:spPr>
          <a:xfrm>
            <a:off x="1206000" y="2170800"/>
            <a:ext cx="5752800" cy="7200"/>
          </a:xfrm>
          <a:prstGeom prst="rect">
            <a:avLst/>
          </a:prstGeom>
          <a:solidFill>
            <a:srgbClr val="DDDD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532800" y="1816200"/>
            <a:ext cx="572400" cy="2880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2200" b="1" i="0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77200" y="1785600"/>
            <a:ext cx="5810400" cy="370799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100" b="1" i="0">
                <a:solidFill>
                  <a:srgbClr val="4388BC"/>
                </a:solidFill>
                <a:latin typeface="Arial"/>
              </a:rPr>
              <a:t>Chapitre 1 — État des lieux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59200" y="2214000"/>
            <a:ext cx="5828400" cy="871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Les jeunes et les écrans : les chiffres qui interpellent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Par jour en moyenne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Temps passé sur les écrans par un adolescent français (hors école)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Consultent leur téléphone</a:t>
            </a:r>
          </a:p>
        </p:txBody>
      </p:sp>
      <p:sp>
        <p:nvSpPr>
          <p:cNvPr id="9" name="Rectangle 8"/>
          <p:cNvSpPr/>
          <p:nvPr/>
        </p:nvSpPr>
        <p:spPr>
          <a:xfrm>
            <a:off x="532800" y="3186000"/>
            <a:ext cx="6490800" cy="1835999"/>
          </a:xfrm>
          <a:prstGeom prst="rect">
            <a:avLst/>
          </a:prstGeom>
          <a:solidFill>
            <a:srgbClr val="EBF7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Rectangle 9"/>
          <p:cNvSpPr/>
          <p:nvPr/>
        </p:nvSpPr>
        <p:spPr>
          <a:xfrm>
            <a:off x="532800" y="3186000"/>
            <a:ext cx="572400" cy="1835999"/>
          </a:xfrm>
          <a:prstGeom prst="rect">
            <a:avLst/>
          </a:prstGeom>
          <a:solidFill>
            <a:srgbClr val="18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Rectangle 10"/>
          <p:cNvSpPr/>
          <p:nvPr/>
        </p:nvSpPr>
        <p:spPr>
          <a:xfrm>
            <a:off x="1206000" y="3607200"/>
            <a:ext cx="5752800" cy="7200"/>
          </a:xfrm>
          <a:prstGeom prst="rect">
            <a:avLst/>
          </a:prstGeom>
          <a:solidFill>
            <a:srgbClr val="DDDD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532800" y="3252600"/>
            <a:ext cx="572400" cy="2880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2200" b="1" i="0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77200" y="3221999"/>
            <a:ext cx="5810400" cy="370799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100" b="1" i="0">
                <a:solidFill>
                  <a:srgbClr val="187C88"/>
                </a:solidFill>
                <a:latin typeface="Arial"/>
              </a:rPr>
              <a:t>Chapitre 2 — Comprendre les mécanismes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59200" y="3650399"/>
            <a:ext cx="5828400" cy="1335599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Pourquoi les écrans sont-ils si difficiles à quitter ?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La mécanique de la récompense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Les plateformes numériques sont conçues pour déclencher des libérations de dopamine — le neurotransmetteur du plaisir. Chaque notification, like ou nouvelle vidéo crée une boucle de renforcement positif qui pousse à revenir encore et encore.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Ce n'est pas une faiblesse de caractère : c'est de la neurobiologie, exploitée sciemment par des équipes d'ingénieurs.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32800" y="5086800"/>
            <a:ext cx="6490800" cy="1533600"/>
          </a:xfrm>
          <a:prstGeom prst="rect">
            <a:avLst/>
          </a:prstGeom>
          <a:solidFill>
            <a:srgbClr val="ECF5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ectangle 15"/>
          <p:cNvSpPr/>
          <p:nvPr/>
        </p:nvSpPr>
        <p:spPr>
          <a:xfrm>
            <a:off x="532800" y="5086800"/>
            <a:ext cx="572400" cy="1533600"/>
          </a:xfrm>
          <a:prstGeom prst="rect">
            <a:avLst/>
          </a:prstGeom>
          <a:solidFill>
            <a:srgbClr val="4388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ectangle 16"/>
          <p:cNvSpPr/>
          <p:nvPr/>
        </p:nvSpPr>
        <p:spPr>
          <a:xfrm>
            <a:off x="1206000" y="5508000"/>
            <a:ext cx="5752800" cy="7200"/>
          </a:xfrm>
          <a:prstGeom prst="rect">
            <a:avLst/>
          </a:prstGeom>
          <a:solidFill>
            <a:srgbClr val="DDDD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532800" y="5153400"/>
            <a:ext cx="572400" cy="2880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2200" b="1" i="0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77200" y="5122799"/>
            <a:ext cx="5810400" cy="370799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100" b="1" i="0">
                <a:solidFill>
                  <a:srgbClr val="4388BC"/>
                </a:solidFill>
                <a:latin typeface="Arial"/>
              </a:rPr>
              <a:t>Chapitre 3 — Les risques réels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59200" y="5551199"/>
            <a:ext cx="5828400" cy="1033199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Quels impacts sur la santé des jeunes ?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Sommeil perturbé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La lumière bleue des écrans retarde la production de mélatonine de 1 à 3 heures. Un manque de sommeil chronique affecte la concentration, l'humeur et les apprentissages.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Anxiété et estime de soi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32800" y="6685200"/>
            <a:ext cx="6490800" cy="1371600"/>
          </a:xfrm>
          <a:prstGeom prst="rect">
            <a:avLst/>
          </a:prstGeom>
          <a:solidFill>
            <a:srgbClr val="EBF7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Rectangle 21"/>
          <p:cNvSpPr/>
          <p:nvPr/>
        </p:nvSpPr>
        <p:spPr>
          <a:xfrm>
            <a:off x="532800" y="6685200"/>
            <a:ext cx="572400" cy="1371600"/>
          </a:xfrm>
          <a:prstGeom prst="rect">
            <a:avLst/>
          </a:prstGeom>
          <a:solidFill>
            <a:srgbClr val="18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Rectangle 22"/>
          <p:cNvSpPr/>
          <p:nvPr/>
        </p:nvSpPr>
        <p:spPr>
          <a:xfrm>
            <a:off x="1206000" y="7106400"/>
            <a:ext cx="5752800" cy="7200"/>
          </a:xfrm>
          <a:prstGeom prst="rect">
            <a:avLst/>
          </a:prstGeom>
          <a:solidFill>
            <a:srgbClr val="DDDD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TextBox 23"/>
          <p:cNvSpPr txBox="1"/>
          <p:nvPr/>
        </p:nvSpPr>
        <p:spPr>
          <a:xfrm>
            <a:off x="532800" y="6751800"/>
            <a:ext cx="572400" cy="2880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2200" b="1" i="0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77200" y="6721200"/>
            <a:ext cx="5810400" cy="370799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100" b="1" i="0">
                <a:solidFill>
                  <a:srgbClr val="187C88"/>
                </a:solidFill>
                <a:latin typeface="Arial"/>
              </a:rPr>
              <a:t>Chapitre 5 — Prévention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159200" y="7149600"/>
            <a:ext cx="5828400" cy="871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Les stratégies qui fonctionnent vraiment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Structurer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Créer zones et horaires sans écran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Proposer alternatives attrayantes</a:t>
            </a:r>
          </a:p>
        </p:txBody>
      </p:sp>
      <p:sp>
        <p:nvSpPr>
          <p:cNvPr id="27" name="Rectangle 26"/>
          <p:cNvSpPr/>
          <p:nvPr/>
        </p:nvSpPr>
        <p:spPr>
          <a:xfrm>
            <a:off x="532800" y="8193599"/>
            <a:ext cx="6490800" cy="658800"/>
          </a:xfrm>
          <a:prstGeom prst="rect">
            <a:avLst/>
          </a:prstGeom>
          <a:solidFill>
            <a:srgbClr val="EFF7FF"/>
          </a:solidFill>
          <a:ln w="6350">
            <a:solidFill>
              <a:srgbClr val="4388B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8" name="TextBox 27"/>
          <p:cNvSpPr txBox="1"/>
          <p:nvPr/>
        </p:nvSpPr>
        <p:spPr>
          <a:xfrm>
            <a:off x="1540799" y="8229600"/>
            <a:ext cx="5410800" cy="6048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50" b="1" i="0">
                <a:solidFill>
                  <a:srgbClr val="4388BC"/>
                </a:solidFill>
                <a:latin typeface="Arial"/>
              </a:rPr>
              <a:t>→ Suite en page 2 : Chapitre 4 — Signaux d'alerte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6E6E6D"/>
                </a:solidFill>
                <a:latin typeface="Arial"/>
              </a:rPr>
              <a:t>Votre Conseiller Numérique : 05 53 47 31 32  ·  conseiller-numerique@lotetgaronne.fr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83200" y="9925200"/>
            <a:ext cx="2797200" cy="1800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6E6E6D"/>
                </a:solidFill>
                <a:latin typeface="Arial"/>
              </a:rPr>
              <a:t>v1.0 – 2025 – CD47 Service Inclusion Numérique  |  Page 1/2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32800" y="1180800"/>
            <a:ext cx="6490800" cy="511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800" b="1" i="0">
                <a:solidFill>
                  <a:srgbClr val="4388BC"/>
                </a:solidFill>
                <a:latin typeface="Arial"/>
              </a:rPr>
              <a:t>Mon mémo — Écrans et Jeunesse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6E6E6D"/>
                </a:solidFill>
                <a:latin typeface="Arial"/>
              </a:rPr>
              <a:t>Chapitre 1 — État des lieux | Chapitre 2 — Comprendre les mécanismes | Chapitre 3 — Les risques réels</a:t>
            </a:r>
          </a:p>
        </p:txBody>
      </p:sp>
      <p:sp>
        <p:nvSpPr>
          <p:cNvPr id="3" name="Rectangle 2"/>
          <p:cNvSpPr/>
          <p:nvPr/>
        </p:nvSpPr>
        <p:spPr>
          <a:xfrm>
            <a:off x="532800" y="1749600"/>
            <a:ext cx="6490800" cy="1835999"/>
          </a:xfrm>
          <a:prstGeom prst="rect">
            <a:avLst/>
          </a:prstGeom>
          <a:solidFill>
            <a:srgbClr val="ECF5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Rectangle 3"/>
          <p:cNvSpPr/>
          <p:nvPr/>
        </p:nvSpPr>
        <p:spPr>
          <a:xfrm>
            <a:off x="532800" y="1749600"/>
            <a:ext cx="572400" cy="1835999"/>
          </a:xfrm>
          <a:prstGeom prst="rect">
            <a:avLst/>
          </a:prstGeom>
          <a:solidFill>
            <a:srgbClr val="4388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Rectangle 4"/>
          <p:cNvSpPr/>
          <p:nvPr/>
        </p:nvSpPr>
        <p:spPr>
          <a:xfrm>
            <a:off x="1206000" y="2170800"/>
            <a:ext cx="5752800" cy="7200"/>
          </a:xfrm>
          <a:prstGeom prst="rect">
            <a:avLst/>
          </a:prstGeom>
          <a:solidFill>
            <a:srgbClr val="DDDD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532800" y="1816200"/>
            <a:ext cx="572400" cy="2880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2200" b="1" i="0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77200" y="1785600"/>
            <a:ext cx="5810400" cy="370799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100" b="1" i="0">
                <a:solidFill>
                  <a:srgbClr val="4388BC"/>
                </a:solidFill>
                <a:latin typeface="Arial"/>
              </a:rPr>
              <a:t>Chapitre 4 — Signaux d'alerte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59200" y="2214000"/>
            <a:ext cx="5828400" cy="1335599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Comment reconnaître une consommation problématique ?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Il ne s'agit pas de diaboliser tout usage numérique, mais d'identifier les signaux d'alerte qui indiquent que l'équilibre est rompu. Voici les indicateurs les plus fiables à observer au quotidien.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Irritabilité lors des coupures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Votre enfant réagit avec colère ou anxiété intense lorsqu'on lui retire l'accès aux écrans, même temporairement ? C'est un signe fort de dépendance naissante.</a:t>
            </a:r>
          </a:p>
        </p:txBody>
      </p:sp>
      <p:sp>
        <p:nvSpPr>
          <p:cNvPr id="9" name="Rectangle 8"/>
          <p:cNvSpPr/>
          <p:nvPr/>
        </p:nvSpPr>
        <p:spPr>
          <a:xfrm>
            <a:off x="532800" y="8892000"/>
            <a:ext cx="6490800" cy="1512000"/>
          </a:xfrm>
          <a:prstGeom prst="rect">
            <a:avLst/>
          </a:prstGeom>
          <a:solidFill>
            <a:srgbClr val="EBF5FF"/>
          </a:solidFill>
          <a:ln w="10160">
            <a:solidFill>
              <a:srgbClr val="4388B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Rectangle 9"/>
          <p:cNvSpPr/>
          <p:nvPr/>
        </p:nvSpPr>
        <p:spPr>
          <a:xfrm>
            <a:off x="2221200" y="9478800"/>
            <a:ext cx="3110400" cy="7200"/>
          </a:xfrm>
          <a:prstGeom prst="rect">
            <a:avLst/>
          </a:prstGeom>
          <a:solidFill>
            <a:srgbClr val="5EB3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1792800" y="8956800"/>
            <a:ext cx="4140000" cy="14040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300" b="1" i="0">
                <a:solidFill>
                  <a:srgbClr val="4388BC"/>
                </a:solidFill>
                <a:latin typeface="Arial"/>
              </a:rPr>
              <a:t>Besoin d'aide ?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100" b="1" i="0">
                <a:solidFill>
                  <a:srgbClr val="187C88"/>
                </a:solidFill>
                <a:latin typeface="Arial"/>
              </a:rPr>
              <a:t>Votre Conseiller Numérique est là pour vous accompagner !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100" b="0" i="0">
                <a:solidFill>
                  <a:srgbClr val="2B2B2B"/>
                </a:solidFill>
                <a:latin typeface="Arial"/>
              </a:rPr>
              <a:t>conseiller-numerique@lotetgaronne.fr  ·  Tél : 05 53 47 31 32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6E6E6D"/>
                </a:solidFill>
                <a:latin typeface="Arial"/>
              </a:rPr>
              <a:t>www.lotetgaronne.fr/inclusion-numerique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0" i="0">
                <a:solidFill>
                  <a:srgbClr val="6E6E6D"/>
                </a:solidFill>
                <a:latin typeface="Arial"/>
              </a:rPr>
              <a:t>Direction des Systèmes d'Information — Service Inclusion Numérique — CD47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383200" y="9925200"/>
            <a:ext cx="2797200" cy="1800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6E6E6D"/>
                </a:solidFill>
                <a:latin typeface="Arial"/>
              </a:rPr>
              <a:t>v1.0 – 2025 – CD47 Service Inclusion Numérique  |  Page 2/2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