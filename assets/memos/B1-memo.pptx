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Prenez en main votre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Pourquoi la messagerie, c'est important ? | Les trois grandes messageries | Anatomie d'une boîte 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Pourquoi la messagerie, c'est important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Aujourd'hui, l'e-mail est devenu incontournable : administrations, banques, médecins, famille tout passe par là. Contrairement aux réseaux sociaux, un e-mail reste un moyen de communication officiel, fiable et durable. Savoir bien l'utiliser, c'est gagner en autonomie et en sérénité au quotidien.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Accepté par toutes les administrations et entreprises.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Vos messages sont conservés et traçables.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Fonctionne partout dans le monde, sur tous les appareils.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499199"/>
            <a:ext cx="6490800" cy="16848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499199"/>
            <a:ext cx="572400" cy="1684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39203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5658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5351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trois grandes messageries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3963599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Il existe de nombreux services de messagerie, mais trois dominent largement le marché en France et en Europe. Chacune a ses atouts et son public.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Gmail (Google)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plus répandue dans le monde. Interface claire, excellente intégration avec Drive, Agenda et YouTube. Idéale pour un usage personnel ou professionnel léger.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Outlook (Microsoft)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248799"/>
            <a:ext cx="6490800" cy="13824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248799"/>
            <a:ext cx="572400" cy="1382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6699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315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284799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Anatomie d'une boîte 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7131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Avant de se lancer, comprenons les éléments essentiels de l'interface. Quelle que soit la messagerie utilisée, vous retrouverez toujours les mêmes grandes zones.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Sur mobile, les dossiers sont souvent accessibles via un menu "hamburger" () en haut à gauche. Ne les cherchez pas trop loin 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6695999"/>
            <a:ext cx="6490800" cy="13824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32800" y="6695999"/>
            <a:ext cx="572400" cy="1382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206000" y="7117199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2800" y="6762599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200" y="67320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Rédiger et envoyer un e-mail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200" y="7160399"/>
            <a:ext cx="5828400" cy="881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Envoyer un mail professionnel ou personnel ne s'improvise pas tout à fait. Voici les étapes clés pour composer un message clair et bien reçu.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Cliquez Nouveau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Destinataire &amp; Objet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Rédigez le message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2800" y="8215199"/>
            <a:ext cx="6490800" cy="658800"/>
          </a:xfrm>
          <a:prstGeom prst="rect">
            <a:avLst/>
          </a:prstGeom>
          <a:solidFill>
            <a:srgbClr val="EFF7FF"/>
          </a:solidFill>
          <a:ln w="635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40799" y="8251199"/>
            <a:ext cx="5410800" cy="604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4388BC"/>
                </a:solidFill>
                <a:latin typeface="Arial"/>
              </a:rPr>
              <a:t>→ Suite en page 2 : Lire et comprendre un e-mail reçu | Les champs À, Cc et Cci expliqués | Ajouter une pièce jointe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E6E6D"/>
                </a:solidFill>
                <a:latin typeface="Arial"/>
              </a:rPr>
              <a:t>Votre Conseiller Numérique : 05 53 47 31 32  ·  conseiller-numerique@lotetgaronne.fr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1/2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2800" y="1180800"/>
            <a:ext cx="6490800" cy="511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4388BC"/>
                </a:solidFill>
                <a:latin typeface="Arial"/>
              </a:rPr>
              <a:t>Mon mémo — Prenez en main votre boîte mail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Pourquoi la messagerie, c'est important ? | Les trois grandes messageries | Anatomie d'une boîte 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32800" y="1749600"/>
            <a:ext cx="6490800" cy="1835999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2800" y="1749600"/>
            <a:ext cx="572400" cy="1835999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206000" y="21708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32800" y="18162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7200" y="17856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Lire et comprendre un e-mail reçu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9200" y="2214000"/>
            <a:ext cx="5828400" cy="13355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Recevoir un mail, c'est bien. Le comprendre, c'est mieux ! Chaque e-mail contient plusieurs informations importantes à repérer dès le premier regard.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L'expéditeur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Qui vous écrit ? Vérifiez toujours l'adresse complète, pas seulement le nom affiché. Un vrai organisme possède une adresse officielle (ex : noreply@ameli.fr).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Le résumé du sujet traité. Un objet vide ou bizarre doit vous alerter. Un bon expéditeur donne toujours un objet clair et précis.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800" y="3650400"/>
            <a:ext cx="6490800" cy="1533600"/>
          </a:xfrm>
          <a:prstGeom prst="rect">
            <a:avLst/>
          </a:prstGeom>
          <a:solidFill>
            <a:srgbClr val="EB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32800" y="3650400"/>
            <a:ext cx="572400" cy="15336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206000" y="40716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2800" y="37170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7200" y="36864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Les champs À, Cc et Cci expliqués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9200" y="4114800"/>
            <a:ext cx="5828400" cy="10331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Quand vous composez un e-mail, trois champs destinataires sont disponibles. Chacun a un rôle précis que beaucoup de gens confondent.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À (Destinataire principal)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La ou les personnes directement concernées par le message. Elles sont censées répondre ou agir.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Cc (Copie carbone)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800" y="5248800"/>
            <a:ext cx="6490800" cy="1684800"/>
          </a:xfrm>
          <a:prstGeom prst="rect">
            <a:avLst/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32800" y="5248800"/>
            <a:ext cx="572400" cy="1684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206000" y="5670000"/>
            <a:ext cx="5752800" cy="7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800" y="5315400"/>
            <a:ext cx="572400" cy="28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200" y="5284800"/>
            <a:ext cx="5810400" cy="3707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4388BC"/>
                </a:solidFill>
                <a:latin typeface="Arial"/>
              </a:rPr>
              <a:t>Ajouter une pièce jointe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200" y="5713200"/>
            <a:ext cx="5828400" cy="11843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Une pièce jointe permet d'envoyer un fichier (photo, document PDF, facture) avec votre e-mail. C'est très pratique, mais quelques règles s'imposent pour éviter les mauvaises surprises.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Cliquez sur l'icône trombone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Présente dans toutes les messageries lors de la rédaction d'un nouveau message.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2B2B2B"/>
                </a:solidFill>
                <a:latin typeface="Arial"/>
              </a:rPr>
              <a:t>→ Sélectionnez votre fichier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2800" y="8892000"/>
            <a:ext cx="6490800" cy="1512000"/>
          </a:xfrm>
          <a:prstGeom prst="rect">
            <a:avLst/>
          </a:prstGeom>
          <a:solidFill>
            <a:srgbClr val="EBF5FF"/>
          </a:solidFill>
          <a:ln w="1016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2221200" y="9478800"/>
            <a:ext cx="3110400" cy="72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800" y="8956800"/>
            <a:ext cx="4140000" cy="1404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4388BC"/>
                </a:solidFill>
                <a:latin typeface="Arial"/>
              </a:rPr>
              <a:t>Besoin d'aide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187C88"/>
                </a:solidFill>
                <a:latin typeface="Arial"/>
              </a:rPr>
              <a:t>Votre Conseiller Numérique est là pour vous accompagner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B2B2B"/>
                </a:solidFill>
                <a:latin typeface="Arial"/>
              </a:rPr>
              <a:t>conseiller-numerique@lotetgaronne.fr  ·  Tél : 05 53 47 31 32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6E6E6D"/>
                </a:solidFill>
                <a:latin typeface="Arial"/>
              </a:rPr>
              <a:t>www.lotetgaronne.fr/inclusion-numerique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E6E6D"/>
                </a:solidFill>
                <a:latin typeface="Arial"/>
              </a:rPr>
              <a:t>Direction des Systèmes d'Information — Service Inclusion Numérique — CD47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83200" y="9925200"/>
            <a:ext cx="2797200" cy="180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v1.0 – 2025 – CD47 Service Inclusion Numérique  |  Page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