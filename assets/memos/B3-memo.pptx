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</p:sldIdLst>
  <p:sldSz cx="7556399" cy="10692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blipFill>
          <a:blip r:embed="rId2"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32800" y="1180800"/>
            <a:ext cx="6490800" cy="5112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800" b="1" i="0">
                <a:solidFill>
                  <a:srgbClr val="4388BC"/>
                </a:solidFill>
                <a:latin typeface="Arial"/>
              </a:rPr>
              <a:t>Mon mémo — Créer son identité numérique avec FranceConnect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000" b="0" i="0">
                <a:solidFill>
                  <a:srgbClr val="6E6E6D"/>
                </a:solidFill>
                <a:latin typeface="Arial"/>
              </a:rPr>
              <a:t>Avant de commencer — Vérifiez vos prérequis | Qu'est-ce que FranceConnect ? | Points de vigilance</a:t>
            </a:r>
          </a:p>
        </p:txBody>
      </p:sp>
      <p:sp>
        <p:nvSpPr>
          <p:cNvPr id="3" name="Rectangle 2"/>
          <p:cNvSpPr/>
          <p:nvPr/>
        </p:nvSpPr>
        <p:spPr>
          <a:xfrm>
            <a:off x="532800" y="1749600"/>
            <a:ext cx="6490800" cy="1533600"/>
          </a:xfrm>
          <a:prstGeom prst="rect">
            <a:avLst/>
          </a:prstGeom>
          <a:solidFill>
            <a:srgbClr val="ECF5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" name="Rectangle 3"/>
          <p:cNvSpPr/>
          <p:nvPr/>
        </p:nvSpPr>
        <p:spPr>
          <a:xfrm>
            <a:off x="532800" y="1749600"/>
            <a:ext cx="572400" cy="1533600"/>
          </a:xfrm>
          <a:prstGeom prst="rect">
            <a:avLst/>
          </a:prstGeom>
          <a:solidFill>
            <a:srgbClr val="4388B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" name="Rectangle 4"/>
          <p:cNvSpPr/>
          <p:nvPr/>
        </p:nvSpPr>
        <p:spPr>
          <a:xfrm>
            <a:off x="1206000" y="2170800"/>
            <a:ext cx="5752800" cy="7200"/>
          </a:xfrm>
          <a:prstGeom prst="rect">
            <a:avLst/>
          </a:prstGeom>
          <a:solidFill>
            <a:srgbClr val="DDDDD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532800" y="1816200"/>
            <a:ext cx="572400" cy="2880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2200" b="1" i="0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77200" y="1785600"/>
            <a:ext cx="5810400" cy="370799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100" b="1" i="0">
                <a:solidFill>
                  <a:srgbClr val="4388BC"/>
                </a:solidFill>
                <a:latin typeface="Arial"/>
              </a:rPr>
              <a:t>Avant de commencer — Vérifiez vos prérequis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59200" y="2214000"/>
            <a:ext cx="5828400" cy="1033199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000" b="0" i="0">
                <a:solidFill>
                  <a:srgbClr val="2B2B2B"/>
                </a:solidFill>
                <a:latin typeface="Arial"/>
              </a:rPr>
              <a:t>→ Vous avez besoin d'un compte existant pour utiliser FranceConnect. Suivez ces étapes simples :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000" b="0" i="0">
                <a:solidFill>
                  <a:srgbClr val="2B2B2B"/>
                </a:solidFill>
                <a:latin typeface="Arial"/>
              </a:rPr>
              <a:t>→ Vérifier vos prérequis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000" b="0" i="0">
                <a:solidFill>
                  <a:srgbClr val="2B2B2B"/>
                </a:solidFill>
                <a:latin typeface="Arial"/>
              </a:rPr>
              <a:t>→ Avez-vous déjà un compte impots.gouv.fr, Ameli.fr, La Poste, MSA ou France Identité ?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000" b="0" i="0">
                <a:solidFill>
                  <a:srgbClr val="2B2B2B"/>
                </a:solidFill>
                <a:latin typeface="Arial"/>
              </a:rPr>
              <a:t>→ Créer un compte (si besoin)</a:t>
            </a:r>
          </a:p>
        </p:txBody>
      </p:sp>
      <p:sp>
        <p:nvSpPr>
          <p:cNvPr id="9" name="Rectangle 8"/>
          <p:cNvSpPr/>
          <p:nvPr/>
        </p:nvSpPr>
        <p:spPr>
          <a:xfrm>
            <a:off x="532800" y="3348000"/>
            <a:ext cx="6490800" cy="1533600"/>
          </a:xfrm>
          <a:prstGeom prst="rect">
            <a:avLst/>
          </a:prstGeom>
          <a:solidFill>
            <a:srgbClr val="EBF7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Rectangle 9"/>
          <p:cNvSpPr/>
          <p:nvPr/>
        </p:nvSpPr>
        <p:spPr>
          <a:xfrm>
            <a:off x="532800" y="3348000"/>
            <a:ext cx="572400" cy="1533600"/>
          </a:xfrm>
          <a:prstGeom prst="rect">
            <a:avLst/>
          </a:prstGeom>
          <a:solidFill>
            <a:srgbClr val="187C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Rectangle 10"/>
          <p:cNvSpPr/>
          <p:nvPr/>
        </p:nvSpPr>
        <p:spPr>
          <a:xfrm>
            <a:off x="1206000" y="3769200"/>
            <a:ext cx="5752800" cy="7200"/>
          </a:xfrm>
          <a:prstGeom prst="rect">
            <a:avLst/>
          </a:prstGeom>
          <a:solidFill>
            <a:srgbClr val="DDDDD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TextBox 11"/>
          <p:cNvSpPr txBox="1"/>
          <p:nvPr/>
        </p:nvSpPr>
        <p:spPr>
          <a:xfrm>
            <a:off x="532800" y="3414600"/>
            <a:ext cx="572400" cy="2880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2200" b="1" i="0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177200" y="3384000"/>
            <a:ext cx="5810400" cy="370799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100" b="1" i="0">
                <a:solidFill>
                  <a:srgbClr val="187C88"/>
                </a:solidFill>
                <a:latin typeface="Arial"/>
              </a:rPr>
              <a:t>Qu'est-ce que FranceConnect ?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159200" y="3812400"/>
            <a:ext cx="5828400" cy="1033199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000" b="0" i="0">
                <a:solidFill>
                  <a:srgbClr val="2B2B2B"/>
                </a:solidFill>
                <a:latin typeface="Arial"/>
              </a:rPr>
              <a:t>→ Un identifiant unique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000" b="0" i="0">
                <a:solidFill>
                  <a:srgbClr val="2B2B2B"/>
                </a:solidFill>
                <a:latin typeface="Arial"/>
              </a:rPr>
              <a:t>→ Accédez à des centaines de services : Ameli, impots.gouv, CAF, Mon Espace Santé, France Travail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000" b="0" i="0">
                <a:solidFill>
                  <a:srgbClr val="2B2B2B"/>
                </a:solidFill>
                <a:latin typeface="Arial"/>
              </a:rPr>
              <a:t>→ Sécurisé par l'État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000" b="0" i="0">
                <a:solidFill>
                  <a:srgbClr val="2B2B2B"/>
                </a:solidFill>
                <a:latin typeface="Arial"/>
              </a:rPr>
              <a:t>→ Aucun mot de passe supplémentaire. FranceConnect ne stocke pas vos données — il vérifie votre identité.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32800" y="4946400"/>
            <a:ext cx="6490800" cy="1371600"/>
          </a:xfrm>
          <a:prstGeom prst="rect">
            <a:avLst/>
          </a:prstGeom>
          <a:solidFill>
            <a:srgbClr val="ECF5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Rectangle 15"/>
          <p:cNvSpPr/>
          <p:nvPr/>
        </p:nvSpPr>
        <p:spPr>
          <a:xfrm>
            <a:off x="532800" y="4946400"/>
            <a:ext cx="572400" cy="1371600"/>
          </a:xfrm>
          <a:prstGeom prst="rect">
            <a:avLst/>
          </a:prstGeom>
          <a:solidFill>
            <a:srgbClr val="4388B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ectangle 16"/>
          <p:cNvSpPr/>
          <p:nvPr/>
        </p:nvSpPr>
        <p:spPr>
          <a:xfrm>
            <a:off x="1206000" y="5367600"/>
            <a:ext cx="5752800" cy="7200"/>
          </a:xfrm>
          <a:prstGeom prst="rect">
            <a:avLst/>
          </a:prstGeom>
          <a:solidFill>
            <a:srgbClr val="DDDDD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532800" y="5013000"/>
            <a:ext cx="572400" cy="2880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2200" b="1" i="0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177200" y="4982400"/>
            <a:ext cx="5810400" cy="370799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100" b="1" i="0">
                <a:solidFill>
                  <a:srgbClr val="4388BC"/>
                </a:solidFill>
                <a:latin typeface="Arial"/>
              </a:rPr>
              <a:t>Points de vigilance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159200" y="5410800"/>
            <a:ext cx="5828400" cy="8712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000" b="0" i="0">
                <a:solidFill>
                  <a:srgbClr val="2B2B2B"/>
                </a:solidFill>
                <a:latin typeface="Arial"/>
              </a:rPr>
              <a:t>→ Communiquer vos identifiants à quelqu'un d'autre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000" b="0" i="0">
                <a:solidFill>
                  <a:srgbClr val="2B2B2B"/>
                </a:solidFill>
                <a:latin typeface="Arial"/>
              </a:rPr>
              <a:t>→ Cliquer sur un lien FranceConnect reçu par e-mail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000" b="0" i="0">
                <a:solidFill>
                  <a:srgbClr val="2B2B2B"/>
                </a:solidFill>
                <a:latin typeface="Arial"/>
              </a:rPr>
              <a:t>→ Utiliser FranceConnect sur un appareil public ou partagé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000" b="0" i="0">
                <a:solidFill>
                  <a:srgbClr val="2B2B2B"/>
                </a:solidFill>
                <a:latin typeface="Arial"/>
              </a:rPr>
              <a:t>→ Oublier de se déconnecter sur un ordinateur partagé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32800" y="6382800"/>
            <a:ext cx="6490800" cy="1371600"/>
          </a:xfrm>
          <a:prstGeom prst="rect">
            <a:avLst/>
          </a:prstGeom>
          <a:solidFill>
            <a:srgbClr val="EBF7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Rectangle 21"/>
          <p:cNvSpPr/>
          <p:nvPr/>
        </p:nvSpPr>
        <p:spPr>
          <a:xfrm>
            <a:off x="532800" y="6382800"/>
            <a:ext cx="572400" cy="1371600"/>
          </a:xfrm>
          <a:prstGeom prst="rect">
            <a:avLst/>
          </a:prstGeom>
          <a:solidFill>
            <a:srgbClr val="187C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3" name="Rectangle 22"/>
          <p:cNvSpPr/>
          <p:nvPr/>
        </p:nvSpPr>
        <p:spPr>
          <a:xfrm>
            <a:off x="1206000" y="6803999"/>
            <a:ext cx="5752800" cy="7200"/>
          </a:xfrm>
          <a:prstGeom prst="rect">
            <a:avLst/>
          </a:prstGeom>
          <a:solidFill>
            <a:srgbClr val="DDDDD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4" name="TextBox 23"/>
          <p:cNvSpPr txBox="1"/>
          <p:nvPr/>
        </p:nvSpPr>
        <p:spPr>
          <a:xfrm>
            <a:off x="532800" y="6449400"/>
            <a:ext cx="572400" cy="2880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2200" b="1" i="0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177200" y="6418800"/>
            <a:ext cx="5810400" cy="370799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100" b="1" i="0">
                <a:solidFill>
                  <a:srgbClr val="187C88"/>
                </a:solidFill>
                <a:latin typeface="Arial"/>
              </a:rPr>
              <a:t>DÉPANNAGE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159200" y="6847200"/>
            <a:ext cx="5828400" cy="8712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000" b="0" i="0">
                <a:solidFill>
                  <a:srgbClr val="2B2B2B"/>
                </a:solidFill>
                <a:latin typeface="Arial"/>
              </a:rPr>
              <a:t>→ ERREUR Y000001 OU E000008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000" b="0" i="0">
                <a:solidFill>
                  <a:srgbClr val="2B2B2B"/>
                </a:solidFill>
                <a:latin typeface="Arial"/>
              </a:rPr>
              <a:t>→ Votre session n'a pas fonctionné. Solution :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000" b="0" i="0">
                <a:solidFill>
                  <a:srgbClr val="2B2B2B"/>
                </a:solidFill>
                <a:latin typeface="Arial"/>
              </a:rPr>
              <a:t>→ Fermez complètement votre navigateur (tous les onglets)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000" b="0" i="0">
                <a:solidFill>
                  <a:srgbClr val="2B2B2B"/>
                </a:solidFill>
                <a:latin typeface="Arial"/>
              </a:rPr>
              <a:t>→ Rouvrez-le et tapez l'adresse du site directement (pas de raccourci)</a:t>
            </a:r>
          </a:p>
        </p:txBody>
      </p:sp>
      <p:sp>
        <p:nvSpPr>
          <p:cNvPr id="27" name="Rectangle 26"/>
          <p:cNvSpPr/>
          <p:nvPr/>
        </p:nvSpPr>
        <p:spPr>
          <a:xfrm>
            <a:off x="532800" y="7891199"/>
            <a:ext cx="6490800" cy="658800"/>
          </a:xfrm>
          <a:prstGeom prst="rect">
            <a:avLst/>
          </a:prstGeom>
          <a:solidFill>
            <a:srgbClr val="EFF7FF"/>
          </a:solidFill>
          <a:ln w="6350">
            <a:solidFill>
              <a:srgbClr val="4388B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8" name="TextBox 27"/>
          <p:cNvSpPr txBox="1"/>
          <p:nvPr/>
        </p:nvSpPr>
        <p:spPr>
          <a:xfrm>
            <a:off x="1540799" y="7927200"/>
            <a:ext cx="5410800" cy="6048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050" b="1" i="0">
                <a:solidFill>
                  <a:srgbClr val="4388BC"/>
                </a:solidFill>
                <a:latin typeface="Arial"/>
              </a:rPr>
              <a:t>→ Suite en page 2 : CHECKLIST | QUIZ D'ÉVALUATION — Testez vos connaissances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50" b="0" i="0">
                <a:solidFill>
                  <a:srgbClr val="6E6E6D"/>
                </a:solidFill>
                <a:latin typeface="Arial"/>
              </a:rPr>
              <a:t>Votre Conseiller Numérique : 05 53 47 31 32  ·  conseiller-numerique@lotetgaronne.fr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83200" y="9925200"/>
            <a:ext cx="2797200" cy="1800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800" b="0" i="0">
                <a:solidFill>
                  <a:srgbClr val="6E6E6D"/>
                </a:solidFill>
                <a:latin typeface="Arial"/>
              </a:rPr>
              <a:t>v1.0 – 2025 – CD47 Service Inclusion Numérique  |  Page 1/2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blipFill>
          <a:blip r:embed="rId2"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32800" y="1180800"/>
            <a:ext cx="6490800" cy="5112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800" b="1" i="0">
                <a:solidFill>
                  <a:srgbClr val="4388BC"/>
                </a:solidFill>
                <a:latin typeface="Arial"/>
              </a:rPr>
              <a:t>Mon mémo — Créer son identité numérique avec FranceConnect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000" b="0" i="0">
                <a:solidFill>
                  <a:srgbClr val="6E6E6D"/>
                </a:solidFill>
                <a:latin typeface="Arial"/>
              </a:rPr>
              <a:t>Avant de commencer — Vérifiez vos prérequis | Qu'est-ce que FranceConnect ? | Points de vigilance</a:t>
            </a:r>
          </a:p>
        </p:txBody>
      </p:sp>
      <p:sp>
        <p:nvSpPr>
          <p:cNvPr id="3" name="Rectangle 2"/>
          <p:cNvSpPr/>
          <p:nvPr/>
        </p:nvSpPr>
        <p:spPr>
          <a:xfrm>
            <a:off x="532800" y="1749600"/>
            <a:ext cx="6490800" cy="1371600"/>
          </a:xfrm>
          <a:prstGeom prst="rect">
            <a:avLst/>
          </a:prstGeom>
          <a:solidFill>
            <a:srgbClr val="ECF5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" name="Rectangle 3"/>
          <p:cNvSpPr/>
          <p:nvPr/>
        </p:nvSpPr>
        <p:spPr>
          <a:xfrm>
            <a:off x="532800" y="1749600"/>
            <a:ext cx="572400" cy="1371600"/>
          </a:xfrm>
          <a:prstGeom prst="rect">
            <a:avLst/>
          </a:prstGeom>
          <a:solidFill>
            <a:srgbClr val="4388B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" name="Rectangle 4"/>
          <p:cNvSpPr/>
          <p:nvPr/>
        </p:nvSpPr>
        <p:spPr>
          <a:xfrm>
            <a:off x="1206000" y="2170800"/>
            <a:ext cx="5752800" cy="7200"/>
          </a:xfrm>
          <a:prstGeom prst="rect">
            <a:avLst/>
          </a:prstGeom>
          <a:solidFill>
            <a:srgbClr val="DDDDD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532800" y="1816200"/>
            <a:ext cx="572400" cy="2880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2200" b="1" i="0">
                <a:solidFill>
                  <a:srgbClr val="FFFFFF"/>
                </a:solidFill>
                <a:latin typeface="Arial"/>
              </a:rPr>
              <a:t>5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77200" y="1785600"/>
            <a:ext cx="5810400" cy="370799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100" b="1" i="0">
                <a:solidFill>
                  <a:srgbClr val="4388BC"/>
                </a:solidFill>
                <a:latin typeface="Arial"/>
              </a:rPr>
              <a:t>CHECKLIST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59200" y="2214000"/>
            <a:ext cx="5828400" cy="8712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000" b="0" i="0">
                <a:solidFill>
                  <a:srgbClr val="2B2B2B"/>
                </a:solidFill>
                <a:latin typeface="Arial"/>
              </a:rPr>
              <a:t>→ Avant de commencer, assurez-vous que vous êtes en sécurité :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000" b="0" i="0">
                <a:solidFill>
                  <a:srgbClr val="2B2B2B"/>
                </a:solidFill>
                <a:latin typeface="Arial"/>
              </a:rPr>
              <a:t>→ Sur votre appareil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000" b="0" i="0">
                <a:solidFill>
                  <a:srgbClr val="2B2B2B"/>
                </a:solidFill>
                <a:latin typeface="Arial"/>
              </a:rPr>
              <a:t>→ Vous êtes sur votre ordinateur personnel (pas un appareil partagé)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000" b="0" i="0">
                <a:solidFill>
                  <a:srgbClr val="2B2B2B"/>
                </a:solidFill>
                <a:latin typeface="Arial"/>
              </a:rPr>
              <a:t>→ Votre antivirus est à jour</a:t>
            </a:r>
          </a:p>
        </p:txBody>
      </p:sp>
      <p:sp>
        <p:nvSpPr>
          <p:cNvPr id="9" name="Rectangle 8"/>
          <p:cNvSpPr/>
          <p:nvPr/>
        </p:nvSpPr>
        <p:spPr>
          <a:xfrm>
            <a:off x="532800" y="3186000"/>
            <a:ext cx="6490800" cy="1382400"/>
          </a:xfrm>
          <a:prstGeom prst="rect">
            <a:avLst/>
          </a:prstGeom>
          <a:solidFill>
            <a:srgbClr val="EBF7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Rectangle 9"/>
          <p:cNvSpPr/>
          <p:nvPr/>
        </p:nvSpPr>
        <p:spPr>
          <a:xfrm>
            <a:off x="532800" y="3186000"/>
            <a:ext cx="572400" cy="1382400"/>
          </a:xfrm>
          <a:prstGeom prst="rect">
            <a:avLst/>
          </a:prstGeom>
          <a:solidFill>
            <a:srgbClr val="187C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Rectangle 10"/>
          <p:cNvSpPr/>
          <p:nvPr/>
        </p:nvSpPr>
        <p:spPr>
          <a:xfrm>
            <a:off x="1206000" y="3607200"/>
            <a:ext cx="5752800" cy="7200"/>
          </a:xfrm>
          <a:prstGeom prst="rect">
            <a:avLst/>
          </a:prstGeom>
          <a:solidFill>
            <a:srgbClr val="DDDDD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TextBox 11"/>
          <p:cNvSpPr txBox="1"/>
          <p:nvPr/>
        </p:nvSpPr>
        <p:spPr>
          <a:xfrm>
            <a:off x="532800" y="3252600"/>
            <a:ext cx="572400" cy="2880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2200" b="1" i="0">
                <a:solidFill>
                  <a:srgbClr val="FFFFFF"/>
                </a:solidFill>
                <a:latin typeface="Arial"/>
              </a:rPr>
              <a:t>6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177200" y="3221999"/>
            <a:ext cx="5810400" cy="370799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100" b="1" i="0">
                <a:solidFill>
                  <a:srgbClr val="187C88"/>
                </a:solidFill>
                <a:latin typeface="Arial"/>
              </a:rPr>
              <a:t>QUIZ D'ÉVALUATION — Testez vos connaissances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159200" y="3650399"/>
            <a:ext cx="5828400" cy="881999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000" b="0" i="0">
                <a:solidFill>
                  <a:srgbClr val="2B2B2B"/>
                </a:solidFill>
                <a:latin typeface="Arial"/>
              </a:rPr>
              <a:t>→ Question 1 : Qu'est-ce que FranceConnect ?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000" b="0" i="0">
                <a:solidFill>
                  <a:srgbClr val="2B2B2B"/>
                </a:solidFill>
                <a:latin typeface="Arial"/>
              </a:rPr>
              <a:t>→ A) Un nouveau mot de passe pour tous les services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000" b="0" i="0">
                <a:solidFill>
                  <a:srgbClr val="2B2B2B"/>
                </a:solidFill>
                <a:latin typeface="Arial"/>
              </a:rPr>
              <a:t>→ B) Un service d'État qui vous permet d'accéder à 1 800+ services avec un seul identifiant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000" b="0" i="0">
                <a:solidFill>
                  <a:srgbClr val="2B2B2B"/>
                </a:solidFill>
                <a:latin typeface="Arial"/>
              </a:rPr>
              <a:t>→ C) Une application à télécharger obligatoirement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32800" y="8892000"/>
            <a:ext cx="6490800" cy="1512000"/>
          </a:xfrm>
          <a:prstGeom prst="rect">
            <a:avLst/>
          </a:prstGeom>
          <a:solidFill>
            <a:srgbClr val="EBF5FF"/>
          </a:solidFill>
          <a:ln w="10160">
            <a:solidFill>
              <a:srgbClr val="4388B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Rectangle 15"/>
          <p:cNvSpPr/>
          <p:nvPr/>
        </p:nvSpPr>
        <p:spPr>
          <a:xfrm>
            <a:off x="2221200" y="9478800"/>
            <a:ext cx="3110400" cy="7200"/>
          </a:xfrm>
          <a:prstGeom prst="rect">
            <a:avLst/>
          </a:prstGeom>
          <a:solidFill>
            <a:srgbClr val="5EB3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1792800" y="8956800"/>
            <a:ext cx="4140000" cy="14040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300" b="1" i="0">
                <a:solidFill>
                  <a:srgbClr val="4388BC"/>
                </a:solidFill>
                <a:latin typeface="Arial"/>
              </a:rPr>
              <a:t>Besoin d'aide ?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100" b="1" i="0">
                <a:solidFill>
                  <a:srgbClr val="187C88"/>
                </a:solidFill>
                <a:latin typeface="Arial"/>
              </a:rPr>
              <a:t>Votre Conseiller Numérique est là pour vous accompagner !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100" b="0" i="0">
                <a:solidFill>
                  <a:srgbClr val="2B2B2B"/>
                </a:solidFill>
                <a:latin typeface="Arial"/>
              </a:rPr>
              <a:t>conseiller-numerique@lotetgaronne.fr  ·  Tél : 05 53 47 31 32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000" b="0" i="0">
                <a:solidFill>
                  <a:srgbClr val="6E6E6D"/>
                </a:solidFill>
                <a:latin typeface="Arial"/>
              </a:rPr>
              <a:t>www.lotetgaronne.fr/inclusion-numerique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900" b="0" i="0">
                <a:solidFill>
                  <a:srgbClr val="6E6E6D"/>
                </a:solidFill>
                <a:latin typeface="Arial"/>
              </a:rPr>
              <a:t>Direction des Systèmes d'Information — Service Inclusion Numérique — CD47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383200" y="9925200"/>
            <a:ext cx="2797200" cy="1800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800" b="0" i="0">
                <a:solidFill>
                  <a:srgbClr val="6E6E6D"/>
                </a:solidFill>
                <a:latin typeface="Arial"/>
              </a:rPr>
              <a:t>v1.0 – 2025 – CD47 Service Inclusion Numérique  |  Page 2/2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