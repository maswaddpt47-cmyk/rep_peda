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Numérique &amp; Environnement</a:t>
            </a:r>
          </a:p>
          <a:p>
            <a:pPr algn="l">
              <a:spcBef>
                <a:spcPts val="0"/>
              </a:spcBef>
              <a:spcAft>
                <a:spcPts val="100"/>
              </a:spcAft>
            </a:pPr>
            <a:r>
              <a:rPr sz="1000" b="0" i="0">
                <a:solidFill>
                  <a:srgbClr val="6E6E6D"/>
                </a:solidFill>
                <a:latin typeface="Arial"/>
              </a:rPr>
              <a:t>Le numérique : un secteur qui pèse lourd | Nos appareils : le cœur du problème | L'usage quotidien : des impacts souvent invisibles</a:t>
            </a:r>
          </a:p>
        </p:txBody>
      </p:sp>
      <p:sp>
        <p:nvSpPr>
          <p:cNvPr id="3" name="Rectangle 2"/>
          <p:cNvSpPr/>
          <p:nvPr/>
        </p:nvSpPr>
        <p:spPr>
          <a:xfrm>
            <a:off x="532800" y="1749600"/>
            <a:ext cx="6490800" cy="15336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15336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1</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Le numérique : un secteur qui pèse lourd</a:t>
            </a:r>
          </a:p>
        </p:txBody>
      </p:sp>
      <p:sp>
        <p:nvSpPr>
          <p:cNvPr id="8" name="TextBox 7"/>
          <p:cNvSpPr txBox="1"/>
          <p:nvPr/>
        </p:nvSpPr>
        <p:spPr>
          <a:xfrm>
            <a:off x="1159200" y="2214000"/>
            <a:ext cx="5828400" cy="10331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On l'oublie souvent, mais le numérique est l'un des secteurs les plus émetteurs de gaz à effet de serre au monde. Et sa croissance est rapide.</a:t>
            </a:r>
          </a:p>
          <a:p>
            <a:pPr algn="l">
              <a:spcBef>
                <a:spcPts val="0"/>
              </a:spcBef>
              <a:spcAft>
                <a:spcPts val="100"/>
              </a:spcAft>
            </a:pPr>
            <a:r>
              <a:rPr sz="1000" b="0" i="0">
                <a:solidFill>
                  <a:srgbClr val="2B2B2B"/>
                </a:solidFill>
                <a:latin typeface="Arial"/>
              </a:rPr>
              <a:t>→ Des émissions mondiales</a:t>
            </a:r>
          </a:p>
          <a:p>
            <a:pPr algn="l">
              <a:spcBef>
                <a:spcPts val="0"/>
              </a:spcBef>
              <a:spcAft>
                <a:spcPts val="100"/>
              </a:spcAft>
            </a:pPr>
            <a:r>
              <a:rPr sz="1000" b="0" i="0">
                <a:solidFill>
                  <a:srgbClr val="2B2B2B"/>
                </a:solidFill>
                <a:latin typeface="Arial"/>
              </a:rPr>
              <a:t>→ Le numérique représente aujourd'hui environ 4 % des émissions mondiales de CO — autant que l'aviation civile.</a:t>
            </a:r>
          </a:p>
          <a:p>
            <a:pPr algn="l">
              <a:spcBef>
                <a:spcPts val="0"/>
              </a:spcBef>
              <a:spcAft>
                <a:spcPts val="100"/>
              </a:spcAft>
            </a:pPr>
            <a:r>
              <a:rPr sz="1000" b="0" i="0">
                <a:solidFill>
                  <a:srgbClr val="2B2B2B"/>
                </a:solidFill>
                <a:latin typeface="Arial"/>
              </a:rPr>
              <a:t>→ De la consommation électrique</a:t>
            </a:r>
          </a:p>
        </p:txBody>
      </p:sp>
      <p:sp>
        <p:nvSpPr>
          <p:cNvPr id="9" name="Rectangle 8"/>
          <p:cNvSpPr/>
          <p:nvPr/>
        </p:nvSpPr>
        <p:spPr>
          <a:xfrm>
            <a:off x="532800" y="3348000"/>
            <a:ext cx="6490800" cy="16848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348000"/>
            <a:ext cx="572400" cy="1684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37692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34146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2</a:t>
            </a:r>
          </a:p>
        </p:txBody>
      </p:sp>
      <p:sp>
        <p:nvSpPr>
          <p:cNvPr id="13" name="TextBox 12"/>
          <p:cNvSpPr txBox="1"/>
          <p:nvPr/>
        </p:nvSpPr>
        <p:spPr>
          <a:xfrm>
            <a:off x="1177200" y="33840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Nos appareils : le cœur du problème</a:t>
            </a:r>
          </a:p>
        </p:txBody>
      </p:sp>
      <p:sp>
        <p:nvSpPr>
          <p:cNvPr id="14" name="TextBox 13"/>
          <p:cNvSpPr txBox="1"/>
          <p:nvPr/>
        </p:nvSpPr>
        <p:spPr>
          <a:xfrm>
            <a:off x="1159200" y="38124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La fabrication de nos appareils numériques est de loin la source d'impact la plus importante — bien plus que leur utilisation quotidienne.</a:t>
            </a:r>
          </a:p>
          <a:p>
            <a:pPr algn="l">
              <a:spcBef>
                <a:spcPts val="0"/>
              </a:spcBef>
              <a:spcAft>
                <a:spcPts val="100"/>
              </a:spcAft>
            </a:pPr>
            <a:r>
              <a:rPr sz="1000" b="0" i="0">
                <a:solidFill>
                  <a:srgbClr val="2B2B2B"/>
                </a:solidFill>
                <a:latin typeface="Arial"/>
              </a:rPr>
              <a:t>→ Un smartphone neuf</a:t>
            </a:r>
          </a:p>
          <a:p>
            <a:pPr algn="l">
              <a:spcBef>
                <a:spcPts val="0"/>
              </a:spcBef>
              <a:spcAft>
                <a:spcPts val="100"/>
              </a:spcAft>
            </a:pPr>
            <a:r>
              <a:rPr sz="1000" b="0" i="0">
                <a:solidFill>
                  <a:srgbClr val="2B2B2B"/>
                </a:solidFill>
                <a:latin typeface="Arial"/>
              </a:rPr>
              <a:t>→ Fabriquer un smartphone émet en moyenne 70 kg de CO — soit l'équivalent de 700 km en voiture, ou d'un vol Paris–Marseille. Et 80 % de cet impact vient de la fabrication, pas de l'usage.</a:t>
            </a:r>
          </a:p>
          <a:p>
            <a:pPr algn="l">
              <a:spcBef>
                <a:spcPts val="0"/>
              </a:spcBef>
              <a:spcAft>
                <a:spcPts val="100"/>
              </a:spcAft>
            </a:pPr>
            <a:r>
              <a:rPr sz="1000" b="0" i="0">
                <a:solidFill>
                  <a:srgbClr val="2B2B2B"/>
                </a:solidFill>
                <a:latin typeface="Arial"/>
              </a:rPr>
              <a:t>→ Un ordinateur portable</a:t>
            </a:r>
          </a:p>
        </p:txBody>
      </p:sp>
      <p:sp>
        <p:nvSpPr>
          <p:cNvPr id="15" name="Rectangle 14"/>
          <p:cNvSpPr/>
          <p:nvPr/>
        </p:nvSpPr>
        <p:spPr>
          <a:xfrm>
            <a:off x="532800" y="50976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0976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5518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164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3</a:t>
            </a:r>
          </a:p>
        </p:txBody>
      </p:sp>
      <p:sp>
        <p:nvSpPr>
          <p:cNvPr id="19" name="TextBox 18"/>
          <p:cNvSpPr txBox="1"/>
          <p:nvPr/>
        </p:nvSpPr>
        <p:spPr>
          <a:xfrm>
            <a:off x="1177200" y="5133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L'usage quotidien : des impacts souvent invisibles</a:t>
            </a:r>
          </a:p>
        </p:txBody>
      </p:sp>
      <p:sp>
        <p:nvSpPr>
          <p:cNvPr id="20" name="TextBox 19"/>
          <p:cNvSpPr txBox="1"/>
          <p:nvPr/>
        </p:nvSpPr>
        <p:spPr>
          <a:xfrm>
            <a:off x="1159200" y="55620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Streaming vidéo</a:t>
            </a:r>
          </a:p>
          <a:p>
            <a:pPr algn="l">
              <a:spcBef>
                <a:spcPts val="0"/>
              </a:spcBef>
              <a:spcAft>
                <a:spcPts val="100"/>
              </a:spcAft>
            </a:pPr>
            <a:r>
              <a:rPr sz="1000" b="0" i="0">
                <a:solidFill>
                  <a:srgbClr val="2B2B2B"/>
                </a:solidFill>
                <a:latin typeface="Arial"/>
              </a:rPr>
              <a:t>→ Regarder une heure de vidéo en streaming émet environ 36 g de CO — soit à peu près 1 km en voiture. Multiplié par des milliards d'utilisateurs, l'impact devient colossal.</a:t>
            </a:r>
          </a:p>
          <a:p>
            <a:pPr algn="l">
              <a:spcBef>
                <a:spcPts val="0"/>
              </a:spcBef>
              <a:spcAft>
                <a:spcPts val="100"/>
              </a:spcAft>
            </a:pPr>
            <a:r>
              <a:rPr sz="1000" b="0" i="0">
                <a:solidFill>
                  <a:srgbClr val="2B2B2B"/>
                </a:solidFill>
                <a:latin typeface="Arial"/>
              </a:rPr>
              <a:t>→ La qualité HD et 4K consomme 3 à 4 fois plus de données qu'une vidéo en définition standard.</a:t>
            </a:r>
          </a:p>
          <a:p>
            <a:pPr algn="l">
              <a:spcBef>
                <a:spcPts val="0"/>
              </a:spcBef>
              <a:spcAft>
                <a:spcPts val="100"/>
              </a:spcAft>
            </a:pPr>
            <a:r>
              <a:rPr sz="1000" b="0" i="0">
                <a:solidFill>
                  <a:srgbClr val="2B2B2B"/>
                </a:solidFill>
                <a:latin typeface="Arial"/>
              </a:rPr>
              <a:t>→ Les e-mails</a:t>
            </a:r>
          </a:p>
        </p:txBody>
      </p:sp>
      <p:sp>
        <p:nvSpPr>
          <p:cNvPr id="21" name="Rectangle 20"/>
          <p:cNvSpPr/>
          <p:nvPr/>
        </p:nvSpPr>
        <p:spPr>
          <a:xfrm>
            <a:off x="532800" y="7639200"/>
            <a:ext cx="6490800" cy="658800"/>
          </a:xfrm>
          <a:prstGeom prst="rect">
            <a:avLst/>
          </a:prstGeom>
          <a:solidFill>
            <a:srgbClr val="EFF7FF"/>
          </a:solidFill>
          <a:ln w="635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540799" y="7675200"/>
            <a:ext cx="5410800" cy="604800"/>
          </a:xfrm>
          <a:prstGeom prst="rect">
            <a:avLst/>
          </a:prstGeom>
          <a:noFill/>
        </p:spPr>
        <p:txBody>
          <a:bodyPr wrap="square" tIns="0" bIns="0" lIns="18000" rIns="18000">
            <a:spAutoFit/>
          </a:bodyPr>
          <a:lstStyle/>
          <a:p>
            <a:pPr algn="l">
              <a:spcBef>
                <a:spcPts val="0"/>
              </a:spcBef>
              <a:spcAft>
                <a:spcPts val="100"/>
              </a:spcAft>
            </a:pPr>
            <a:r>
              <a:rPr sz="1050" b="1" i="0">
                <a:solidFill>
                  <a:srgbClr val="4388BC"/>
                </a:solidFill>
                <a:latin typeface="Arial"/>
              </a:rPr>
              <a:t>→ Suite en page 2 : Les data centers : des usines énergivores | La montagne de déchets électroniques | L'obsolescence : le piège du renouvellement</a:t>
            </a:r>
          </a:p>
          <a:p>
            <a:pPr algn="l">
              <a:spcBef>
                <a:spcPts val="0"/>
              </a:spcBef>
              <a:spcAft>
                <a:spcPts val="100"/>
              </a:spcAft>
            </a:pPr>
            <a:r>
              <a:rPr sz="850" b="0" i="0">
                <a:solidFill>
                  <a:srgbClr val="6E6E6D"/>
                </a:solidFill>
                <a:latin typeface="Arial"/>
              </a:rPr>
              <a:t>Votre Conseiller Numérique : 05 53 47 31 32  ·  conseiller-numerique@lotetgaronne.fr</a:t>
            </a:r>
          </a:p>
        </p:txBody>
      </p:sp>
      <p:sp>
        <p:nvSpPr>
          <p:cNvPr id="23" name="TextBox 22"/>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32800" y="1180800"/>
            <a:ext cx="6490800" cy="511200"/>
          </a:xfrm>
          <a:prstGeom prst="rect">
            <a:avLst/>
          </a:prstGeom>
          <a:noFill/>
        </p:spPr>
        <p:txBody>
          <a:bodyPr wrap="square" tIns="0" bIns="0" lIns="18000" rIns="18000">
            <a:spAutoFit/>
          </a:bodyPr>
          <a:lstStyle/>
          <a:p>
            <a:pPr algn="l">
              <a:spcBef>
                <a:spcPts val="0"/>
              </a:spcBef>
              <a:spcAft>
                <a:spcPts val="100"/>
              </a:spcAft>
            </a:pPr>
            <a:r>
              <a:rPr sz="1800" b="1" i="0">
                <a:solidFill>
                  <a:srgbClr val="4388BC"/>
                </a:solidFill>
                <a:latin typeface="Arial"/>
              </a:rPr>
              <a:t>Mon mémo — Numérique &amp; Environnement</a:t>
            </a:r>
          </a:p>
          <a:p>
            <a:pPr algn="l">
              <a:spcBef>
                <a:spcPts val="0"/>
              </a:spcBef>
              <a:spcAft>
                <a:spcPts val="100"/>
              </a:spcAft>
            </a:pPr>
            <a:r>
              <a:rPr sz="1000" b="0" i="0">
                <a:solidFill>
                  <a:srgbClr val="6E6E6D"/>
                </a:solidFill>
                <a:latin typeface="Arial"/>
              </a:rPr>
              <a:t>Le numérique : un secteur qui pèse lourd | Nos appareils : le cœur du problème | L'usage quotidien : des impacts souvent invisibles</a:t>
            </a:r>
          </a:p>
        </p:txBody>
      </p:sp>
      <p:sp>
        <p:nvSpPr>
          <p:cNvPr id="3" name="Rectangle 2"/>
          <p:cNvSpPr/>
          <p:nvPr/>
        </p:nvSpPr>
        <p:spPr>
          <a:xfrm>
            <a:off x="532800" y="1749600"/>
            <a:ext cx="6490800" cy="2138400"/>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32800" y="1749600"/>
            <a:ext cx="572400" cy="213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206000" y="21708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800" y="18162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4</a:t>
            </a:r>
          </a:p>
        </p:txBody>
      </p:sp>
      <p:sp>
        <p:nvSpPr>
          <p:cNvPr id="7" name="TextBox 6"/>
          <p:cNvSpPr txBox="1"/>
          <p:nvPr/>
        </p:nvSpPr>
        <p:spPr>
          <a:xfrm>
            <a:off x="1177200" y="17856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Les data centers : des usines énergivores</a:t>
            </a:r>
          </a:p>
        </p:txBody>
      </p:sp>
      <p:sp>
        <p:nvSpPr>
          <p:cNvPr id="8" name="TextBox 7"/>
          <p:cNvSpPr txBox="1"/>
          <p:nvPr/>
        </p:nvSpPr>
        <p:spPr>
          <a:xfrm>
            <a:off x="1159200" y="2214000"/>
            <a:ext cx="5828400" cy="1638000"/>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a:p>
            <a:pPr algn="l">
              <a:spcBef>
                <a:spcPts val="0"/>
              </a:spcBef>
              <a:spcAft>
                <a:spcPts val="100"/>
              </a:spcAft>
            </a:pPr>
            <a:r>
              <a:rPr sz="1000" b="0" i="0">
                <a:solidFill>
                  <a:srgbClr val="2B2B2B"/>
                </a:solidFill>
                <a:latin typeface="Arial"/>
              </a:rPr>
              <a:t>→ d'eau par kWh</a:t>
            </a:r>
          </a:p>
          <a:p>
            <a:pPr algn="l">
              <a:spcBef>
                <a:spcPts val="0"/>
              </a:spcBef>
              <a:spcAft>
                <a:spcPts val="100"/>
              </a:spcAft>
            </a:pPr>
            <a:r>
              <a:rPr sz="1000" b="0" i="0">
                <a:solidFill>
                  <a:srgbClr val="2B2B2B"/>
                </a:solidFill>
                <a:latin typeface="Arial"/>
              </a:rPr>
              <a:t>→ Pour chaque kilowatt-heure d'électricité consommée par un data center, entre 1 et 3 litres d'eau sont utilisés pour le refroidissement des serveurs. Une consommation équivalente à une douche de 5 minutes toutes les 30 secondes pour un centre moyen.</a:t>
            </a:r>
          </a:p>
          <a:p>
            <a:pPr algn="l">
              <a:spcBef>
                <a:spcPts val="0"/>
              </a:spcBef>
              <a:spcAft>
                <a:spcPts val="100"/>
              </a:spcAft>
            </a:pPr>
            <a:r>
              <a:rPr sz="1000" b="0" i="0">
                <a:solidFill>
                  <a:srgbClr val="2B2B2B"/>
                </a:solidFill>
                <a:latin typeface="Arial"/>
              </a:rPr>
              <a:t>→ de l'électricité mondiale</a:t>
            </a:r>
          </a:p>
        </p:txBody>
      </p:sp>
      <p:sp>
        <p:nvSpPr>
          <p:cNvPr id="9" name="Rectangle 8"/>
          <p:cNvSpPr/>
          <p:nvPr/>
        </p:nvSpPr>
        <p:spPr>
          <a:xfrm>
            <a:off x="532800" y="3952800"/>
            <a:ext cx="6490800" cy="1684800"/>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32800" y="3952800"/>
            <a:ext cx="572400" cy="1684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206000" y="43740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32800" y="4019400"/>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5</a:t>
            </a:r>
          </a:p>
        </p:txBody>
      </p:sp>
      <p:sp>
        <p:nvSpPr>
          <p:cNvPr id="13" name="TextBox 12"/>
          <p:cNvSpPr txBox="1"/>
          <p:nvPr/>
        </p:nvSpPr>
        <p:spPr>
          <a:xfrm>
            <a:off x="1177200" y="39888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La montagne de déchets électroniques</a:t>
            </a:r>
          </a:p>
        </p:txBody>
      </p:sp>
      <p:sp>
        <p:nvSpPr>
          <p:cNvPr id="14" name="TextBox 13"/>
          <p:cNvSpPr txBox="1"/>
          <p:nvPr/>
        </p:nvSpPr>
        <p:spPr>
          <a:xfrm>
            <a:off x="1159200" y="4417200"/>
            <a:ext cx="5828400" cy="11843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a:p>
            <a:pPr algn="l">
              <a:spcBef>
                <a:spcPts val="0"/>
              </a:spcBef>
              <a:spcAft>
                <a:spcPts val="100"/>
              </a:spcAft>
            </a:pPr>
            <a:r>
              <a:rPr sz="1000" b="0" i="0">
                <a:solidFill>
                  <a:srgbClr val="2B2B2B"/>
                </a:solidFill>
                <a:latin typeface="Arial"/>
              </a:rPr>
              <a:t>→ 50 millions de tonnes par an</a:t>
            </a:r>
          </a:p>
          <a:p>
            <a:pPr algn="l">
              <a:spcBef>
                <a:spcPts val="0"/>
              </a:spcBef>
              <a:spcAft>
                <a:spcPts val="100"/>
              </a:spcAft>
            </a:pPr>
            <a:r>
              <a:rPr sz="1000" b="0" i="0">
                <a:solidFill>
                  <a:srgbClr val="2B2B2B"/>
                </a:solidFill>
                <a:latin typeface="Arial"/>
              </a:rPr>
              <a:t>→ Chaque année, la planète génère un volume colossal de déchets électroniques, équivalent à jeter 1000 ordinateurs portables chaque seconde.</a:t>
            </a:r>
          </a:p>
          <a:p>
            <a:pPr algn="l">
              <a:spcBef>
                <a:spcPts val="0"/>
              </a:spcBef>
              <a:spcAft>
                <a:spcPts val="100"/>
              </a:spcAft>
            </a:pPr>
            <a:r>
              <a:rPr sz="1000" b="0" i="0">
                <a:solidFill>
                  <a:srgbClr val="2B2B2B"/>
                </a:solidFill>
                <a:latin typeface="Arial"/>
              </a:rPr>
              <a:t>→ Moins de 20% recyclé</a:t>
            </a:r>
          </a:p>
        </p:txBody>
      </p:sp>
      <p:sp>
        <p:nvSpPr>
          <p:cNvPr id="15" name="Rectangle 14"/>
          <p:cNvSpPr/>
          <p:nvPr/>
        </p:nvSpPr>
        <p:spPr>
          <a:xfrm>
            <a:off x="532800" y="5702400"/>
            <a:ext cx="6490800" cy="1835999"/>
          </a:xfrm>
          <a:prstGeom prst="rect">
            <a:avLst/>
          </a:prstGeom>
          <a:solidFill>
            <a:srgbClr val="EBF7F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32800" y="5702400"/>
            <a:ext cx="572400" cy="1835999"/>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206000" y="6123599"/>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2800" y="5768999"/>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6</a:t>
            </a:r>
          </a:p>
        </p:txBody>
      </p:sp>
      <p:sp>
        <p:nvSpPr>
          <p:cNvPr id="19" name="TextBox 18"/>
          <p:cNvSpPr txBox="1"/>
          <p:nvPr/>
        </p:nvSpPr>
        <p:spPr>
          <a:xfrm>
            <a:off x="1177200" y="57384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187C88"/>
                </a:solidFill>
                <a:latin typeface="Arial"/>
              </a:rPr>
              <a:t>L'obsolescence : le piège du renouvellement</a:t>
            </a:r>
          </a:p>
        </p:txBody>
      </p:sp>
      <p:sp>
        <p:nvSpPr>
          <p:cNvPr id="20" name="TextBox 19"/>
          <p:cNvSpPr txBox="1"/>
          <p:nvPr/>
        </p:nvSpPr>
        <p:spPr>
          <a:xfrm>
            <a:off x="1159200" y="6166800"/>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a:p>
            <a:pPr algn="l">
              <a:spcBef>
                <a:spcPts val="0"/>
              </a:spcBef>
              <a:spcAft>
                <a:spcPts val="100"/>
              </a:spcAft>
            </a:pPr>
            <a:r>
              <a:rPr sz="1000" b="0" i="0">
                <a:solidFill>
                  <a:srgbClr val="2B2B2B"/>
                </a:solidFill>
                <a:latin typeface="Arial"/>
              </a:rPr>
              <a:t>→ Obsolescence Programmée</a:t>
            </a:r>
          </a:p>
          <a:p>
            <a:pPr algn="l">
              <a:spcBef>
                <a:spcPts val="0"/>
              </a:spcBef>
              <a:spcAft>
                <a:spcPts val="100"/>
              </a:spcAft>
            </a:pPr>
            <a:r>
              <a:rPr sz="1000" b="0" i="0">
                <a:solidFill>
                  <a:srgbClr val="2B2B2B"/>
                </a:solidFill>
                <a:latin typeface="Arial"/>
              </a:rPr>
              <a:t>→ Les produits sont conçus pour avoir une durée de vie limitée, par des composants fragiles, une mise à jour logicielle impossible, ou une réparabilité rendue délibérément difficile ou coûteuse.</a:t>
            </a:r>
          </a:p>
          <a:p>
            <a:pPr algn="l">
              <a:spcBef>
                <a:spcPts val="0"/>
              </a:spcBef>
              <a:spcAft>
                <a:spcPts val="100"/>
              </a:spcAft>
            </a:pPr>
            <a:r>
              <a:rPr sz="1000" b="0" i="0">
                <a:solidFill>
                  <a:srgbClr val="2B2B2B"/>
                </a:solidFill>
                <a:latin typeface="Arial"/>
              </a:rPr>
              <a:t>→ Obsolescence Perçue</a:t>
            </a:r>
          </a:p>
        </p:txBody>
      </p:sp>
      <p:sp>
        <p:nvSpPr>
          <p:cNvPr id="21" name="Rectangle 20"/>
          <p:cNvSpPr/>
          <p:nvPr/>
        </p:nvSpPr>
        <p:spPr>
          <a:xfrm>
            <a:off x="532800" y="7603199"/>
            <a:ext cx="6490800" cy="1835999"/>
          </a:xfrm>
          <a:prstGeom prst="rect">
            <a:avLst/>
          </a:prstGeom>
          <a:solidFill>
            <a:srgbClr val="ECF5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32800" y="7603199"/>
            <a:ext cx="572400" cy="1835999"/>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06000" y="8024400"/>
            <a:ext cx="5752800" cy="7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32800" y="7669799"/>
            <a:ext cx="572400" cy="288000"/>
          </a:xfrm>
          <a:prstGeom prst="rect">
            <a:avLst/>
          </a:prstGeom>
          <a:noFill/>
        </p:spPr>
        <p:txBody>
          <a:bodyPr wrap="square" tIns="0" bIns="0" lIns="18000" rIns="18000">
            <a:spAutoFit/>
          </a:bodyPr>
          <a:lstStyle/>
          <a:p>
            <a:pPr algn="ctr">
              <a:spcBef>
                <a:spcPts val="0"/>
              </a:spcBef>
              <a:spcAft>
                <a:spcPts val="100"/>
              </a:spcAft>
            </a:pPr>
            <a:r>
              <a:rPr sz="2200" b="1" i="0">
                <a:solidFill>
                  <a:srgbClr val="FFFFFF"/>
                </a:solidFill>
                <a:latin typeface="Arial"/>
              </a:rPr>
              <a:t>7</a:t>
            </a:r>
          </a:p>
        </p:txBody>
      </p:sp>
      <p:sp>
        <p:nvSpPr>
          <p:cNvPr id="25" name="TextBox 24"/>
          <p:cNvSpPr txBox="1"/>
          <p:nvPr/>
        </p:nvSpPr>
        <p:spPr>
          <a:xfrm>
            <a:off x="1177200" y="7639200"/>
            <a:ext cx="5810400" cy="370799"/>
          </a:xfrm>
          <a:prstGeom prst="rect">
            <a:avLst/>
          </a:prstGeom>
          <a:noFill/>
        </p:spPr>
        <p:txBody>
          <a:bodyPr wrap="square" tIns="0" bIns="0" lIns="18000" rIns="18000">
            <a:spAutoFit/>
          </a:bodyPr>
          <a:lstStyle/>
          <a:p>
            <a:pPr algn="l">
              <a:spcBef>
                <a:spcPts val="0"/>
              </a:spcBef>
              <a:spcAft>
                <a:spcPts val="100"/>
              </a:spcAft>
            </a:pPr>
            <a:r>
              <a:rPr sz="1100" b="1" i="0">
                <a:solidFill>
                  <a:srgbClr val="4388BC"/>
                </a:solidFill>
                <a:latin typeface="Arial"/>
              </a:rPr>
              <a:t>Allonger la vie de ses appareils</a:t>
            </a:r>
          </a:p>
        </p:txBody>
      </p:sp>
      <p:sp>
        <p:nvSpPr>
          <p:cNvPr id="26" name="TextBox 25"/>
          <p:cNvSpPr txBox="1"/>
          <p:nvPr/>
        </p:nvSpPr>
        <p:spPr>
          <a:xfrm>
            <a:off x="1159200" y="8067600"/>
            <a:ext cx="5828400" cy="1335599"/>
          </a:xfrm>
          <a:prstGeom prst="rect">
            <a:avLst/>
          </a:prstGeom>
          <a:noFill/>
        </p:spPr>
        <p:txBody>
          <a:bodyPr wrap="square" tIns="0" bIns="0" lIns="18000" rIns="18000">
            <a:spAutoFit/>
          </a:bodyPr>
          <a:lstStyle/>
          <a:p>
            <a:pPr algn="l">
              <a:spcBef>
                <a:spcPts val="0"/>
              </a:spcBef>
              <a:spcAft>
                <a:spcPts val="100"/>
              </a:spcAft>
            </a:pPr>
            <a:r>
              <a:rPr sz="10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a:p>
            <a:pPr algn="l">
              <a:spcBef>
                <a:spcPts val="0"/>
              </a:spcBef>
              <a:spcAft>
                <a:spcPts val="100"/>
              </a:spcAft>
            </a:pPr>
            <a:r>
              <a:rPr sz="1000" b="0" i="0">
                <a:solidFill>
                  <a:srgbClr val="2B2B2B"/>
                </a:solidFill>
                <a:latin typeface="Arial"/>
              </a:rPr>
              <a:t>→ Réparer plutôt que jeter</a:t>
            </a:r>
          </a:p>
          <a:p>
            <a:pPr algn="l">
              <a:spcBef>
                <a:spcPts val="0"/>
              </a:spcBef>
              <a:spcAft>
                <a:spcPts val="100"/>
              </a:spcAft>
            </a:pPr>
            <a:r>
              <a:rPr sz="1000" b="0" i="0">
                <a:solidFill>
                  <a:srgbClr val="2B2B2B"/>
                </a:solidFill>
                <a:latin typeface="Arial"/>
              </a:rPr>
              <a:t>→ De plus en plus de services et de tutoriels existent. Un petit composant défectueux ne doit pas condamner tout un appareil. Pensez aux ateliers de réparation ou aux associations.</a:t>
            </a:r>
          </a:p>
          <a:p>
            <a:pPr algn="l">
              <a:spcBef>
                <a:spcPts val="0"/>
              </a:spcBef>
              <a:spcAft>
                <a:spcPts val="100"/>
              </a:spcAft>
            </a:pPr>
            <a:r>
              <a:rPr sz="1000" b="0" i="0">
                <a:solidFill>
                  <a:srgbClr val="2B2B2B"/>
                </a:solidFill>
                <a:latin typeface="Arial"/>
              </a:rPr>
              <a:t>→ Acheter reconditionné</a:t>
            </a:r>
          </a:p>
        </p:txBody>
      </p:sp>
      <p:sp>
        <p:nvSpPr>
          <p:cNvPr id="27" name="Rectangle 26"/>
          <p:cNvSpPr/>
          <p:nvPr/>
        </p:nvSpPr>
        <p:spPr>
          <a:xfrm>
            <a:off x="532800" y="9612000"/>
            <a:ext cx="6490800" cy="1263600"/>
          </a:xfrm>
          <a:prstGeom prst="rect">
            <a:avLst/>
          </a:prstGeom>
          <a:solidFill>
            <a:srgbClr val="FFFCE7"/>
          </a:solidFill>
          <a:ln w="8890">
            <a:solidFill>
              <a:srgbClr val="F8A82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98400" y="9867600"/>
            <a:ext cx="6159600" cy="7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76800" y="9640800"/>
            <a:ext cx="6292800" cy="234000"/>
          </a:xfrm>
          <a:prstGeom prst="rect">
            <a:avLst/>
          </a:prstGeom>
          <a:noFill/>
        </p:spPr>
        <p:txBody>
          <a:bodyPr wrap="square" tIns="0" bIns="0" lIns="18000" rIns="18000">
            <a:spAutoFit/>
          </a:bodyPr>
          <a:lstStyle/>
          <a:p>
            <a:pPr algn="l">
              <a:spcBef>
                <a:spcPts val="0"/>
              </a:spcBef>
              <a:spcAft>
                <a:spcPts val="100"/>
              </a:spcAft>
            </a:pPr>
            <a:r>
              <a:rPr sz="1200" b="1" i="0">
                <a:solidFill>
                  <a:srgbClr val="5D4037"/>
                </a:solidFill>
                <a:latin typeface="Arial"/>
              </a:rPr>
              <a:t>Des ressources rares et précieuses</a:t>
            </a:r>
          </a:p>
        </p:txBody>
      </p:sp>
      <p:sp>
        <p:nvSpPr>
          <p:cNvPr id="30" name="TextBox 29"/>
          <p:cNvSpPr txBox="1"/>
          <p:nvPr/>
        </p:nvSpPr>
        <p:spPr>
          <a:xfrm>
            <a:off x="676800" y="9892800"/>
            <a:ext cx="6292800" cy="946800"/>
          </a:xfrm>
          <a:prstGeom prst="rect">
            <a:avLst/>
          </a:prstGeom>
          <a:noFill/>
        </p:spPr>
        <p:txBody>
          <a:bodyPr wrap="square" tIns="0" bIns="0" lIns="18000" rIns="18000">
            <a:spAutoFit/>
          </a:bodyPr>
          <a:lstStyle/>
          <a:p>
            <a:pPr algn="l">
              <a:spcBef>
                <a:spcPts val="0"/>
              </a:spcBef>
              <a:spcAft>
                <a:spcPts val="100"/>
              </a:spcAft>
            </a:pPr>
            <a:r>
              <a:rPr sz="1050" b="0" i="0">
                <a:solidFill>
                  <a:srgbClr val="2B2B2B"/>
                </a:solidFill>
                <a:latin typeface="Arial"/>
              </a:rPr>
              <a:t>→ Derrière chaque écran, chaque circuit imprimé, se cache un monde de minerais et de métaux rares, dont l'extraction a des conséquences environnementales et sociales souvent dramatiques.</a:t>
            </a:r>
          </a:p>
          <a:p>
            <a:pPr algn="l">
              <a:spcBef>
                <a:spcPts val="0"/>
              </a:spcBef>
              <a:spcAft>
                <a:spcPts val="100"/>
              </a:spcAft>
            </a:pPr>
            <a:r>
              <a:rPr sz="1050" b="0" i="0">
                <a:solidFill>
                  <a:srgbClr val="2B2B2B"/>
                </a:solidFill>
                <a:latin typeface="Arial"/>
              </a:rPr>
              <a:t>→ Un cocktail de métaux stratégiques</a:t>
            </a:r>
          </a:p>
          <a:p>
            <a:pPr algn="l">
              <a:spcBef>
                <a:spcPts val="0"/>
              </a:spcBef>
              <a:spcAft>
                <a:spcPts val="100"/>
              </a:spcAft>
            </a:pPr>
            <a:r>
              <a:rPr sz="1050" b="0" i="0">
                <a:solidFill>
                  <a:srgbClr val="2B2B2B"/>
                </a:solidFill>
                <a:latin typeface="Arial"/>
              </a:rPr>
              <a:t>→ Nos appareils dépendent de ressources comme le lithium (batteries), le cobalt (batteries, puces), le coltan (condensateurs), l'or, l'argent, le cuivre... L'extraction de ces 70+ métaux est très énergivore et souvent localisée dans des zones politiquement instables.</a:t>
            </a:r>
          </a:p>
          <a:p>
            <a:pPr algn="l">
              <a:spcBef>
                <a:spcPts val="0"/>
              </a:spcBef>
              <a:spcAft>
                <a:spcPts val="100"/>
              </a:spcAft>
            </a:pPr>
            <a:r>
              <a:rPr sz="1050" b="0" i="0">
                <a:solidFill>
                  <a:srgbClr val="2B2B2B"/>
                </a:solidFill>
                <a:latin typeface="Arial"/>
              </a:rPr>
              <a:t>→ Des conditions d'extraction alarmantes</a:t>
            </a:r>
          </a:p>
        </p:txBody>
      </p:sp>
      <p:sp>
        <p:nvSpPr>
          <p:cNvPr id="31" name="Rectangle 30"/>
          <p:cNvSpPr/>
          <p:nvPr/>
        </p:nvSpPr>
        <p:spPr>
          <a:xfrm>
            <a:off x="532800" y="10940400"/>
            <a:ext cx="6490800" cy="1263600"/>
          </a:xfrm>
          <a:prstGeom prst="rect">
            <a:avLst/>
          </a:prstGeom>
          <a:solidFill>
            <a:srgbClr val="FFFCE7"/>
          </a:solidFill>
          <a:ln w="8890">
            <a:solidFill>
              <a:srgbClr val="F8A82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98400" y="11196000"/>
            <a:ext cx="6159600" cy="7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6800" y="10969200"/>
            <a:ext cx="6292800" cy="234000"/>
          </a:xfrm>
          <a:prstGeom prst="rect">
            <a:avLst/>
          </a:prstGeom>
          <a:noFill/>
        </p:spPr>
        <p:txBody>
          <a:bodyPr wrap="square" tIns="0" bIns="0" lIns="18000" rIns="18000">
            <a:spAutoFit/>
          </a:bodyPr>
          <a:lstStyle/>
          <a:p>
            <a:pPr algn="l">
              <a:spcBef>
                <a:spcPts val="0"/>
              </a:spcBef>
              <a:spcAft>
                <a:spcPts val="100"/>
              </a:spcAft>
            </a:pPr>
            <a:r>
              <a:rPr sz="1200" b="1" i="0">
                <a:solidFill>
                  <a:srgbClr val="5D4037"/>
                </a:solidFill>
                <a:latin typeface="Arial"/>
              </a:rPr>
              <a:t>Le numérique responsable en entreprise</a:t>
            </a:r>
          </a:p>
        </p:txBody>
      </p:sp>
      <p:sp>
        <p:nvSpPr>
          <p:cNvPr id="34" name="TextBox 33"/>
          <p:cNvSpPr txBox="1"/>
          <p:nvPr/>
        </p:nvSpPr>
        <p:spPr>
          <a:xfrm>
            <a:off x="676800" y="11221200"/>
            <a:ext cx="6292800" cy="946800"/>
          </a:xfrm>
          <a:prstGeom prst="rect">
            <a:avLst/>
          </a:prstGeom>
          <a:noFill/>
        </p:spPr>
        <p:txBody>
          <a:bodyPr wrap="square" tIns="0" bIns="0" lIns="18000" rIns="18000">
            <a:spAutoFit/>
          </a:bodyPr>
          <a:lstStyle/>
          <a:p>
            <a:pPr algn="l">
              <a:spcBef>
                <a:spcPts val="0"/>
              </a:spcBef>
              <a:spcAft>
                <a:spcPts val="100"/>
              </a:spcAft>
            </a:pPr>
            <a:r>
              <a:rPr sz="1050" b="0" i="0">
                <a:solidFill>
                  <a:srgbClr val="2B2B2B"/>
                </a:solidFill>
                <a:latin typeface="Arial"/>
              </a:rPr>
              <a:t>→ Intégrer le numérique responsable au sein de votre organisation permet de réduire votre empreinte environnementale tout en optimisant vos coûts et en engageant vos équipes. Voici des pistes concrètes pour agir.</a:t>
            </a:r>
          </a:p>
          <a:p>
            <a:pPr algn="l">
              <a:spcBef>
                <a:spcPts val="0"/>
              </a:spcBef>
              <a:spcAft>
                <a:spcPts val="100"/>
              </a:spcAft>
            </a:pPr>
            <a:r>
              <a:rPr sz="1050" b="0" i="0">
                <a:solidFill>
                  <a:srgbClr val="2B2B2B"/>
                </a:solidFill>
                <a:latin typeface="Arial"/>
              </a:rPr>
              <a:t>→ Politique d'achat responsable</a:t>
            </a:r>
          </a:p>
          <a:p>
            <a:pPr algn="l">
              <a:spcBef>
                <a:spcPts val="0"/>
              </a:spcBef>
              <a:spcAft>
                <a:spcPts val="100"/>
              </a:spcAft>
            </a:pPr>
            <a:r>
              <a:rPr sz="1050" b="0" i="0">
                <a:solidFill>
                  <a:srgbClr val="2B2B2B"/>
                </a:solidFill>
                <a:latin typeface="Arial"/>
              </a:rPr>
              <a:t>→ Privilégiez les équipements reconditionnés ou conçus pour durer. Demandez des garanties de réparabilité et de disponibilité des pièces détachées à vos fournisseurs.</a:t>
            </a:r>
          </a:p>
          <a:p>
            <a:pPr algn="l">
              <a:spcBef>
                <a:spcPts val="0"/>
              </a:spcBef>
              <a:spcAft>
                <a:spcPts val="100"/>
              </a:spcAft>
            </a:pPr>
            <a:r>
              <a:rPr sz="1050" b="0" i="0">
                <a:solidFill>
                  <a:srgbClr val="2B2B2B"/>
                </a:solidFill>
                <a:latin typeface="Arial"/>
              </a:rPr>
              <a:t>→ Charte numérique interne</a:t>
            </a:r>
          </a:p>
        </p:txBody>
      </p:sp>
      <p:sp>
        <p:nvSpPr>
          <p:cNvPr id="35" name="Rectangle 34"/>
          <p:cNvSpPr/>
          <p:nvPr/>
        </p:nvSpPr>
        <p:spPr>
          <a:xfrm>
            <a:off x="532800" y="12268800"/>
            <a:ext cx="6490800" cy="1263600"/>
          </a:xfrm>
          <a:prstGeom prst="rect">
            <a:avLst/>
          </a:prstGeom>
          <a:solidFill>
            <a:srgbClr val="FFFCE7"/>
          </a:solidFill>
          <a:ln w="8890">
            <a:solidFill>
              <a:srgbClr val="F8A82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98400" y="12524400"/>
            <a:ext cx="6159600" cy="7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76800" y="12297599"/>
            <a:ext cx="6292800" cy="234000"/>
          </a:xfrm>
          <a:prstGeom prst="rect">
            <a:avLst/>
          </a:prstGeom>
          <a:noFill/>
        </p:spPr>
        <p:txBody>
          <a:bodyPr wrap="square" tIns="0" bIns="0" lIns="18000" rIns="18000">
            <a:spAutoFit/>
          </a:bodyPr>
          <a:lstStyle/>
          <a:p>
            <a:pPr algn="l">
              <a:spcBef>
                <a:spcPts val="0"/>
              </a:spcBef>
              <a:spcAft>
                <a:spcPts val="100"/>
              </a:spcAft>
            </a:pPr>
            <a:r>
              <a:rPr sz="1200" b="1" i="0">
                <a:solidFill>
                  <a:srgbClr val="5D4037"/>
                </a:solidFill>
                <a:latin typeface="Arial"/>
              </a:rPr>
              <a:t>Pour aller plus loin — Sources</a:t>
            </a:r>
          </a:p>
        </p:txBody>
      </p:sp>
      <p:sp>
        <p:nvSpPr>
          <p:cNvPr id="38" name="TextBox 37"/>
          <p:cNvSpPr txBox="1"/>
          <p:nvPr/>
        </p:nvSpPr>
        <p:spPr>
          <a:xfrm>
            <a:off x="676800" y="12549600"/>
            <a:ext cx="6292800" cy="946800"/>
          </a:xfrm>
          <a:prstGeom prst="rect">
            <a:avLst/>
          </a:prstGeom>
          <a:noFill/>
        </p:spPr>
        <p:txBody>
          <a:bodyPr wrap="square" tIns="0" bIns="0" lIns="18000" rIns="18000">
            <a:spAutoFit/>
          </a:bodyPr>
          <a:lstStyle/>
          <a:p>
            <a:pPr algn="l">
              <a:spcBef>
                <a:spcPts val="0"/>
              </a:spcBef>
              <a:spcAft>
                <a:spcPts val="100"/>
              </a:spcAft>
            </a:pPr>
            <a:r>
              <a:rPr sz="1050" b="0" i="0">
                <a:solidFill>
                  <a:srgbClr val="2B2B2B"/>
                </a:solidFill>
                <a:latin typeface="Arial"/>
              </a:rPr>
              <a:t>→ Le numérique responsable, c'est l'affaire de tous. Chaque geste compte, chaque appareil prolongé, chaque donnée nettoyée contribue à un avenir plus durable.</a:t>
            </a:r>
          </a:p>
          <a:p>
            <a:pPr algn="l">
              <a:spcBef>
                <a:spcPts val="0"/>
              </a:spcBef>
              <a:spcAft>
                <a:spcPts val="100"/>
              </a:spcAft>
            </a:pPr>
            <a:r>
              <a:rPr sz="1050" b="0" i="0">
                <a:solidFill>
                  <a:srgbClr val="2B2B2B"/>
                </a:solidFill>
                <a:latin typeface="Arial"/>
              </a:rPr>
              <a:t>→ ADEME-Arcep, Évaluation de l'impact environnemental du numérique en France, Janvier 2025 — librairie.ademe.fr</a:t>
            </a:r>
          </a:p>
          <a:p>
            <a:pPr algn="l">
              <a:spcBef>
                <a:spcPts val="0"/>
              </a:spcBef>
              <a:spcAft>
                <a:spcPts val="100"/>
              </a:spcAft>
            </a:pPr>
            <a:r>
              <a:rPr sz="1050" b="0" i="0">
                <a:solidFill>
                  <a:srgbClr val="2B2B2B"/>
                </a:solidFill>
                <a:latin typeface="Arial"/>
              </a:rPr>
              <a:t>→ GreenIT.fr, Benchmark Green IT 2024, Novembre 2024 — greenit.fr</a:t>
            </a:r>
          </a:p>
          <a:p>
            <a:pPr algn="l">
              <a:spcBef>
                <a:spcPts val="0"/>
              </a:spcBef>
              <a:spcAft>
                <a:spcPts val="100"/>
              </a:spcAft>
            </a:pPr>
            <a:r>
              <a:rPr sz="1050" b="0" i="0">
                <a:solidFill>
                  <a:srgbClr val="2B2B2B"/>
                </a:solidFill>
                <a:latin typeface="Arial"/>
              </a:rPr>
              <a:t>→ Agence Internationale de l'Énergie (AIE), Electricity 2024 — iea.org</a:t>
            </a:r>
          </a:p>
        </p:txBody>
      </p:sp>
      <p:sp>
        <p:nvSpPr>
          <p:cNvPr id="39" name="Rectangle 38"/>
          <p:cNvSpPr/>
          <p:nvPr/>
        </p:nvSpPr>
        <p:spPr>
          <a:xfrm>
            <a:off x="532800" y="13705199"/>
            <a:ext cx="6490800" cy="1512000"/>
          </a:xfrm>
          <a:prstGeom prst="rect">
            <a:avLst/>
          </a:prstGeom>
          <a:solidFill>
            <a:srgbClr val="EBF5FF"/>
          </a:solidFill>
          <a:ln w="1016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221200" y="14291999"/>
            <a:ext cx="3110400" cy="72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792800" y="13769999"/>
            <a:ext cx="4140000" cy="1404000"/>
          </a:xfrm>
          <a:prstGeom prst="rect">
            <a:avLst/>
          </a:prstGeom>
          <a:noFill/>
        </p:spPr>
        <p:txBody>
          <a:bodyPr wrap="square" tIns="0" bIns="0" lIns="18000" rIns="18000">
            <a:spAutoFit/>
          </a:bodyPr>
          <a:lstStyle/>
          <a:p>
            <a:pPr algn="l">
              <a:spcBef>
                <a:spcPts val="0"/>
              </a:spcBef>
              <a:spcAft>
                <a:spcPts val="100"/>
              </a:spcAft>
            </a:pPr>
            <a:r>
              <a:rPr sz="1300" b="1" i="0">
                <a:solidFill>
                  <a:srgbClr val="4388BC"/>
                </a:solidFill>
                <a:latin typeface="Arial"/>
              </a:rPr>
              <a:t>Besoin d'aide ?</a:t>
            </a:r>
          </a:p>
          <a:p>
            <a:pPr algn="l">
              <a:spcBef>
                <a:spcPts val="0"/>
              </a:spcBef>
              <a:spcAft>
                <a:spcPts val="100"/>
              </a:spcAft>
            </a:pPr>
            <a:r>
              <a:rPr sz="1100" b="1" i="0">
                <a:solidFill>
                  <a:srgbClr val="187C88"/>
                </a:solidFill>
                <a:latin typeface="Arial"/>
              </a:rPr>
              <a:t>Votre Conseiller Numérique est là pour vous accompagner !</a:t>
            </a:r>
          </a:p>
          <a:p>
            <a:pPr algn="l">
              <a:spcBef>
                <a:spcPts val="0"/>
              </a:spcBef>
              <a:spcAft>
                <a:spcPts val="100"/>
              </a:spcAft>
            </a:pPr>
            <a:r>
              <a:rPr sz="1100" b="0" i="0">
                <a:solidFill>
                  <a:srgbClr val="2B2B2B"/>
                </a:solidFill>
                <a:latin typeface="Arial"/>
              </a:rPr>
              <a:t>conseiller-numerique@lotetgaronne.fr  ·  Tél : 05 53 47 31 32</a:t>
            </a:r>
          </a:p>
          <a:p>
            <a:pPr algn="l">
              <a:spcBef>
                <a:spcPts val="0"/>
              </a:spcBef>
              <a:spcAft>
                <a:spcPts val="100"/>
              </a:spcAft>
            </a:pPr>
            <a:r>
              <a:rPr sz="1000" b="0" i="0">
                <a:solidFill>
                  <a:srgbClr val="6E6E6D"/>
                </a:solidFill>
                <a:latin typeface="Arial"/>
              </a:rPr>
              <a:t>www.lotetgaronne.fr/inclusion-numerique</a:t>
            </a:r>
          </a:p>
          <a:p>
            <a:pPr algn="l">
              <a:spcBef>
                <a:spcPts val="0"/>
              </a:spcBef>
              <a:spcAft>
                <a:spcPts val="100"/>
              </a:spcAft>
            </a:pPr>
            <a:r>
              <a:rPr sz="900" b="0" i="0">
                <a:solidFill>
                  <a:srgbClr val="6E6E6D"/>
                </a:solidFill>
                <a:latin typeface="Arial"/>
              </a:rPr>
              <a:t>Direction des Systèmes d'Information — Service Inclusion Numérique — CD47</a:t>
            </a:r>
          </a:p>
        </p:txBody>
      </p:sp>
      <p:sp>
        <p:nvSpPr>
          <p:cNvPr id="42" name="TextBox 41"/>
          <p:cNvSpPr txBox="1"/>
          <p:nvPr/>
        </p:nvSpPr>
        <p:spPr>
          <a:xfrm>
            <a:off x="2383200" y="9925200"/>
            <a:ext cx="2797200" cy="180000"/>
          </a:xfrm>
          <a:prstGeom prst="rect">
            <a:avLst/>
          </a:prstGeom>
          <a:noFill/>
        </p:spPr>
        <p:txBody>
          <a:bodyPr wrap="square" tIns="0" bIns="0" lIns="18000" rIns="18000">
            <a:spAutoFit/>
          </a:bodyPr>
          <a:lstStyle/>
          <a:p>
            <a:pPr algn="ctr">
              <a:spcBef>
                <a:spcPts val="0"/>
              </a:spcBef>
              <a:spcAft>
                <a:spcPts val="100"/>
              </a:spcAft>
            </a:pPr>
            <a:r>
              <a:rPr sz="800" b="0" i="0">
                <a:solidFill>
                  <a:srgbClr val="6E6E6D"/>
                </a:solidFill>
                <a:latin typeface="Arial"/>
              </a:rPr>
              <a:t>v1.0 – 2025 – CD47 Service Inclusion Numérique  |  Page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