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32800" y="1180800"/>
            <a:ext cx="6490800" cy="511200"/>
          </a:xfrm>
          <a:prstGeom prst="rect">
            <a:avLst/>
          </a:prstGeom>
          <a:noFill/>
        </p:spPr>
        <p:txBody>
          <a:bodyPr wrap="square" tIns="0" bIns="0" lIns="18000" rIns="18000">
            <a:spAutoFit/>
          </a:bodyPr>
          <a:lstStyle/>
          <a:p>
            <a:pPr algn="l">
              <a:spcBef>
                <a:spcPts val="0"/>
              </a:spcBef>
              <a:spcAft>
                <a:spcPts val="100"/>
              </a:spcAft>
            </a:pPr>
            <a:r>
              <a:rPr sz="1800" b="1" i="0">
                <a:solidFill>
                  <a:srgbClr val="4388BC"/>
                </a:solidFill>
                <a:latin typeface="Arial"/>
              </a:rPr>
              <a:t>Mon mémo — Doctolib &amp; Téléconsultation</a:t>
            </a:r>
          </a:p>
          <a:p>
            <a:pPr algn="l">
              <a:spcBef>
                <a:spcPts val="0"/>
              </a:spcBef>
              <a:spcAft>
                <a:spcPts val="100"/>
              </a:spcAft>
            </a:pPr>
            <a:r>
              <a:rPr sz="1000" b="0" i="0">
                <a:solidFill>
                  <a:srgbClr val="6E6E6D"/>
                </a:solidFill>
                <a:latin typeface="Arial"/>
              </a:rPr>
              <a:t>Pourquoi l'utiliser ? | Sécurité &amp; confiance | Trouver un professionnel de santé</a:t>
            </a:r>
          </a:p>
        </p:txBody>
      </p:sp>
      <p:sp>
        <p:nvSpPr>
          <p:cNvPr id="3" name="Rectangle 2"/>
          <p:cNvSpPr/>
          <p:nvPr/>
        </p:nvSpPr>
        <p:spPr>
          <a:xfrm>
            <a:off x="532800" y="1749600"/>
            <a:ext cx="6490800" cy="13824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32800" y="1749600"/>
            <a:ext cx="572400" cy="1382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206000" y="2170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800" y="1816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1</a:t>
            </a:r>
          </a:p>
        </p:txBody>
      </p:sp>
      <p:sp>
        <p:nvSpPr>
          <p:cNvPr id="7" name="TextBox 6"/>
          <p:cNvSpPr txBox="1"/>
          <p:nvPr/>
        </p:nvSpPr>
        <p:spPr>
          <a:xfrm>
            <a:off x="1177200" y="1785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Pourquoi l'utiliser ?</a:t>
            </a:r>
          </a:p>
        </p:txBody>
      </p:sp>
      <p:sp>
        <p:nvSpPr>
          <p:cNvPr id="8" name="TextBox 7"/>
          <p:cNvSpPr txBox="1"/>
          <p:nvPr/>
        </p:nvSpPr>
        <p:spPr>
          <a:xfrm>
            <a:off x="1159200" y="2214000"/>
            <a:ext cx="5828400" cy="8819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Les avantages concrets pour vous</a:t>
            </a:r>
          </a:p>
          <a:p>
            <a:pPr algn="l">
              <a:spcBef>
                <a:spcPts val="0"/>
              </a:spcBef>
              <a:spcAft>
                <a:spcPts val="100"/>
              </a:spcAft>
            </a:pPr>
            <a:r>
              <a:rPr sz="1000" b="0" i="0">
                <a:solidFill>
                  <a:srgbClr val="2B2B2B"/>
                </a:solidFill>
                <a:latin typeface="Arial"/>
              </a:rPr>
              <a:t>→ Disponible 24h/24</a:t>
            </a:r>
          </a:p>
          <a:p>
            <a:pPr algn="l">
              <a:spcBef>
                <a:spcPts val="0"/>
              </a:spcBef>
              <a:spcAft>
                <a:spcPts val="100"/>
              </a:spcAft>
            </a:pPr>
            <a:r>
              <a:rPr sz="1000" b="0" i="0">
                <a:solidFill>
                  <a:srgbClr val="2B2B2B"/>
                </a:solidFill>
                <a:latin typeface="Arial"/>
              </a:rPr>
              <a:t>→ Prenez rendez-vous à minuit, le dimanche ou pendant vos pauses. Plus besoin d'attendre l'ouverture du cabinet pour décrocher le téléphone.</a:t>
            </a:r>
          </a:p>
          <a:p>
            <a:pPr algn="l">
              <a:spcBef>
                <a:spcPts val="0"/>
              </a:spcBef>
              <a:spcAft>
                <a:spcPts val="100"/>
              </a:spcAft>
            </a:pPr>
            <a:r>
              <a:rPr sz="1000" b="0" i="0">
                <a:solidFill>
                  <a:srgbClr val="2B2B2B"/>
                </a:solidFill>
                <a:latin typeface="Arial"/>
              </a:rPr>
              <a:t>→ Zéro temps d'attente téléphonique</a:t>
            </a:r>
          </a:p>
        </p:txBody>
      </p:sp>
      <p:sp>
        <p:nvSpPr>
          <p:cNvPr id="9" name="Rectangle 8"/>
          <p:cNvSpPr/>
          <p:nvPr/>
        </p:nvSpPr>
        <p:spPr>
          <a:xfrm>
            <a:off x="532800" y="3196799"/>
            <a:ext cx="6490800" cy="1835999"/>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32800" y="3196799"/>
            <a:ext cx="572400" cy="1835999"/>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206000" y="3617999"/>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00" y="32634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2</a:t>
            </a:r>
          </a:p>
        </p:txBody>
      </p:sp>
      <p:sp>
        <p:nvSpPr>
          <p:cNvPr id="13" name="TextBox 12"/>
          <p:cNvSpPr txBox="1"/>
          <p:nvPr/>
        </p:nvSpPr>
        <p:spPr>
          <a:xfrm>
            <a:off x="1177200" y="3232799"/>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Sécurité &amp; confiance</a:t>
            </a:r>
          </a:p>
        </p:txBody>
      </p:sp>
      <p:sp>
        <p:nvSpPr>
          <p:cNvPr id="14" name="TextBox 13"/>
          <p:cNvSpPr txBox="1"/>
          <p:nvPr/>
        </p:nvSpPr>
        <p:spPr>
          <a:xfrm>
            <a:off x="1159200" y="3661199"/>
            <a:ext cx="5828400" cy="13355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Vos données de santé sont-elles en sécurité ?</a:t>
            </a:r>
          </a:p>
          <a:p>
            <a:pPr algn="l">
              <a:spcBef>
                <a:spcPts val="0"/>
              </a:spcBef>
              <a:spcAft>
                <a:spcPts val="100"/>
              </a:spcAft>
            </a:pPr>
            <a:r>
              <a:rPr sz="1000" b="0" i="0">
                <a:solidFill>
                  <a:srgbClr val="2B2B2B"/>
                </a:solidFill>
                <a:latin typeface="Arial"/>
              </a:rPr>
              <a:t>→ C'est souvent la première question que l'on se pose, et c'est tout à fait légitime. La santé, c'est intime. Doctolib est soumis au Règlement Général sur la Protection des Données (RGPD) et héberge ses données sur des serveurs certifiés HDS (Hébergeur de Données de Santé), le plus haut niveau de certification en France pour la santé.</a:t>
            </a:r>
          </a:p>
          <a:p>
            <a:pPr algn="l">
              <a:spcBef>
                <a:spcPts val="0"/>
              </a:spcBef>
              <a:spcAft>
                <a:spcPts val="100"/>
              </a:spcAft>
            </a:pPr>
            <a:r>
              <a:rPr sz="1000" b="0" i="0">
                <a:solidFill>
                  <a:srgbClr val="2B2B2B"/>
                </a:solidFill>
                <a:latin typeface="Arial"/>
              </a:rPr>
              <a:t>→ Données stockées en France, sur AWS certifié HDS</a:t>
            </a:r>
          </a:p>
          <a:p>
            <a:pPr algn="l">
              <a:spcBef>
                <a:spcPts val="0"/>
              </a:spcBef>
              <a:spcAft>
                <a:spcPts val="100"/>
              </a:spcAft>
            </a:pPr>
            <a:r>
              <a:rPr sz="1000" b="0" i="0">
                <a:solidFill>
                  <a:srgbClr val="2B2B2B"/>
                </a:solidFill>
                <a:latin typeface="Arial"/>
              </a:rPr>
              <a:t>→ Chiffrement de bout en bout pour les consultations vidéo</a:t>
            </a:r>
          </a:p>
        </p:txBody>
      </p:sp>
      <p:sp>
        <p:nvSpPr>
          <p:cNvPr id="15" name="Rectangle 14"/>
          <p:cNvSpPr/>
          <p:nvPr/>
        </p:nvSpPr>
        <p:spPr>
          <a:xfrm>
            <a:off x="532800" y="5097599"/>
            <a:ext cx="6490800" cy="1835999"/>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32800" y="5097599"/>
            <a:ext cx="572400" cy="1835999"/>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206000" y="5518799"/>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2800" y="5164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3</a:t>
            </a:r>
          </a:p>
        </p:txBody>
      </p:sp>
      <p:sp>
        <p:nvSpPr>
          <p:cNvPr id="19" name="TextBox 18"/>
          <p:cNvSpPr txBox="1"/>
          <p:nvPr/>
        </p:nvSpPr>
        <p:spPr>
          <a:xfrm>
            <a:off x="1177200" y="5133599"/>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Trouver un professionnel de santé</a:t>
            </a:r>
          </a:p>
        </p:txBody>
      </p:sp>
      <p:sp>
        <p:nvSpPr>
          <p:cNvPr id="20" name="TextBox 19"/>
          <p:cNvSpPr txBox="1"/>
          <p:nvPr/>
        </p:nvSpPr>
        <p:spPr>
          <a:xfrm>
            <a:off x="1159200" y="5561999"/>
            <a:ext cx="5828400" cy="13355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Chercher et choisir son médecin</a:t>
            </a:r>
          </a:p>
          <a:p>
            <a:pPr algn="l">
              <a:spcBef>
                <a:spcPts val="0"/>
              </a:spcBef>
              <a:spcAft>
                <a:spcPts val="100"/>
              </a:spcAft>
            </a:pPr>
            <a:r>
              <a:rPr sz="1000" b="0" i="0">
                <a:solidFill>
                  <a:srgbClr val="2B2B2B"/>
                </a:solidFill>
                <a:latin typeface="Arial"/>
              </a:rPr>
              <a:t>→ Sur la page d'accueil de Doctolib, la barre de recherche vous demande deux informations simples : qui cherchez-vous (médecin généraliste, dermatologue, kinésithérapeute) et où (votre ville ou code postal). Les résultats s'affichent avec les premiers créneaux disponibles.</a:t>
            </a:r>
          </a:p>
          <a:p>
            <a:pPr algn="l">
              <a:spcBef>
                <a:spcPts val="0"/>
              </a:spcBef>
              <a:spcAft>
                <a:spcPts val="100"/>
              </a:spcAft>
            </a:pPr>
            <a:r>
              <a:rPr sz="1000" b="0" i="0">
                <a:solidFill>
                  <a:srgbClr val="2B2B2B"/>
                </a:solidFill>
                <a:latin typeface="Arial"/>
              </a:rPr>
              <a:t>→ Filtrer par disponibilité</a:t>
            </a:r>
          </a:p>
          <a:p>
            <a:pPr algn="l">
              <a:spcBef>
                <a:spcPts val="0"/>
              </a:spcBef>
              <a:spcAft>
                <a:spcPts val="100"/>
              </a:spcAft>
            </a:pPr>
            <a:r>
              <a:rPr sz="1000" b="0" i="0">
                <a:solidFill>
                  <a:srgbClr val="2B2B2B"/>
                </a:solidFill>
                <a:latin typeface="Arial"/>
              </a:rPr>
              <a:t>→ Aujourd'hui, cette semaine, dans les 3 prochains jours — choisissez selon votre urgence.</a:t>
            </a:r>
          </a:p>
        </p:txBody>
      </p:sp>
      <p:sp>
        <p:nvSpPr>
          <p:cNvPr id="21" name="Rectangle 20"/>
          <p:cNvSpPr/>
          <p:nvPr/>
        </p:nvSpPr>
        <p:spPr>
          <a:xfrm>
            <a:off x="532800" y="7639200"/>
            <a:ext cx="6490800" cy="658800"/>
          </a:xfrm>
          <a:prstGeom prst="rect">
            <a:avLst/>
          </a:prstGeom>
          <a:solidFill>
            <a:srgbClr val="EFF7FF"/>
          </a:solidFill>
          <a:ln w="635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540799" y="7675200"/>
            <a:ext cx="5410800" cy="604800"/>
          </a:xfrm>
          <a:prstGeom prst="rect">
            <a:avLst/>
          </a:prstGeom>
          <a:noFill/>
        </p:spPr>
        <p:txBody>
          <a:bodyPr wrap="square" tIns="0" bIns="0" lIns="18000" rIns="18000">
            <a:spAutoFit/>
          </a:bodyPr>
          <a:lstStyle/>
          <a:p>
            <a:pPr algn="l">
              <a:spcBef>
                <a:spcPts val="0"/>
              </a:spcBef>
              <a:spcAft>
                <a:spcPts val="100"/>
              </a:spcAft>
            </a:pPr>
            <a:r>
              <a:rPr sz="1050" b="1" i="0">
                <a:solidFill>
                  <a:srgbClr val="4388BC"/>
                </a:solidFill>
                <a:latin typeface="Arial"/>
              </a:rPr>
              <a:t>→ Suite en page 2 : Prendre rendez-vous | Comment ça se passe concrètement ? | Remboursement</a:t>
            </a:r>
          </a:p>
          <a:p>
            <a:pPr algn="l">
              <a:spcBef>
                <a:spcPts val="0"/>
              </a:spcBef>
              <a:spcAft>
                <a:spcPts val="100"/>
              </a:spcAft>
            </a:pPr>
            <a:r>
              <a:rPr sz="850" b="0" i="0">
                <a:solidFill>
                  <a:srgbClr val="6E6E6D"/>
                </a:solidFill>
                <a:latin typeface="Arial"/>
              </a:rPr>
              <a:t>Votre Conseiller Numérique : 05 53 47 31 32  ·  conseiller-numerique@lotetgaronne.fr</a:t>
            </a:r>
          </a:p>
        </p:txBody>
      </p:sp>
      <p:sp>
        <p:nvSpPr>
          <p:cNvPr id="23" name="TextBox 22"/>
          <p:cNvSpPr txBox="1"/>
          <p:nvPr/>
        </p:nvSpPr>
        <p:spPr>
          <a:xfrm>
            <a:off x="2383200" y="9925200"/>
            <a:ext cx="2797200" cy="180000"/>
          </a:xfrm>
          <a:prstGeom prst="rect">
            <a:avLst/>
          </a:prstGeom>
          <a:noFill/>
        </p:spPr>
        <p:txBody>
          <a:bodyPr wrap="square" tIns="0" bIns="0" lIns="18000" rIns="18000">
            <a:spAutoFit/>
          </a:bodyPr>
          <a:lstStyle/>
          <a:p>
            <a:pPr algn="ctr">
              <a:spcBef>
                <a:spcPts val="0"/>
              </a:spcBef>
              <a:spcAft>
                <a:spcPts val="100"/>
              </a:spcAft>
            </a:pPr>
            <a:r>
              <a:rPr sz="800" b="0" i="0">
                <a:solidFill>
                  <a:srgbClr val="6E6E6D"/>
                </a:solidFill>
                <a:latin typeface="Arial"/>
              </a:rPr>
              <a:t>v1.0 – 2025 – CD47 Service Inclusion Numérique  |  Page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32800" y="1180800"/>
            <a:ext cx="6490800" cy="511200"/>
          </a:xfrm>
          <a:prstGeom prst="rect">
            <a:avLst/>
          </a:prstGeom>
          <a:noFill/>
        </p:spPr>
        <p:txBody>
          <a:bodyPr wrap="square" tIns="0" bIns="0" lIns="18000" rIns="18000">
            <a:spAutoFit/>
          </a:bodyPr>
          <a:lstStyle/>
          <a:p>
            <a:pPr algn="l">
              <a:spcBef>
                <a:spcPts val="0"/>
              </a:spcBef>
              <a:spcAft>
                <a:spcPts val="100"/>
              </a:spcAft>
            </a:pPr>
            <a:r>
              <a:rPr sz="1800" b="1" i="0">
                <a:solidFill>
                  <a:srgbClr val="4388BC"/>
                </a:solidFill>
                <a:latin typeface="Arial"/>
              </a:rPr>
              <a:t>Mon mémo — Doctolib &amp; Téléconsultation</a:t>
            </a:r>
          </a:p>
          <a:p>
            <a:pPr algn="l">
              <a:spcBef>
                <a:spcPts val="0"/>
              </a:spcBef>
              <a:spcAft>
                <a:spcPts val="100"/>
              </a:spcAft>
            </a:pPr>
            <a:r>
              <a:rPr sz="1000" b="0" i="0">
                <a:solidFill>
                  <a:srgbClr val="6E6E6D"/>
                </a:solidFill>
                <a:latin typeface="Arial"/>
              </a:rPr>
              <a:t>Pourquoi l'utiliser ? | Sécurité &amp; confiance | Trouver un professionnel de santé</a:t>
            </a:r>
          </a:p>
        </p:txBody>
      </p:sp>
      <p:sp>
        <p:nvSpPr>
          <p:cNvPr id="3" name="Rectangle 2"/>
          <p:cNvSpPr/>
          <p:nvPr/>
        </p:nvSpPr>
        <p:spPr>
          <a:xfrm>
            <a:off x="532800" y="1749600"/>
            <a:ext cx="6490800" cy="1382400"/>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32800" y="1749600"/>
            <a:ext cx="572400" cy="1382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206000" y="2170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800" y="1816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4</a:t>
            </a:r>
          </a:p>
        </p:txBody>
      </p:sp>
      <p:sp>
        <p:nvSpPr>
          <p:cNvPr id="7" name="TextBox 6"/>
          <p:cNvSpPr txBox="1"/>
          <p:nvPr/>
        </p:nvSpPr>
        <p:spPr>
          <a:xfrm>
            <a:off x="1177200" y="1785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Prendre rendez-vous</a:t>
            </a:r>
          </a:p>
        </p:txBody>
      </p:sp>
      <p:sp>
        <p:nvSpPr>
          <p:cNvPr id="8" name="TextBox 7"/>
          <p:cNvSpPr txBox="1"/>
          <p:nvPr/>
        </p:nvSpPr>
        <p:spPr>
          <a:xfrm>
            <a:off x="1159200" y="2214000"/>
            <a:ext cx="5828400" cy="8819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De la recherche à la confirmation en 4 clics</a:t>
            </a:r>
          </a:p>
          <a:p>
            <a:pPr algn="l">
              <a:spcBef>
                <a:spcPts val="0"/>
              </a:spcBef>
              <a:spcAft>
                <a:spcPts val="100"/>
              </a:spcAft>
            </a:pPr>
            <a:r>
              <a:rPr sz="1000" b="0" i="0">
                <a:solidFill>
                  <a:srgbClr val="2B2B2B"/>
                </a:solidFill>
                <a:latin typeface="Arial"/>
              </a:rPr>
              <a:t>→ Choisir le créneau</a:t>
            </a:r>
          </a:p>
          <a:p>
            <a:pPr algn="l">
              <a:spcBef>
                <a:spcPts val="0"/>
              </a:spcBef>
              <a:spcAft>
                <a:spcPts val="100"/>
              </a:spcAft>
            </a:pPr>
            <a:r>
              <a:rPr sz="1000" b="0" i="0">
                <a:solidFill>
                  <a:srgbClr val="2B2B2B"/>
                </a:solidFill>
                <a:latin typeface="Arial"/>
              </a:rPr>
              <a:t>→ Cliquez sur un horaire disponible affiché en bleu dans le calendrier du praticien.</a:t>
            </a:r>
          </a:p>
          <a:p>
            <a:pPr algn="l">
              <a:spcBef>
                <a:spcPts val="0"/>
              </a:spcBef>
              <a:spcAft>
                <a:spcPts val="100"/>
              </a:spcAft>
            </a:pPr>
            <a:r>
              <a:rPr sz="1000" b="0" i="0">
                <a:solidFill>
                  <a:srgbClr val="2B2B2B"/>
                </a:solidFill>
                <a:latin typeface="Arial"/>
              </a:rPr>
              <a:t>→ Indiquer le motif</a:t>
            </a:r>
          </a:p>
        </p:txBody>
      </p:sp>
      <p:sp>
        <p:nvSpPr>
          <p:cNvPr id="9" name="Rectangle 8"/>
          <p:cNvSpPr/>
          <p:nvPr/>
        </p:nvSpPr>
        <p:spPr>
          <a:xfrm>
            <a:off x="532800" y="3196799"/>
            <a:ext cx="6490800" cy="13716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32800" y="3196799"/>
            <a:ext cx="572400" cy="13716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206000" y="3617999"/>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00" y="32634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5</a:t>
            </a:r>
          </a:p>
        </p:txBody>
      </p:sp>
      <p:sp>
        <p:nvSpPr>
          <p:cNvPr id="13" name="TextBox 12"/>
          <p:cNvSpPr txBox="1"/>
          <p:nvPr/>
        </p:nvSpPr>
        <p:spPr>
          <a:xfrm>
            <a:off x="1177200" y="3232799"/>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Comment ça se passe concrètement ?</a:t>
            </a:r>
          </a:p>
        </p:txBody>
      </p:sp>
      <p:sp>
        <p:nvSpPr>
          <p:cNvPr id="14" name="TextBox 13"/>
          <p:cNvSpPr txBox="1"/>
          <p:nvPr/>
        </p:nvSpPr>
        <p:spPr>
          <a:xfrm>
            <a:off x="1159200" y="3661199"/>
            <a:ext cx="5828400" cy="871200"/>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Déroulé d'une téléconsultation</a:t>
            </a:r>
          </a:p>
          <a:p>
            <a:pPr algn="l">
              <a:spcBef>
                <a:spcPts val="0"/>
              </a:spcBef>
              <a:spcAft>
                <a:spcPts val="100"/>
              </a:spcAft>
            </a:pPr>
            <a:r>
              <a:rPr sz="1000" b="0" i="0">
                <a:solidFill>
                  <a:srgbClr val="2B2B2B"/>
                </a:solidFill>
                <a:latin typeface="Arial"/>
              </a:rPr>
              <a:t>→ Recevoir ordonnance</a:t>
            </a:r>
          </a:p>
          <a:p>
            <a:pPr algn="l">
              <a:spcBef>
                <a:spcPts val="0"/>
              </a:spcBef>
              <a:spcAft>
                <a:spcPts val="100"/>
              </a:spcAft>
            </a:pPr>
            <a:r>
              <a:rPr sz="1000" b="0" i="0">
                <a:solidFill>
                  <a:srgbClr val="2B2B2B"/>
                </a:solidFill>
                <a:latin typeface="Arial"/>
              </a:rPr>
              <a:t>→ Consultation</a:t>
            </a:r>
          </a:p>
          <a:p>
            <a:pPr algn="l">
              <a:spcBef>
                <a:spcPts val="0"/>
              </a:spcBef>
              <a:spcAft>
                <a:spcPts val="100"/>
              </a:spcAft>
            </a:pPr>
            <a:r>
              <a:rPr sz="1000" b="0" i="0">
                <a:solidFill>
                  <a:srgbClr val="2B2B2B"/>
                </a:solidFill>
                <a:latin typeface="Arial"/>
              </a:rPr>
              <a:t>→ Appel vidéo</a:t>
            </a:r>
          </a:p>
        </p:txBody>
      </p:sp>
      <p:sp>
        <p:nvSpPr>
          <p:cNvPr id="15" name="Rectangle 14"/>
          <p:cNvSpPr/>
          <p:nvPr/>
        </p:nvSpPr>
        <p:spPr>
          <a:xfrm>
            <a:off x="532800" y="4633200"/>
            <a:ext cx="6490800" cy="1533600"/>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32800" y="4633200"/>
            <a:ext cx="572400" cy="15336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206000" y="50544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2800" y="46998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6</a:t>
            </a:r>
          </a:p>
        </p:txBody>
      </p:sp>
      <p:sp>
        <p:nvSpPr>
          <p:cNvPr id="19" name="TextBox 18"/>
          <p:cNvSpPr txBox="1"/>
          <p:nvPr/>
        </p:nvSpPr>
        <p:spPr>
          <a:xfrm>
            <a:off x="1177200" y="46692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Remboursement</a:t>
            </a:r>
          </a:p>
        </p:txBody>
      </p:sp>
      <p:sp>
        <p:nvSpPr>
          <p:cNvPr id="20" name="TextBox 19"/>
          <p:cNvSpPr txBox="1"/>
          <p:nvPr/>
        </p:nvSpPr>
        <p:spPr>
          <a:xfrm>
            <a:off x="1159200" y="5097599"/>
            <a:ext cx="5828400" cy="10331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Est-ce que c'est remboursé par la Sécurité sociale ?</a:t>
            </a:r>
          </a:p>
          <a:p>
            <a:pPr algn="l">
              <a:spcBef>
                <a:spcPts val="0"/>
              </a:spcBef>
              <a:spcAft>
                <a:spcPts val="100"/>
              </a:spcAft>
            </a:pPr>
            <a:r>
              <a:rPr sz="1000" b="0" i="0">
                <a:solidFill>
                  <a:srgbClr val="2B2B2B"/>
                </a:solidFill>
                <a:latin typeface="Arial"/>
              </a:rPr>
              <a:t>→ Oui, dans la majorité des cas</a:t>
            </a:r>
          </a:p>
          <a:p>
            <a:pPr algn="l">
              <a:spcBef>
                <a:spcPts val="0"/>
              </a:spcBef>
              <a:spcAft>
                <a:spcPts val="100"/>
              </a:spcAft>
            </a:pPr>
            <a:r>
              <a:rPr sz="1000" b="0" i="0">
                <a:solidFill>
                  <a:srgbClr val="2B2B2B"/>
                </a:solidFill>
                <a:latin typeface="Arial"/>
              </a:rPr>
              <a:t>→ La téléconsultation est remboursée par l'Assurance Maladie au même titre qu'une consultation en cabinet, à condition que le médecin soit votre médecin traitant déclaré ou que vous passiez par lui (parcours de soins coordonnés).</a:t>
            </a:r>
          </a:p>
          <a:p>
            <a:pPr algn="l">
              <a:spcBef>
                <a:spcPts val="0"/>
              </a:spcBef>
              <a:spcAft>
                <a:spcPts val="100"/>
              </a:spcAft>
            </a:pPr>
            <a:r>
              <a:rPr sz="1000" b="0" i="0">
                <a:solidFill>
                  <a:srgbClr val="2B2B2B"/>
                </a:solidFill>
                <a:latin typeface="Arial"/>
              </a:rPr>
              <a:t>→ Consultation secteur 1 : 25  remboursés à 70 %</a:t>
            </a:r>
          </a:p>
        </p:txBody>
      </p:sp>
      <p:sp>
        <p:nvSpPr>
          <p:cNvPr id="21" name="Rectangle 20"/>
          <p:cNvSpPr/>
          <p:nvPr/>
        </p:nvSpPr>
        <p:spPr>
          <a:xfrm>
            <a:off x="532800" y="6339600"/>
            <a:ext cx="6490800" cy="1263600"/>
          </a:xfrm>
          <a:prstGeom prst="rect">
            <a:avLst/>
          </a:prstGeom>
          <a:solidFill>
            <a:srgbClr val="FFFCE7"/>
          </a:solidFill>
          <a:ln w="8890">
            <a:solidFill>
              <a:srgbClr val="F8A82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98400" y="6595200"/>
            <a:ext cx="6159600" cy="7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76800" y="6368399"/>
            <a:ext cx="6292800" cy="234000"/>
          </a:xfrm>
          <a:prstGeom prst="rect">
            <a:avLst/>
          </a:prstGeom>
          <a:noFill/>
        </p:spPr>
        <p:txBody>
          <a:bodyPr wrap="square" tIns="0" bIns="0" lIns="18000" rIns="18000">
            <a:spAutoFit/>
          </a:bodyPr>
          <a:lstStyle/>
          <a:p>
            <a:pPr algn="l">
              <a:spcBef>
                <a:spcPts val="0"/>
              </a:spcBef>
              <a:spcAft>
                <a:spcPts val="100"/>
              </a:spcAft>
            </a:pPr>
            <a:r>
              <a:rPr sz="1200" b="1" i="0">
                <a:solidFill>
                  <a:srgbClr val="5D4037"/>
                </a:solidFill>
                <a:latin typeface="Arial"/>
              </a:rPr>
              <a:t>Pour aller plus loin</a:t>
            </a:r>
          </a:p>
        </p:txBody>
      </p:sp>
      <p:sp>
        <p:nvSpPr>
          <p:cNvPr id="24" name="TextBox 23"/>
          <p:cNvSpPr txBox="1"/>
          <p:nvPr/>
        </p:nvSpPr>
        <p:spPr>
          <a:xfrm>
            <a:off x="676800" y="6620400"/>
            <a:ext cx="6292800" cy="946800"/>
          </a:xfrm>
          <a:prstGeom prst="rect">
            <a:avLst/>
          </a:prstGeom>
          <a:noFill/>
        </p:spPr>
        <p:txBody>
          <a:bodyPr wrap="square" tIns="0" bIns="0" lIns="18000" rIns="18000">
            <a:spAutoFit/>
          </a:bodyPr>
          <a:lstStyle/>
          <a:p>
            <a:pPr algn="l">
              <a:spcBef>
                <a:spcPts val="0"/>
              </a:spcBef>
              <a:spcAft>
                <a:spcPts val="100"/>
              </a:spcAft>
            </a:pPr>
            <a:r>
              <a:rPr sz="1050" b="0" i="0">
                <a:solidFill>
                  <a:srgbClr val="2B2B2B"/>
                </a:solidFill>
                <a:latin typeface="Arial"/>
              </a:rPr>
              <a:t>→ Ce que vous pouvez faire dès aujourd'hui</a:t>
            </a:r>
          </a:p>
          <a:p>
            <a:pPr algn="l">
              <a:spcBef>
                <a:spcPts val="0"/>
              </a:spcBef>
              <a:spcAft>
                <a:spcPts val="100"/>
              </a:spcAft>
            </a:pPr>
            <a:r>
              <a:rPr sz="1050" b="0" i="0">
                <a:solidFill>
                  <a:srgbClr val="2B2B2B"/>
                </a:solidFill>
                <a:latin typeface="Arial"/>
              </a:rPr>
              <a:t>→ Vous avez maintenant toutes les clés pour utiliser Doctolib sereinement. Voici comment passer à l'action dès_x000B_la fin de cet atelier :</a:t>
            </a:r>
          </a:p>
          <a:p>
            <a:pPr algn="l">
              <a:spcBef>
                <a:spcPts val="0"/>
              </a:spcBef>
              <a:spcAft>
                <a:spcPts val="100"/>
              </a:spcAft>
            </a:pPr>
            <a:r>
              <a:rPr sz="1050" b="0" i="0">
                <a:solidFill>
                  <a:srgbClr val="2B2B2B"/>
                </a:solidFill>
                <a:latin typeface="Arial"/>
              </a:rPr>
              <a:t>→ 1. Créez votre compte</a:t>
            </a:r>
          </a:p>
          <a:p>
            <a:pPr algn="l">
              <a:spcBef>
                <a:spcPts val="0"/>
              </a:spcBef>
              <a:spcAft>
                <a:spcPts val="100"/>
              </a:spcAft>
            </a:pPr>
            <a:r>
              <a:rPr sz="1050" b="0" i="0">
                <a:solidFill>
                  <a:srgbClr val="2B2B2B"/>
                </a:solidFill>
                <a:latin typeface="Arial"/>
              </a:rPr>
              <a:t>→ Rendez-vous sur doctolib.fr et créez votre compte en 3 minutes. Renseignez votre numéro de Sécurité sociale pour activer le remboursement.</a:t>
            </a:r>
          </a:p>
        </p:txBody>
      </p:sp>
      <p:sp>
        <p:nvSpPr>
          <p:cNvPr id="25" name="Rectangle 24"/>
          <p:cNvSpPr/>
          <p:nvPr/>
        </p:nvSpPr>
        <p:spPr>
          <a:xfrm>
            <a:off x="532800" y="8892000"/>
            <a:ext cx="6490800" cy="1512000"/>
          </a:xfrm>
          <a:prstGeom prst="rect">
            <a:avLst/>
          </a:prstGeom>
          <a:solidFill>
            <a:srgbClr val="EBF5FF"/>
          </a:solidFill>
          <a:ln w="1016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221200" y="9478800"/>
            <a:ext cx="3110400" cy="72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792800" y="8956800"/>
            <a:ext cx="4140000" cy="1404000"/>
          </a:xfrm>
          <a:prstGeom prst="rect">
            <a:avLst/>
          </a:prstGeom>
          <a:noFill/>
        </p:spPr>
        <p:txBody>
          <a:bodyPr wrap="square" tIns="0" bIns="0" lIns="18000" rIns="18000">
            <a:spAutoFit/>
          </a:bodyPr>
          <a:lstStyle/>
          <a:p>
            <a:pPr algn="l">
              <a:spcBef>
                <a:spcPts val="0"/>
              </a:spcBef>
              <a:spcAft>
                <a:spcPts val="100"/>
              </a:spcAft>
            </a:pPr>
            <a:r>
              <a:rPr sz="1300" b="1" i="0">
                <a:solidFill>
                  <a:srgbClr val="4388BC"/>
                </a:solidFill>
                <a:latin typeface="Arial"/>
              </a:rPr>
              <a:t>Besoin d'aide ?</a:t>
            </a:r>
          </a:p>
          <a:p>
            <a:pPr algn="l">
              <a:spcBef>
                <a:spcPts val="0"/>
              </a:spcBef>
              <a:spcAft>
                <a:spcPts val="100"/>
              </a:spcAft>
            </a:pPr>
            <a:r>
              <a:rPr sz="1100" b="1" i="0">
                <a:solidFill>
                  <a:srgbClr val="187C88"/>
                </a:solidFill>
                <a:latin typeface="Arial"/>
              </a:rPr>
              <a:t>Votre Conseiller Numérique est là pour vous accompagner !</a:t>
            </a:r>
          </a:p>
          <a:p>
            <a:pPr algn="l">
              <a:spcBef>
                <a:spcPts val="0"/>
              </a:spcBef>
              <a:spcAft>
                <a:spcPts val="100"/>
              </a:spcAft>
            </a:pPr>
            <a:r>
              <a:rPr sz="1100" b="0" i="0">
                <a:solidFill>
                  <a:srgbClr val="2B2B2B"/>
                </a:solidFill>
                <a:latin typeface="Arial"/>
              </a:rPr>
              <a:t>conseiller-numerique@lotetgaronne.fr  ·  Tél : 05 53 47 31 32</a:t>
            </a:r>
          </a:p>
          <a:p>
            <a:pPr algn="l">
              <a:spcBef>
                <a:spcPts val="0"/>
              </a:spcBef>
              <a:spcAft>
                <a:spcPts val="100"/>
              </a:spcAft>
            </a:pPr>
            <a:r>
              <a:rPr sz="1000" b="0" i="0">
                <a:solidFill>
                  <a:srgbClr val="6E6E6D"/>
                </a:solidFill>
                <a:latin typeface="Arial"/>
              </a:rPr>
              <a:t>www.lotetgaronne.fr/inclusion-numerique</a:t>
            </a:r>
          </a:p>
          <a:p>
            <a:pPr algn="l">
              <a:spcBef>
                <a:spcPts val="0"/>
              </a:spcBef>
              <a:spcAft>
                <a:spcPts val="100"/>
              </a:spcAft>
            </a:pPr>
            <a:r>
              <a:rPr sz="900" b="0" i="0">
                <a:solidFill>
                  <a:srgbClr val="6E6E6D"/>
                </a:solidFill>
                <a:latin typeface="Arial"/>
              </a:rPr>
              <a:t>Direction des Systèmes d'Information — Service Inclusion Numérique — CD47</a:t>
            </a:r>
          </a:p>
        </p:txBody>
      </p:sp>
      <p:sp>
        <p:nvSpPr>
          <p:cNvPr id="28" name="TextBox 27"/>
          <p:cNvSpPr txBox="1"/>
          <p:nvPr/>
        </p:nvSpPr>
        <p:spPr>
          <a:xfrm>
            <a:off x="2383200" y="9925200"/>
            <a:ext cx="2797200" cy="180000"/>
          </a:xfrm>
          <a:prstGeom prst="rect">
            <a:avLst/>
          </a:prstGeom>
          <a:noFill/>
        </p:spPr>
        <p:txBody>
          <a:bodyPr wrap="square" tIns="0" bIns="0" lIns="18000" rIns="18000">
            <a:spAutoFit/>
          </a:bodyPr>
          <a:lstStyle/>
          <a:p>
            <a:pPr algn="ctr">
              <a:spcBef>
                <a:spcPts val="0"/>
              </a:spcBef>
              <a:spcAft>
                <a:spcPts val="100"/>
              </a:spcAft>
            </a:pPr>
            <a:r>
              <a:rPr sz="800" b="0" i="0">
                <a:solidFill>
                  <a:srgbClr val="6E6E6D"/>
                </a:solidFill>
                <a:latin typeface="Arial"/>
              </a:rPr>
              <a:t>v1.0 – 2025 – CD47 Service Inclusion Numérique  |  Page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