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l'utiliser ?</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avantages concrets pour vous</a:t>
            </a:r>
          </a:p>
          <a:p>
            <a:pPr algn="l">
              <a:spcBef>
                <a:spcPts val="0"/>
              </a:spcBef>
              <a:spcAft>
                <a:spcPts val="100"/>
              </a:spcAft>
            </a:pPr>
            <a:r>
              <a:rPr sz="1000" b="0" i="0">
                <a:solidFill>
                  <a:srgbClr val="2B2B2B"/>
                </a:solidFill>
                <a:latin typeface="Arial"/>
              </a:rPr>
              <a:t>→ Disponible 24h/24</a:t>
            </a:r>
          </a:p>
          <a:p>
            <a:pPr algn="l">
              <a:spcBef>
                <a:spcPts val="0"/>
              </a:spcBef>
              <a:spcAft>
                <a:spcPts val="100"/>
              </a:spcAft>
            </a:pPr>
            <a:r>
              <a:rPr sz="1000" b="0" i="0">
                <a:solidFill>
                  <a:srgbClr val="2B2B2B"/>
                </a:solidFill>
                <a:latin typeface="Arial"/>
              </a:rPr>
              <a:t>→ Prenez rendez-vous à minuit, le dimanche ou pendant vos pauses. Plus besoin d'attendre l'ouverture du cabinet pour décrocher le téléphone.</a:t>
            </a:r>
          </a:p>
          <a:p>
            <a:pPr algn="l">
              <a:spcBef>
                <a:spcPts val="0"/>
              </a:spcBef>
              <a:spcAft>
                <a:spcPts val="100"/>
              </a:spcAft>
            </a:pPr>
            <a:r>
              <a:rPr sz="1000" b="0" i="0">
                <a:solidFill>
                  <a:srgbClr val="2B2B2B"/>
                </a:solidFill>
                <a:latin typeface="Arial"/>
              </a:rPr>
              <a:t>→ Zéro temps d'attente téléphonique</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confiance</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Vos données de santé sont-elles en sécurité ?</a:t>
            </a:r>
          </a:p>
          <a:p>
            <a:pPr algn="l">
              <a:spcBef>
                <a:spcPts val="0"/>
              </a:spcBef>
              <a:spcAft>
                <a:spcPts val="100"/>
              </a:spcAft>
            </a:pPr>
            <a:r>
              <a:rPr sz="1000" b="0" i="0">
                <a:solidFill>
                  <a:srgbClr val="2B2B2B"/>
                </a:solidFill>
                <a:latin typeface="Arial"/>
              </a:rPr>
              <a:t>→ C'est souvent la première question que l'on se pose, et c'est tout à fait légitime. La santé, c'est intime. Doctolib est soumis au Règlement Général sur la Protection des Données (RGPD) et héberge ses données sur des serveurs certifiés HDS (Hébergeur de Données de Santé), le plus haut niveau de certification en France pour la santé.</a:t>
            </a:r>
          </a:p>
          <a:p>
            <a:pPr algn="l">
              <a:spcBef>
                <a:spcPts val="0"/>
              </a:spcBef>
              <a:spcAft>
                <a:spcPts val="100"/>
              </a:spcAft>
            </a:pPr>
            <a:r>
              <a:rPr sz="1000" b="0" i="0">
                <a:solidFill>
                  <a:srgbClr val="2B2B2B"/>
                </a:solidFill>
                <a:latin typeface="Arial"/>
              </a:rPr>
              <a:t>→ Données stockées en France, sur AWS certifié HDS</a:t>
            </a:r>
          </a:p>
          <a:p>
            <a:pPr algn="l">
              <a:spcBef>
                <a:spcPts val="0"/>
              </a:spcBef>
              <a:spcAft>
                <a:spcPts val="100"/>
              </a:spcAft>
            </a:pPr>
            <a:r>
              <a:rPr sz="1000" b="0" i="0">
                <a:solidFill>
                  <a:srgbClr val="2B2B2B"/>
                </a:solidFill>
                <a:latin typeface="Arial"/>
              </a:rPr>
              <a:t>→ Chiffrement de bout en bout pour les consultations vidéo</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Trouver un professionnel de santé</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Chercher et choisir son médecin</a:t>
            </a:r>
          </a:p>
          <a:p>
            <a:pPr algn="l">
              <a:spcBef>
                <a:spcPts val="0"/>
              </a:spcBef>
              <a:spcAft>
                <a:spcPts val="100"/>
              </a:spcAft>
            </a:pPr>
            <a:r>
              <a:rPr sz="1000" b="0" i="0">
                <a:solidFill>
                  <a:srgbClr val="2B2B2B"/>
                </a:solidFill>
                <a:latin typeface="Arial"/>
              </a:rPr>
              <a:t>→ Sur la page d'accueil de Doctolib, la barre de recherche vous demande deux informations simples : qui cherchez-vous (médecin généraliste, dermatologue, kinésithérapeute) et où (votre ville ou code postal). Les résultats s'affichent avec les premiers créneaux disponibles.</a:t>
            </a:r>
          </a:p>
          <a:p>
            <a:pPr algn="l">
              <a:spcBef>
                <a:spcPts val="0"/>
              </a:spcBef>
              <a:spcAft>
                <a:spcPts val="100"/>
              </a:spcAft>
            </a:pPr>
            <a:r>
              <a:rPr sz="1000" b="0" i="0">
                <a:solidFill>
                  <a:srgbClr val="2B2B2B"/>
                </a:solidFill>
                <a:latin typeface="Arial"/>
              </a:rPr>
              <a:t>→ Filtrer par disponibilité</a:t>
            </a:r>
          </a:p>
          <a:p>
            <a:pPr algn="l">
              <a:spcBef>
                <a:spcPts val="0"/>
              </a:spcBef>
              <a:spcAft>
                <a:spcPts val="100"/>
              </a:spcAft>
            </a:pPr>
            <a:r>
              <a:rPr sz="1000" b="0" i="0">
                <a:solidFill>
                  <a:srgbClr val="2B2B2B"/>
                </a:solidFill>
                <a:latin typeface="Arial"/>
              </a:rPr>
              <a:t>→ Aujourd'hui, cette semaine, dans les 3 prochains jours — choisissez selon votre urgence.</a:t>
            </a:r>
          </a:p>
        </p:txBody>
      </p:sp>
      <p:sp>
        <p:nvSpPr>
          <p:cNvPr id="21" name="Rectangle 20"/>
          <p:cNvSpPr/>
          <p:nvPr/>
        </p:nvSpPr>
        <p:spPr>
          <a:xfrm>
            <a:off x="532800" y="6058799"/>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058799"/>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48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1253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09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Prendre rendez-vous</a:t>
            </a:r>
          </a:p>
        </p:txBody>
      </p:sp>
      <p:sp>
        <p:nvSpPr>
          <p:cNvPr id="26" name="TextBox 25"/>
          <p:cNvSpPr txBox="1"/>
          <p:nvPr/>
        </p:nvSpPr>
        <p:spPr>
          <a:xfrm>
            <a:off x="1159200" y="65232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De la recherche à la confirmation en 4 clics</a:t>
            </a:r>
          </a:p>
          <a:p>
            <a:pPr algn="l">
              <a:spcBef>
                <a:spcPts val="0"/>
              </a:spcBef>
              <a:spcAft>
                <a:spcPts val="100"/>
              </a:spcAft>
            </a:pPr>
            <a:r>
              <a:rPr sz="1000" b="0" i="0">
                <a:solidFill>
                  <a:srgbClr val="2B2B2B"/>
                </a:solidFill>
                <a:latin typeface="Arial"/>
              </a:rPr>
              <a:t>→ Choisir le créneau</a:t>
            </a:r>
          </a:p>
          <a:p>
            <a:pPr algn="l">
              <a:spcBef>
                <a:spcPts val="0"/>
              </a:spcBef>
              <a:spcAft>
                <a:spcPts val="100"/>
              </a:spcAft>
            </a:pPr>
            <a:r>
              <a:rPr sz="1000" b="0" i="0">
                <a:solidFill>
                  <a:srgbClr val="2B2B2B"/>
                </a:solidFill>
                <a:latin typeface="Arial"/>
              </a:rPr>
              <a:t>→ Cliquez sur un horaire disponible affiché en bleu dans le calendrier du praticien.</a:t>
            </a:r>
          </a:p>
          <a:p>
            <a:pPr algn="l">
              <a:spcBef>
                <a:spcPts val="0"/>
              </a:spcBef>
              <a:spcAft>
                <a:spcPts val="100"/>
              </a:spcAft>
            </a:pPr>
            <a:r>
              <a:rPr sz="1000" b="0" i="0">
                <a:solidFill>
                  <a:srgbClr val="2B2B2B"/>
                </a:solidFill>
                <a:latin typeface="Arial"/>
              </a:rPr>
              <a:t>→ Indiquer le motif</a:t>
            </a:r>
          </a:p>
        </p:txBody>
      </p:sp>
      <p:sp>
        <p:nvSpPr>
          <p:cNvPr id="27" name="Rectangle 26"/>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Comment ça se passe concrètement ? | Remboursement | Pour aller plus loin</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ça se passe concrètement ?</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Déroulé d'une téléconsultation</a:t>
            </a:r>
          </a:p>
          <a:p>
            <a:pPr algn="l">
              <a:spcBef>
                <a:spcPts val="0"/>
              </a:spcBef>
              <a:spcAft>
                <a:spcPts val="100"/>
              </a:spcAft>
            </a:pPr>
            <a:r>
              <a:rPr sz="1000" b="0" i="0">
                <a:solidFill>
                  <a:srgbClr val="2B2B2B"/>
                </a:solidFill>
                <a:latin typeface="Arial"/>
              </a:rPr>
              <a:t>→ Recevoir ordonnance</a:t>
            </a:r>
          </a:p>
          <a:p>
            <a:pPr algn="l">
              <a:spcBef>
                <a:spcPts val="0"/>
              </a:spcBef>
              <a:spcAft>
                <a:spcPts val="100"/>
              </a:spcAft>
            </a:pPr>
            <a:r>
              <a:rPr sz="1000" b="0" i="0">
                <a:solidFill>
                  <a:srgbClr val="2B2B2B"/>
                </a:solidFill>
                <a:latin typeface="Arial"/>
              </a:rPr>
              <a:t>→ Consultation</a:t>
            </a:r>
          </a:p>
          <a:p>
            <a:pPr algn="l">
              <a:spcBef>
                <a:spcPts val="0"/>
              </a:spcBef>
              <a:spcAft>
                <a:spcPts val="100"/>
              </a:spcAft>
            </a:pPr>
            <a:r>
              <a:rPr sz="1000" b="0" i="0">
                <a:solidFill>
                  <a:srgbClr val="2B2B2B"/>
                </a:solidFill>
                <a:latin typeface="Arial"/>
              </a:rPr>
              <a:t>→ Appel vidéo</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Remboursement</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Est-ce que c'est remboursé par la Sécurité sociale ?</a:t>
            </a:r>
          </a:p>
          <a:p>
            <a:pPr algn="l">
              <a:spcBef>
                <a:spcPts val="0"/>
              </a:spcBef>
              <a:spcAft>
                <a:spcPts val="100"/>
              </a:spcAft>
            </a:pPr>
            <a:r>
              <a:rPr sz="1000" b="0" i="0">
                <a:solidFill>
                  <a:srgbClr val="2B2B2B"/>
                </a:solidFill>
                <a:latin typeface="Arial"/>
              </a:rPr>
              <a:t>→ Oui, dans la majorité des cas</a:t>
            </a:r>
          </a:p>
          <a:p>
            <a:pPr algn="l">
              <a:spcBef>
                <a:spcPts val="0"/>
              </a:spcBef>
              <a:spcAft>
                <a:spcPts val="100"/>
              </a:spcAft>
            </a:pPr>
            <a:r>
              <a:rPr sz="1000" b="0" i="0">
                <a:solidFill>
                  <a:srgbClr val="2B2B2B"/>
                </a:solidFill>
                <a:latin typeface="Arial"/>
              </a:rPr>
              <a:t>→ La téléconsultation est remboursée par l'Assurance Maladie au même titre qu'une consultation en cabinet, à condition que le médecin soit votre médecin traitant déclaré ou que vous passiez par lui (parcours de soins coordonnés).</a:t>
            </a:r>
          </a:p>
          <a:p>
            <a:pPr algn="l">
              <a:spcBef>
                <a:spcPts val="0"/>
              </a:spcBef>
              <a:spcAft>
                <a:spcPts val="100"/>
              </a:spcAft>
            </a:pPr>
            <a:r>
              <a:rPr sz="1000" b="0" i="0">
                <a:solidFill>
                  <a:srgbClr val="2B2B2B"/>
                </a:solidFill>
                <a:latin typeface="Arial"/>
              </a:rPr>
              <a:t>→ Consultation secteur 1 : 25  remboursés à 70 %</a:t>
            </a:r>
          </a:p>
        </p:txBody>
      </p:sp>
      <p:sp>
        <p:nvSpPr>
          <p:cNvPr id="15" name="Rectangle 14"/>
          <p:cNvSpPr/>
          <p:nvPr/>
        </p:nvSpPr>
        <p:spPr>
          <a:xfrm>
            <a:off x="532800" y="47304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98400" y="49860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800" y="47592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a:t>
            </a:r>
          </a:p>
        </p:txBody>
      </p:sp>
      <p:sp>
        <p:nvSpPr>
          <p:cNvPr id="18" name="TextBox 17"/>
          <p:cNvSpPr txBox="1"/>
          <p:nvPr/>
        </p:nvSpPr>
        <p:spPr>
          <a:xfrm>
            <a:off x="676800" y="50112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Ce que vous pouvez faire dès aujourd'hui</a:t>
            </a:r>
          </a:p>
          <a:p>
            <a:pPr algn="l">
              <a:spcBef>
                <a:spcPts val="0"/>
              </a:spcBef>
              <a:spcAft>
                <a:spcPts val="100"/>
              </a:spcAft>
            </a:pPr>
            <a:r>
              <a:rPr sz="1050" b="0" i="0">
                <a:solidFill>
                  <a:srgbClr val="2B2B2B"/>
                </a:solidFill>
                <a:latin typeface="Arial"/>
              </a:rPr>
              <a:t>→ Vous avez maintenant toutes les clés pour utiliser Doctolib sereinement. Voici comment passer à l'action dès la fin de cet atelier :</a:t>
            </a:r>
          </a:p>
          <a:p>
            <a:pPr algn="l">
              <a:spcBef>
                <a:spcPts val="0"/>
              </a:spcBef>
              <a:spcAft>
                <a:spcPts val="100"/>
              </a:spcAft>
            </a:pPr>
            <a:r>
              <a:rPr sz="1050" b="0" i="0">
                <a:solidFill>
                  <a:srgbClr val="2B2B2B"/>
                </a:solidFill>
                <a:latin typeface="Arial"/>
              </a:rPr>
              <a:t>→ 1. Créez votre compte</a:t>
            </a:r>
          </a:p>
          <a:p>
            <a:pPr algn="l">
              <a:spcBef>
                <a:spcPts val="0"/>
              </a:spcBef>
              <a:spcAft>
                <a:spcPts val="100"/>
              </a:spcAft>
            </a:pPr>
            <a:r>
              <a:rPr sz="1050" b="0" i="0">
                <a:solidFill>
                  <a:srgbClr val="2B2B2B"/>
                </a:solidFill>
                <a:latin typeface="Arial"/>
              </a:rPr>
              <a:t>→ Rendez-vous sur doctolib.fr et créez votre compte en 3 minutes. Renseignez votre numéro de Sécurité sociale pour activer le remboursement.</a:t>
            </a:r>
          </a:p>
        </p:txBody>
      </p:sp>
      <p:sp>
        <p:nvSpPr>
          <p:cNvPr id="19" name="Rectangle 18"/>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2" name="TextBox 21"/>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