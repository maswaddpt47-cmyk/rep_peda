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l'utiliser ?</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avantages concrets pour vous</a:t>
            </a:r>
          </a:p>
          <a:p>
            <a:pPr algn="l">
              <a:spcBef>
                <a:spcPts val="0"/>
              </a:spcBef>
              <a:spcAft>
                <a:spcPts val="100"/>
              </a:spcAft>
            </a:pPr>
            <a:r>
              <a:rPr sz="1000" b="0" i="0">
                <a:solidFill>
                  <a:srgbClr val="2B2B2B"/>
                </a:solidFill>
                <a:latin typeface="Arial"/>
              </a:rPr>
              <a:t>→ Disponible 24h/24</a:t>
            </a:r>
          </a:p>
          <a:p>
            <a:pPr algn="l">
              <a:spcBef>
                <a:spcPts val="0"/>
              </a:spcBef>
              <a:spcAft>
                <a:spcPts val="100"/>
              </a:spcAft>
            </a:pPr>
            <a:r>
              <a:rPr sz="1000" b="0" i="0">
                <a:solidFill>
                  <a:srgbClr val="2B2B2B"/>
                </a:solidFill>
                <a:latin typeface="Arial"/>
              </a:rPr>
              <a:t>→ Prenez rendez-vous à minuit, le dimanche ou pendant vos pauses. Plus besoin d'attendre l'ouverture du cabinet pour décrocher le téléphone.</a:t>
            </a:r>
          </a:p>
          <a:p>
            <a:pPr algn="l">
              <a:spcBef>
                <a:spcPts val="0"/>
              </a:spcBef>
              <a:spcAft>
                <a:spcPts val="100"/>
              </a:spcAft>
            </a:pPr>
            <a:r>
              <a:rPr sz="1000" b="0" i="0">
                <a:solidFill>
                  <a:srgbClr val="2B2B2B"/>
                </a:solidFill>
                <a:latin typeface="Arial"/>
              </a:rPr>
              <a:t>→ Zéro temps d'attente téléphonique</a:t>
            </a:r>
          </a:p>
        </p:txBody>
      </p:sp>
      <p:sp>
        <p:nvSpPr>
          <p:cNvPr id="9" name="Rectangle 8"/>
          <p:cNvSpPr/>
          <p:nvPr/>
        </p:nvSpPr>
        <p:spPr>
          <a:xfrm>
            <a:off x="532800" y="31967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confiance</a:t>
            </a:r>
          </a:p>
        </p:txBody>
      </p:sp>
      <p:sp>
        <p:nvSpPr>
          <p:cNvPr id="14" name="TextBox 13"/>
          <p:cNvSpPr txBox="1"/>
          <p:nvPr/>
        </p:nvSpPr>
        <p:spPr>
          <a:xfrm>
            <a:off x="1159200" y="36611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Vos données de santé sont-elles en sécurité ?</a:t>
            </a:r>
          </a:p>
          <a:p>
            <a:pPr algn="l">
              <a:spcBef>
                <a:spcPts val="0"/>
              </a:spcBef>
              <a:spcAft>
                <a:spcPts val="100"/>
              </a:spcAft>
            </a:pPr>
            <a:r>
              <a:rPr sz="1000" b="0" i="0">
                <a:solidFill>
                  <a:srgbClr val="2B2B2B"/>
                </a:solidFill>
                <a:latin typeface="Arial"/>
              </a:rPr>
              <a:t>→ C'est souvent la première question que l'on se pose, et c'est tout à fait légitime. La santé, c'est intime. Doctolib est soumis au Règlement Général sur la Protection des Données (RGPD) et héberge ses données sur des serveurs certifiés HDS (Hébergeur de Données de Santé), le plus haut niveau de certification en France pour la santé.</a:t>
            </a:r>
          </a:p>
          <a:p>
            <a:pPr algn="l">
              <a:spcBef>
                <a:spcPts val="0"/>
              </a:spcBef>
              <a:spcAft>
                <a:spcPts val="100"/>
              </a:spcAft>
            </a:pPr>
            <a:r>
              <a:rPr sz="1000" b="0" i="0">
                <a:solidFill>
                  <a:srgbClr val="2B2B2B"/>
                </a:solidFill>
                <a:latin typeface="Arial"/>
              </a:rPr>
              <a:t>→ Données stockées en France, sur AWS certifié HDS</a:t>
            </a:r>
          </a:p>
          <a:p>
            <a:pPr algn="l">
              <a:spcBef>
                <a:spcPts val="0"/>
              </a:spcBef>
              <a:spcAft>
                <a:spcPts val="100"/>
              </a:spcAft>
            </a:pPr>
            <a:r>
              <a:rPr sz="1000" b="0" i="0">
                <a:solidFill>
                  <a:srgbClr val="2B2B2B"/>
                </a:solidFill>
                <a:latin typeface="Arial"/>
              </a:rPr>
              <a:t>→ Chiffrement de bout en bout pour les consultations vidéo</a:t>
            </a:r>
          </a:p>
        </p:txBody>
      </p:sp>
      <p:sp>
        <p:nvSpPr>
          <p:cNvPr id="15" name="Rectangle 14"/>
          <p:cNvSpPr/>
          <p:nvPr/>
        </p:nvSpPr>
        <p:spPr>
          <a:xfrm>
            <a:off x="532800" y="50975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5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7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1335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Trouver un professionnel de santé</a:t>
            </a:r>
          </a:p>
        </p:txBody>
      </p:sp>
      <p:sp>
        <p:nvSpPr>
          <p:cNvPr id="20" name="TextBox 19"/>
          <p:cNvSpPr txBox="1"/>
          <p:nvPr/>
        </p:nvSpPr>
        <p:spPr>
          <a:xfrm>
            <a:off x="1159200" y="55619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Chercher et choisir son médecin</a:t>
            </a:r>
          </a:p>
          <a:p>
            <a:pPr algn="l">
              <a:spcBef>
                <a:spcPts val="0"/>
              </a:spcBef>
              <a:spcAft>
                <a:spcPts val="100"/>
              </a:spcAft>
            </a:pPr>
            <a:r>
              <a:rPr sz="1000" b="0" i="0">
                <a:solidFill>
                  <a:srgbClr val="2B2B2B"/>
                </a:solidFill>
                <a:latin typeface="Arial"/>
              </a:rPr>
              <a:t>→ Sur la page d'accueil de Doctolib, la barre de recherche vous demande deux informations simples : qui cherchez-vous (médecin généraliste, dermatologue, kinésithérapeute) et où (votre ville ou code postal). Les résultats s'affichent avec les premiers créneaux disponibles.</a:t>
            </a:r>
          </a:p>
          <a:p>
            <a:pPr algn="l">
              <a:spcBef>
                <a:spcPts val="0"/>
              </a:spcBef>
              <a:spcAft>
                <a:spcPts val="100"/>
              </a:spcAft>
            </a:pPr>
            <a:r>
              <a:rPr sz="1000" b="0" i="0">
                <a:solidFill>
                  <a:srgbClr val="2B2B2B"/>
                </a:solidFill>
                <a:latin typeface="Arial"/>
              </a:rPr>
              <a:t>→ Filtrer par disponibilité</a:t>
            </a:r>
          </a:p>
          <a:p>
            <a:pPr algn="l">
              <a:spcBef>
                <a:spcPts val="0"/>
              </a:spcBef>
              <a:spcAft>
                <a:spcPts val="100"/>
              </a:spcAft>
            </a:pPr>
            <a:r>
              <a:rPr sz="1000" b="0" i="0">
                <a:solidFill>
                  <a:srgbClr val="2B2B2B"/>
                </a:solidFill>
                <a:latin typeface="Arial"/>
              </a:rPr>
              <a:t>→ Aujourd'hui, cette semaine, dans les 3 prochains jours — choisissez selon votre urgence.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Prendre rendez-vous | Comment ça se passe concrètement ? | Remboursement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Prendre rendez-vous</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De la recherche à la confirmation en 4 clics</a:t>
            </a:r>
          </a:p>
          <a:p>
            <a:pPr algn="l">
              <a:spcBef>
                <a:spcPts val="0"/>
              </a:spcBef>
              <a:spcAft>
                <a:spcPts val="100"/>
              </a:spcAft>
            </a:pPr>
            <a:r>
              <a:rPr sz="1000" b="0" i="0">
                <a:solidFill>
                  <a:srgbClr val="2B2B2B"/>
                </a:solidFill>
                <a:latin typeface="Arial"/>
              </a:rPr>
              <a:t>→ Choisir le créneau</a:t>
            </a:r>
          </a:p>
          <a:p>
            <a:pPr algn="l">
              <a:spcBef>
                <a:spcPts val="0"/>
              </a:spcBef>
              <a:spcAft>
                <a:spcPts val="100"/>
              </a:spcAft>
            </a:pPr>
            <a:r>
              <a:rPr sz="1000" b="0" i="0">
                <a:solidFill>
                  <a:srgbClr val="2B2B2B"/>
                </a:solidFill>
                <a:latin typeface="Arial"/>
              </a:rPr>
              <a:t>→ Cliquez sur un horaire disponible affiché en bleu dans le calendrier du praticien.</a:t>
            </a:r>
          </a:p>
          <a:p>
            <a:pPr algn="l">
              <a:spcBef>
                <a:spcPts val="0"/>
              </a:spcBef>
              <a:spcAft>
                <a:spcPts val="100"/>
              </a:spcAft>
            </a:pPr>
            <a:r>
              <a:rPr sz="1000" b="0" i="0">
                <a:solidFill>
                  <a:srgbClr val="2B2B2B"/>
                </a:solidFill>
                <a:latin typeface="Arial"/>
              </a:rPr>
              <a:t>→ Indiquer le motif</a:t>
            </a:r>
          </a:p>
        </p:txBody>
      </p:sp>
      <p:sp>
        <p:nvSpPr>
          <p:cNvPr id="9" name="Rectangle 8"/>
          <p:cNvSpPr/>
          <p:nvPr/>
        </p:nvSpPr>
        <p:spPr>
          <a:xfrm>
            <a:off x="532800" y="3196799"/>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ça se passe concrètement ?</a:t>
            </a:r>
          </a:p>
        </p:txBody>
      </p:sp>
      <p:sp>
        <p:nvSpPr>
          <p:cNvPr id="14" name="TextBox 13"/>
          <p:cNvSpPr txBox="1"/>
          <p:nvPr/>
        </p:nvSpPr>
        <p:spPr>
          <a:xfrm>
            <a:off x="1159200" y="3661199"/>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Déroulé d'une téléconsultation</a:t>
            </a:r>
          </a:p>
          <a:p>
            <a:pPr algn="l">
              <a:spcBef>
                <a:spcPts val="0"/>
              </a:spcBef>
              <a:spcAft>
                <a:spcPts val="100"/>
              </a:spcAft>
            </a:pPr>
            <a:r>
              <a:rPr sz="1000" b="0" i="0">
                <a:solidFill>
                  <a:srgbClr val="2B2B2B"/>
                </a:solidFill>
                <a:latin typeface="Arial"/>
              </a:rPr>
              <a:t>→ Recevoir ordonnance</a:t>
            </a:r>
          </a:p>
          <a:p>
            <a:pPr algn="l">
              <a:spcBef>
                <a:spcPts val="0"/>
              </a:spcBef>
              <a:spcAft>
                <a:spcPts val="100"/>
              </a:spcAft>
            </a:pPr>
            <a:r>
              <a:rPr sz="1000" b="0" i="0">
                <a:solidFill>
                  <a:srgbClr val="2B2B2B"/>
                </a:solidFill>
                <a:latin typeface="Arial"/>
              </a:rPr>
              <a:t>→ Consultation</a:t>
            </a:r>
          </a:p>
          <a:p>
            <a:pPr algn="l">
              <a:spcBef>
                <a:spcPts val="0"/>
              </a:spcBef>
              <a:spcAft>
                <a:spcPts val="100"/>
              </a:spcAft>
            </a:pPr>
            <a:r>
              <a:rPr sz="1000" b="0" i="0">
                <a:solidFill>
                  <a:srgbClr val="2B2B2B"/>
                </a:solidFill>
                <a:latin typeface="Arial"/>
              </a:rPr>
              <a:t>→ Appel vidéo</a:t>
            </a:r>
          </a:p>
        </p:txBody>
      </p:sp>
      <p:sp>
        <p:nvSpPr>
          <p:cNvPr id="15" name="Rectangle 14"/>
          <p:cNvSpPr/>
          <p:nvPr/>
        </p:nvSpPr>
        <p:spPr>
          <a:xfrm>
            <a:off x="532800" y="46332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332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5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99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466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Remboursement</a:t>
            </a:r>
          </a:p>
        </p:txBody>
      </p:sp>
      <p:sp>
        <p:nvSpPr>
          <p:cNvPr id="20" name="TextBox 19"/>
          <p:cNvSpPr txBox="1"/>
          <p:nvPr/>
        </p:nvSpPr>
        <p:spPr>
          <a:xfrm>
            <a:off x="1159200" y="5097599"/>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Est-ce que c'est remboursé par la Sécurité sociale ?</a:t>
            </a:r>
          </a:p>
          <a:p>
            <a:pPr algn="l">
              <a:spcBef>
                <a:spcPts val="0"/>
              </a:spcBef>
              <a:spcAft>
                <a:spcPts val="100"/>
              </a:spcAft>
            </a:pPr>
            <a:r>
              <a:rPr sz="1000" b="0" i="0">
                <a:solidFill>
                  <a:srgbClr val="2B2B2B"/>
                </a:solidFill>
                <a:latin typeface="Arial"/>
              </a:rPr>
              <a:t>→ Oui, dans la majorité des cas</a:t>
            </a:r>
          </a:p>
          <a:p>
            <a:pPr algn="l">
              <a:spcBef>
                <a:spcPts val="0"/>
              </a:spcBef>
              <a:spcAft>
                <a:spcPts val="100"/>
              </a:spcAft>
            </a:pPr>
            <a:r>
              <a:rPr sz="1000" b="0" i="0">
                <a:solidFill>
                  <a:srgbClr val="2B2B2B"/>
                </a:solidFill>
                <a:latin typeface="Arial"/>
              </a:rPr>
              <a:t>→ La téléconsultation est remboursée par l'Assurance Maladie au même titre qu'une consultation en cabinet, à condition que le médecin soit votre médecin traitant déclaré ou que vous passiez par lui (parcours de soins coordonnés).</a:t>
            </a:r>
          </a:p>
          <a:p>
            <a:pPr algn="l">
              <a:spcBef>
                <a:spcPts val="0"/>
              </a:spcBef>
              <a:spcAft>
                <a:spcPts val="100"/>
              </a:spcAft>
            </a:pPr>
            <a:r>
              <a:rPr sz="1000" b="0" i="0">
                <a:solidFill>
                  <a:srgbClr val="2B2B2B"/>
                </a:solidFill>
                <a:latin typeface="Arial"/>
              </a:rPr>
              <a:t>→ Consultation secteur 1 : 25  remboursés à 70 %</a:t>
            </a:r>
          </a:p>
        </p:txBody>
      </p:sp>
      <p:sp>
        <p:nvSpPr>
          <p:cNvPr id="21" name="Rectangle 20"/>
          <p:cNvSpPr/>
          <p:nvPr/>
        </p:nvSpPr>
        <p:spPr>
          <a:xfrm>
            <a:off x="532800" y="63396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98400" y="65952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800" y="63683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a:t>
            </a:r>
          </a:p>
        </p:txBody>
      </p:sp>
      <p:sp>
        <p:nvSpPr>
          <p:cNvPr id="24" name="TextBox 23"/>
          <p:cNvSpPr txBox="1"/>
          <p:nvPr/>
        </p:nvSpPr>
        <p:spPr>
          <a:xfrm>
            <a:off x="676800" y="66204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Ce que vous pouvez faire dès aujourd'hui</a:t>
            </a:r>
          </a:p>
          <a:p>
            <a:pPr algn="l">
              <a:spcBef>
                <a:spcPts val="0"/>
              </a:spcBef>
              <a:spcAft>
                <a:spcPts val="100"/>
              </a:spcAft>
            </a:pPr>
            <a:r>
              <a:rPr sz="1050" b="0" i="0">
                <a:solidFill>
                  <a:srgbClr val="2B2B2B"/>
                </a:solidFill>
                <a:latin typeface="Arial"/>
              </a:rPr>
              <a:t>→ Vous avez maintenant toutes les clés pour utiliser Doctolib sereinement. Voici comment passer à l'action dès la fin de cet atelier :</a:t>
            </a:r>
          </a:p>
          <a:p>
            <a:pPr algn="l">
              <a:spcBef>
                <a:spcPts val="0"/>
              </a:spcBef>
              <a:spcAft>
                <a:spcPts val="100"/>
              </a:spcAft>
            </a:pPr>
            <a:r>
              <a:rPr sz="1050" b="0" i="0">
                <a:solidFill>
                  <a:srgbClr val="2B2B2B"/>
                </a:solidFill>
                <a:latin typeface="Arial"/>
              </a:rPr>
              <a:t>→ 1. Créez votre compte</a:t>
            </a:r>
          </a:p>
          <a:p>
            <a:pPr algn="l">
              <a:spcBef>
                <a:spcPts val="0"/>
              </a:spcBef>
              <a:spcAft>
                <a:spcPts val="100"/>
              </a:spcAft>
            </a:pPr>
            <a:r>
              <a:rPr sz="1050" b="0" i="0">
                <a:solidFill>
                  <a:srgbClr val="2B2B2B"/>
                </a:solidFill>
                <a:latin typeface="Arial"/>
              </a:rPr>
              <a:t>→ Rendez-vous sur doctolib.fr et créez votre compte en 3 minutes. Renseignez votre numéro de Sécurité sociale pour activer le remboursement.</a:t>
            </a:r>
          </a:p>
        </p:txBody>
      </p:sp>
      <p:sp>
        <p:nvSpPr>
          <p:cNvPr id="25" name="Rectangle 24"/>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8" name="TextBox 27"/>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