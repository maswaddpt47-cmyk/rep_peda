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563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2800" y="1180800"/>
            <a:ext cx="6490800" cy="511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4388BC"/>
                </a:solidFill>
                <a:latin typeface="Arial"/>
              </a:rPr>
              <a:t>Mon mémo — Sécuriser son environnement numérique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E6E6D"/>
                </a:solidFill>
                <a:latin typeface="Arial"/>
              </a:rPr>
              <a:t>Le paysage des menaces numériques | Savoir reconnaître une tentative de phishing | Des mots de passe vraiment solides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2800" y="1749600"/>
            <a:ext cx="6490800" cy="1835999"/>
          </a:xfrm>
          <a:prstGeom prst="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32800" y="1749600"/>
            <a:ext cx="572400" cy="1835999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206000" y="21708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32800" y="18162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7200" y="17856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388BC"/>
                </a:solidFill>
                <a:latin typeface="Arial"/>
              </a:rPr>
              <a:t>Le paysage des menaces numériques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9200" y="2214000"/>
            <a:ext cx="5828400" cy="13355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Chaque jour, des millions de tentatives d'escroquerie circulent sur internet. Pas besoin d'être une cible de choix pour être touché — les attaques sont souvent automatisées et touchent tout le monde indifféremment.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Faux e-mails ou SMS imitant votre banque, La Poste, ou les impôts pour voler vos identifiants.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Mots de passe volés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Des bases de données entières sont revendues sur le dark web après chaque fuite de données.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2800" y="3650400"/>
            <a:ext cx="6490800" cy="1371600"/>
          </a:xfrm>
          <a:prstGeom prst="rect">
            <a:avLst/>
          </a:prstGeom>
          <a:solidFill>
            <a:srgbClr val="EB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32800" y="3650400"/>
            <a:ext cx="572400" cy="13716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206000" y="40716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32800" y="37170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7200" y="36864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Savoir reconnaître une tentative de phishing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9200" y="4114800"/>
            <a:ext cx="5828400" cy="871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Les signaux d'alarme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Adresse e-mail de l'expéditeur bizarre ou mal orthographiée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Ton alarmiste : "Votre compte sera suspendu !"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Lien qui ne correspond pas au site officiel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2800" y="5086800"/>
            <a:ext cx="6490800" cy="1835999"/>
          </a:xfrm>
          <a:prstGeom prst="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32800" y="5086800"/>
            <a:ext cx="572400" cy="1835999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206000" y="55080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32800" y="51534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7200" y="51228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388BC"/>
                </a:solidFill>
                <a:latin typeface="Arial"/>
              </a:rPr>
              <a:t>Des mots de passe vraiment solides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9200" y="5551200"/>
            <a:ext cx="5828400" cy="13355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Un mot de passe faible, c'est comme laisser la clé sous le paillasson. Pourtant, "123456" reste le mot de passe le plus utilisé en France. Voici comment construire une protection réelle.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La règle des 12 caractères minimum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Combinez majuscules, minuscules, chiffres et symboles. Un mot de passe de 12 caractères aléatoires prendrait des milliers d'années à craquer par force brute.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Une phrase de passe mémorisable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2800" y="7639200"/>
            <a:ext cx="6490800" cy="658800"/>
          </a:xfrm>
          <a:prstGeom prst="rect">
            <a:avLst/>
          </a:prstGeom>
          <a:solidFill>
            <a:srgbClr val="EFF7FF"/>
          </a:solidFill>
          <a:ln w="635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540799" y="7675200"/>
            <a:ext cx="5410800" cy="6048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4388BC"/>
                </a:solidFill>
                <a:latin typeface="Arial"/>
              </a:rPr>
              <a:t>→ Suite en page 2 : Les gestionnaires de mots de passe | L'authentification à deux facteurs (2FA) | Protéger ses appareils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E6E6D"/>
                </a:solidFill>
                <a:latin typeface="Arial"/>
              </a:rPr>
              <a:t>Votre Conseiller Numérique : 05 53 47 31 32  ·  conseiller-numerique@lotetgaronne.fr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83200" y="9925200"/>
            <a:ext cx="2797200" cy="180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v1.0 – 2025 – CD47 Service Inclusion Numérique  |  Page 1/2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2800" y="1180800"/>
            <a:ext cx="6490800" cy="511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4388BC"/>
                </a:solidFill>
                <a:latin typeface="Arial"/>
              </a:rPr>
              <a:t>Mon mémo — Sécuriser son environnement numérique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E6E6D"/>
                </a:solidFill>
                <a:latin typeface="Arial"/>
              </a:rPr>
              <a:t>Le paysage des menaces numériques | Savoir reconnaître une tentative de phishing | Des mots de passe vraiment solides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2800" y="1749600"/>
            <a:ext cx="6490800" cy="1987199"/>
          </a:xfrm>
          <a:prstGeom prst="rect">
            <a:avLst/>
          </a:prstGeom>
          <a:solidFill>
            <a:srgbClr val="EB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32800" y="1749600"/>
            <a:ext cx="572400" cy="1987199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206000" y="21708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32800" y="18162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7200" y="17856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Les gestionnaires de mots de passe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9200" y="2214000"/>
            <a:ext cx="5828400" cy="14868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Open source, gratuit, audité publiquement. Le choix des Commons par excellence. Disponible sur tous vos appareils.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Stockage local uniquement, idéal pour ceux qui ne veulent pas confier leurs données au cloud. Très robuste.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Interface très intuitive, idéale pour les familles. Solution payante mais complète, avec partage sécurisé.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Utiliser un gestionnaire de mots de passe est l'une des mesures les plus efficaces que vous puissiez prendre. Une seule "clé maître" à retenir, des dizaines de portes verrouillées.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2800" y="3801599"/>
            <a:ext cx="6490800" cy="1533600"/>
          </a:xfrm>
          <a:prstGeom prst="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32800" y="3801599"/>
            <a:ext cx="572400" cy="15336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206000" y="4222799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32800" y="3868199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7200" y="3837599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388BC"/>
                </a:solidFill>
                <a:latin typeface="Arial"/>
              </a:rPr>
              <a:t>L'authentification à deux facteurs (2FA)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9200" y="4265999"/>
            <a:ext cx="5828400" cy="10331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Même avec un mot de passe fort, un compte peut être compromis si ce mot de passe est volé. Le 2FA ajoute un second verrou : même si quelqu'un connaît votre mot de passe, il ne peut pas entrer sans le second code.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Accès sécurisé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Recevoir le code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Saisir le mot de passe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2800" y="5399999"/>
            <a:ext cx="6490800" cy="1533600"/>
          </a:xfrm>
          <a:prstGeom prst="rect">
            <a:avLst/>
          </a:prstGeom>
          <a:solidFill>
            <a:srgbClr val="EB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32800" y="5399999"/>
            <a:ext cx="572400" cy="15336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206000" y="5821199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32800" y="54666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7200" y="5435999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Protéger ses appareils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9200" y="5864400"/>
            <a:ext cx="5828400" cy="10331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Les mises à jour : ennuyeuses mais vitales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Les mises à jour ne servent pas qu'à ajouter des fonctionnalités — elles corrigent des failles de sécurité que les pirates exploitent activement. Reporter une mise à jour, c'est laisser une fenêtre ouverte.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Système d'exploitation : Windows, macOS, Linux — mettez à jour régulièrement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Applications mobiles : activez les mises à jour automatiques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2800" y="6998399"/>
            <a:ext cx="6490800" cy="1684800"/>
          </a:xfrm>
          <a:prstGeom prst="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32800" y="6998399"/>
            <a:ext cx="572400" cy="1684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1206000" y="74196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32800" y="7064999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7200" y="70344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388BC"/>
                </a:solidFill>
                <a:latin typeface="Arial"/>
              </a:rPr>
              <a:t>Sauvegarder ses données : la règle du 3-2-1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9200" y="7462800"/>
            <a:ext cx="5828400" cy="11843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Ransomware, panne matérielle, vol d'ordinateur, inondation — les risques de perdre vos données sont réels et variés. La règle du 3-2-1 est le standard recommandé par les experts en sécurité.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3 Trois copies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Conservez toujours trois copies de vos données importantes. L'original ne suffit pas.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2 Deux supports différents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2800" y="8856000"/>
            <a:ext cx="6490800" cy="1263600"/>
          </a:xfrm>
          <a:prstGeom prst="rect">
            <a:avLst/>
          </a:prstGeom>
          <a:solidFill>
            <a:srgbClr val="FFFCE7"/>
          </a:solidFill>
          <a:ln w="8890">
            <a:solidFill>
              <a:srgbClr val="F8A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698400" y="9111600"/>
            <a:ext cx="6159600" cy="7200"/>
          </a:xfrm>
          <a:prstGeom prst="rect">
            <a:avLst/>
          </a:prstGeom>
          <a:solidFill>
            <a:srgbClr val="F8A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76800" y="8884799"/>
            <a:ext cx="6292800" cy="234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5D4037"/>
                </a:solidFill>
                <a:latin typeface="Arial"/>
              </a:rPr>
              <a:t>Numérique responsable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800" y="9136800"/>
            <a:ext cx="6292800" cy="9468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B2B2B"/>
                </a:solidFill>
                <a:latin typeface="Arial"/>
              </a:rPr>
              <a:t>→ Sécurité et sobriété numérique : deux alliés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B2B2B"/>
                </a:solidFill>
                <a:latin typeface="Arial"/>
              </a:rPr>
              <a:t>→ La sécurité numérique et la sobriété vont de pair. Moins d'applications installées, moins de comptes ouverts — c'est aussi moins de surface d'attaque et moins de données exposées.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B2B2B"/>
                </a:solidFill>
                <a:latin typeface="Arial"/>
              </a:rPr>
              <a:t>→ Faites le ménage dans vos applications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B2B2B"/>
                </a:solidFill>
                <a:latin typeface="Arial"/>
              </a:rPr>
              <a:t>→ Chaque app inutilisée est un potentiel vecteur d'attaque. Supprimez ce que vous n'utilisez plus.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2800" y="10292400"/>
            <a:ext cx="6490800" cy="1512000"/>
          </a:xfrm>
          <a:prstGeom prst="rect">
            <a:avLst/>
          </a:prstGeom>
          <a:solidFill>
            <a:srgbClr val="EBF5FF"/>
          </a:solidFill>
          <a:ln w="1016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2221200" y="10879200"/>
            <a:ext cx="3110400" cy="72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792800" y="10357200"/>
            <a:ext cx="4140000" cy="1404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4388BC"/>
                </a:solidFill>
                <a:latin typeface="Arial"/>
              </a:rPr>
              <a:t>Besoin d'aide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Votre Conseiller Numérique est là pour vous accompagner !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conseiller-numerique@lotetgaronne.fr  ·  Tél : 05 53 47 31 32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E6E6D"/>
                </a:solidFill>
                <a:latin typeface="Arial"/>
              </a:rPr>
              <a:t>www.lotetgaronne.fr/inclusion-numerique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E6E6D"/>
                </a:solidFill>
                <a:latin typeface="Arial"/>
              </a:rPr>
              <a:t>Direction des Systèmes d'Information — Service Inclusion Numérique — CD47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83200" y="9925200"/>
            <a:ext cx="2797200" cy="180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v1.0 – 2025 – CD47 Service Inclusion Numérique  |  Page 2/2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