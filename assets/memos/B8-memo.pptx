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Gérer son budget à l'ère numérique</a:t>
            </a:r>
          </a:p>
          <a:p>
            <a:pPr algn="l">
              <a:spcBef>
                <a:spcPts val="0"/>
              </a:spcBef>
              <a:spcAft>
                <a:spcPts val="100"/>
              </a:spcAft>
            </a:pPr>
            <a:r>
              <a:rPr sz="1000" b="0" i="0">
                <a:solidFill>
                  <a:srgbClr val="6E6E6D"/>
                </a:solidFill>
                <a:latin typeface="Arial"/>
              </a:rPr>
              <a:t>Pourquoi suivre son budget ? | Tour d'horizon des applications de budget | Applications gratuites vs. payantes</a:t>
            </a:r>
          </a:p>
        </p:txBody>
      </p:sp>
      <p:sp>
        <p:nvSpPr>
          <p:cNvPr id="3" name="Rectangle 2"/>
          <p:cNvSpPr/>
          <p:nvPr/>
        </p:nvSpPr>
        <p:spPr>
          <a:xfrm>
            <a:off x="532800" y="17496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1</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Pourquoi suivre son budget ?</a:t>
            </a:r>
          </a:p>
        </p:txBody>
      </p:sp>
      <p:sp>
        <p:nvSpPr>
          <p:cNvPr id="8" name="TextBox 7"/>
          <p:cNvSpPr txBox="1"/>
          <p:nvPr/>
        </p:nvSpPr>
        <p:spPr>
          <a:xfrm>
            <a:off x="1159200" y="22140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Beaucoup d'entre nous finissent le mois en se demandant où est passé l'argent. Sans suivi, les petites dépenses s'accumulent silencieusement. Un budget bien tenu, c'est la liberté de faire des choix éclairés.</a:t>
            </a:r>
          </a:p>
          <a:p>
            <a:pPr algn="l">
              <a:spcBef>
                <a:spcPts val="0"/>
              </a:spcBef>
              <a:spcAft>
                <a:spcPts val="100"/>
              </a:spcAft>
            </a:pPr>
            <a:r>
              <a:rPr sz="1000" b="0" i="0">
                <a:solidFill>
                  <a:srgbClr val="2B2B2B"/>
                </a:solidFill>
                <a:latin typeface="Arial"/>
              </a:rPr>
              <a:t>→ Reprendre le contrôle</a:t>
            </a:r>
          </a:p>
          <a:p>
            <a:pPr algn="l">
              <a:spcBef>
                <a:spcPts val="0"/>
              </a:spcBef>
              <a:spcAft>
                <a:spcPts val="100"/>
              </a:spcAft>
            </a:pPr>
            <a:r>
              <a:rPr sz="1000" b="0" i="0">
                <a:solidFill>
                  <a:srgbClr val="2B2B2B"/>
                </a:solidFill>
                <a:latin typeface="Arial"/>
              </a:rPr>
              <a:t>→ Savoir exactement ce que l'on gagne, ce que l'on dépense, et ce qui reste. Fini les mauvaises surprises à la fin du mois.</a:t>
            </a:r>
          </a:p>
          <a:p>
            <a:pPr algn="l">
              <a:spcBef>
                <a:spcPts val="0"/>
              </a:spcBef>
              <a:spcAft>
                <a:spcPts val="100"/>
              </a:spcAft>
            </a:pPr>
            <a:r>
              <a:rPr sz="1000" b="0" i="0">
                <a:solidFill>
                  <a:srgbClr val="2B2B2B"/>
                </a:solidFill>
                <a:latin typeface="Arial"/>
              </a:rPr>
              <a:t>→ Anticiper les imprévus</a:t>
            </a:r>
          </a:p>
        </p:txBody>
      </p:sp>
      <p:sp>
        <p:nvSpPr>
          <p:cNvPr id="9" name="Rectangle 8"/>
          <p:cNvSpPr/>
          <p:nvPr/>
        </p:nvSpPr>
        <p:spPr>
          <a:xfrm>
            <a:off x="532800" y="3499199"/>
            <a:ext cx="6490800" cy="1835999"/>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499199"/>
            <a:ext cx="572400" cy="1835999"/>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9203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5658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2</a:t>
            </a:r>
          </a:p>
        </p:txBody>
      </p:sp>
      <p:sp>
        <p:nvSpPr>
          <p:cNvPr id="13" name="TextBox 12"/>
          <p:cNvSpPr txBox="1"/>
          <p:nvPr/>
        </p:nvSpPr>
        <p:spPr>
          <a:xfrm>
            <a:off x="1177200" y="35351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Tour d'horizon des applications de budget</a:t>
            </a:r>
          </a:p>
        </p:txBody>
      </p:sp>
      <p:sp>
        <p:nvSpPr>
          <p:cNvPr id="14" name="TextBox 13"/>
          <p:cNvSpPr txBox="1"/>
          <p:nvPr/>
        </p:nvSpPr>
        <p:spPr>
          <a:xfrm>
            <a:off x="1159200" y="3963599"/>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Il existe aujourd'hui des dizaines d'applications pour gérer ses finances. Voici les plus populaires</a:t>
            </a:r>
          </a:p>
          <a:p>
            <a:pPr algn="l">
              <a:spcBef>
                <a:spcPts val="0"/>
              </a:spcBef>
              <a:spcAft>
                <a:spcPts val="100"/>
              </a:spcAft>
            </a:pPr>
            <a:r>
              <a:rPr sz="1000" b="0" i="0">
                <a:solidFill>
                  <a:srgbClr val="2B2B2B"/>
                </a:solidFill>
                <a:latin typeface="Arial"/>
              </a:rPr>
              <a:t>→ en France, pour tous les profils :</a:t>
            </a:r>
          </a:p>
          <a:p>
            <a:pPr algn="l">
              <a:spcBef>
                <a:spcPts val="0"/>
              </a:spcBef>
              <a:spcAft>
                <a:spcPts val="100"/>
              </a:spcAft>
            </a:pPr>
            <a:r>
              <a:rPr sz="1000" b="0" i="0">
                <a:solidFill>
                  <a:srgbClr val="2B2B2B"/>
                </a:solidFill>
                <a:latin typeface="Arial"/>
              </a:rPr>
              <a:t>→ L'application française de référence. Elle se connecte à vos comptes bancaires et catégorise automatiquement vos dépenses. Idéale pour avoir une vue d'ensemble instantanée.</a:t>
            </a:r>
          </a:p>
          <a:p>
            <a:pPr algn="l">
              <a:spcBef>
                <a:spcPts val="0"/>
              </a:spcBef>
              <a:spcAft>
                <a:spcPts val="100"/>
              </a:spcAft>
            </a:pPr>
            <a:r>
              <a:rPr sz="1000" b="0" i="0">
                <a:solidFill>
                  <a:srgbClr val="2B2B2B"/>
                </a:solidFill>
                <a:latin typeface="Arial"/>
              </a:rPr>
              <a:t>→ Très populaire et intuitive, Bankin' agrège tous vos comptes en un seul endroit. Son coach financier virtuel vous alerte sur vos habitudes de dépenses.</a:t>
            </a:r>
          </a:p>
        </p:txBody>
      </p:sp>
      <p:sp>
        <p:nvSpPr>
          <p:cNvPr id="15" name="Rectangle 14"/>
          <p:cNvSpPr/>
          <p:nvPr/>
        </p:nvSpPr>
        <p:spPr>
          <a:xfrm>
            <a:off x="532800" y="5399999"/>
            <a:ext cx="6490800" cy="13824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399999"/>
            <a:ext cx="572400" cy="1382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8211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4666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3</a:t>
            </a:r>
          </a:p>
        </p:txBody>
      </p:sp>
      <p:sp>
        <p:nvSpPr>
          <p:cNvPr id="19" name="TextBox 18"/>
          <p:cNvSpPr txBox="1"/>
          <p:nvPr/>
        </p:nvSpPr>
        <p:spPr>
          <a:xfrm>
            <a:off x="1177200" y="5435999"/>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Applications gratuites vs. payantes</a:t>
            </a:r>
          </a:p>
        </p:txBody>
      </p:sp>
      <p:sp>
        <p:nvSpPr>
          <p:cNvPr id="20" name="TextBox 19"/>
          <p:cNvSpPr txBox="1"/>
          <p:nvPr/>
        </p:nvSpPr>
        <p:spPr>
          <a:xfrm>
            <a:off x="1159200" y="5864400"/>
            <a:ext cx="5828400" cy="8819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Pas besoin de dépenser de l'argent pour gérer son argent ! La plupart des outils proposent une version gratuite très complète. Voici comment choisir :</a:t>
            </a:r>
          </a:p>
          <a:p>
            <a:pPr algn="l">
              <a:spcBef>
                <a:spcPts val="0"/>
              </a:spcBef>
              <a:spcAft>
                <a:spcPts val="100"/>
              </a:spcAft>
            </a:pPr>
            <a:r>
              <a:rPr sz="1000" b="0" i="0">
                <a:solidFill>
                  <a:srgbClr val="2B2B2B"/>
                </a:solidFill>
                <a:latin typeface="Arial"/>
              </a:rPr>
              <a:t>→ Version gratuite</a:t>
            </a:r>
          </a:p>
          <a:p>
            <a:pPr algn="l">
              <a:spcBef>
                <a:spcPts val="0"/>
              </a:spcBef>
              <a:spcAft>
                <a:spcPts val="100"/>
              </a:spcAft>
            </a:pPr>
            <a:r>
              <a:rPr sz="1000" b="0" i="0">
                <a:solidFill>
                  <a:srgbClr val="2B2B2B"/>
                </a:solidFill>
                <a:latin typeface="Arial"/>
              </a:rPr>
              <a:t>→ Suffisante pour la grande majorité des utilisateurs</a:t>
            </a:r>
          </a:p>
          <a:p>
            <a:pPr algn="l">
              <a:spcBef>
                <a:spcPts val="0"/>
              </a:spcBef>
              <a:spcAft>
                <a:spcPts val="100"/>
              </a:spcAft>
            </a:pPr>
            <a:r>
              <a:rPr sz="1000" b="0" i="0">
                <a:solidFill>
                  <a:srgbClr val="2B2B2B"/>
                </a:solidFill>
                <a:latin typeface="Arial"/>
              </a:rPr>
              <a:t>→ Connexion à 1 ou 2 banques</a:t>
            </a:r>
          </a:p>
        </p:txBody>
      </p:sp>
      <p:sp>
        <p:nvSpPr>
          <p:cNvPr id="21" name="Rectangle 20"/>
          <p:cNvSpPr/>
          <p:nvPr/>
        </p:nvSpPr>
        <p:spPr>
          <a:xfrm>
            <a:off x="532800" y="7639200"/>
            <a:ext cx="6490800" cy="658800"/>
          </a:xfrm>
          <a:prstGeom prst="rect">
            <a:avLst/>
          </a:prstGeom>
          <a:solidFill>
            <a:srgbClr val="EFF7FF"/>
          </a:solidFill>
          <a:ln w="635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40799" y="7675200"/>
            <a:ext cx="5410800" cy="604800"/>
          </a:xfrm>
          <a:prstGeom prst="rect">
            <a:avLst/>
          </a:prstGeom>
          <a:noFill/>
        </p:spPr>
        <p:txBody>
          <a:bodyPr wrap="square" tIns="0" bIns="0" lIns="18000" rIns="18000">
            <a:spAutoFit/>
          </a:bodyPr>
          <a:lstStyle/>
          <a:p>
            <a:pPr algn="l">
              <a:spcBef>
                <a:spcPts val="0"/>
              </a:spcBef>
              <a:spcAft>
                <a:spcPts val="100"/>
              </a:spcAft>
            </a:pPr>
            <a:r>
              <a:rPr sz="1050" b="1" i="0">
                <a:solidFill>
                  <a:srgbClr val="4388BC"/>
                </a:solidFill>
                <a:latin typeface="Arial"/>
              </a:rPr>
              <a:t>→ Suite en page 2 : Astuces pour optimiser son budget | Bons plans &amp; outils pour dépenser moins | Sécurité &amp; confidentialité : ce qu'il faut savoir</a:t>
            </a:r>
          </a:p>
          <a:p>
            <a:pPr algn="l">
              <a:spcBef>
                <a:spcPts val="0"/>
              </a:spcBef>
              <a:spcAft>
                <a:spcPts val="100"/>
              </a:spcAft>
            </a:pPr>
            <a:r>
              <a:rPr sz="850" b="0" i="0">
                <a:solidFill>
                  <a:srgbClr val="6E6E6D"/>
                </a:solidFill>
                <a:latin typeface="Arial"/>
              </a:rPr>
              <a:t>Votre Conseiller Numérique : 05 53 47 31 32  ·  conseiller-numerique@lotetgaronne.fr</a:t>
            </a:r>
          </a:p>
        </p:txBody>
      </p:sp>
      <p:sp>
        <p:nvSpPr>
          <p:cNvPr id="23" name="TextBox 22"/>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Gérer son budget à l'ère numérique</a:t>
            </a:r>
          </a:p>
          <a:p>
            <a:pPr algn="l">
              <a:spcBef>
                <a:spcPts val="0"/>
              </a:spcBef>
              <a:spcAft>
                <a:spcPts val="100"/>
              </a:spcAft>
            </a:pPr>
            <a:r>
              <a:rPr sz="1000" b="0" i="0">
                <a:solidFill>
                  <a:srgbClr val="6E6E6D"/>
                </a:solidFill>
                <a:latin typeface="Arial"/>
              </a:rPr>
              <a:t>Pourquoi suivre son budget ? | Tour d'horizon des applications de budget | Applications gratuites vs. payantes</a:t>
            </a:r>
          </a:p>
        </p:txBody>
      </p:sp>
      <p:sp>
        <p:nvSpPr>
          <p:cNvPr id="3" name="Rectangle 2"/>
          <p:cNvSpPr/>
          <p:nvPr/>
        </p:nvSpPr>
        <p:spPr>
          <a:xfrm>
            <a:off x="532800" y="1749600"/>
            <a:ext cx="6490800" cy="15336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5336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4</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Astuces pour optimiser son budget</a:t>
            </a:r>
          </a:p>
        </p:txBody>
      </p:sp>
      <p:sp>
        <p:nvSpPr>
          <p:cNvPr id="8" name="TextBox 7"/>
          <p:cNvSpPr txBox="1"/>
          <p:nvPr/>
        </p:nvSpPr>
        <p:spPr>
          <a:xfrm>
            <a:off x="1159200" y="2214000"/>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Au-delà des applications, quelques méthodes éprouvées permettent de transformer ses habitudes_x000B_financières en profondeur :</a:t>
            </a:r>
          </a:p>
          <a:p>
            <a:pPr algn="l">
              <a:spcBef>
                <a:spcPts val="0"/>
              </a:spcBef>
              <a:spcAft>
                <a:spcPts val="100"/>
              </a:spcAft>
            </a:pPr>
            <a:r>
              <a:rPr sz="1000" b="0" i="0">
                <a:solidFill>
                  <a:srgbClr val="2B2B2B"/>
                </a:solidFill>
                <a:latin typeface="Arial"/>
              </a:rPr>
              <a:t>→ La règle 50/30/20</a:t>
            </a:r>
          </a:p>
          <a:p>
            <a:pPr algn="l">
              <a:spcBef>
                <a:spcPts val="0"/>
              </a:spcBef>
              <a:spcAft>
                <a:spcPts val="100"/>
              </a:spcAft>
            </a:pPr>
            <a:r>
              <a:rPr sz="1000" b="0" i="0">
                <a:solidFill>
                  <a:srgbClr val="2B2B2B"/>
                </a:solidFill>
                <a:latin typeface="Arial"/>
              </a:rPr>
              <a:t>→ 50 % pour les besoins essentiels (loyer, courses, factures), 30 % pour les plaisirs, 20 % pour l'épargne. Une répartition simple et efficace.</a:t>
            </a:r>
          </a:p>
          <a:p>
            <a:pPr algn="l">
              <a:spcBef>
                <a:spcPts val="0"/>
              </a:spcBef>
              <a:spcAft>
                <a:spcPts val="100"/>
              </a:spcAft>
            </a:pPr>
            <a:r>
              <a:rPr sz="1000" b="0" i="0">
                <a:solidFill>
                  <a:srgbClr val="2B2B2B"/>
                </a:solidFill>
                <a:latin typeface="Arial"/>
              </a:rPr>
              <a:t>→ La méthode des enveloppes</a:t>
            </a:r>
          </a:p>
        </p:txBody>
      </p:sp>
      <p:sp>
        <p:nvSpPr>
          <p:cNvPr id="9" name="Rectangle 8"/>
          <p:cNvSpPr/>
          <p:nvPr/>
        </p:nvSpPr>
        <p:spPr>
          <a:xfrm>
            <a:off x="532800" y="33480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3480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7692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4146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5</a:t>
            </a:r>
          </a:p>
        </p:txBody>
      </p:sp>
      <p:sp>
        <p:nvSpPr>
          <p:cNvPr id="13" name="TextBox 12"/>
          <p:cNvSpPr txBox="1"/>
          <p:nvPr/>
        </p:nvSpPr>
        <p:spPr>
          <a:xfrm>
            <a:off x="1177200" y="33840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Bons plans &amp; outils pour dépenser moins</a:t>
            </a:r>
          </a:p>
        </p:txBody>
      </p:sp>
      <p:sp>
        <p:nvSpPr>
          <p:cNvPr id="14" name="TextBox 13"/>
          <p:cNvSpPr txBox="1"/>
          <p:nvPr/>
        </p:nvSpPr>
        <p:spPr>
          <a:xfrm>
            <a:off x="1159200" y="38124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La gestion de budget ne se limite pas au suivi des dépenses. Il existe aussi d'excellents outils numériques pour payer moins cher au quotidien :</a:t>
            </a:r>
          </a:p>
          <a:p>
            <a:pPr algn="l">
              <a:spcBef>
                <a:spcPts val="0"/>
              </a:spcBef>
              <a:spcAft>
                <a:spcPts val="100"/>
              </a:spcAft>
            </a:pPr>
            <a:r>
              <a:rPr sz="1000" b="0" i="0">
                <a:solidFill>
                  <a:srgbClr val="2B2B2B"/>
                </a:solidFill>
                <a:latin typeface="Arial"/>
              </a:rPr>
              <a:t>→ Applications de cashback</a:t>
            </a:r>
          </a:p>
          <a:p>
            <a:pPr algn="l">
              <a:spcBef>
                <a:spcPts val="0"/>
              </a:spcBef>
              <a:spcAft>
                <a:spcPts val="100"/>
              </a:spcAft>
            </a:pPr>
            <a:r>
              <a:rPr sz="1000" b="0" i="0">
                <a:solidFill>
                  <a:srgbClr val="2B2B2B"/>
                </a:solidFill>
                <a:latin typeface="Arial"/>
              </a:rPr>
              <a:t>→ Lydia, Joko, iGraal — Ces apps vous remboursent un pourcentage de vos achats chez des commerçants partenaires. Jusqu'à 10 % remboursé sur certaines enseignes !</a:t>
            </a:r>
          </a:p>
          <a:p>
            <a:pPr algn="l">
              <a:spcBef>
                <a:spcPts val="0"/>
              </a:spcBef>
              <a:spcAft>
                <a:spcPts val="100"/>
              </a:spcAft>
            </a:pPr>
            <a:r>
              <a:rPr sz="1000" b="0" i="0">
                <a:solidFill>
                  <a:srgbClr val="2B2B2B"/>
                </a:solidFill>
                <a:latin typeface="Arial"/>
              </a:rPr>
              <a:t>→ Comparateurs de prix</a:t>
            </a:r>
          </a:p>
        </p:txBody>
      </p:sp>
      <p:sp>
        <p:nvSpPr>
          <p:cNvPr id="15" name="Rectangle 14"/>
          <p:cNvSpPr/>
          <p:nvPr/>
        </p:nvSpPr>
        <p:spPr>
          <a:xfrm>
            <a:off x="532800" y="5097600"/>
            <a:ext cx="6490800" cy="15336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097600"/>
            <a:ext cx="572400" cy="15336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518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164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6</a:t>
            </a:r>
          </a:p>
        </p:txBody>
      </p:sp>
      <p:sp>
        <p:nvSpPr>
          <p:cNvPr id="19" name="TextBox 18"/>
          <p:cNvSpPr txBox="1"/>
          <p:nvPr/>
        </p:nvSpPr>
        <p:spPr>
          <a:xfrm>
            <a:off x="1177200" y="5133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Sécurité &amp; confidentialité : ce qu'il faut savoir</a:t>
            </a:r>
          </a:p>
        </p:txBody>
      </p:sp>
      <p:sp>
        <p:nvSpPr>
          <p:cNvPr id="20" name="TextBox 19"/>
          <p:cNvSpPr txBox="1"/>
          <p:nvPr/>
        </p:nvSpPr>
        <p:spPr>
          <a:xfrm>
            <a:off x="1159200" y="5562000"/>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La principale réticence à utiliser ces outils est souvent la question de la sécurité. Voici les éléments_x000B_essentiels pour faire des choix éclairés et serein :</a:t>
            </a:r>
          </a:p>
          <a:p>
            <a:pPr algn="l">
              <a:spcBef>
                <a:spcPts val="0"/>
              </a:spcBef>
              <a:spcAft>
                <a:spcPts val="100"/>
              </a:spcAft>
            </a:pPr>
            <a:r>
              <a:rPr sz="1000" b="0" i="0">
                <a:solidFill>
                  <a:srgbClr val="2B2B2B"/>
                </a:solidFill>
                <a:latin typeface="Arial"/>
              </a:rPr>
              <a:t>→ Ce qui est sécurisé</a:t>
            </a:r>
          </a:p>
          <a:p>
            <a:pPr algn="l">
              <a:spcBef>
                <a:spcPts val="0"/>
              </a:spcBef>
              <a:spcAft>
                <a:spcPts val="100"/>
              </a:spcAft>
            </a:pPr>
            <a:r>
              <a:rPr sz="1000" b="0" i="0">
                <a:solidFill>
                  <a:srgbClr val="2B2B2B"/>
                </a:solidFill>
                <a:latin typeface="Arial"/>
              </a:rPr>
              <a:t>→ Connexion via norme DSP2 (obligation européenne)</a:t>
            </a:r>
          </a:p>
          <a:p>
            <a:pPr algn="l">
              <a:spcBef>
                <a:spcPts val="0"/>
              </a:spcBef>
              <a:spcAft>
                <a:spcPts val="100"/>
              </a:spcAft>
            </a:pPr>
            <a:r>
              <a:rPr sz="1000" b="0" i="0">
                <a:solidFill>
                  <a:srgbClr val="2B2B2B"/>
                </a:solidFill>
                <a:latin typeface="Arial"/>
              </a:rPr>
              <a:t>→ Chiffrement des données bancaires</a:t>
            </a:r>
          </a:p>
        </p:txBody>
      </p:sp>
      <p:sp>
        <p:nvSpPr>
          <p:cNvPr id="21" name="Rectangle 20"/>
          <p:cNvSpPr/>
          <p:nvPr/>
        </p:nvSpPr>
        <p:spPr>
          <a:xfrm>
            <a:off x="532800" y="66960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32800" y="66960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06000" y="71172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2800" y="67626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7</a:t>
            </a:r>
          </a:p>
        </p:txBody>
      </p:sp>
      <p:sp>
        <p:nvSpPr>
          <p:cNvPr id="25" name="TextBox 24"/>
          <p:cNvSpPr txBox="1"/>
          <p:nvPr/>
        </p:nvSpPr>
        <p:spPr>
          <a:xfrm>
            <a:off x="1177200" y="67320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Vous êtes prête à vous lancer !</a:t>
            </a:r>
          </a:p>
        </p:txBody>
      </p:sp>
      <p:sp>
        <p:nvSpPr>
          <p:cNvPr id="26" name="TextBox 25"/>
          <p:cNvSpPr txBox="1"/>
          <p:nvPr/>
        </p:nvSpPr>
        <p:spPr>
          <a:xfrm>
            <a:off x="1159200" y="71604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La gestion de budget numérique n'est pas réservée aux experts en finance. Avec les bons outils, quelques minutes par semaine suffisent pour transformer votre relation à l'argent.</a:t>
            </a:r>
          </a:p>
          <a:p>
            <a:pPr algn="l">
              <a:spcBef>
                <a:spcPts val="0"/>
              </a:spcBef>
              <a:spcAft>
                <a:spcPts val="100"/>
              </a:spcAft>
            </a:pPr>
            <a:r>
              <a:rPr sz="1000" b="0" i="0">
                <a:solidFill>
                  <a:srgbClr val="2B2B2B"/>
                </a:solidFill>
                <a:latin typeface="Arial"/>
              </a:rPr>
              <a:t>→ Cette semaine</a:t>
            </a:r>
          </a:p>
          <a:p>
            <a:pPr algn="l">
              <a:spcBef>
                <a:spcPts val="0"/>
              </a:spcBef>
              <a:spcAft>
                <a:spcPts val="100"/>
              </a:spcAft>
            </a:pPr>
            <a:r>
              <a:rPr sz="1000" b="0" i="0">
                <a:solidFill>
                  <a:srgbClr val="2B2B2B"/>
                </a:solidFill>
                <a:latin typeface="Arial"/>
              </a:rPr>
              <a:t>→ Téléchargez Linxo ou Bankin' (gratuit) et connectez votre compte principal. Observez simplement vos catégories de dépenses.</a:t>
            </a:r>
          </a:p>
          <a:p>
            <a:pPr algn="l">
              <a:spcBef>
                <a:spcPts val="0"/>
              </a:spcBef>
              <a:spcAft>
                <a:spcPts val="100"/>
              </a:spcAft>
            </a:pPr>
            <a:r>
              <a:rPr sz="1000" b="0" i="0">
                <a:solidFill>
                  <a:srgbClr val="2B2B2B"/>
                </a:solidFill>
                <a:latin typeface="Arial"/>
              </a:rPr>
              <a:t>→ Ce mois-ci</a:t>
            </a:r>
          </a:p>
        </p:txBody>
      </p:sp>
      <p:sp>
        <p:nvSpPr>
          <p:cNvPr id="27" name="Rectangle 26"/>
          <p:cNvSpPr/>
          <p:nvPr/>
        </p:nvSpPr>
        <p:spPr>
          <a:xfrm>
            <a:off x="532800" y="8892000"/>
            <a:ext cx="6490800" cy="1512000"/>
          </a:xfrm>
          <a:prstGeom prst="rect">
            <a:avLst/>
          </a:prstGeom>
          <a:solidFill>
            <a:srgbClr val="EBF5FF"/>
          </a:solidFill>
          <a:ln w="1016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221200" y="9478800"/>
            <a:ext cx="3110400" cy="72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792800" y="8956800"/>
            <a:ext cx="4140000" cy="1404000"/>
          </a:xfrm>
          <a:prstGeom prst="rect">
            <a:avLst/>
          </a:prstGeom>
          <a:noFill/>
        </p:spPr>
        <p:txBody>
          <a:bodyPr wrap="square" tIns="0" bIns="0" lIns="18000" rIns="18000">
            <a:spAutoFit/>
          </a:bodyPr>
          <a:lstStyle/>
          <a:p>
            <a:pPr algn="l">
              <a:spcBef>
                <a:spcPts val="0"/>
              </a:spcBef>
              <a:spcAft>
                <a:spcPts val="100"/>
              </a:spcAft>
            </a:pPr>
            <a:r>
              <a:rPr sz="1300" b="1" i="0">
                <a:solidFill>
                  <a:srgbClr val="4388BC"/>
                </a:solidFill>
                <a:latin typeface="Arial"/>
              </a:rPr>
              <a:t>Besoin d'aide ?</a:t>
            </a:r>
          </a:p>
          <a:p>
            <a:pPr algn="l">
              <a:spcBef>
                <a:spcPts val="0"/>
              </a:spcBef>
              <a:spcAft>
                <a:spcPts val="100"/>
              </a:spcAft>
            </a:pPr>
            <a:r>
              <a:rPr sz="1100" b="1" i="0">
                <a:solidFill>
                  <a:srgbClr val="187C88"/>
                </a:solidFill>
                <a:latin typeface="Arial"/>
              </a:rPr>
              <a:t>Votre Conseiller Numérique est là pour vous accompagner !</a:t>
            </a:r>
          </a:p>
          <a:p>
            <a:pPr algn="l">
              <a:spcBef>
                <a:spcPts val="0"/>
              </a:spcBef>
              <a:spcAft>
                <a:spcPts val="100"/>
              </a:spcAft>
            </a:pPr>
            <a:r>
              <a:rPr sz="1100" b="0" i="0">
                <a:solidFill>
                  <a:srgbClr val="2B2B2B"/>
                </a:solidFill>
                <a:latin typeface="Arial"/>
              </a:rPr>
              <a:t>conseiller-numerique@lotetgaronne.fr  ·  Tél : 05 53 47 31 32</a:t>
            </a:r>
          </a:p>
          <a:p>
            <a:pPr algn="l">
              <a:spcBef>
                <a:spcPts val="0"/>
              </a:spcBef>
              <a:spcAft>
                <a:spcPts val="100"/>
              </a:spcAft>
            </a:pPr>
            <a:r>
              <a:rPr sz="1000" b="0" i="0">
                <a:solidFill>
                  <a:srgbClr val="6E6E6D"/>
                </a:solidFill>
                <a:latin typeface="Arial"/>
              </a:rPr>
              <a:t>www.lotetgaronne.fr/inclusion-numerique</a:t>
            </a:r>
          </a:p>
          <a:p>
            <a:pPr algn="l">
              <a:spcBef>
                <a:spcPts val="0"/>
              </a:spcBef>
              <a:spcAft>
                <a:spcPts val="100"/>
              </a:spcAft>
            </a:pPr>
            <a:r>
              <a:rPr sz="900" b="0" i="0">
                <a:solidFill>
                  <a:srgbClr val="6E6E6D"/>
                </a:solidFill>
                <a:latin typeface="Arial"/>
              </a:rPr>
              <a:t>Direction des Systèmes d'Information — Service Inclusion Numérique — CD47</a:t>
            </a:r>
          </a:p>
        </p:txBody>
      </p:sp>
      <p:sp>
        <p:nvSpPr>
          <p:cNvPr id="30" name="TextBox 29"/>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