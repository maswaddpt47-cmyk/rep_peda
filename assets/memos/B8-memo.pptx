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4" name="Rectangle 3"/>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suivre son budget ?</a:t>
            </a:r>
          </a:p>
        </p:txBody>
      </p:sp>
      <p:sp>
        <p:nvSpPr>
          <p:cNvPr id="9" name="TextBox 8"/>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a:p>
            <a:pPr algn="l">
              <a:spcBef>
                <a:spcPts val="0"/>
              </a:spcBef>
              <a:spcAft>
                <a:spcPts val="100"/>
              </a:spcAft>
            </a:pPr>
            <a:r>
              <a:rPr sz="1000" b="0" i="0">
                <a:solidFill>
                  <a:srgbClr val="2B2B2B"/>
                </a:solidFill>
                <a:latin typeface="Arial"/>
              </a:rPr>
              <a:t>→ Reprendre le contrôle</a:t>
            </a:r>
          </a:p>
          <a:p>
            <a:pPr algn="l">
              <a:spcBef>
                <a:spcPts val="0"/>
              </a:spcBef>
              <a:spcAft>
                <a:spcPts val="100"/>
              </a:spcAft>
            </a:pPr>
            <a:r>
              <a:rPr sz="1000" b="0" i="0">
                <a:solidFill>
                  <a:srgbClr val="2B2B2B"/>
                </a:solidFill>
                <a:latin typeface="Arial"/>
              </a:rPr>
              <a:t>→ Savoir exactement ce que l'on gagne, ce que l'on dépense, et ce qui reste. Fini les mauvaises surprises à la fin du mois.</a:t>
            </a:r>
          </a:p>
          <a:p>
            <a:pPr algn="l">
              <a:spcBef>
                <a:spcPts val="0"/>
              </a:spcBef>
              <a:spcAft>
                <a:spcPts val="100"/>
              </a:spcAft>
            </a:pPr>
            <a:r>
              <a:rPr sz="1000" b="0" i="0">
                <a:solidFill>
                  <a:srgbClr val="2B2B2B"/>
                </a:solidFill>
                <a:latin typeface="Arial"/>
              </a:rPr>
              <a:t>→ Anticiper les imprévus</a:t>
            </a:r>
          </a:p>
        </p:txBody>
      </p:sp>
      <p:sp>
        <p:nvSpPr>
          <p:cNvPr id="10" name="Rectangle 9"/>
          <p:cNvSpPr/>
          <p:nvPr/>
        </p:nvSpPr>
        <p:spPr>
          <a:xfrm>
            <a:off x="532800" y="3499199"/>
            <a:ext cx="6490800" cy="2138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499199"/>
            <a:ext cx="572400" cy="213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4" name="TextBox 13"/>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Tour d'horizon des applications de budget</a:t>
            </a:r>
          </a:p>
        </p:txBody>
      </p:sp>
      <p:sp>
        <p:nvSpPr>
          <p:cNvPr id="15" name="TextBox 14"/>
          <p:cNvSpPr txBox="1"/>
          <p:nvPr/>
        </p:nvSpPr>
        <p:spPr>
          <a:xfrm>
            <a:off x="1159200" y="3963599"/>
            <a:ext cx="5828400" cy="16380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Il existe aujourd'hui des dizaines d'applications pour gérer ses finances. Voici les plus populaires en France, pour tous les profils :</a:t>
            </a:r>
          </a:p>
          <a:p>
            <a:pPr algn="l">
              <a:spcBef>
                <a:spcPts val="0"/>
              </a:spcBef>
              <a:spcAft>
                <a:spcPts val="100"/>
              </a:spcAft>
            </a:pPr>
            <a:r>
              <a:rPr sz="1000" b="0" i="0">
                <a:solidFill>
                  <a:srgbClr val="2B2B2B"/>
                </a:solidFill>
                <a:latin typeface="Arial"/>
              </a:rPr>
              <a:t>→ L'application française de référence. Elle se connecte à vos comptes bancaires et catégorise automatiquement vos dépenses. Idéale pour avoir une vue d'ensemble instantanée.</a:t>
            </a:r>
          </a:p>
          <a:p>
            <a:pPr algn="l">
              <a:spcBef>
                <a:spcPts val="0"/>
              </a:spcBef>
              <a:spcAft>
                <a:spcPts val="100"/>
              </a:spcAft>
            </a:pPr>
            <a:r>
              <a:rPr sz="1000" b="0" i="0">
                <a:solidFill>
                  <a:srgbClr val="2B2B2B"/>
                </a:solidFill>
                <a:latin typeface="Arial"/>
              </a:rPr>
              <a:t>→ Très populaire et intuitive, Bankin' agrège tous vos comptes en un seul endroit. Son coach financier virtuel vous alerte sur vos habitudes de dépenses.</a:t>
            </a:r>
          </a:p>
          <a:p>
            <a:pPr algn="l">
              <a:spcBef>
                <a:spcPts val="0"/>
              </a:spcBef>
              <a:spcAft>
                <a:spcPts val="100"/>
              </a:spcAft>
            </a:pPr>
            <a:r>
              <a:rPr sz="1000" b="0" i="0">
                <a:solidFill>
                  <a:srgbClr val="2B2B2B"/>
                </a:solidFill>
                <a:latin typeface="Arial"/>
              </a:rPr>
              <a:t>→ Solution complète avec tableaux de bord personnalisables. Parfaite pour ceux qui aiment analyser leurs finances en détail et définir des budgets par catégorie.</a:t>
            </a:r>
          </a:p>
        </p:txBody>
      </p:sp>
      <p:sp>
        <p:nvSpPr>
          <p:cNvPr id="16" name="Rectangle 15"/>
          <p:cNvSpPr/>
          <p:nvPr/>
        </p:nvSpPr>
        <p:spPr>
          <a:xfrm>
            <a:off x="532800" y="57023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57023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6123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768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20" name="TextBox 19"/>
          <p:cNvSpPr txBox="1"/>
          <p:nvPr/>
        </p:nvSpPr>
        <p:spPr>
          <a:xfrm>
            <a:off x="1177200" y="57383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Applications gratuites vs. payantes</a:t>
            </a:r>
          </a:p>
        </p:txBody>
      </p:sp>
      <p:sp>
        <p:nvSpPr>
          <p:cNvPr id="21" name="TextBox 20"/>
          <p:cNvSpPr txBox="1"/>
          <p:nvPr/>
        </p:nvSpPr>
        <p:spPr>
          <a:xfrm>
            <a:off x="1159200" y="61668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Pas besoin de dépenser de l'argent pour gérer son argent ! La plupart des outils proposent une version gratuite très complète. Voici comment choisir :</a:t>
            </a:r>
          </a:p>
          <a:p>
            <a:pPr algn="l">
              <a:spcBef>
                <a:spcPts val="0"/>
              </a:spcBef>
              <a:spcAft>
                <a:spcPts val="100"/>
              </a:spcAft>
            </a:pPr>
            <a:r>
              <a:rPr sz="1000" b="0" i="0">
                <a:solidFill>
                  <a:srgbClr val="2B2B2B"/>
                </a:solidFill>
                <a:latin typeface="Arial"/>
              </a:rPr>
              <a:t>→ Version gratuite</a:t>
            </a:r>
          </a:p>
          <a:p>
            <a:pPr algn="l">
              <a:spcBef>
                <a:spcPts val="0"/>
              </a:spcBef>
              <a:spcAft>
                <a:spcPts val="100"/>
              </a:spcAft>
            </a:pPr>
            <a:r>
              <a:rPr sz="1000" b="0" i="0">
                <a:solidFill>
                  <a:srgbClr val="2B2B2B"/>
                </a:solidFill>
                <a:latin typeface="Arial"/>
              </a:rPr>
              <a:t>→ Suffisante pour la grande majorité des utilisateurs</a:t>
            </a:r>
          </a:p>
          <a:p>
            <a:pPr algn="l">
              <a:spcBef>
                <a:spcPts val="0"/>
              </a:spcBef>
              <a:spcAft>
                <a:spcPts val="100"/>
              </a:spcAft>
            </a:pPr>
            <a:r>
              <a:rPr sz="1000" b="0" i="0">
                <a:solidFill>
                  <a:srgbClr val="2B2B2B"/>
                </a:solidFill>
                <a:latin typeface="Arial"/>
              </a:rPr>
              <a:t>→ Connexion à 1 ou 2 banques</a:t>
            </a:r>
          </a:p>
        </p:txBody>
      </p:sp>
      <p:sp>
        <p:nvSpPr>
          <p:cNvPr id="22" name="Rectangle 21"/>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Astuces pour optimiser son budget | Bons plans &amp; outils pour dépenser moins | Sécurité &amp; confidentialité : ce qu'il faut savoir</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4" name="Rectangle 3"/>
          <p:cNvSpPr/>
          <p:nvPr/>
        </p:nvSpPr>
        <p:spPr>
          <a:xfrm>
            <a:off x="532800" y="1749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Astuces pour optimiser son budget</a:t>
            </a:r>
          </a:p>
        </p:txBody>
      </p:sp>
      <p:sp>
        <p:nvSpPr>
          <p:cNvPr id="9" name="TextBox 8"/>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Au-delà des applications, quelques méthodes éprouvées permettent de transformer ses habitudes financières en profondeur :</a:t>
            </a:r>
          </a:p>
          <a:p>
            <a:pPr algn="l">
              <a:spcBef>
                <a:spcPts val="0"/>
              </a:spcBef>
              <a:spcAft>
                <a:spcPts val="100"/>
              </a:spcAft>
            </a:pPr>
            <a:r>
              <a:rPr sz="1000" b="0" i="0">
                <a:solidFill>
                  <a:srgbClr val="2B2B2B"/>
                </a:solidFill>
                <a:latin typeface="Arial"/>
              </a:rPr>
              <a:t>→ La règle 50/30/20</a:t>
            </a:r>
          </a:p>
          <a:p>
            <a:pPr algn="l">
              <a:spcBef>
                <a:spcPts val="0"/>
              </a:spcBef>
              <a:spcAft>
                <a:spcPts val="100"/>
              </a:spcAft>
            </a:pPr>
            <a:r>
              <a:rPr sz="1000" b="0" i="0">
                <a:solidFill>
                  <a:srgbClr val="2B2B2B"/>
                </a:solidFill>
                <a:latin typeface="Arial"/>
              </a:rPr>
              <a:t>→ 50 % pour les besoins essentiels (loyer, courses, factures), 30 % pour les plaisirs, 20 % pour l'épargne. Une répartition simple et efficace.</a:t>
            </a:r>
          </a:p>
          <a:p>
            <a:pPr algn="l">
              <a:spcBef>
                <a:spcPts val="0"/>
              </a:spcBef>
              <a:spcAft>
                <a:spcPts val="100"/>
              </a:spcAft>
            </a:pPr>
            <a:r>
              <a:rPr sz="1000" b="0" i="0">
                <a:solidFill>
                  <a:srgbClr val="2B2B2B"/>
                </a:solidFill>
                <a:latin typeface="Arial"/>
              </a:rPr>
              <a:t>→ La méthode des enveloppes</a:t>
            </a:r>
          </a:p>
        </p:txBody>
      </p:sp>
      <p:sp>
        <p:nvSpPr>
          <p:cNvPr id="10" name="Rectangle 9"/>
          <p:cNvSpPr/>
          <p:nvPr/>
        </p:nvSpPr>
        <p:spPr>
          <a:xfrm>
            <a:off x="532800" y="3348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348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4" name="TextBox 13"/>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Bons plans &amp; outils pour dépenser moins</a:t>
            </a:r>
          </a:p>
        </p:txBody>
      </p:sp>
      <p:sp>
        <p:nvSpPr>
          <p:cNvPr id="15" name="TextBox 14"/>
          <p:cNvSpPr txBox="1"/>
          <p:nvPr/>
        </p:nvSpPr>
        <p:spPr>
          <a:xfrm>
            <a:off x="1159200" y="3812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ne se limite pas au suivi des dépenses. Il existe aussi d'excellents outils numériques pour payer moins cher au quotidien :</a:t>
            </a:r>
          </a:p>
          <a:p>
            <a:pPr algn="l">
              <a:spcBef>
                <a:spcPts val="0"/>
              </a:spcBef>
              <a:spcAft>
                <a:spcPts val="100"/>
              </a:spcAft>
            </a:pPr>
            <a:r>
              <a:rPr sz="1000" b="0" i="0">
                <a:solidFill>
                  <a:srgbClr val="2B2B2B"/>
                </a:solidFill>
                <a:latin typeface="Arial"/>
              </a:rPr>
              <a:t>→ Applications de cashback</a:t>
            </a:r>
          </a:p>
          <a:p>
            <a:pPr algn="l">
              <a:spcBef>
                <a:spcPts val="0"/>
              </a:spcBef>
              <a:spcAft>
                <a:spcPts val="100"/>
              </a:spcAft>
            </a:pPr>
            <a:r>
              <a:rPr sz="1000" b="0" i="0">
                <a:solidFill>
                  <a:srgbClr val="2B2B2B"/>
                </a:solidFill>
                <a:latin typeface="Arial"/>
              </a:rPr>
              <a:t>→ Lydia, Joko, iGraal — Ces apps vous remboursent un pourcentage de vos achats chez des commerçants partenaires. Jusqu'à 10 % remboursé sur certaines enseignes !</a:t>
            </a:r>
          </a:p>
          <a:p>
            <a:pPr algn="l">
              <a:spcBef>
                <a:spcPts val="0"/>
              </a:spcBef>
              <a:spcAft>
                <a:spcPts val="100"/>
              </a:spcAft>
            </a:pPr>
            <a:r>
              <a:rPr sz="1000" b="0" i="0">
                <a:solidFill>
                  <a:srgbClr val="2B2B2B"/>
                </a:solidFill>
                <a:latin typeface="Arial"/>
              </a:rPr>
              <a:t>→ Comparateurs de prix</a:t>
            </a:r>
          </a:p>
        </p:txBody>
      </p:sp>
      <p:sp>
        <p:nvSpPr>
          <p:cNvPr id="16" name="Rectangle 15"/>
          <p:cNvSpPr/>
          <p:nvPr/>
        </p:nvSpPr>
        <p:spPr>
          <a:xfrm>
            <a:off x="532800" y="5097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5097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518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20" name="TextBox 19"/>
          <p:cNvSpPr txBox="1"/>
          <p:nvPr/>
        </p:nvSpPr>
        <p:spPr>
          <a:xfrm>
            <a:off x="1177200" y="5133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confidentialité : ce qu'il faut savoir</a:t>
            </a:r>
          </a:p>
        </p:txBody>
      </p:sp>
      <p:sp>
        <p:nvSpPr>
          <p:cNvPr id="21" name="TextBox 20"/>
          <p:cNvSpPr txBox="1"/>
          <p:nvPr/>
        </p:nvSpPr>
        <p:spPr>
          <a:xfrm>
            <a:off x="1159200" y="5562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principale réticence à utiliser ces outils est souvent la question de la sécurité. Voici les éléments essentiels pour faire des choix éclairés et serein :</a:t>
            </a:r>
          </a:p>
          <a:p>
            <a:pPr algn="l">
              <a:spcBef>
                <a:spcPts val="0"/>
              </a:spcBef>
              <a:spcAft>
                <a:spcPts val="100"/>
              </a:spcAft>
            </a:pPr>
            <a:r>
              <a:rPr sz="1000" b="0" i="0">
                <a:solidFill>
                  <a:srgbClr val="2B2B2B"/>
                </a:solidFill>
                <a:latin typeface="Arial"/>
              </a:rPr>
              <a:t>→ Ce qui est sécurisé</a:t>
            </a:r>
          </a:p>
          <a:p>
            <a:pPr algn="l">
              <a:spcBef>
                <a:spcPts val="0"/>
              </a:spcBef>
              <a:spcAft>
                <a:spcPts val="100"/>
              </a:spcAft>
            </a:pPr>
            <a:r>
              <a:rPr sz="1000" b="0" i="0">
                <a:solidFill>
                  <a:srgbClr val="2B2B2B"/>
                </a:solidFill>
                <a:latin typeface="Arial"/>
              </a:rPr>
              <a:t>→ Connexion via norme DSP2 (obligation européenne)</a:t>
            </a:r>
          </a:p>
          <a:p>
            <a:pPr algn="l">
              <a:spcBef>
                <a:spcPts val="0"/>
              </a:spcBef>
              <a:spcAft>
                <a:spcPts val="100"/>
              </a:spcAft>
            </a:pPr>
            <a:r>
              <a:rPr sz="1000" b="0" i="0">
                <a:solidFill>
                  <a:srgbClr val="2B2B2B"/>
                </a:solidFill>
                <a:latin typeface="Arial"/>
              </a:rPr>
              <a:t>→ Chiffrement des données bancaires</a:t>
            </a:r>
          </a:p>
        </p:txBody>
      </p:sp>
      <p:sp>
        <p:nvSpPr>
          <p:cNvPr id="22" name="Rectangle 21"/>
          <p:cNvSpPr/>
          <p:nvPr/>
        </p:nvSpPr>
        <p:spPr>
          <a:xfrm>
            <a:off x="532800" y="6696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32800" y="6696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6000" y="711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32800" y="676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6" name="TextBox 25"/>
          <p:cNvSpPr txBox="1"/>
          <p:nvPr/>
        </p:nvSpPr>
        <p:spPr>
          <a:xfrm>
            <a:off x="1177200" y="6732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êtes prête à vous lancer !</a:t>
            </a:r>
          </a:p>
        </p:txBody>
      </p:sp>
      <p:sp>
        <p:nvSpPr>
          <p:cNvPr id="27" name="TextBox 26"/>
          <p:cNvSpPr txBox="1"/>
          <p:nvPr/>
        </p:nvSpPr>
        <p:spPr>
          <a:xfrm>
            <a:off x="1159200" y="7160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numérique n'est pas réservée aux experts en finance. Avec les bons outils, quelques minutes par semaine suffisent pour transformer votre relation à l'argent.</a:t>
            </a:r>
          </a:p>
          <a:p>
            <a:pPr algn="l">
              <a:spcBef>
                <a:spcPts val="0"/>
              </a:spcBef>
              <a:spcAft>
                <a:spcPts val="100"/>
              </a:spcAft>
            </a:pPr>
            <a:r>
              <a:rPr sz="1000" b="0" i="0">
                <a:solidFill>
                  <a:srgbClr val="2B2B2B"/>
                </a:solidFill>
                <a:latin typeface="Arial"/>
              </a:rPr>
              <a:t>→ Cette semaine</a:t>
            </a:r>
          </a:p>
          <a:p>
            <a:pPr algn="l">
              <a:spcBef>
                <a:spcPts val="0"/>
              </a:spcBef>
              <a:spcAft>
                <a:spcPts val="100"/>
              </a:spcAft>
            </a:pPr>
            <a:r>
              <a:rPr sz="1000" b="0" i="0">
                <a:solidFill>
                  <a:srgbClr val="2B2B2B"/>
                </a:solidFill>
                <a:latin typeface="Arial"/>
              </a:rPr>
              <a:t>→ Téléchargez Linxo ou Bankin' (gratuit) et connectez votre compte principal. Observez simplement vos catégories de dépenses.</a:t>
            </a:r>
          </a:p>
          <a:p>
            <a:pPr algn="l">
              <a:spcBef>
                <a:spcPts val="0"/>
              </a:spcBef>
              <a:spcAft>
                <a:spcPts val="100"/>
              </a:spcAft>
            </a:pPr>
            <a:r>
              <a:rPr sz="1000" b="0" i="0">
                <a:solidFill>
                  <a:srgbClr val="2B2B2B"/>
                </a:solidFill>
                <a:latin typeface="Arial"/>
              </a:rPr>
              <a:t>→ Ce mois-ci</a:t>
            </a:r>
          </a:p>
        </p:txBody>
      </p:sp>
      <p:sp>
        <p:nvSpPr>
          <p:cNvPr id="28" name="Rectangle 27"/>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1" name="TextBox 30"/>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