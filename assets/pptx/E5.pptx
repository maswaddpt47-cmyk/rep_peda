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906000" cy="6858000" type="A4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F8E"/>
    <a:srgbClr val="96B6DD"/>
    <a:srgbClr val="92BDE0"/>
    <a:srgbClr val="94B7DD"/>
    <a:srgbClr val="495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18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9969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797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4934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377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5695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6872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92643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9393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6718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857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7306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0324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65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conseiller-numerique@lotetgaronne.fr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9952" y="642938"/>
            <a:ext cx="371475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7463" y="430436"/>
            <a:ext cx="4127097" cy="42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📱</a:t>
            </a:r>
            <a:r>
              <a:rPr lang="en-US" sz="2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Écrans et Jeunesse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7463" y="1881592"/>
            <a:ext cx="5456039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Risques, prévention et mieux gérer la consommation d'écrans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7464" y="2293132"/>
            <a:ext cx="5116327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Un atelier pédagogique pour comprendre les enjeux du numérique en famille, identifier les signaux d'alerte et mettre en place des habitudes saines et durables.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3" y="542976"/>
            <a:ext cx="2632813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Au programme aujourd'hui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3" y="1282438"/>
            <a:ext cx="7127596" cy="42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🗺️</a:t>
            </a:r>
            <a:r>
              <a:rPr lang="en-US" sz="1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Ce que nous allons explorer ensemble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463" y="2120241"/>
            <a:ext cx="8831077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Cet atelier est conçu pour vous donner des clés concrètes, sans culpabilisation. Nous allons aborder les grandes questions que se posent parents et professionnels face à l'omniprésence des écrans.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462" y="3196989"/>
            <a:ext cx="134305" cy="1343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7463" y="3393045"/>
            <a:ext cx="4348386" cy="15479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7" name="Text 4"/>
          <p:cNvSpPr/>
          <p:nvPr/>
        </p:nvSpPr>
        <p:spPr>
          <a:xfrm>
            <a:off x="537462" y="3491155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Comprendre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37463" y="3781772"/>
            <a:ext cx="4348386" cy="21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L'état des lieux de la consommation numérique chez les jeunes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0153" y="3196989"/>
            <a:ext cx="134305" cy="1343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0153" y="3393045"/>
            <a:ext cx="4348386" cy="15479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1" name="Text 7"/>
          <p:cNvSpPr/>
          <p:nvPr/>
        </p:nvSpPr>
        <p:spPr>
          <a:xfrm>
            <a:off x="5020153" y="3491155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Identifier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020153" y="3781772"/>
            <a:ext cx="4348386" cy="21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Les risques réels et les signaux d'alerte à repérer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462" y="4724910"/>
            <a:ext cx="134305" cy="13430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37463" y="4920966"/>
            <a:ext cx="4348386" cy="15479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5" name="Text 10"/>
          <p:cNvSpPr/>
          <p:nvPr/>
        </p:nvSpPr>
        <p:spPr>
          <a:xfrm>
            <a:off x="537462" y="5019076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Prévenir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37463" y="5309692"/>
            <a:ext cx="4348386" cy="21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Les bonnes pratiques et stratégies de prévention efficaces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0153" y="4724910"/>
            <a:ext cx="134305" cy="1343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20153" y="4920966"/>
            <a:ext cx="4348386" cy="15479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9" name="Text 13"/>
          <p:cNvSpPr/>
          <p:nvPr/>
        </p:nvSpPr>
        <p:spPr>
          <a:xfrm>
            <a:off x="5020153" y="5019076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Agir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5020153" y="5309692"/>
            <a:ext cx="4348386" cy="21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Des outils concrets à mettre en place dès aujourd'hui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1250" y="642938"/>
            <a:ext cx="371475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7463" y="467334"/>
            <a:ext cx="2617657" cy="187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📊</a:t>
            </a:r>
            <a:r>
              <a:rPr lang="en-US" sz="2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Chapitre 1 — État des lieux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7463" y="1258354"/>
            <a:ext cx="5116327" cy="39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Les jeunes et les écrans : les chiffres qui interpellent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7463" y="2226140"/>
            <a:ext cx="2491575" cy="394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5h30</a:t>
            </a:r>
            <a:b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Par jour </a:t>
            </a:r>
            <a:r>
              <a:rPr lang="en-US" sz="1400" b="1" dirty="0" err="1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en</a:t>
            </a: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moyenne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83000"/>
              </a:lnSpc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7462" y="2724748"/>
            <a:ext cx="2491575" cy="362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6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Temps passé sur les écrans par un adolescent français (hors école)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162214" y="2226140"/>
            <a:ext cx="2491575" cy="394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57%</a:t>
            </a:r>
            <a:b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400" b="1" dirty="0" err="1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Consultent</a:t>
            </a: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leur</a:t>
            </a: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téléphone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83000"/>
              </a:lnSpc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162214" y="2740948"/>
            <a:ext cx="2491575" cy="688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6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des 12-17 ans vérifient leur smartphone dans les 15 minutes suivant le réveil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849797" y="3646822"/>
            <a:ext cx="2491575" cy="394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3h</a:t>
            </a:r>
            <a:b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Sur les réseaux </a:t>
            </a:r>
            <a:r>
              <a:rPr lang="en-US" sz="1400" b="1" dirty="0" err="1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sociaux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83000"/>
              </a:lnSpc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849797" y="4131738"/>
            <a:ext cx="2491575" cy="748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6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Durée quotidienne moyenne passée sur TikTok, Instagram et YouTube par les 13-18 ans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37463" y="5593980"/>
            <a:ext cx="5116327" cy="613805"/>
          </a:xfrm>
          <a:prstGeom prst="roundRect">
            <a:avLst>
              <a:gd name="adj" fmla="val 2925"/>
            </a:avLst>
          </a:prstGeom>
          <a:solidFill>
            <a:srgbClr val="94B7DD">
              <a:alpha val="61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095" y="5710811"/>
            <a:ext cx="149541" cy="11963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6270" y="5673165"/>
            <a:ext cx="4607886" cy="362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6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Ces chiffres ne sont pas une fatalité. Comprendre les mécanismes est le premier pas vers un usage plus équilibré.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2" y="416811"/>
            <a:ext cx="4192153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🧠</a:t>
            </a:r>
            <a:r>
              <a:rPr lang="en-US" sz="2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Chapitre 2 — Comprendre les mécanismes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3" y="974825"/>
            <a:ext cx="8561580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Pourquoi les écrans sont-ils si difficiles à quitter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40724" y="2225576"/>
            <a:ext cx="4445124" cy="2867043"/>
          </a:xfrm>
          <a:prstGeom prst="roundRect">
            <a:avLst>
              <a:gd name="adj" fmla="val 612"/>
            </a:avLst>
          </a:prstGeom>
          <a:solidFill>
            <a:srgbClr val="D6DF8E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75029" y="2462523"/>
            <a:ext cx="3119084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La mécanique de la récompense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5029" y="2806830"/>
            <a:ext cx="4176514" cy="162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Les plateformes numériques sont conçues pour déclencher des libérations de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dopamine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 — le neurotransmetteur du plaisir. Chaque notification, like ou nouvelle vidéo crée une boucle de renforcement positif qui pousse à revenir encore et encore.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Ce n'est pas une faiblesse de caractère : c'est de la neurobiologie, exploitée sciemment par des équipes d'ingénieurs.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2050" y="2224813"/>
            <a:ext cx="3258952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Les mécanismes les plus courants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2435" y="2590080"/>
            <a:ext cx="201538" cy="2015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8662" y="2585969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Le scroll infini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558663" y="2791618"/>
            <a:ext cx="3815035" cy="21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Aucune limite visible ne signale la fin du contenu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2435" y="3418079"/>
            <a:ext cx="201538" cy="2015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8663" y="3413968"/>
            <a:ext cx="1777807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Les notifications push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558663" y="3619617"/>
            <a:ext cx="4210488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Créent une urgence artificielle et un FOMO</a:t>
            </a:r>
            <a:b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(peur de manquer)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2435" y="4461079"/>
            <a:ext cx="201538" cy="2015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58662" y="4456968"/>
            <a:ext cx="2673201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L'algorithme de recommandation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558663" y="4662617"/>
            <a:ext cx="3815035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Prédit et amplifie les contenus susceptibles de retenir l'attention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3" y="438658"/>
            <a:ext cx="3177288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⚠️</a:t>
            </a:r>
            <a:r>
              <a:rPr lang="en-US" sz="2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Chapitre 3 — Les risques réels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3" y="1204544"/>
            <a:ext cx="6855035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Quels impacts sur la santé des jeunes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7463" y="2179403"/>
            <a:ext cx="4348386" cy="1524849"/>
          </a:xfrm>
          <a:prstGeom prst="roundRect">
            <a:avLst>
              <a:gd name="adj" fmla="val 1674"/>
            </a:avLst>
          </a:prstGeom>
          <a:solidFill>
            <a:srgbClr val="92BDE0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71767" y="2313708"/>
            <a:ext cx="1711542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😴</a:t>
            </a: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Sommeil perturbé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1767" y="2604326"/>
            <a:ext cx="4079776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La lumière bleue des écrans retarde la production de mélatonine de 1 à 3 heures. Un manque de sommeil chronique affecte la concentration, l'humeur et les apprentissages.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0153" y="2179403"/>
            <a:ext cx="4348386" cy="1524849"/>
          </a:xfrm>
          <a:prstGeom prst="roundRect">
            <a:avLst>
              <a:gd name="adj" fmla="val 1674"/>
            </a:avLst>
          </a:prstGeom>
          <a:solidFill>
            <a:srgbClr val="92BDE0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154458" y="2313708"/>
            <a:ext cx="2198861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😟</a:t>
            </a: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Anxiété et estime de soi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54458" y="2604326"/>
            <a:ext cx="4079776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L'exposition prolongée aux images idéalisées des réseaux sociaux fragilise l'image corporelle et augmente les risques de dépression, en particulier chez les adolescentes.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37463" y="3938649"/>
            <a:ext cx="4348386" cy="1286493"/>
          </a:xfrm>
          <a:prstGeom prst="roundRect">
            <a:avLst>
              <a:gd name="adj" fmla="val 1674"/>
            </a:avLst>
          </a:prstGeom>
          <a:solidFill>
            <a:srgbClr val="92BDE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71766" y="4072956"/>
            <a:ext cx="1843831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🎓</a:t>
            </a: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Difficultés scolaires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1767" y="4363573"/>
            <a:ext cx="4079776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Le multitâche numérique (scroller pendant les devoirs) réduit la capacité d'attention soutenue et la mémorisation à long terme de manière significative.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0153" y="3938649"/>
            <a:ext cx="4348386" cy="1286493"/>
          </a:xfrm>
          <a:prstGeom prst="roundRect">
            <a:avLst>
              <a:gd name="adj" fmla="val 1674"/>
            </a:avLst>
          </a:prstGeom>
          <a:solidFill>
            <a:srgbClr val="92BDE0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154458" y="4072956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🤝</a:t>
            </a: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Isolement social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54458" y="4363573"/>
            <a:ext cx="4079776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Paradoxalement, une connexion numérique excessive peut remplacer les interactions en face-à-face, appauvrissant les compétences sociales et le sentiment d'appartenance réel.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2" y="335521"/>
            <a:ext cx="2918352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🔍</a:t>
            </a:r>
            <a:r>
              <a:rPr lang="en-US" sz="2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Chapitre 4 — Signaux d'alerte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3" y="961796"/>
            <a:ext cx="9278974" cy="387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Comment reconnaître une consommation problématique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463" y="1533879"/>
            <a:ext cx="8831077" cy="380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Il ne s'agit pas de diaboliser tout usage numérique, mais d'identifier les </a:t>
            </a:r>
            <a:r>
              <a:rPr lang="en-US" sz="1200" b="1" dirty="0">
                <a:solidFill>
                  <a:srgbClr val="464646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signaux d'alerte</a:t>
            </a: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 qui indiquent que l'équilibre est rompu. Voici les indicateurs les plus fiables à observer au quotidien.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462" y="2320275"/>
            <a:ext cx="4358462" cy="14213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8677" y="2459579"/>
            <a:ext cx="2100430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Irritabilité lors des coupures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8678" y="2721659"/>
            <a:ext cx="4017944" cy="57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Votre enfant réagit avec colère ou anxiété intense lorsqu'on lui retire l'accès aux écrans, même temporairement ? C'est un signe fort de dépendance naissante.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0076" y="2320275"/>
            <a:ext cx="4358462" cy="14213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1292" y="2459579"/>
            <a:ext cx="327257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Perte d'intérêt pour les activités hors-écran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211292" y="2721659"/>
            <a:ext cx="4017944" cy="57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Les loisirs, sports ou activités sociales autrefois appréciés sont progressivement abandonnés au profit du temps d'écran. L'enfant ne trouve de plaisir que dans le numérique.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462" y="4017041"/>
            <a:ext cx="4358462" cy="11862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8677" y="4156344"/>
            <a:ext cx="2287699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Mensonges sur le temps passé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38678" y="4418425"/>
            <a:ext cx="4017944" cy="57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Dissimuler l'utilisation du téléphone, mentir sur les horaires ou utiliser les appareils en cachette la nuit sont des comportements à prendre au sérieux.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0076" y="4017041"/>
            <a:ext cx="4358462" cy="11862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1292" y="4156344"/>
            <a:ext cx="2885622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Négligence des besoins fondamentaux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5211292" y="4418425"/>
            <a:ext cx="4017944" cy="57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Sauter des repas, négliger l'hygiène ou refuser de dormir pour rester connecté indique que l'usage numérique est devenu prioritaire sur les besoins essentiels.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537463" y="5769212"/>
            <a:ext cx="8831077" cy="753267"/>
          </a:xfrm>
          <a:prstGeom prst="roundRect">
            <a:avLst>
              <a:gd name="adj" fmla="val 4058"/>
            </a:avLst>
          </a:prstGeom>
          <a:solidFill>
            <a:srgbClr val="B6D6FC">
              <a:alpha val="60000"/>
            </a:srgbClr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219" y="5939472"/>
            <a:ext cx="154781" cy="1238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91825" y="5902953"/>
            <a:ext cx="7420335" cy="47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Si vous reconnaissez plusieurs de ces signaux, il est recommandé d'en parler avec un professionnel de santé</a:t>
            </a:r>
            <a:b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ou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 un psychologue spécialisé.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1">
            <a:extLst>
              <a:ext uri="{FF2B5EF4-FFF2-40B4-BE49-F238E27FC236}">
                <a16:creationId xmlns:a16="http://schemas.microsoft.com/office/drawing/2014/main" id="{E5A127C7-5EE3-438D-CEC6-674247275079}"/>
              </a:ext>
            </a:extLst>
          </p:cNvPr>
          <p:cNvSpPr/>
          <p:nvPr/>
        </p:nvSpPr>
        <p:spPr>
          <a:xfrm>
            <a:off x="4030824" y="5522265"/>
            <a:ext cx="5542384" cy="878535"/>
          </a:xfrm>
          <a:prstGeom prst="roundRect">
            <a:avLst>
              <a:gd name="adj" fmla="val 2925"/>
            </a:avLst>
          </a:prstGeom>
          <a:solidFill>
            <a:srgbClr val="94B7DD">
              <a:alpha val="61000"/>
            </a:srgbClr>
          </a:solidFill>
          <a:ln/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51" y="642938"/>
            <a:ext cx="371475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2213" y="332610"/>
            <a:ext cx="2702868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🛡️</a:t>
            </a:r>
            <a:r>
              <a:rPr lang="en-US" sz="2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Chapitre 5 — Prévention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52213" y="1028832"/>
            <a:ext cx="5116327" cy="839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Les stratégies qui fonctionnent vraiment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1401" y="1726169"/>
            <a:ext cx="5847791" cy="25650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03646" y="3089522"/>
            <a:ext cx="773247" cy="138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Structurer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351123" y="3336580"/>
            <a:ext cx="1278294" cy="577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Créer zones et horaires sans écran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399145" y="3089522"/>
            <a:ext cx="773247" cy="138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Enrichir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227099" y="3336580"/>
            <a:ext cx="1141441" cy="577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Proposer alternatives attrayantes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252213" y="2028804"/>
            <a:ext cx="773247" cy="138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Dialoguer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012163" y="2293963"/>
            <a:ext cx="1194319" cy="48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Établir des règles claires ensemble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047007" y="2028804"/>
            <a:ext cx="773247" cy="138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Modéliser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783356" y="2309228"/>
            <a:ext cx="1300550" cy="332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Les adultes montrent l'exemple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096139" y="5581495"/>
            <a:ext cx="5421085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La prévention efficace repose sur une approche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collaborative et bienveillante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, jamais sur la punition ou la confrontation. Les règles co-construites avec les enfants sont bien mieux respectées que les interdits imposés.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2" y="392304"/>
            <a:ext cx="3078534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🏠</a:t>
            </a:r>
            <a:r>
              <a:rPr lang="en-US" sz="2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Chapitre 6 — Outils concrets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3" y="1121671"/>
            <a:ext cx="7773485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Aménager un environnement numérique sain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462" y="2144880"/>
            <a:ext cx="2588636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Les règles d'or à la maison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7463" y="2506037"/>
            <a:ext cx="302307" cy="30230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587846" y="2531229"/>
            <a:ext cx="201538" cy="251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4074" y="2552230"/>
            <a:ext cx="2815729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La chambre, sanctuaire sans écran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4074" y="2896537"/>
            <a:ext cx="3815035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Les téléphones rechargent dans le salon, pas dans les chambres. Le sommeil est protégé.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7463" y="3595230"/>
            <a:ext cx="302307" cy="30230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587846" y="3620421"/>
            <a:ext cx="201538" cy="251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4074" y="3641422"/>
            <a:ext cx="3241942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Les repas, moments de connexion réelle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4074" y="3985730"/>
            <a:ext cx="3815035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Pas d'écran à table. Ce temps favorise les échanges familiaux et l'écoute active.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7463" y="4684422"/>
            <a:ext cx="302307" cy="30230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587846" y="4709614"/>
            <a:ext cx="201538" cy="251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4074" y="4730614"/>
            <a:ext cx="2374763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Le contrat numérique familial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4074" y="5074922"/>
            <a:ext cx="3815035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Un document co-signé qui précise droits, devoirs et conséquences — négocié ensemble.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22050" y="2144880"/>
            <a:ext cx="3189784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Les outils techniques disponibles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2051" y="2506036"/>
            <a:ext cx="335923" cy="33592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625896" y="2506036"/>
            <a:ext cx="183964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Contrôle parental natif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625895" y="2850345"/>
            <a:ext cx="3747803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iOS Screen Time et Android Digital Wellbeing permettent de fixer des limites horaires par application.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2051" y="3549037"/>
            <a:ext cx="335923" cy="33592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625895" y="3549037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Filtres de contenu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625895" y="3893344"/>
            <a:ext cx="3747803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Des applications comme Qustodio ou Family Link bloquent les contenus inappropriés et envoient des rapports d'usage.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2051" y="4807038"/>
            <a:ext cx="335923" cy="33592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625896" y="4807037"/>
            <a:ext cx="2165244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Mode nuit et lumière bleue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5625895" y="5151345"/>
            <a:ext cx="3747803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Activer le filtre lumière bleue dès 18h réduit l'impact sur la production de mélatonine et améliore le sommeil.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3" y="457572"/>
            <a:ext cx="3575205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✨</a:t>
            </a:r>
            <a:r>
              <a:rPr lang="en-US" sz="2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Chapitre 7 — Alternatives positives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3" y="1124703"/>
            <a:ext cx="4778710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Créer l'envie d'autre chose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463" y="1914728"/>
            <a:ext cx="8831077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La clé n'est pas d'interdire les écrans, mais de rendre les alternatives </a:t>
            </a:r>
            <a:r>
              <a:rPr lang="en-US" sz="1200" b="1" dirty="0">
                <a:solidFill>
                  <a:srgbClr val="464646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suffisamment attirantes</a:t>
            </a: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 pour que les jeunes y trouvent naturellement leur compte. L'ennui bien toléré est aussi un moteur de créativité.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441" y="2995290"/>
            <a:ext cx="2140702" cy="13230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7463" y="4536705"/>
            <a:ext cx="2213936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🎲</a:t>
            </a: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Jeux et créativité offline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7462" y="4827323"/>
            <a:ext cx="2831690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Jeux de société, dessin, musique, jardinage : des activités qui stimulent la créativité et favorisent les liens sociaux réels.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1052" y="2995290"/>
            <a:ext cx="2140702" cy="13230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37074" y="4536705"/>
            <a:ext cx="2420311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🏃</a:t>
            </a: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Activité physique régulière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537074" y="4827324"/>
            <a:ext cx="2831772" cy="8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Le sport libère des endorphines et compense naturellement le manque de dopamine lié à la déconnexion numérique. Un allié puissant.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0746" y="2995290"/>
            <a:ext cx="2140702" cy="13230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36767" y="4536705"/>
            <a:ext cx="2333892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🍳</a:t>
            </a:r>
            <a:r>
              <a:rPr lang="en-US" sz="1400" b="1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Rituels familiaux partagés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536768" y="4827324"/>
            <a:ext cx="2831772" cy="8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Cuisiner ensemble, lire, se promener : des moments simples qui renforcent les liens et montrent que le bonheur existe hors des écrans.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3" y="548578"/>
            <a:ext cx="21750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🎯</a:t>
            </a:r>
            <a:r>
              <a:rPr lang="en-US" sz="2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Conclusion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2" y="1243923"/>
            <a:ext cx="6500007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30303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Ce que vous pouvez faire dès demain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463" y="1818226"/>
            <a:ext cx="8831077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Pas besoin d'une révolution. De petits changements cohérents, appliqués avec bienveillance et régularité, produisent des résultats durables. Voici votre feuille de route pour commencer.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7463" y="2824385"/>
            <a:ext cx="2854101" cy="1785387"/>
          </a:xfrm>
          <a:prstGeom prst="roundRect">
            <a:avLst>
              <a:gd name="adj" fmla="val 1233"/>
            </a:avLst>
          </a:prstGeom>
          <a:solidFill>
            <a:srgbClr val="96B6DD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71766" y="2958691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🗣️</a:t>
            </a:r>
            <a:r>
              <a:rPr lang="en-US" sz="1400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Cette semaine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1766" y="3249308"/>
            <a:ext cx="2585492" cy="107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Ouvrez une conversation avec votre enfant sur ses usages numériques, sans jugement. Écoutez ce qu'il aime, ce qu'il ressent. C'est le point de départ de tout changement durable.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25868" y="2824385"/>
            <a:ext cx="2854183" cy="1785387"/>
          </a:xfrm>
          <a:prstGeom prst="roundRect">
            <a:avLst>
              <a:gd name="adj" fmla="val 1233"/>
            </a:avLst>
          </a:prstGeom>
          <a:solidFill>
            <a:srgbClr val="96B6DD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60174" y="2958691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📋</a:t>
            </a:r>
            <a:r>
              <a:rPr lang="en-US" sz="1400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Ce mois-ci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60174" y="3249308"/>
            <a:ext cx="2585572" cy="107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Rédigez ensemble un contrat numérique familial simple : horaires, zones sans écran, règles pour les repas et le coucher. Faites-le signer par tous, parents inclus.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14357" y="2824385"/>
            <a:ext cx="2854101" cy="1785387"/>
          </a:xfrm>
          <a:prstGeom prst="roundRect">
            <a:avLst>
              <a:gd name="adj" fmla="val 1233"/>
            </a:avLst>
          </a:prstGeom>
          <a:solidFill>
            <a:srgbClr val="96B6DD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48660" y="2958691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🌱</a:t>
            </a:r>
            <a:r>
              <a:rPr lang="en-US" sz="1400" dirty="0">
                <a:solidFill>
                  <a:srgbClr val="464646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Sur le long terme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48660" y="3249308"/>
            <a:ext cx="2585492" cy="107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Proposez régulièrement des activités alternatives enrichissantes. Montrez l'exemple en posant vous-même votre téléphone. Revisitez les règles au fil de la croissance de l'enfant.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37463" y="5548924"/>
            <a:ext cx="8831077" cy="738919"/>
          </a:xfrm>
          <a:prstGeom prst="roundRect">
            <a:avLst>
              <a:gd name="adj" fmla="val 2728"/>
            </a:avLst>
          </a:prstGeom>
          <a:solidFill>
            <a:srgbClr val="D6DF8E">
              <a:alpha val="60000"/>
            </a:srgbClr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766" y="5743690"/>
            <a:ext cx="167921" cy="13430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73994" y="5703383"/>
            <a:ext cx="8260240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Vous n'êtes pas seuls dans cette démarche. Des ressources, des associations et des professionnels sont là pour vous accompagner à chaque étape.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E1B0052-F3C8-138E-16D0-37FA79978191}"/>
              </a:ext>
            </a:extLst>
          </p:cNvPr>
          <p:cNvSpPr/>
          <p:nvPr/>
        </p:nvSpPr>
        <p:spPr>
          <a:xfrm>
            <a:off x="918233" y="1257886"/>
            <a:ext cx="8002795" cy="681337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ABE6AD5-FCF5-6D9A-C01D-C70299E41849}"/>
              </a:ext>
            </a:extLst>
          </p:cNvPr>
          <p:cNvSpPr/>
          <p:nvPr/>
        </p:nvSpPr>
        <p:spPr>
          <a:xfrm>
            <a:off x="1539171" y="514782"/>
            <a:ext cx="8333873" cy="380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Offre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départementale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d’Inclusion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Numérique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79CA5B1-7AFF-8C9C-13A8-F83D96CA292C}"/>
              </a:ext>
            </a:extLst>
          </p:cNvPr>
          <p:cNvSpPr/>
          <p:nvPr/>
        </p:nvSpPr>
        <p:spPr>
          <a:xfrm>
            <a:off x="2069873" y="1282825"/>
            <a:ext cx="5906208" cy="565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Voici les 5 offres et services dispensés par l’équipe départementale</a:t>
            </a:r>
          </a:p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Conseiller.es numériques :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B5354FB-E5AB-65A0-C14A-80EE60AE0F3A}"/>
              </a:ext>
            </a:extLst>
          </p:cNvPr>
          <p:cNvSpPr/>
          <p:nvPr/>
        </p:nvSpPr>
        <p:spPr>
          <a:xfrm>
            <a:off x="918233" y="2349802"/>
            <a:ext cx="2593972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EAA6073B-04F7-DB6A-2B8E-33E2FD5ADE86}"/>
              </a:ext>
            </a:extLst>
          </p:cNvPr>
          <p:cNvSpPr/>
          <p:nvPr/>
        </p:nvSpPr>
        <p:spPr>
          <a:xfrm>
            <a:off x="3622563" y="2349801"/>
            <a:ext cx="2594053" cy="1994477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511D749C-6F6A-071D-4B43-962E7D5CD294}"/>
              </a:ext>
            </a:extLst>
          </p:cNvPr>
          <p:cNvSpPr/>
          <p:nvPr/>
        </p:nvSpPr>
        <p:spPr>
          <a:xfrm>
            <a:off x="6326975" y="2349802"/>
            <a:ext cx="2594053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7DE53442-9CAB-1612-93CC-14E712E92D2E}"/>
              </a:ext>
            </a:extLst>
          </p:cNvPr>
          <p:cNvSpPr/>
          <p:nvPr/>
        </p:nvSpPr>
        <p:spPr>
          <a:xfrm>
            <a:off x="6453861" y="2476692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Le Pass Numérique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A3ABC00C-3661-7241-BAFD-2CDAB6CB696D}"/>
              </a:ext>
            </a:extLst>
          </p:cNvPr>
          <p:cNvSpPr/>
          <p:nvPr/>
        </p:nvSpPr>
        <p:spPr>
          <a:xfrm>
            <a:off x="6453862" y="2738287"/>
            <a:ext cx="2340282" cy="109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Dispositif qui finance des formations aux compétences numériques de par des formateurs agréés.</a:t>
            </a: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22D6D717-649A-2835-2C86-22B6083D522A}"/>
              </a:ext>
            </a:extLst>
          </p:cNvPr>
          <p:cNvSpPr/>
          <p:nvPr/>
        </p:nvSpPr>
        <p:spPr>
          <a:xfrm>
            <a:off x="918233" y="4533301"/>
            <a:ext cx="3946178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0E223A7A-9490-7370-DD4B-E3264CF954ED}"/>
              </a:ext>
            </a:extLst>
          </p:cNvPr>
          <p:cNvSpPr/>
          <p:nvPr/>
        </p:nvSpPr>
        <p:spPr>
          <a:xfrm>
            <a:off x="1045117" y="4660189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Ordi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Solidaire</a:t>
            </a:r>
            <a:endParaRPr lang="en-US" sz="1200" dirty="0">
              <a:latin typeface="Arial" panose="020B0604020202020204" pitchFamily="34" charset="0"/>
              <a:ea typeface="Inter 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02C82ABF-1671-C16E-0243-135043E716E6}"/>
              </a:ext>
            </a:extLst>
          </p:cNvPr>
          <p:cNvSpPr/>
          <p:nvPr/>
        </p:nvSpPr>
        <p:spPr>
          <a:xfrm>
            <a:off x="1045117" y="4921786"/>
            <a:ext cx="369240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Reconditionnement de matériel informatique revendu à prix solidaires, dans le cadre d'un chantier d'insertion.</a:t>
            </a: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041D51F9-21A3-EA87-1108-907450A45BBB}"/>
              </a:ext>
            </a:extLst>
          </p:cNvPr>
          <p:cNvSpPr/>
          <p:nvPr/>
        </p:nvSpPr>
        <p:spPr>
          <a:xfrm>
            <a:off x="4974769" y="4533301"/>
            <a:ext cx="3946259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CC4EAA3D-E1CD-1244-A1F6-76B48A5E2B14}"/>
              </a:ext>
            </a:extLst>
          </p:cNvPr>
          <p:cNvSpPr/>
          <p:nvPr/>
        </p:nvSpPr>
        <p:spPr>
          <a:xfrm>
            <a:off x="5101655" y="4921786"/>
            <a:ext cx="369248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Après une formation, les parents des collégiens reçoivent gratuitement un ordinateur reconditionné, l'ensemble du dispositif étant intégralement pris en charge. </a:t>
            </a: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E97B433-E44F-156D-822B-4D083BED61CD}"/>
              </a:ext>
            </a:extLst>
          </p:cNvPr>
          <p:cNvSpPr/>
          <p:nvPr/>
        </p:nvSpPr>
        <p:spPr>
          <a:xfrm>
            <a:off x="1230851" y="2462745"/>
            <a:ext cx="2222426" cy="3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Accompagnement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individuel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48B930B-B6D1-5897-31BA-C0CD10FD3AC5}"/>
              </a:ext>
            </a:extLst>
          </p:cNvPr>
          <p:cNvSpPr/>
          <p:nvPr/>
        </p:nvSpPr>
        <p:spPr>
          <a:xfrm>
            <a:off x="1230851" y="2736696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 rencontrez un problème spécifique ? Nos conseiller.es vous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reçoivent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sur rendez-vous pour un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suivi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personnalisé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CMS.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5920AD67-438A-1E7E-5228-7EE645180045}"/>
              </a:ext>
            </a:extLst>
          </p:cNvPr>
          <p:cNvSpPr/>
          <p:nvPr/>
        </p:nvSpPr>
        <p:spPr>
          <a:xfrm>
            <a:off x="3878016" y="2493018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Ateliers 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collectifs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2A80D45-5F01-AD31-06E7-49E94E993BE8}"/>
              </a:ext>
            </a:extLst>
          </p:cNvPr>
          <p:cNvSpPr/>
          <p:nvPr/>
        </p:nvSpPr>
        <p:spPr>
          <a:xfrm>
            <a:off x="3878016" y="2755097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sessions en présentiel animées par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conseiller.es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numériques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dans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plusieurs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communes du Lot-et-Garonne, pour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être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au plus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proche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chez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A53A6099-7342-F0A9-E223-F9B0F87F92DF}"/>
              </a:ext>
            </a:extLst>
          </p:cNvPr>
          <p:cNvSpPr/>
          <p:nvPr/>
        </p:nvSpPr>
        <p:spPr>
          <a:xfrm>
            <a:off x="5098155" y="4654769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Parents-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Connectés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847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C2F4F29-2D89-D2B0-F517-034A0E833C6E}"/>
              </a:ext>
            </a:extLst>
          </p:cNvPr>
          <p:cNvSpPr/>
          <p:nvPr/>
        </p:nvSpPr>
        <p:spPr>
          <a:xfrm>
            <a:off x="3904785" y="1010653"/>
            <a:ext cx="5527971" cy="1016882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1B9DDB2-573E-9112-EE4A-B252B4A1BFE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137" y="1010653"/>
            <a:ext cx="3112090" cy="466825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0EC0A45-797C-8D0E-00E9-B65118FB5659}"/>
              </a:ext>
            </a:extLst>
          </p:cNvPr>
          <p:cNvSpPr/>
          <p:nvPr/>
        </p:nvSpPr>
        <p:spPr>
          <a:xfrm>
            <a:off x="3891159" y="1081161"/>
            <a:ext cx="5527971" cy="830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Besoin d'aide ? Nous sommes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là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!</a:t>
            </a:r>
          </a:p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Pour nous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joindre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…</a:t>
            </a:r>
            <a:endParaRPr lang="en-US" sz="243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65F03D6-5AB9-EFAA-1CAE-2E2F7DAB0130}"/>
              </a:ext>
            </a:extLst>
          </p:cNvPr>
          <p:cNvSpPr/>
          <p:nvPr/>
        </p:nvSpPr>
        <p:spPr>
          <a:xfrm>
            <a:off x="3891159" y="2339485"/>
            <a:ext cx="25010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6E94C12-57E7-A0F4-C430-CB5E5FA5FF89}"/>
              </a:ext>
            </a:extLst>
          </p:cNvPr>
          <p:cNvSpPr/>
          <p:nvPr/>
        </p:nvSpPr>
        <p:spPr>
          <a:xfrm>
            <a:off x="6506332" y="2339485"/>
            <a:ext cx="29264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6998031C-7286-183C-9576-19C29CADDD20}"/>
              </a:ext>
            </a:extLst>
          </p:cNvPr>
          <p:cNvSpPr/>
          <p:nvPr/>
        </p:nvSpPr>
        <p:spPr>
          <a:xfrm>
            <a:off x="3891158" y="3949855"/>
            <a:ext cx="5541599" cy="921674"/>
          </a:xfrm>
          <a:prstGeom prst="roundRect">
            <a:avLst>
              <a:gd name="adj" fmla="val 5645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33A54881-4C08-7B04-175A-177A5AED5738}"/>
              </a:ext>
            </a:extLst>
          </p:cNvPr>
          <p:cNvSpPr/>
          <p:nvPr/>
        </p:nvSpPr>
        <p:spPr>
          <a:xfrm>
            <a:off x="5312899" y="4112245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📧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Email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21">
            <a:extLst>
              <a:ext uri="{FF2B5EF4-FFF2-40B4-BE49-F238E27FC236}">
                <a16:creationId xmlns:a16="http://schemas.microsoft.com/office/drawing/2014/main" id="{36C2DE43-E6B7-3F95-A0F3-3D19CDC43691}"/>
              </a:ext>
            </a:extLst>
          </p:cNvPr>
          <p:cNvSpPr/>
          <p:nvPr/>
        </p:nvSpPr>
        <p:spPr>
          <a:xfrm>
            <a:off x="5312899" y="4373841"/>
            <a:ext cx="24206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b="1" u="sng" dirty="0">
                <a:solidFill>
                  <a:srgbClr val="4950BC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conseiller-numerique@lotetgaronne.fr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24">
            <a:extLst>
              <a:ext uri="{FF2B5EF4-FFF2-40B4-BE49-F238E27FC236}">
                <a16:creationId xmlns:a16="http://schemas.microsoft.com/office/drawing/2014/main" id="{126AB608-2CFA-A003-BBC2-F3C99C794C37}"/>
              </a:ext>
            </a:extLst>
          </p:cNvPr>
          <p:cNvSpPr/>
          <p:nvPr/>
        </p:nvSpPr>
        <p:spPr>
          <a:xfrm>
            <a:off x="4417484" y="2852601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📞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Téléphone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C2FFE0AB-C16D-8E53-E904-63D706B29C4C}"/>
              </a:ext>
            </a:extLst>
          </p:cNvPr>
          <p:cNvSpPr/>
          <p:nvPr/>
        </p:nvSpPr>
        <p:spPr>
          <a:xfrm>
            <a:off x="4592053" y="3114197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05 53 47 31 32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28">
            <a:extLst>
              <a:ext uri="{FF2B5EF4-FFF2-40B4-BE49-F238E27FC236}">
                <a16:creationId xmlns:a16="http://schemas.microsoft.com/office/drawing/2014/main" id="{277B6720-BC02-DDF0-D658-E028703D746D}"/>
              </a:ext>
            </a:extLst>
          </p:cNvPr>
          <p:cNvSpPr/>
          <p:nvPr/>
        </p:nvSpPr>
        <p:spPr>
          <a:xfrm>
            <a:off x="6673940" y="2823660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🌐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Site web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29">
            <a:extLst>
              <a:ext uri="{FF2B5EF4-FFF2-40B4-BE49-F238E27FC236}">
                <a16:creationId xmlns:a16="http://schemas.microsoft.com/office/drawing/2014/main" id="{BFF9981D-8CF8-E2F8-5262-698D7612BFF5}"/>
              </a:ext>
            </a:extLst>
          </p:cNvPr>
          <p:cNvSpPr/>
          <p:nvPr/>
        </p:nvSpPr>
        <p:spPr>
          <a:xfrm>
            <a:off x="6673941" y="3085256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lotetgaronne.fr/inclusion-numerique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6886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</TotalTime>
  <Words>1344</Words>
  <Application>Microsoft Office PowerPoint</Application>
  <PresentationFormat>Format A4 (210 x 297 mm)</PresentationFormat>
  <Paragraphs>137</Paragraphs>
  <Slides>12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Calibri Light</vt:lpstr>
      <vt:lpstr>Arial</vt:lpstr>
      <vt:lpstr>Calibri</vt:lpstr>
      <vt:lpstr>Thème Office 2013 – 2022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Aswad Michel</cp:lastModifiedBy>
  <cp:revision>12</cp:revision>
  <dcterms:created xsi:type="dcterms:W3CDTF">2026-06-24T20:45:50Z</dcterms:created>
  <dcterms:modified xsi:type="dcterms:W3CDTF">2026-07-07T11:16:54Z</dcterms:modified>
</cp:coreProperties>
</file>