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906000" cy="6858000" type="A4"/>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B9DE"/>
    <a:srgbClr val="A8DEEE"/>
    <a:srgbClr val="95B8DE"/>
    <a:srgbClr val="8FC5E0"/>
    <a:srgbClr val="D6E08E"/>
    <a:srgbClr val="D5E08E"/>
    <a:srgbClr val="D6DF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1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6701416"/>
      </p:ext>
    </p:extLst>
  </p:cSld>
  <p:clrMap bg1="lt1" tx1="dk1" bg2="lt2" tx2="dk2" accent1="accent1" accent2="accent2" accent3="accent3" accent4="accent4" accent5="accent5" accent6="accent6" hlink="hlink" folHlink="folHlink"/>
  <p:notesStyle>
    <a:lvl1pPr marL="0" algn="l" defTabSz="1072866" rtl="0" eaLnBrk="1" latinLnBrk="0" hangingPunct="1">
      <a:defRPr sz="1408" kern="1200">
        <a:solidFill>
          <a:schemeClr val="tx1"/>
        </a:solidFill>
        <a:latin typeface="+mn-lt"/>
        <a:ea typeface="+mn-ea"/>
        <a:cs typeface="+mn-cs"/>
      </a:defRPr>
    </a:lvl1pPr>
    <a:lvl2pPr marL="536433" algn="l" defTabSz="1072866" rtl="0" eaLnBrk="1" latinLnBrk="0" hangingPunct="1">
      <a:defRPr sz="1408" kern="1200">
        <a:solidFill>
          <a:schemeClr val="tx1"/>
        </a:solidFill>
        <a:latin typeface="+mn-lt"/>
        <a:ea typeface="+mn-ea"/>
        <a:cs typeface="+mn-cs"/>
      </a:defRPr>
    </a:lvl2pPr>
    <a:lvl3pPr marL="1072866" algn="l" defTabSz="1072866" rtl="0" eaLnBrk="1" latinLnBrk="0" hangingPunct="1">
      <a:defRPr sz="1408" kern="1200">
        <a:solidFill>
          <a:schemeClr val="tx1"/>
        </a:solidFill>
        <a:latin typeface="+mn-lt"/>
        <a:ea typeface="+mn-ea"/>
        <a:cs typeface="+mn-cs"/>
      </a:defRPr>
    </a:lvl3pPr>
    <a:lvl4pPr marL="1609298" algn="l" defTabSz="1072866" rtl="0" eaLnBrk="1" latinLnBrk="0" hangingPunct="1">
      <a:defRPr sz="1408" kern="1200">
        <a:solidFill>
          <a:schemeClr val="tx1"/>
        </a:solidFill>
        <a:latin typeface="+mn-lt"/>
        <a:ea typeface="+mn-ea"/>
        <a:cs typeface="+mn-cs"/>
      </a:defRPr>
    </a:lvl4pPr>
    <a:lvl5pPr marL="2145731" algn="l" defTabSz="1072866" rtl="0" eaLnBrk="1" latinLnBrk="0" hangingPunct="1">
      <a:defRPr sz="1408" kern="1200">
        <a:solidFill>
          <a:schemeClr val="tx1"/>
        </a:solidFill>
        <a:latin typeface="+mn-lt"/>
        <a:ea typeface="+mn-ea"/>
        <a:cs typeface="+mn-cs"/>
      </a:defRPr>
    </a:lvl5pPr>
    <a:lvl6pPr marL="2682164" algn="l" defTabSz="1072866" rtl="0" eaLnBrk="1" latinLnBrk="0" hangingPunct="1">
      <a:defRPr sz="1408" kern="1200">
        <a:solidFill>
          <a:schemeClr val="tx1"/>
        </a:solidFill>
        <a:latin typeface="+mn-lt"/>
        <a:ea typeface="+mn-ea"/>
        <a:cs typeface="+mn-cs"/>
      </a:defRPr>
    </a:lvl6pPr>
    <a:lvl7pPr marL="3218597" algn="l" defTabSz="1072866" rtl="0" eaLnBrk="1" latinLnBrk="0" hangingPunct="1">
      <a:defRPr sz="1408" kern="1200">
        <a:solidFill>
          <a:schemeClr val="tx1"/>
        </a:solidFill>
        <a:latin typeface="+mn-lt"/>
        <a:ea typeface="+mn-ea"/>
        <a:cs typeface="+mn-cs"/>
      </a:defRPr>
    </a:lvl7pPr>
    <a:lvl8pPr marL="3755029" algn="l" defTabSz="1072866" rtl="0" eaLnBrk="1" latinLnBrk="0" hangingPunct="1">
      <a:defRPr sz="1408" kern="1200">
        <a:solidFill>
          <a:schemeClr val="tx1"/>
        </a:solidFill>
        <a:latin typeface="+mn-lt"/>
        <a:ea typeface="+mn-ea"/>
        <a:cs typeface="+mn-cs"/>
      </a:defRPr>
    </a:lvl8pPr>
    <a:lvl9pPr marL="4291462" algn="l" defTabSz="1072866" rtl="0" eaLnBrk="1" latinLnBrk="0" hangingPunct="1">
      <a:defRPr sz="140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7579762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5456806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8122277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8697001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2329" y="2505075"/>
            <a:ext cx="4190702"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14913" y="2505075"/>
            <a:ext cx="4211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805260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50972894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42801605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7935439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41282387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5075201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7819062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461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7/7/2026</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a:t>
            </a:fld>
            <a:endParaRPr lang="en-US" dirty="0"/>
          </a:p>
        </p:txBody>
      </p:sp>
    </p:spTree>
    <p:extLst>
      <p:ext uri="{BB962C8B-B14F-4D97-AF65-F5344CB8AC3E}">
        <p14:creationId xmlns:p14="http://schemas.microsoft.com/office/powerpoint/2010/main" val="380147431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ervice-public.fr"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8.sv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mailto:conseiller-numerique@lotetgaronne.fr" TargetMode="External"/><Relationship Id="rId2" Type="http://schemas.openxmlformats.org/officeDocument/2006/relationships/image" Target="../media/image4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96000" y="857250"/>
            <a:ext cx="3429000" cy="5143500"/>
          </a:xfrm>
          <a:prstGeom prst="rect">
            <a:avLst/>
          </a:prstGeom>
        </p:spPr>
      </p:pic>
      <p:sp>
        <p:nvSpPr>
          <p:cNvPr id="3" name="Text 0"/>
          <p:cNvSpPr/>
          <p:nvPr/>
        </p:nvSpPr>
        <p:spPr>
          <a:xfrm>
            <a:off x="488888" y="628449"/>
            <a:ext cx="5450186" cy="779859"/>
          </a:xfrm>
          <a:prstGeom prst="rect">
            <a:avLst/>
          </a:prstGeom>
          <a:noFill/>
          <a:ln/>
        </p:spPr>
        <p:txBody>
          <a:bodyPr wrap="square" lIns="0" tIns="0" rIns="0" bIns="0" rtlCol="0" anchor="t">
            <a:normAutofit/>
          </a:bodyPr>
          <a:lstStyle/>
          <a:p>
            <a:pPr algn="ctr">
              <a:lnSpc>
                <a:spcPct val="104000"/>
              </a:lnSpc>
            </a:pPr>
            <a:r>
              <a:rPr lang="en-US" sz="2400" b="1" dirty="0">
                <a:solidFill>
                  <a:schemeClr val="tx1">
                    <a:lumMod val="65000"/>
                    <a:lumOff val="35000"/>
                  </a:schemeClr>
                </a:solidFill>
                <a:latin typeface="Arial" panose="020B0604020202020204" pitchFamily="34" charset="0"/>
                <a:ea typeface="Twemoji Mozilla" pitchFamily="34" charset="-122"/>
                <a:cs typeface="Arial" panose="020B0604020202020204" pitchFamily="34" charset="0"/>
              </a:rPr>
              <a:t>🧭</a:t>
            </a:r>
            <a:r>
              <a:rPr lang="en-US" sz="2400" b="1" dirty="0">
                <a:solidFill>
                  <a:schemeClr val="tx1">
                    <a:lumMod val="65000"/>
                    <a:lumOff val="35000"/>
                  </a:schemeClr>
                </a:solidFill>
                <a:latin typeface="Arial" panose="020B0604020202020204" pitchFamily="34" charset="0"/>
                <a:ea typeface="DM Sans SemiBold" pitchFamily="34" charset="-122"/>
                <a:cs typeface="Arial" panose="020B0604020202020204" pitchFamily="34" charset="0"/>
              </a:rPr>
              <a:t> Les démarches administratives en ligne</a:t>
            </a:r>
            <a:endParaRPr lang="en-US" sz="2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 name="Text 1"/>
          <p:cNvSpPr/>
          <p:nvPr/>
        </p:nvSpPr>
        <p:spPr>
          <a:xfrm>
            <a:off x="877120" y="2368980"/>
            <a:ext cx="4722763" cy="387697"/>
          </a:xfrm>
          <a:prstGeom prst="rect">
            <a:avLst/>
          </a:prstGeom>
          <a:noFill/>
          <a:ln/>
        </p:spPr>
        <p:txBody>
          <a:bodyPr wrap="square" lIns="0" tIns="0" rIns="0" bIns="0" rtlCol="0" anchor="t">
            <a:noAutofit/>
          </a:bodyPr>
          <a:lstStyle/>
          <a:p>
            <a:pPr>
              <a:lnSpc>
                <a:spcPct val="104000"/>
              </a:lnSpc>
            </a:pPr>
            <a:r>
              <a:rPr lang="en-US" sz="1400" dirty="0">
                <a:solidFill>
                  <a:srgbClr val="030303"/>
                </a:solidFill>
                <a:latin typeface="Arial" panose="020B0604020202020204" pitchFamily="34" charset="0"/>
                <a:ea typeface="DM Sans SemiBold" pitchFamily="34" charset="-122"/>
                <a:cs typeface="Arial" panose="020B0604020202020204" pitchFamily="34" charset="0"/>
              </a:rPr>
              <a:t>Comment s'y retrouver facilement avec service-public.fr et les outils numériques</a:t>
            </a:r>
            <a:endParaRPr lang="en-US" sz="1400" dirty="0">
              <a:latin typeface="Arial" panose="020B0604020202020204" pitchFamily="34" charset="0"/>
              <a:cs typeface="Arial" panose="020B0604020202020204" pitchFamily="34" charset="0"/>
            </a:endParaRPr>
          </a:p>
        </p:txBody>
      </p:sp>
      <p:sp>
        <p:nvSpPr>
          <p:cNvPr id="5" name="Text 2"/>
          <p:cNvSpPr/>
          <p:nvPr/>
        </p:nvSpPr>
        <p:spPr>
          <a:xfrm>
            <a:off x="877120" y="3163284"/>
            <a:ext cx="4722763" cy="1245754"/>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Carte vitale, impôts, allocations, permis de conduire… Aujourd'hui, la plupart des démarches administratives se font en ligne. Mais comment s'y retrouver sans se perdre ? Cet atelier vous guide pas à pas, avec des outils simples et fiables, pour effectuer vos démarches en toute confiance — depuis chez vous.</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6" name="Shape 8">
            <a:extLst>
              <a:ext uri="{FF2B5EF4-FFF2-40B4-BE49-F238E27FC236}">
                <a16:creationId xmlns:a16="http://schemas.microsoft.com/office/drawing/2014/main" id="{DCB0EA33-9B37-59F4-0C09-4F85922C08EB}"/>
              </a:ext>
            </a:extLst>
          </p:cNvPr>
          <p:cNvSpPr/>
          <p:nvPr/>
        </p:nvSpPr>
        <p:spPr>
          <a:xfrm>
            <a:off x="292792" y="1293405"/>
            <a:ext cx="9320416" cy="779859"/>
          </a:xfrm>
          <a:prstGeom prst="roundRect">
            <a:avLst>
              <a:gd name="adj" fmla="val 2728"/>
            </a:avLst>
          </a:prstGeom>
          <a:solidFill>
            <a:srgbClr val="D6DF8E">
              <a:alpha val="80000"/>
            </a:srgbClr>
          </a:solidFill>
          <a:ln/>
        </p:spPr>
      </p:sp>
      <p:sp>
        <p:nvSpPr>
          <p:cNvPr id="2" name="Text 0"/>
          <p:cNvSpPr/>
          <p:nvPr/>
        </p:nvSpPr>
        <p:spPr>
          <a:xfrm>
            <a:off x="877120" y="573141"/>
            <a:ext cx="8151763" cy="779859"/>
          </a:xfrm>
          <a:prstGeom prst="rect">
            <a:avLst/>
          </a:prstGeom>
          <a:noFill/>
          <a:ln/>
        </p:spPr>
        <p:txBody>
          <a:bodyPr wrap="square" lIns="0" tIns="0" rIns="0" bIns="0" rtlCol="0" anchor="t">
            <a:normAutofit/>
          </a:bodyPr>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Pourquoi les démarches en ligne semblent compliquées</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358244"/>
            <a:ext cx="8378847" cy="994209"/>
          </a:xfrm>
          <a:prstGeom prst="rect">
            <a:avLst/>
          </a:prstGeom>
          <a:noFill/>
          <a:ln/>
        </p:spPr>
        <p:txBody>
          <a:bodyPr wrap="square" lIns="0" tIns="0" rIns="0" bIns="0" rtlCol="0" anchor="t">
            <a:noAutofit/>
          </a:bodyPr>
          <a:lstStyle/>
          <a:p>
            <a:pPr>
              <a:lnSpc>
                <a:spcPct val="133000"/>
              </a:lnSpc>
            </a:pPr>
            <a:r>
              <a:rPr lang="en-US" sz="1400" dirty="0">
                <a:solidFill>
                  <a:srgbClr val="464646"/>
                </a:solidFill>
                <a:latin typeface="Arial" panose="020B0604020202020204" pitchFamily="34" charset="0"/>
                <a:ea typeface="Inter Medium" pitchFamily="34" charset="-122"/>
                <a:cs typeface="Arial" panose="020B0604020202020204" pitchFamily="34" charset="0"/>
              </a:rPr>
              <a:t>Beaucoup de personnes hésitent à effectuer leurs démarches administratives en ligne. Et c'est tout à fait normal ! Les sites sont nombreux, les formulaires parfois longs, et la peur de faire une erreur peut bloquer.</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2832" y="2977785"/>
            <a:ext cx="2648843" cy="1490225"/>
          </a:xfrm>
          <a:prstGeom prst="rect">
            <a:avLst/>
          </a:prstGeom>
        </p:spPr>
      </p:pic>
      <p:sp>
        <p:nvSpPr>
          <p:cNvPr id="5" name="Text 2"/>
          <p:cNvSpPr/>
          <p:nvPr/>
        </p:nvSpPr>
        <p:spPr>
          <a:xfrm>
            <a:off x="1058242" y="3116048"/>
            <a:ext cx="1964754"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Trop de sites différents</a:t>
            </a:r>
            <a:endParaRPr lang="en-US" sz="1400" b="1" dirty="0">
              <a:latin typeface="Arial" panose="020B0604020202020204" pitchFamily="34" charset="0"/>
              <a:cs typeface="Arial" panose="020B0604020202020204" pitchFamily="34" charset="0"/>
            </a:endParaRPr>
          </a:p>
        </p:txBody>
      </p:sp>
      <p:sp>
        <p:nvSpPr>
          <p:cNvPr id="6" name="Text 3"/>
          <p:cNvSpPr/>
          <p:nvPr/>
        </p:nvSpPr>
        <p:spPr>
          <a:xfrm>
            <a:off x="1058242" y="3384311"/>
            <a:ext cx="2315170" cy="595387"/>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impots.gouv.fr, ameli.fr, caf.fr, service-public.fr… On ne sait plus où aller en premier.</a:t>
            </a:r>
            <a:endParaRPr lang="en-US" sz="12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21361" y="2977785"/>
            <a:ext cx="2648917" cy="1490225"/>
          </a:xfrm>
          <a:prstGeom prst="rect">
            <a:avLst/>
          </a:prstGeom>
        </p:spPr>
      </p:pic>
      <p:sp>
        <p:nvSpPr>
          <p:cNvPr id="8" name="Text 4"/>
          <p:cNvSpPr/>
          <p:nvPr/>
        </p:nvSpPr>
        <p:spPr>
          <a:xfrm>
            <a:off x="3816772" y="3116048"/>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Peur des erreurs</a:t>
            </a:r>
            <a:endParaRPr lang="en-US" sz="1400" b="1" dirty="0">
              <a:latin typeface="Arial" panose="020B0604020202020204" pitchFamily="34" charset="0"/>
              <a:cs typeface="Arial" panose="020B0604020202020204" pitchFamily="34" charset="0"/>
            </a:endParaRPr>
          </a:p>
        </p:txBody>
      </p:sp>
      <p:sp>
        <p:nvSpPr>
          <p:cNvPr id="9" name="Text 5"/>
          <p:cNvSpPr/>
          <p:nvPr/>
        </p:nvSpPr>
        <p:spPr>
          <a:xfrm>
            <a:off x="3816773" y="3384311"/>
            <a:ext cx="2315245" cy="595387"/>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Et si je clique au mauvais endroit ? Et si ma demande est rejetée ? La crainte de mal faire est très fréquente.</a:t>
            </a:r>
            <a:endParaRPr lang="en-US" sz="12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9965" y="2977785"/>
            <a:ext cx="2736875" cy="1490225"/>
          </a:xfrm>
          <a:prstGeom prst="rect">
            <a:avLst/>
          </a:prstGeom>
        </p:spPr>
      </p:pic>
      <p:sp>
        <p:nvSpPr>
          <p:cNvPr id="11" name="Text 6"/>
          <p:cNvSpPr/>
          <p:nvPr/>
        </p:nvSpPr>
        <p:spPr>
          <a:xfrm>
            <a:off x="6575376" y="3116048"/>
            <a:ext cx="2066925"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Problèmes de connexion</a:t>
            </a:r>
            <a:endParaRPr lang="en-US" sz="1400" b="1" dirty="0">
              <a:latin typeface="Arial" panose="020B0604020202020204" pitchFamily="34" charset="0"/>
              <a:cs typeface="Arial" panose="020B0604020202020204" pitchFamily="34" charset="0"/>
            </a:endParaRPr>
          </a:p>
        </p:txBody>
      </p:sp>
      <p:sp>
        <p:nvSpPr>
          <p:cNvPr id="12" name="Text 7"/>
          <p:cNvSpPr/>
          <p:nvPr/>
        </p:nvSpPr>
        <p:spPr>
          <a:xfrm>
            <a:off x="6575375" y="3384311"/>
            <a:ext cx="2315170" cy="595387"/>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Créer un compte, retenir un mot de passe, recevoir un code SMS… Autant d'étapes qui peuvent décourager.</a:t>
            </a:r>
            <a:endParaRPr lang="en-US" sz="1200" dirty="0">
              <a:latin typeface="Arial" panose="020B0604020202020204" pitchFamily="34" charset="0"/>
              <a:cs typeface="Arial" panose="020B0604020202020204" pitchFamily="34" charset="0"/>
            </a:endParaRPr>
          </a:p>
        </p:txBody>
      </p:sp>
      <p:sp>
        <p:nvSpPr>
          <p:cNvPr id="13" name="Shape 8"/>
          <p:cNvSpPr/>
          <p:nvPr/>
        </p:nvSpPr>
        <p:spPr>
          <a:xfrm>
            <a:off x="292792" y="5437809"/>
            <a:ext cx="9320416" cy="682079"/>
          </a:xfrm>
          <a:prstGeom prst="roundRect">
            <a:avLst>
              <a:gd name="adj" fmla="val 2728"/>
            </a:avLst>
          </a:prstGeom>
          <a:solidFill>
            <a:srgbClr val="B6D6FC">
              <a:alpha val="80000"/>
            </a:srgbClr>
          </a:solidFill>
          <a:ln/>
        </p:spPr>
      </p:sp>
      <p:pic>
        <p:nvPicPr>
          <p:cNvPr id="14" name="Image 3"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0194" y="5617592"/>
            <a:ext cx="155004" cy="123974"/>
          </a:xfrm>
          <a:prstGeom prst="rect">
            <a:avLst/>
          </a:prstGeom>
        </p:spPr>
      </p:pic>
      <p:sp>
        <p:nvSpPr>
          <p:cNvPr id="15" name="Text 9"/>
          <p:cNvSpPr/>
          <p:nvPr/>
        </p:nvSpPr>
        <p:spPr>
          <a:xfrm>
            <a:off x="570368" y="5580386"/>
            <a:ext cx="8985438" cy="396925"/>
          </a:xfrm>
          <a:prstGeom prst="rect">
            <a:avLst/>
          </a:prstGeom>
          <a:noFill/>
          <a:ln/>
        </p:spPr>
        <p:txBody>
          <a:bodyPr wrap="square" lIns="0" tIns="0" rIns="0" bIns="0" rtlCol="0" anchor="t">
            <a:noAutofit/>
          </a:bodyPr>
          <a:lstStyle/>
          <a:p>
            <a:pPr>
              <a:lnSpc>
                <a:spcPct val="133000"/>
              </a:lnSpc>
            </a:pPr>
            <a:r>
              <a:rPr lang="en-US" sz="1200" dirty="0">
                <a:solidFill>
                  <a:srgbClr val="000000"/>
                </a:solidFill>
                <a:latin typeface="Arial" panose="020B0604020202020204" pitchFamily="34" charset="0"/>
                <a:ea typeface="Inter Medium" pitchFamily="34" charset="-122"/>
                <a:cs typeface="Arial" panose="020B0604020202020204" pitchFamily="34" charset="0"/>
              </a:rPr>
              <a:t>Rassurez-vous : ces difficultés sont partagées par beaucoup. Les outils présentés aujourd'hui ont été conçus pour simplifier tout cela.</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96429" y="575446"/>
            <a:ext cx="5193209" cy="392311"/>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Au programme de cet atelier</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312294"/>
            <a:ext cx="8151763" cy="396925"/>
          </a:xfrm>
          <a:prstGeom prst="rect">
            <a:avLst/>
          </a:prstGeom>
          <a:noFill/>
          <a:ln/>
        </p:spPr>
        <p:txBody>
          <a:bodyPr wrap="square" lIns="0" tIns="0" rIns="0" bIns="0" rtlCol="0" anchor="t">
            <a:noAutofit/>
          </a:bodyPr>
          <a:lstStyle/>
          <a:p>
            <a:pPr>
              <a:lnSpc>
                <a:spcPct val="133000"/>
              </a:lnSpc>
            </a:pPr>
            <a:r>
              <a:rPr lang="en-US" sz="1400" dirty="0">
                <a:solidFill>
                  <a:srgbClr val="464646"/>
                </a:solidFill>
                <a:latin typeface="Arial" panose="020B0604020202020204" pitchFamily="34" charset="0"/>
                <a:ea typeface="Inter Medium" pitchFamily="34" charset="-122"/>
                <a:cs typeface="Arial" panose="020B0604020202020204" pitchFamily="34" charset="0"/>
              </a:rPr>
              <a:t>Voici les grandes étapes que nous allons explorer ensemble aujourd'hui. Chaque partie est conçue pour vous donner des repères concrets et des outils immédiatement utilisables.</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119" y="2754269"/>
            <a:ext cx="123974" cy="123974"/>
          </a:xfrm>
          <a:prstGeom prst="rect">
            <a:avLst/>
          </a:prstGeom>
        </p:spPr>
      </p:pic>
      <p:sp>
        <p:nvSpPr>
          <p:cNvPr id="5" name="Shape 2"/>
          <p:cNvSpPr/>
          <p:nvPr/>
        </p:nvSpPr>
        <p:spPr>
          <a:xfrm>
            <a:off x="877120" y="2935244"/>
            <a:ext cx="2634555" cy="14288"/>
          </a:xfrm>
          <a:prstGeom prst="rect">
            <a:avLst/>
          </a:prstGeom>
          <a:solidFill>
            <a:srgbClr val="1C9770"/>
          </a:solidFill>
          <a:ln/>
        </p:spPr>
      </p:sp>
      <p:sp>
        <p:nvSpPr>
          <p:cNvPr id="6" name="Text 3"/>
          <p:cNvSpPr/>
          <p:nvPr/>
        </p:nvSpPr>
        <p:spPr>
          <a:xfrm>
            <a:off x="877120" y="3025807"/>
            <a:ext cx="1957611" cy="193849"/>
          </a:xfrm>
          <a:prstGeom prst="rect">
            <a:avLst/>
          </a:prstGeom>
          <a:noFill/>
          <a:ln/>
        </p:spPr>
        <p:txBody>
          <a:bodyPr wrap="none" lIns="0" tIns="0" rIns="0" bIns="0" rtlCol="0" anchor="t"/>
          <a:lstStyle/>
          <a:p>
            <a:pP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Comprendre l'écosystème</a:t>
            </a:r>
            <a:endParaRPr lang="en-US" sz="1200" b="1" dirty="0">
              <a:latin typeface="Arial" panose="020B0604020202020204" pitchFamily="34" charset="0"/>
              <a:cs typeface="Arial" panose="020B0604020202020204" pitchFamily="34" charset="0"/>
            </a:endParaRPr>
          </a:p>
        </p:txBody>
      </p:sp>
      <p:sp>
        <p:nvSpPr>
          <p:cNvPr id="7" name="Text 4"/>
          <p:cNvSpPr/>
          <p:nvPr/>
        </p:nvSpPr>
        <p:spPr>
          <a:xfrm>
            <a:off x="877120" y="3294070"/>
            <a:ext cx="2634555"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Quels sont les principaux sites officiels et à quoi servent-ils ?</a:t>
            </a:r>
            <a:endParaRPr lang="en-US" sz="1200" dirty="0">
              <a:latin typeface="Arial" panose="020B0604020202020204" pitchFamily="34" charset="0"/>
              <a:cs typeface="Arial" panose="020B0604020202020204" pitchFamily="34" charset="0"/>
            </a:endParaRPr>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35648" y="2754269"/>
            <a:ext cx="123974" cy="123974"/>
          </a:xfrm>
          <a:prstGeom prst="rect">
            <a:avLst/>
          </a:prstGeom>
        </p:spPr>
      </p:pic>
      <p:sp>
        <p:nvSpPr>
          <p:cNvPr id="9" name="Shape 5"/>
          <p:cNvSpPr/>
          <p:nvPr/>
        </p:nvSpPr>
        <p:spPr>
          <a:xfrm>
            <a:off x="3635648" y="2935244"/>
            <a:ext cx="2634630" cy="14288"/>
          </a:xfrm>
          <a:prstGeom prst="rect">
            <a:avLst/>
          </a:prstGeom>
          <a:solidFill>
            <a:srgbClr val="1C9770"/>
          </a:solidFill>
          <a:ln/>
        </p:spPr>
      </p:sp>
      <p:sp>
        <p:nvSpPr>
          <p:cNvPr id="10" name="Text 6"/>
          <p:cNvSpPr/>
          <p:nvPr/>
        </p:nvSpPr>
        <p:spPr>
          <a:xfrm>
            <a:off x="3635649" y="3025807"/>
            <a:ext cx="1957239" cy="193849"/>
          </a:xfrm>
          <a:prstGeom prst="rect">
            <a:avLst/>
          </a:prstGeom>
          <a:noFill/>
          <a:ln/>
        </p:spPr>
        <p:txBody>
          <a:bodyPr wrap="none" lIns="0" tIns="0" rIns="0" bIns="0" rtlCol="0" anchor="t"/>
          <a:lstStyle/>
          <a:p>
            <a:pP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Maîtriser service-public.fr</a:t>
            </a:r>
            <a:endParaRPr lang="en-US" sz="1200" b="1" dirty="0">
              <a:latin typeface="Arial" panose="020B0604020202020204" pitchFamily="34" charset="0"/>
              <a:cs typeface="Arial" panose="020B0604020202020204" pitchFamily="34" charset="0"/>
            </a:endParaRPr>
          </a:p>
        </p:txBody>
      </p:sp>
      <p:sp>
        <p:nvSpPr>
          <p:cNvPr id="11" name="Text 7"/>
          <p:cNvSpPr/>
          <p:nvPr/>
        </p:nvSpPr>
        <p:spPr>
          <a:xfrm>
            <a:off x="3635648" y="3294070"/>
            <a:ext cx="2634630"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Le portail de référence pour toutes vos démarches administratives.</a:t>
            </a:r>
            <a:endParaRPr lang="en-US" sz="1200" dirty="0">
              <a:latin typeface="Arial" panose="020B0604020202020204" pitchFamily="34" charset="0"/>
              <a:cs typeface="Arial" panose="020B0604020202020204" pitchFamily="34" charset="0"/>
            </a:endParaRPr>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94252" y="2754269"/>
            <a:ext cx="123974" cy="123974"/>
          </a:xfrm>
          <a:prstGeom prst="rect">
            <a:avLst/>
          </a:prstGeom>
        </p:spPr>
      </p:pic>
      <p:sp>
        <p:nvSpPr>
          <p:cNvPr id="13" name="Shape 8"/>
          <p:cNvSpPr/>
          <p:nvPr/>
        </p:nvSpPr>
        <p:spPr>
          <a:xfrm>
            <a:off x="6394253" y="2935244"/>
            <a:ext cx="2634555" cy="14288"/>
          </a:xfrm>
          <a:prstGeom prst="rect">
            <a:avLst/>
          </a:prstGeom>
          <a:solidFill>
            <a:srgbClr val="1C9770"/>
          </a:solidFill>
          <a:ln/>
        </p:spPr>
      </p:sp>
      <p:sp>
        <p:nvSpPr>
          <p:cNvPr id="14" name="Text 9"/>
          <p:cNvSpPr/>
          <p:nvPr/>
        </p:nvSpPr>
        <p:spPr>
          <a:xfrm>
            <a:off x="6394252" y="3025807"/>
            <a:ext cx="2447404" cy="193849"/>
          </a:xfrm>
          <a:prstGeom prst="rect">
            <a:avLst/>
          </a:prstGeom>
          <a:noFill/>
          <a:ln/>
        </p:spPr>
        <p:txBody>
          <a:bodyPr wrap="none" lIns="0" tIns="0" rIns="0" bIns="0" rtlCol="0" anchor="t"/>
          <a:lstStyle/>
          <a:p>
            <a:pP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Découvrir la Boussole des jeunes</a:t>
            </a:r>
            <a:endParaRPr lang="en-US" sz="1200" b="1" dirty="0">
              <a:latin typeface="Arial" panose="020B0604020202020204" pitchFamily="34" charset="0"/>
              <a:cs typeface="Arial" panose="020B0604020202020204" pitchFamily="34" charset="0"/>
            </a:endParaRPr>
          </a:p>
        </p:txBody>
      </p:sp>
      <p:sp>
        <p:nvSpPr>
          <p:cNvPr id="15" name="Text 10"/>
          <p:cNvSpPr/>
          <p:nvPr/>
        </p:nvSpPr>
        <p:spPr>
          <a:xfrm>
            <a:off x="6394253" y="3294070"/>
            <a:ext cx="2634555"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Un outil d'orientation pour les 16–30 ans face aux démarches.</a:t>
            </a:r>
            <a:endParaRPr lang="en-US" sz="1200" dirty="0">
              <a:latin typeface="Arial" panose="020B0604020202020204" pitchFamily="34" charset="0"/>
              <a:cs typeface="Arial" panose="020B0604020202020204" pitchFamily="34" charset="0"/>
            </a:endParaRPr>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7118" y="4442564"/>
            <a:ext cx="123974" cy="123974"/>
          </a:xfrm>
          <a:prstGeom prst="rect">
            <a:avLst/>
          </a:prstGeom>
        </p:spPr>
      </p:pic>
      <p:sp>
        <p:nvSpPr>
          <p:cNvPr id="17" name="Shape 11"/>
          <p:cNvSpPr/>
          <p:nvPr/>
        </p:nvSpPr>
        <p:spPr>
          <a:xfrm>
            <a:off x="877118" y="4623539"/>
            <a:ext cx="4013820" cy="14288"/>
          </a:xfrm>
          <a:prstGeom prst="rect">
            <a:avLst/>
          </a:prstGeom>
          <a:solidFill>
            <a:srgbClr val="1C9770"/>
          </a:solidFill>
          <a:ln/>
        </p:spPr>
      </p:sp>
      <p:sp>
        <p:nvSpPr>
          <p:cNvPr id="18" name="Text 12"/>
          <p:cNvSpPr/>
          <p:nvPr/>
        </p:nvSpPr>
        <p:spPr>
          <a:xfrm>
            <a:off x="877118" y="4714101"/>
            <a:ext cx="4261768" cy="722189"/>
          </a:xfrm>
          <a:prstGeom prst="rect">
            <a:avLst/>
          </a:prstGeom>
          <a:noFill/>
          <a:ln/>
        </p:spPr>
        <p:txBody>
          <a:bodyPr wrap="none" lIns="0" tIns="0" rIns="0" bIns="0" rtlCol="0" anchor="t"/>
          <a:lstStyle/>
          <a:p>
            <a:pPr>
              <a:lnSpc>
                <a:spcPct val="150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Sécuriser votre </a:t>
            </a:r>
            <a:r>
              <a:rPr lang="en-US" sz="1200" b="1" dirty="0" err="1">
                <a:solidFill>
                  <a:srgbClr val="464646"/>
                </a:solidFill>
                <a:latin typeface="Arial" panose="020B0604020202020204" pitchFamily="34" charset="0"/>
                <a:ea typeface="DM Sans SemiBold" pitchFamily="34" charset="-122"/>
                <a:cs typeface="Arial" panose="020B0604020202020204" pitchFamily="34" charset="0"/>
              </a:rPr>
              <a:t>identité</a:t>
            </a:r>
            <a:r>
              <a:rPr lang="en-US" sz="1200" b="1" dirty="0">
                <a:solidFill>
                  <a:srgbClr val="464646"/>
                </a:solidFill>
                <a:latin typeface="Arial" panose="020B0604020202020204" pitchFamily="34" charset="0"/>
                <a:ea typeface="DM Sans SemiBold" pitchFamily="34" charset="-122"/>
                <a:cs typeface="Arial" panose="020B0604020202020204" pitchFamily="34" charset="0"/>
              </a:rPr>
              <a:t> numérique</a:t>
            </a:r>
            <a:br>
              <a:rPr lang="en-US" sz="1200" dirty="0">
                <a:solidFill>
                  <a:srgbClr val="464646"/>
                </a:solidFill>
                <a:latin typeface="Arial" panose="020B0604020202020204" pitchFamily="34" charset="0"/>
                <a:ea typeface="DM Sans SemiBold" pitchFamily="34" charset="-122"/>
                <a:cs typeface="Arial" panose="020B0604020202020204" pitchFamily="34" charset="0"/>
              </a:rPr>
            </a:br>
            <a:r>
              <a:rPr lang="en-US" sz="1200" dirty="0" err="1">
                <a:solidFill>
                  <a:srgbClr val="464646"/>
                </a:solidFill>
                <a:latin typeface="Arial" panose="020B0604020202020204" pitchFamily="34" charset="0"/>
                <a:ea typeface="Inter Medium" pitchFamily="34" charset="-122"/>
                <a:cs typeface="Arial" panose="020B0604020202020204" pitchFamily="34" charset="0"/>
              </a:rPr>
              <a:t>FranceConnect</a:t>
            </a:r>
            <a:r>
              <a:rPr lang="en-US" sz="1200" dirty="0">
                <a:solidFill>
                  <a:srgbClr val="464646"/>
                </a:solidFill>
                <a:latin typeface="Arial" panose="020B0604020202020204" pitchFamily="34" charset="0"/>
                <a:ea typeface="Inter Medium" pitchFamily="34" charset="-122"/>
                <a:cs typeface="Arial" panose="020B0604020202020204" pitchFamily="34" charset="0"/>
              </a:rPr>
              <a:t> :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une</a:t>
            </a:r>
            <a:r>
              <a:rPr lang="en-US" sz="1200" dirty="0">
                <a:solidFill>
                  <a:srgbClr val="464646"/>
                </a:solidFill>
                <a:latin typeface="Arial" panose="020B0604020202020204" pitchFamily="34" charset="0"/>
                <a:ea typeface="Inter Medium" pitchFamily="34" charset="-122"/>
                <a:cs typeface="Arial" panose="020B0604020202020204" pitchFamily="34" charset="0"/>
              </a:rPr>
              <a:t>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clé</a:t>
            </a:r>
            <a:r>
              <a:rPr lang="en-US" sz="1200" dirty="0">
                <a:solidFill>
                  <a:srgbClr val="464646"/>
                </a:solidFill>
                <a:latin typeface="Arial" panose="020B0604020202020204" pitchFamily="34" charset="0"/>
                <a:ea typeface="Inter Medium" pitchFamily="34" charset="-122"/>
                <a:cs typeface="Arial" panose="020B0604020202020204" pitchFamily="34" charset="0"/>
              </a:rPr>
              <a:t> unique pour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tous</a:t>
            </a:r>
            <a:r>
              <a:rPr lang="en-US" sz="1200" dirty="0">
                <a:solidFill>
                  <a:srgbClr val="464646"/>
                </a:solidFill>
                <a:latin typeface="Arial" panose="020B0604020202020204" pitchFamily="34" charset="0"/>
                <a:ea typeface="Inter Medium" pitchFamily="34" charset="-122"/>
                <a:cs typeface="Arial" panose="020B0604020202020204" pitchFamily="34" charset="0"/>
              </a:rPr>
              <a:t> les</a:t>
            </a:r>
            <a:br>
              <a:rPr lang="en-US" sz="1200" dirty="0">
                <a:solidFill>
                  <a:srgbClr val="464646"/>
                </a:solidFill>
                <a:latin typeface="Arial" panose="020B0604020202020204" pitchFamily="34" charset="0"/>
                <a:ea typeface="Inter Medium" pitchFamily="34" charset="-122"/>
                <a:cs typeface="Arial" panose="020B0604020202020204" pitchFamily="34" charset="0"/>
              </a:rPr>
            </a:br>
            <a:r>
              <a:rPr lang="en-US" sz="1200" dirty="0">
                <a:solidFill>
                  <a:srgbClr val="464646"/>
                </a:solidFill>
                <a:latin typeface="Arial" panose="020B0604020202020204" pitchFamily="34" charset="0"/>
                <a:ea typeface="Inter Medium" pitchFamily="34" charset="-122"/>
                <a:cs typeface="Arial" panose="020B0604020202020204" pitchFamily="34" charset="0"/>
              </a:rPr>
              <a:t>services publics.</a:t>
            </a:r>
            <a:endParaRPr lang="en-US" sz="1200" dirty="0">
              <a:latin typeface="Arial" panose="020B0604020202020204" pitchFamily="34" charset="0"/>
              <a:cs typeface="Arial" panose="020B0604020202020204" pitchFamily="34" charset="0"/>
            </a:endParaRPr>
          </a:p>
          <a:p>
            <a:pPr>
              <a:lnSpc>
                <a:spcPct val="104000"/>
              </a:lnSpc>
            </a:pPr>
            <a:endParaRPr lang="en-US" sz="1200" dirty="0">
              <a:latin typeface="Arial" panose="020B0604020202020204" pitchFamily="34" charset="0"/>
              <a:cs typeface="Arial" panose="020B0604020202020204" pitchFamily="34" charset="0"/>
            </a:endParaRPr>
          </a:p>
        </p:txBody>
      </p:sp>
      <p:pic>
        <p:nvPicPr>
          <p:cNvPr id="2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14912" y="4442564"/>
            <a:ext cx="123974" cy="123974"/>
          </a:xfrm>
          <a:prstGeom prst="rect">
            <a:avLst/>
          </a:prstGeom>
        </p:spPr>
      </p:pic>
      <p:sp>
        <p:nvSpPr>
          <p:cNvPr id="21" name="Shape 14"/>
          <p:cNvSpPr/>
          <p:nvPr/>
        </p:nvSpPr>
        <p:spPr>
          <a:xfrm>
            <a:off x="5014913" y="4623539"/>
            <a:ext cx="4013895" cy="14288"/>
          </a:xfrm>
          <a:prstGeom prst="rect">
            <a:avLst/>
          </a:prstGeom>
          <a:solidFill>
            <a:srgbClr val="1C9770"/>
          </a:solidFill>
          <a:ln/>
        </p:spPr>
      </p:sp>
      <p:sp>
        <p:nvSpPr>
          <p:cNvPr id="22" name="Text 15"/>
          <p:cNvSpPr/>
          <p:nvPr/>
        </p:nvSpPr>
        <p:spPr>
          <a:xfrm>
            <a:off x="5014912" y="4714102"/>
            <a:ext cx="4013894" cy="561016"/>
          </a:xfrm>
          <a:prstGeom prst="rect">
            <a:avLst/>
          </a:prstGeom>
          <a:noFill/>
          <a:ln/>
        </p:spPr>
        <p:txBody>
          <a:bodyPr wrap="none" lIns="0" tIns="0" rIns="0" bIns="0" rtlCol="0" anchor="t"/>
          <a:lstStyle/>
          <a:p>
            <a:pPr>
              <a:lnSpc>
                <a:spcPct val="150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Savoir où demander de </a:t>
            </a:r>
            <a:r>
              <a:rPr lang="en-US" sz="1200" b="1" dirty="0" err="1">
                <a:solidFill>
                  <a:srgbClr val="464646"/>
                </a:solidFill>
                <a:latin typeface="Arial" panose="020B0604020202020204" pitchFamily="34" charset="0"/>
                <a:ea typeface="DM Sans SemiBold" pitchFamily="34" charset="-122"/>
                <a:cs typeface="Arial" panose="020B0604020202020204" pitchFamily="34" charset="0"/>
              </a:rPr>
              <a:t>l'aide</a:t>
            </a:r>
            <a:br>
              <a:rPr lang="en-US" sz="1200" dirty="0">
                <a:solidFill>
                  <a:srgbClr val="464646"/>
                </a:solidFill>
                <a:latin typeface="Arial" panose="020B0604020202020204" pitchFamily="34" charset="0"/>
                <a:ea typeface="DM Sans SemiBold" pitchFamily="34" charset="-122"/>
                <a:cs typeface="Arial" panose="020B0604020202020204" pitchFamily="34" charset="0"/>
              </a:rPr>
            </a:br>
            <a:r>
              <a:rPr lang="en-US" sz="1200" dirty="0">
                <a:solidFill>
                  <a:srgbClr val="464646"/>
                </a:solidFill>
                <a:latin typeface="Arial" panose="020B0604020202020204" pitchFamily="34" charset="0"/>
                <a:ea typeface="Inter Medium" pitchFamily="34" charset="-122"/>
                <a:cs typeface="Arial" panose="020B0604020202020204" pitchFamily="34" charset="0"/>
              </a:rPr>
              <a:t>Les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lieux</a:t>
            </a:r>
            <a:r>
              <a:rPr lang="en-US" sz="1200" dirty="0">
                <a:solidFill>
                  <a:srgbClr val="464646"/>
                </a:solidFill>
                <a:latin typeface="Arial" panose="020B0604020202020204" pitchFamily="34" charset="0"/>
                <a:ea typeface="Inter Medium" pitchFamily="34" charset="-122"/>
                <a:cs typeface="Arial" panose="020B0604020202020204" pitchFamily="34" charset="0"/>
              </a:rPr>
              <a:t> et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personnes</a:t>
            </a:r>
            <a:r>
              <a:rPr lang="en-US" sz="1200" dirty="0">
                <a:solidFill>
                  <a:srgbClr val="464646"/>
                </a:solidFill>
                <a:latin typeface="Arial" panose="020B0604020202020204" pitchFamily="34" charset="0"/>
                <a:ea typeface="Inter Medium" pitchFamily="34" charset="-122"/>
                <a:cs typeface="Arial" panose="020B0604020202020204" pitchFamily="34" charset="0"/>
              </a:rPr>
              <a:t>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ressources</a:t>
            </a:r>
            <a:r>
              <a:rPr lang="en-US" sz="1200" dirty="0">
                <a:solidFill>
                  <a:srgbClr val="464646"/>
                </a:solidFill>
                <a:latin typeface="Arial" panose="020B0604020202020204" pitchFamily="34" charset="0"/>
                <a:ea typeface="Inter Medium" pitchFamily="34" charset="-122"/>
                <a:cs typeface="Arial" panose="020B0604020202020204" pitchFamily="34" charset="0"/>
              </a:rPr>
              <a:t> pour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vous</a:t>
            </a:r>
            <a:r>
              <a:rPr lang="en-US" sz="1200" dirty="0">
                <a:solidFill>
                  <a:srgbClr val="464646"/>
                </a:solidFill>
                <a:latin typeface="Arial" panose="020B0604020202020204" pitchFamily="34" charset="0"/>
                <a:ea typeface="Inter Medium" pitchFamily="34" charset="-122"/>
                <a:cs typeface="Arial" panose="020B0604020202020204" pitchFamily="34" charset="0"/>
              </a:rPr>
              <a:t>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accompagner</a:t>
            </a:r>
            <a:r>
              <a:rPr lang="en-US" sz="1200" dirty="0">
                <a:solidFill>
                  <a:srgbClr val="464646"/>
                </a:solidFill>
                <a:latin typeface="Arial" panose="020B0604020202020204" pitchFamily="34" charset="0"/>
                <a:ea typeface="Inter Medium"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nSpc>
                <a:spcPct val="104000"/>
              </a:lnSpc>
            </a:pP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77120" y="497621"/>
            <a:ext cx="6609383" cy="392311"/>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Service-public.fr : votre portail officiel</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029969"/>
            <a:ext cx="8151763" cy="396925"/>
          </a:xfrm>
          <a:prstGeom prst="rect">
            <a:avLst/>
          </a:prstGeom>
          <a:noFill/>
          <a:ln/>
        </p:spPr>
        <p:txBody>
          <a:bodyPr wrap="square" lIns="0" tIns="0" rIns="0" bIns="0" rtlCol="0" anchor="t">
            <a:noAutofit/>
          </a:bodyPr>
          <a:lstStyle/>
          <a:p>
            <a:pPr>
              <a:lnSpc>
                <a:spcPct val="133000"/>
              </a:lnSpc>
            </a:pPr>
            <a:r>
              <a:rPr lang="en-US" sz="1400" b="1" dirty="0">
                <a:solidFill>
                  <a:srgbClr val="464646"/>
                </a:solidFill>
                <a:latin typeface="Arial" panose="020B0604020202020204" pitchFamily="34" charset="0"/>
                <a:ea typeface="Inter Bold" pitchFamily="34" charset="-122"/>
                <a:cs typeface="Arial" panose="020B0604020202020204" pitchFamily="34" charset="0"/>
              </a:rPr>
              <a:t>Service-public.fr</a:t>
            </a:r>
            <a:r>
              <a:rPr lang="en-US" sz="1400" dirty="0">
                <a:solidFill>
                  <a:srgbClr val="464646"/>
                </a:solidFill>
                <a:latin typeface="Arial" panose="020B0604020202020204" pitchFamily="34" charset="0"/>
                <a:ea typeface="Inter Medium" pitchFamily="34" charset="-122"/>
                <a:cs typeface="Arial" panose="020B0604020202020204" pitchFamily="34" charset="0"/>
              </a:rPr>
              <a:t> est </a:t>
            </a:r>
            <a:r>
              <a:rPr lang="en-US" sz="1400" i="1" dirty="0">
                <a:solidFill>
                  <a:srgbClr val="464646"/>
                </a:solidFill>
                <a:latin typeface="Arial" panose="020B0604020202020204" pitchFamily="34" charset="0"/>
                <a:ea typeface="Inter Medium" pitchFamily="34" charset="-122"/>
                <a:cs typeface="Arial" panose="020B0604020202020204" pitchFamily="34" charset="0"/>
              </a:rPr>
              <a:t>le</a:t>
            </a:r>
            <a:r>
              <a:rPr lang="en-US" sz="1400" dirty="0">
                <a:solidFill>
                  <a:srgbClr val="464646"/>
                </a:solidFill>
                <a:latin typeface="Arial" panose="020B0604020202020204" pitchFamily="34" charset="0"/>
                <a:ea typeface="Inter Medium" pitchFamily="34" charset="-122"/>
                <a:cs typeface="Arial" panose="020B0604020202020204" pitchFamily="34" charset="0"/>
              </a:rPr>
              <a:t> site officiel de l'administration française. Géré par la Direction de l'information légale et administrative (DILA), c'est votre point d'entrée unique et fiable pour toutes vos démarches. Il remplace les longues files d'attente en préfecture ou en mairie.</a:t>
            </a:r>
            <a:endParaRPr lang="en-US" sz="1400" dirty="0">
              <a:latin typeface="Arial" panose="020B0604020202020204" pitchFamily="34" charset="0"/>
              <a:cs typeface="Arial" panose="020B0604020202020204" pitchFamily="34" charset="0"/>
            </a:endParaRPr>
          </a:p>
        </p:txBody>
      </p:sp>
      <p:sp>
        <p:nvSpPr>
          <p:cNvPr id="4" name="Shape 2"/>
          <p:cNvSpPr/>
          <p:nvPr/>
        </p:nvSpPr>
        <p:spPr>
          <a:xfrm>
            <a:off x="877120" y="2561705"/>
            <a:ext cx="4013895" cy="913135"/>
          </a:xfrm>
          <a:prstGeom prst="roundRect">
            <a:avLst>
              <a:gd name="adj" fmla="val 2038"/>
            </a:avLst>
          </a:prstGeom>
          <a:solidFill>
            <a:srgbClr val="A8DEEE">
              <a:alpha val="60000"/>
            </a:srgbClr>
          </a:solidFill>
          <a:ln/>
        </p:spPr>
      </p:sp>
      <p:sp>
        <p:nvSpPr>
          <p:cNvPr id="5" name="Text 3"/>
          <p:cNvSpPr/>
          <p:nvPr/>
        </p:nvSpPr>
        <p:spPr>
          <a:xfrm>
            <a:off x="1001092" y="2685679"/>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S'informer</a:t>
            </a:r>
            <a:endParaRPr lang="en-US" sz="1400" b="1" dirty="0">
              <a:latin typeface="Arial" panose="020B0604020202020204" pitchFamily="34" charset="0"/>
              <a:cs typeface="Arial" panose="020B0604020202020204" pitchFamily="34" charset="0"/>
            </a:endParaRPr>
          </a:p>
        </p:txBody>
      </p:sp>
      <p:sp>
        <p:nvSpPr>
          <p:cNvPr id="6" name="Text 4"/>
          <p:cNvSpPr/>
          <p:nvPr/>
        </p:nvSpPr>
        <p:spPr>
          <a:xfrm>
            <a:off x="1001093" y="2953942"/>
            <a:ext cx="3765947"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Fiches pratiques claires sur vos droits et obligations, rédigées en langage accessible.</a:t>
            </a:r>
            <a:endParaRPr lang="en-US" sz="1200" dirty="0">
              <a:latin typeface="Arial" panose="020B0604020202020204" pitchFamily="34" charset="0"/>
              <a:cs typeface="Arial" panose="020B0604020202020204" pitchFamily="34" charset="0"/>
            </a:endParaRPr>
          </a:p>
        </p:txBody>
      </p:sp>
      <p:sp>
        <p:nvSpPr>
          <p:cNvPr id="7" name="Shape 5"/>
          <p:cNvSpPr/>
          <p:nvPr/>
        </p:nvSpPr>
        <p:spPr>
          <a:xfrm>
            <a:off x="5014988" y="2561705"/>
            <a:ext cx="4013895" cy="913135"/>
          </a:xfrm>
          <a:prstGeom prst="roundRect">
            <a:avLst>
              <a:gd name="adj" fmla="val 2038"/>
            </a:avLst>
          </a:prstGeom>
          <a:solidFill>
            <a:srgbClr val="A8DEEE">
              <a:alpha val="60000"/>
            </a:srgbClr>
          </a:solidFill>
          <a:ln/>
        </p:spPr>
      </p:sp>
      <p:sp>
        <p:nvSpPr>
          <p:cNvPr id="8" name="Text 6"/>
          <p:cNvSpPr/>
          <p:nvPr/>
        </p:nvSpPr>
        <p:spPr>
          <a:xfrm>
            <a:off x="5138961" y="2685679"/>
            <a:ext cx="1708100"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Faire une démarche</a:t>
            </a:r>
            <a:endParaRPr lang="en-US" sz="1400" b="1" dirty="0">
              <a:latin typeface="Arial" panose="020B0604020202020204" pitchFamily="34" charset="0"/>
              <a:cs typeface="Arial" panose="020B0604020202020204" pitchFamily="34" charset="0"/>
            </a:endParaRPr>
          </a:p>
        </p:txBody>
      </p:sp>
      <p:sp>
        <p:nvSpPr>
          <p:cNvPr id="9" name="Text 7"/>
          <p:cNvSpPr/>
          <p:nvPr/>
        </p:nvSpPr>
        <p:spPr>
          <a:xfrm>
            <a:off x="5138962" y="2953942"/>
            <a:ext cx="3765947"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Formulaires en ligne, demandes de documents officiels, déclarations diverses.</a:t>
            </a:r>
            <a:endParaRPr lang="en-US" sz="1200" dirty="0">
              <a:latin typeface="Arial" panose="020B0604020202020204" pitchFamily="34" charset="0"/>
              <a:cs typeface="Arial" panose="020B0604020202020204" pitchFamily="34" charset="0"/>
            </a:endParaRPr>
          </a:p>
        </p:txBody>
      </p:sp>
      <p:sp>
        <p:nvSpPr>
          <p:cNvPr id="10" name="Shape 8"/>
          <p:cNvSpPr/>
          <p:nvPr/>
        </p:nvSpPr>
        <p:spPr>
          <a:xfrm>
            <a:off x="877120" y="3867077"/>
            <a:ext cx="4013895" cy="913135"/>
          </a:xfrm>
          <a:prstGeom prst="roundRect">
            <a:avLst>
              <a:gd name="adj" fmla="val 2038"/>
            </a:avLst>
          </a:prstGeom>
          <a:solidFill>
            <a:srgbClr val="A8DEEE">
              <a:alpha val="60000"/>
            </a:srgbClr>
          </a:solidFill>
          <a:ln/>
        </p:spPr>
      </p:sp>
      <p:sp>
        <p:nvSpPr>
          <p:cNvPr id="11" name="Text 9"/>
          <p:cNvSpPr/>
          <p:nvPr/>
        </p:nvSpPr>
        <p:spPr>
          <a:xfrm>
            <a:off x="1001093" y="3991051"/>
            <a:ext cx="1626543"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Trouver un guichet</a:t>
            </a:r>
            <a:endParaRPr lang="en-US" sz="1400" b="1" dirty="0">
              <a:latin typeface="Arial" panose="020B0604020202020204" pitchFamily="34" charset="0"/>
              <a:cs typeface="Arial" panose="020B0604020202020204" pitchFamily="34" charset="0"/>
            </a:endParaRPr>
          </a:p>
        </p:txBody>
      </p:sp>
      <p:sp>
        <p:nvSpPr>
          <p:cNvPr id="12" name="Text 10"/>
          <p:cNvSpPr/>
          <p:nvPr/>
        </p:nvSpPr>
        <p:spPr>
          <a:xfrm>
            <a:off x="1001093" y="4259313"/>
            <a:ext cx="3765947"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Localisez la mairie, la préfecture, ou le centre d'accueil le plus proche de chez vous.</a:t>
            </a:r>
            <a:endParaRPr lang="en-US" sz="1200" dirty="0">
              <a:latin typeface="Arial" panose="020B0604020202020204" pitchFamily="34" charset="0"/>
              <a:cs typeface="Arial" panose="020B0604020202020204" pitchFamily="34" charset="0"/>
            </a:endParaRPr>
          </a:p>
        </p:txBody>
      </p:sp>
      <p:sp>
        <p:nvSpPr>
          <p:cNvPr id="13" name="Shape 11"/>
          <p:cNvSpPr/>
          <p:nvPr/>
        </p:nvSpPr>
        <p:spPr>
          <a:xfrm>
            <a:off x="5014988" y="3867077"/>
            <a:ext cx="4013895" cy="913135"/>
          </a:xfrm>
          <a:prstGeom prst="roundRect">
            <a:avLst>
              <a:gd name="adj" fmla="val 2038"/>
            </a:avLst>
          </a:prstGeom>
          <a:solidFill>
            <a:srgbClr val="A8DEEE">
              <a:alpha val="60000"/>
            </a:srgbClr>
          </a:solidFill>
          <a:ln/>
        </p:spPr>
      </p:sp>
      <p:sp>
        <p:nvSpPr>
          <p:cNvPr id="14" name="Text 12"/>
          <p:cNvSpPr/>
          <p:nvPr/>
        </p:nvSpPr>
        <p:spPr>
          <a:xfrm>
            <a:off x="5138961" y="3991051"/>
            <a:ext cx="2194322"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Contacter l'administration</a:t>
            </a:r>
            <a:endParaRPr lang="en-US" sz="1400" b="1" dirty="0">
              <a:latin typeface="Arial" panose="020B0604020202020204" pitchFamily="34" charset="0"/>
              <a:cs typeface="Arial" panose="020B0604020202020204" pitchFamily="34" charset="0"/>
            </a:endParaRPr>
          </a:p>
        </p:txBody>
      </p:sp>
      <p:sp>
        <p:nvSpPr>
          <p:cNvPr id="15" name="Text 13"/>
          <p:cNvSpPr/>
          <p:nvPr/>
        </p:nvSpPr>
        <p:spPr>
          <a:xfrm>
            <a:off x="5138962" y="4259313"/>
            <a:ext cx="3765947" cy="396925"/>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Numéros de téléphone, adresses et formulaires de contact pour chaque organisme.</a:t>
            </a:r>
            <a:endParaRPr lang="en-US" sz="1200" dirty="0">
              <a:latin typeface="Arial" panose="020B0604020202020204" pitchFamily="34" charset="0"/>
              <a:cs typeface="Arial" panose="020B0604020202020204" pitchFamily="34" charset="0"/>
            </a:endParaRPr>
          </a:p>
        </p:txBody>
      </p:sp>
      <p:sp>
        <p:nvSpPr>
          <p:cNvPr id="16" name="Shape 14"/>
          <p:cNvSpPr/>
          <p:nvPr/>
        </p:nvSpPr>
        <p:spPr>
          <a:xfrm>
            <a:off x="877120" y="5749391"/>
            <a:ext cx="8151763" cy="682079"/>
          </a:xfrm>
          <a:prstGeom prst="roundRect">
            <a:avLst>
              <a:gd name="adj" fmla="val 2728"/>
            </a:avLst>
          </a:prstGeom>
          <a:solidFill>
            <a:srgbClr val="D5E08E">
              <a:alpha val="80000"/>
            </a:srgbClr>
          </a:solidFill>
          <a:ln/>
        </p:spPr>
      </p:sp>
      <p:pic>
        <p:nvPicPr>
          <p:cNvPr id="17"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1092" y="5882520"/>
            <a:ext cx="155004" cy="123974"/>
          </a:xfrm>
          <a:prstGeom prst="rect">
            <a:avLst/>
          </a:prstGeom>
        </p:spPr>
      </p:pic>
      <p:sp>
        <p:nvSpPr>
          <p:cNvPr id="18" name="Text 15"/>
          <p:cNvSpPr/>
          <p:nvPr/>
        </p:nvSpPr>
        <p:spPr>
          <a:xfrm>
            <a:off x="1280072" y="5845314"/>
            <a:ext cx="7624837" cy="396925"/>
          </a:xfrm>
          <a:prstGeom prst="rect">
            <a:avLst/>
          </a:prstGeom>
          <a:noFill/>
          <a:ln/>
        </p:spPr>
        <p:txBody>
          <a:bodyPr wrap="square" lIns="0" tIns="0" rIns="0" bIns="0" rtlCol="0" anchor="t">
            <a:noAutofit/>
          </a:bodyPr>
          <a:lstStyle/>
          <a:p>
            <a:pPr>
              <a:lnSpc>
                <a:spcPct val="133000"/>
              </a:lnSpc>
            </a:pPr>
            <a:r>
              <a:rPr lang="en-US" sz="1200" dirty="0">
                <a:solidFill>
                  <a:srgbClr val="000000"/>
                </a:solidFill>
                <a:latin typeface="Arial" panose="020B0604020202020204" pitchFamily="34" charset="0"/>
                <a:ea typeface="Inter Medium" pitchFamily="34" charset="-122"/>
                <a:cs typeface="Arial" panose="020B0604020202020204" pitchFamily="34" charset="0"/>
              </a:rPr>
              <a:t>Astuce : tapez toujours « service-public.fr » dans votre navigateur pour être sûr d'être sur le bon site officiel. Méfiez-vous des sites ressemblants qui peuvent vous facturer des services gratuits !</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9" name="Shape 11">
            <a:extLst>
              <a:ext uri="{FF2B5EF4-FFF2-40B4-BE49-F238E27FC236}">
                <a16:creationId xmlns:a16="http://schemas.microsoft.com/office/drawing/2014/main" id="{332E8363-D4A5-0471-4809-35900DE049AB}"/>
              </a:ext>
            </a:extLst>
          </p:cNvPr>
          <p:cNvSpPr/>
          <p:nvPr/>
        </p:nvSpPr>
        <p:spPr>
          <a:xfrm>
            <a:off x="4939309" y="4964560"/>
            <a:ext cx="4089574" cy="1718815"/>
          </a:xfrm>
          <a:prstGeom prst="roundRect">
            <a:avLst>
              <a:gd name="adj" fmla="val 2246"/>
            </a:avLst>
          </a:prstGeom>
          <a:solidFill>
            <a:srgbClr val="D6E08E">
              <a:alpha val="80000"/>
            </a:srgbClr>
          </a:solidFill>
          <a:ln/>
        </p:spPr>
      </p:sp>
      <p:sp>
        <p:nvSpPr>
          <p:cNvPr id="2" name="Text 0"/>
          <p:cNvSpPr/>
          <p:nvPr/>
        </p:nvSpPr>
        <p:spPr>
          <a:xfrm>
            <a:off x="877120" y="103642"/>
            <a:ext cx="3709615" cy="193849"/>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Comment naviguer sur </a:t>
            </a:r>
            <a:r>
              <a:rPr lang="en-US" sz="2400" b="1" u="sng" dirty="0">
                <a:solidFill>
                  <a:srgbClr val="1C9770"/>
                </a:solidFill>
                <a:latin typeface="Arial" panose="020B0604020202020204" pitchFamily="34" charset="0"/>
                <a:ea typeface="DM Sans Bold" pitchFamily="34" charset="-122"/>
                <a:cs typeface="Arial" panose="020B0604020202020204" pitchFamily="34" charset="0"/>
                <a:hlinkClick r:id="rId3">
                  <a:extLst>
                    <a:ext uri="{A12FA001-AC4F-418D-AE19-62706E023703}">
                      <ahyp:hlinkClr xmlns:ahyp="http://schemas.microsoft.com/office/drawing/2018/hyperlinkcolor" val="tx"/>
                    </a:ext>
                  </a:extLst>
                </a:hlinkClick>
              </a:rPr>
              <a:t>service-public.fr</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626527"/>
            <a:ext cx="8608963" cy="435585"/>
          </a:xfrm>
          <a:prstGeom prst="rect">
            <a:avLst/>
          </a:prstGeom>
          <a:noFill/>
          <a:ln/>
        </p:spPr>
        <p:txBody>
          <a:bodyPr wrap="none" lIns="0" tIns="0" rIns="0" bIns="0" rtlCol="0" anchor="t"/>
          <a:lstStyle/>
          <a:p>
            <a:r>
              <a:rPr lang="en-US" sz="1400" dirty="0">
                <a:solidFill>
                  <a:srgbClr val="464646"/>
                </a:solidFill>
                <a:latin typeface="Arial" panose="020B0604020202020204" pitchFamily="34" charset="0"/>
                <a:ea typeface="Inter Medium" pitchFamily="34" charset="-122"/>
                <a:cs typeface="Arial" panose="020B0604020202020204" pitchFamily="34" charset="0"/>
              </a:rPr>
              <a:t>Le site est organisé de manière logique. Voici comment l'utiliser </a:t>
            </a:r>
            <a:r>
              <a:rPr lang="en-US" sz="1400" dirty="0" err="1">
                <a:solidFill>
                  <a:srgbClr val="464646"/>
                </a:solidFill>
                <a:latin typeface="Arial" panose="020B0604020202020204" pitchFamily="34" charset="0"/>
                <a:ea typeface="Inter Medium" pitchFamily="34" charset="-122"/>
                <a:cs typeface="Arial" panose="020B0604020202020204" pitchFamily="34" charset="0"/>
              </a:rPr>
              <a:t>efficacement</a:t>
            </a:r>
            <a:r>
              <a:rPr lang="en-US" sz="1400" dirty="0">
                <a:solidFill>
                  <a:srgbClr val="464646"/>
                </a:solidFill>
                <a:latin typeface="Arial" panose="020B0604020202020204" pitchFamily="34" charset="0"/>
                <a:ea typeface="Inter Medium" pitchFamily="34" charset="-122"/>
                <a:cs typeface="Arial" panose="020B0604020202020204" pitchFamily="34" charset="0"/>
              </a:rPr>
              <a:t>, étape par étape, </a:t>
            </a:r>
            <a:r>
              <a:rPr lang="en-US" sz="1400" dirty="0" err="1">
                <a:solidFill>
                  <a:srgbClr val="464646"/>
                </a:solidFill>
                <a:latin typeface="Arial" panose="020B0604020202020204" pitchFamily="34" charset="0"/>
                <a:ea typeface="Inter Medium" pitchFamily="34" charset="-122"/>
                <a:cs typeface="Arial" panose="020B0604020202020204" pitchFamily="34" charset="0"/>
              </a:rPr>
              <a:t>même</a:t>
            </a:r>
            <a:r>
              <a:rPr lang="en-US" sz="1400" dirty="0">
                <a:solidFill>
                  <a:srgbClr val="464646"/>
                </a:solidFill>
                <a:latin typeface="Arial" panose="020B0604020202020204" pitchFamily="34" charset="0"/>
                <a:ea typeface="Inter Medium" pitchFamily="34" charset="-122"/>
                <a:cs typeface="Arial" panose="020B0604020202020204" pitchFamily="34" charset="0"/>
              </a:rPr>
              <a:t> </a:t>
            </a:r>
            <a:r>
              <a:rPr lang="en-US" sz="1400" dirty="0" err="1">
                <a:solidFill>
                  <a:srgbClr val="464646"/>
                </a:solidFill>
                <a:latin typeface="Arial" panose="020B0604020202020204" pitchFamily="34" charset="0"/>
                <a:ea typeface="Inter Medium" pitchFamily="34" charset="-122"/>
                <a:cs typeface="Arial" panose="020B0604020202020204" pitchFamily="34" charset="0"/>
              </a:rPr>
              <a:t>si</a:t>
            </a:r>
            <a:br>
              <a:rPr lang="en-US" sz="1400" dirty="0">
                <a:solidFill>
                  <a:srgbClr val="464646"/>
                </a:solidFill>
                <a:latin typeface="Arial" panose="020B0604020202020204" pitchFamily="34" charset="0"/>
                <a:ea typeface="Inter Medium" pitchFamily="34" charset="-122"/>
                <a:cs typeface="Arial" panose="020B0604020202020204" pitchFamily="34" charset="0"/>
              </a:rPr>
            </a:br>
            <a:r>
              <a:rPr lang="en-US" sz="1400" dirty="0" err="1">
                <a:solidFill>
                  <a:srgbClr val="464646"/>
                </a:solidFill>
                <a:latin typeface="Arial" panose="020B0604020202020204" pitchFamily="34" charset="0"/>
                <a:ea typeface="Inter Medium" pitchFamily="34" charset="-122"/>
                <a:cs typeface="Arial" panose="020B0604020202020204" pitchFamily="34" charset="0"/>
              </a:rPr>
              <a:t>vous</a:t>
            </a:r>
            <a:r>
              <a:rPr lang="en-US" sz="1400" dirty="0">
                <a:solidFill>
                  <a:srgbClr val="464646"/>
                </a:solidFill>
                <a:latin typeface="Arial" panose="020B0604020202020204" pitchFamily="34" charset="0"/>
                <a:ea typeface="Inter Medium" pitchFamily="34" charset="-122"/>
                <a:cs typeface="Arial" panose="020B0604020202020204" pitchFamily="34" charset="0"/>
              </a:rPr>
              <a:t> n'êtes pas à l'aise avec Internet.</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77120" y="1014112"/>
            <a:ext cx="8151763" cy="3253651"/>
          </a:xfrm>
          <a:prstGeom prst="rect">
            <a:avLst/>
          </a:prstGeom>
        </p:spPr>
      </p:pic>
      <p:sp>
        <p:nvSpPr>
          <p:cNvPr id="5" name="Text 2"/>
          <p:cNvSpPr/>
          <p:nvPr/>
        </p:nvSpPr>
        <p:spPr>
          <a:xfrm>
            <a:off x="3347551" y="3407214"/>
            <a:ext cx="1232034" cy="220597"/>
          </a:xfrm>
          <a:prstGeom prst="rect">
            <a:avLst/>
          </a:prstGeom>
          <a:noFill/>
          <a:ln/>
        </p:spPr>
        <p:txBody>
          <a:bodyPr wrap="none" lIns="0" tIns="0" rIns="0" bIns="0" rtlCol="0" anchor="t"/>
          <a:lstStyle/>
          <a:p>
            <a:pPr algn="ctr">
              <a:lnSpc>
                <a:spcPct val="104000"/>
              </a:lnSpc>
            </a:pPr>
            <a:r>
              <a:rPr lang="en-US" sz="1400" b="1" dirty="0">
                <a:solidFill>
                  <a:srgbClr val="030303"/>
                </a:solidFill>
                <a:latin typeface="Arial" panose="020B0604020202020204" pitchFamily="34" charset="0"/>
                <a:ea typeface="DM Sans SemiBold" pitchFamily="34" charset="-122"/>
                <a:cs typeface="Arial" panose="020B0604020202020204" pitchFamily="34" charset="0"/>
              </a:rPr>
              <a:t>Choisir profil</a:t>
            </a:r>
            <a:endParaRPr lang="en-US" sz="1400" b="1" dirty="0">
              <a:latin typeface="Arial" panose="020B0604020202020204" pitchFamily="34" charset="0"/>
              <a:cs typeface="Arial" panose="020B0604020202020204" pitchFamily="34" charset="0"/>
            </a:endParaRPr>
          </a:p>
        </p:txBody>
      </p:sp>
      <p:sp>
        <p:nvSpPr>
          <p:cNvPr id="6" name="Text 3"/>
          <p:cNvSpPr/>
          <p:nvPr/>
        </p:nvSpPr>
        <p:spPr>
          <a:xfrm>
            <a:off x="3347551" y="3690558"/>
            <a:ext cx="1232034" cy="264716"/>
          </a:xfrm>
          <a:prstGeom prst="rect">
            <a:avLst/>
          </a:prstGeom>
          <a:noFill/>
          <a:ln/>
        </p:spPr>
        <p:txBody>
          <a:bodyPr wrap="square" lIns="0" tIns="0" rIns="0" bIns="0" rtlCol="0" anchor="t">
            <a:noAutofit/>
          </a:bodyPr>
          <a:lstStyle/>
          <a:p>
            <a:pPr algn="ctr">
              <a:lnSpc>
                <a:spcPct val="78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Particulier, pro ou association</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7261432" y="3407214"/>
            <a:ext cx="1232034" cy="220597"/>
          </a:xfrm>
          <a:prstGeom prst="rect">
            <a:avLst/>
          </a:prstGeom>
          <a:noFill/>
          <a:ln/>
        </p:spPr>
        <p:txBody>
          <a:bodyPr wrap="none" lIns="0" tIns="0" rIns="0" bIns="0" rtlCol="0" anchor="t"/>
          <a:lstStyle/>
          <a:p>
            <a:pPr algn="ctr">
              <a:lnSpc>
                <a:spcPct val="104000"/>
              </a:lnSpc>
            </a:pPr>
            <a:r>
              <a:rPr lang="en-US" sz="1400" b="1" dirty="0">
                <a:solidFill>
                  <a:srgbClr val="030303"/>
                </a:solidFill>
                <a:latin typeface="Arial" panose="020B0604020202020204" pitchFamily="34" charset="0"/>
                <a:ea typeface="DM Sans SemiBold" pitchFamily="34" charset="-122"/>
                <a:cs typeface="Arial" panose="020B0604020202020204" pitchFamily="34" charset="0"/>
              </a:rPr>
              <a:t>Suivre la fiche</a:t>
            </a:r>
            <a:endParaRPr lang="en-US" sz="1400" b="1" dirty="0">
              <a:latin typeface="Arial" panose="020B0604020202020204" pitchFamily="34" charset="0"/>
              <a:cs typeface="Arial" panose="020B0604020202020204" pitchFamily="34" charset="0"/>
            </a:endParaRPr>
          </a:p>
        </p:txBody>
      </p:sp>
      <p:sp>
        <p:nvSpPr>
          <p:cNvPr id="8" name="Text 5"/>
          <p:cNvSpPr/>
          <p:nvPr/>
        </p:nvSpPr>
        <p:spPr>
          <a:xfrm>
            <a:off x="7261432" y="3690558"/>
            <a:ext cx="1232034" cy="264716"/>
          </a:xfrm>
          <a:prstGeom prst="rect">
            <a:avLst/>
          </a:prstGeom>
          <a:noFill/>
          <a:ln/>
        </p:spPr>
        <p:txBody>
          <a:bodyPr wrap="square" lIns="0" tIns="0" rIns="0" bIns="0" rtlCol="0" anchor="t">
            <a:noAutofit/>
          </a:bodyPr>
          <a:lstStyle/>
          <a:p>
            <a:pPr algn="ctr">
              <a:lnSpc>
                <a:spcPct val="78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Appliquer les instructions</a:t>
            </a:r>
            <a:endParaRPr lang="en-US" sz="1200" dirty="0">
              <a:latin typeface="Arial" panose="020B0604020202020204" pitchFamily="34" charset="0"/>
              <a:cs typeface="Arial" panose="020B0604020202020204" pitchFamily="34" charset="0"/>
            </a:endParaRPr>
          </a:p>
        </p:txBody>
      </p:sp>
      <p:sp>
        <p:nvSpPr>
          <p:cNvPr id="9" name="Text 6"/>
          <p:cNvSpPr/>
          <p:nvPr/>
        </p:nvSpPr>
        <p:spPr>
          <a:xfrm>
            <a:off x="1324947" y="1335496"/>
            <a:ext cx="1464906" cy="441194"/>
          </a:xfrm>
          <a:prstGeom prst="rect">
            <a:avLst/>
          </a:prstGeom>
          <a:noFill/>
          <a:ln/>
        </p:spPr>
        <p:txBody>
          <a:bodyPr wrap="square" lIns="0" tIns="0" rIns="0" bIns="0" rtlCol="0" anchor="t">
            <a:normAutofit/>
          </a:bodyPr>
          <a:lstStyle/>
          <a:p>
            <a:pPr algn="ctr">
              <a:lnSpc>
                <a:spcPct val="104000"/>
              </a:lnSpc>
            </a:pPr>
            <a:r>
              <a:rPr lang="en-US" sz="1400" b="1" dirty="0">
                <a:solidFill>
                  <a:srgbClr val="030303"/>
                </a:solidFill>
                <a:latin typeface="Arial" panose="020B0604020202020204" pitchFamily="34" charset="0"/>
                <a:ea typeface="DM Sans SemiBold" pitchFamily="34" charset="-122"/>
                <a:cs typeface="Arial" panose="020B0604020202020204" pitchFamily="34" charset="0"/>
              </a:rPr>
              <a:t>Accéder au site</a:t>
            </a:r>
            <a:endParaRPr lang="en-US" sz="1400" b="1" dirty="0">
              <a:latin typeface="Arial" panose="020B0604020202020204" pitchFamily="34" charset="0"/>
              <a:cs typeface="Arial" panose="020B0604020202020204" pitchFamily="34" charset="0"/>
            </a:endParaRPr>
          </a:p>
        </p:txBody>
      </p:sp>
      <p:sp>
        <p:nvSpPr>
          <p:cNvPr id="10" name="Text 7"/>
          <p:cNvSpPr/>
          <p:nvPr/>
        </p:nvSpPr>
        <p:spPr>
          <a:xfrm>
            <a:off x="1200879" y="1707079"/>
            <a:ext cx="1666160" cy="264716"/>
          </a:xfrm>
          <a:prstGeom prst="rect">
            <a:avLst/>
          </a:prstGeom>
          <a:noFill/>
          <a:ln/>
        </p:spPr>
        <p:txBody>
          <a:bodyPr wrap="square" lIns="0" tIns="0" rIns="0" bIns="0" rtlCol="0" anchor="t">
            <a:noAutofit/>
          </a:bodyPr>
          <a:lstStyle/>
          <a:p>
            <a:pPr algn="ctr">
              <a:lnSpc>
                <a:spcPct val="78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Aller sur service-public.fr</a:t>
            </a:r>
            <a:endParaRPr lang="en-US" sz="1200" dirty="0">
              <a:latin typeface="Arial" panose="020B0604020202020204" pitchFamily="34" charset="0"/>
              <a:cs typeface="Arial" panose="020B0604020202020204" pitchFamily="34" charset="0"/>
            </a:endParaRPr>
          </a:p>
        </p:txBody>
      </p:sp>
      <p:sp>
        <p:nvSpPr>
          <p:cNvPr id="11" name="Text 8"/>
          <p:cNvSpPr/>
          <p:nvPr/>
        </p:nvSpPr>
        <p:spPr>
          <a:xfrm>
            <a:off x="5331944" y="1335497"/>
            <a:ext cx="1232034" cy="220597"/>
          </a:xfrm>
          <a:prstGeom prst="rect">
            <a:avLst/>
          </a:prstGeom>
          <a:noFill/>
          <a:ln/>
        </p:spPr>
        <p:txBody>
          <a:bodyPr wrap="none" lIns="0" tIns="0" rIns="0" bIns="0" rtlCol="0" anchor="t"/>
          <a:lstStyle/>
          <a:p>
            <a:pPr algn="ctr">
              <a:lnSpc>
                <a:spcPct val="104000"/>
              </a:lnSpc>
            </a:pPr>
            <a:r>
              <a:rPr lang="en-US" sz="1400" b="1" dirty="0">
                <a:solidFill>
                  <a:srgbClr val="030303"/>
                </a:solidFill>
                <a:latin typeface="Arial" panose="020B0604020202020204" pitchFamily="34" charset="0"/>
                <a:ea typeface="DM Sans SemiBold" pitchFamily="34" charset="-122"/>
                <a:cs typeface="Arial" panose="020B0604020202020204" pitchFamily="34" charset="0"/>
              </a:rPr>
              <a:t>Rechercher</a:t>
            </a:r>
            <a:endParaRPr lang="en-US" sz="1400" b="1" dirty="0">
              <a:latin typeface="Arial" panose="020B0604020202020204" pitchFamily="34" charset="0"/>
              <a:cs typeface="Arial" panose="020B0604020202020204" pitchFamily="34" charset="0"/>
            </a:endParaRPr>
          </a:p>
        </p:txBody>
      </p:sp>
      <p:sp>
        <p:nvSpPr>
          <p:cNvPr id="12" name="Text 9"/>
          <p:cNvSpPr/>
          <p:nvPr/>
        </p:nvSpPr>
        <p:spPr>
          <a:xfrm>
            <a:off x="5331944" y="1618840"/>
            <a:ext cx="1232034" cy="264716"/>
          </a:xfrm>
          <a:prstGeom prst="rect">
            <a:avLst/>
          </a:prstGeom>
          <a:noFill/>
          <a:ln/>
        </p:spPr>
        <p:txBody>
          <a:bodyPr wrap="square" lIns="0" tIns="0" rIns="0" bIns="0" rtlCol="0" anchor="t">
            <a:noAutofit/>
          </a:bodyPr>
          <a:lstStyle/>
          <a:p>
            <a:pPr algn="ctr">
              <a:lnSpc>
                <a:spcPct val="78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Utiliser la barre ou les thèmes</a:t>
            </a:r>
            <a:endParaRPr lang="en-US" sz="1200" dirty="0">
              <a:latin typeface="Arial" panose="020B0604020202020204" pitchFamily="34" charset="0"/>
              <a:cs typeface="Arial" panose="020B0604020202020204" pitchFamily="34" charset="0"/>
            </a:endParaRPr>
          </a:p>
        </p:txBody>
      </p:sp>
      <p:sp>
        <p:nvSpPr>
          <p:cNvPr id="13" name="Text 10"/>
          <p:cNvSpPr/>
          <p:nvPr/>
        </p:nvSpPr>
        <p:spPr>
          <a:xfrm>
            <a:off x="449904" y="4416692"/>
            <a:ext cx="8608963" cy="369869"/>
          </a:xfrm>
          <a:prstGeom prst="rect">
            <a:avLst/>
          </a:prstGeom>
          <a:noFill/>
          <a:ln/>
        </p:spPr>
        <p:txBody>
          <a:bodyPr wrap="none" lIns="0" tIns="0" rIns="0" bIns="0" rtlCol="0" anchor="t"/>
          <a:lstStyle/>
          <a:p>
            <a:r>
              <a:rPr lang="en-US" sz="1200" dirty="0">
                <a:solidFill>
                  <a:srgbClr val="464646"/>
                </a:solidFill>
                <a:latin typeface="Arial" panose="020B0604020202020204" pitchFamily="34" charset="0"/>
                <a:ea typeface="Inter Medium" pitchFamily="34" charset="-122"/>
                <a:cs typeface="Arial" panose="020B0604020202020204" pitchFamily="34" charset="0"/>
              </a:rPr>
              <a:t>La barre de recherche en haut de la page est votre meilleure alliée. Tapez simplement ce que vous cherchez en langage courant :</a:t>
            </a:r>
            <a:br>
              <a:rPr lang="en-US" sz="1200" dirty="0">
                <a:solidFill>
                  <a:srgbClr val="464646"/>
                </a:solidFill>
                <a:latin typeface="Arial" panose="020B0604020202020204" pitchFamily="34" charset="0"/>
                <a:ea typeface="Inter Medium" pitchFamily="34" charset="-122"/>
                <a:cs typeface="Arial" panose="020B0604020202020204" pitchFamily="34" charset="0"/>
              </a:rPr>
            </a:br>
            <a:r>
              <a:rPr lang="en-US" sz="1200" dirty="0">
                <a:solidFill>
                  <a:srgbClr val="464646"/>
                </a:solidFill>
                <a:latin typeface="Arial" panose="020B0604020202020204" pitchFamily="34" charset="0"/>
                <a:ea typeface="Inter Medium" pitchFamily="34" charset="-122"/>
                <a:cs typeface="Arial" panose="020B0604020202020204" pitchFamily="34" charset="0"/>
              </a:rPr>
              <a:t>« renouveler carte grise », « demande de logement social », « congé maternité »… Le site vous guidera vers la bonne fiche.</a:t>
            </a:r>
            <a:endParaRPr lang="en-US" sz="1200" dirty="0">
              <a:latin typeface="Arial" panose="020B0604020202020204" pitchFamily="34" charset="0"/>
              <a:cs typeface="Arial" panose="020B0604020202020204" pitchFamily="34" charset="0"/>
            </a:endParaRPr>
          </a:p>
        </p:txBody>
      </p:sp>
      <p:sp>
        <p:nvSpPr>
          <p:cNvPr id="14" name="Shape 11"/>
          <p:cNvSpPr/>
          <p:nvPr/>
        </p:nvSpPr>
        <p:spPr>
          <a:xfrm>
            <a:off x="263303" y="4964560"/>
            <a:ext cx="4089574" cy="1718815"/>
          </a:xfrm>
          <a:prstGeom prst="roundRect">
            <a:avLst>
              <a:gd name="adj" fmla="val 2246"/>
            </a:avLst>
          </a:prstGeom>
          <a:solidFill>
            <a:srgbClr val="A8DEEE">
              <a:alpha val="80000"/>
            </a:srgbClr>
          </a:solidFill>
          <a:ln/>
        </p:spPr>
      </p:sp>
      <p:sp>
        <p:nvSpPr>
          <p:cNvPr id="15" name="Text 12"/>
          <p:cNvSpPr/>
          <p:nvPr/>
        </p:nvSpPr>
        <p:spPr>
          <a:xfrm>
            <a:off x="325291" y="5139507"/>
            <a:ext cx="2063346" cy="202492"/>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030303"/>
                </a:solidFill>
                <a:latin typeface="Arial" panose="020B0604020202020204" pitchFamily="34" charset="0"/>
                <a:ea typeface="DM Sans SemiBold" pitchFamily="34" charset="-122"/>
                <a:cs typeface="Arial" panose="020B0604020202020204" pitchFamily="34" charset="0"/>
              </a:rPr>
              <a:t> Mots-clés efficaces</a:t>
            </a:r>
            <a:endParaRPr lang="en-US" sz="1400" b="1" dirty="0">
              <a:latin typeface="Arial" panose="020B0604020202020204" pitchFamily="34" charset="0"/>
              <a:cs typeface="Arial" panose="020B0604020202020204" pitchFamily="34" charset="0"/>
            </a:endParaRPr>
          </a:p>
        </p:txBody>
      </p:sp>
      <p:sp>
        <p:nvSpPr>
          <p:cNvPr id="16" name="Text 13"/>
          <p:cNvSpPr/>
          <p:nvPr/>
        </p:nvSpPr>
        <p:spPr>
          <a:xfrm>
            <a:off x="325290" y="5341999"/>
            <a:ext cx="3965600" cy="871744"/>
          </a:xfrm>
          <a:prstGeom prst="rect">
            <a:avLst/>
          </a:prstGeom>
          <a:noFill/>
          <a:ln/>
        </p:spPr>
        <p:txBody>
          <a:bodyPr wrap="square" lIns="0" tIns="0" rIns="0" bIns="0" rtlCol="0" anchor="t">
            <a:noAutofit/>
          </a:bodyPr>
          <a:lstStyle/>
          <a:p>
            <a:pPr marL="91440" indent="-91440">
              <a:buSzPct val="100000"/>
              <a:buChar char="•"/>
            </a:pPr>
            <a:r>
              <a:rPr lang="en-US" sz="1200" dirty="0">
                <a:solidFill>
                  <a:srgbClr val="000000"/>
                </a:solidFill>
                <a:latin typeface="Arial" panose="020B0604020202020204" pitchFamily="34" charset="0"/>
                <a:ea typeface="Inter Medium" pitchFamily="34" charset="-122"/>
                <a:cs typeface="Arial" panose="020B0604020202020204" pitchFamily="34" charset="0"/>
              </a:rPr>
              <a:t>Utilisez des mots simples et directs</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000000"/>
                </a:solidFill>
                <a:latin typeface="Arial" panose="020B0604020202020204" pitchFamily="34" charset="0"/>
                <a:ea typeface="Inter Medium" pitchFamily="34" charset="-122"/>
                <a:cs typeface="Arial" panose="020B0604020202020204" pitchFamily="34" charset="0"/>
              </a:rPr>
              <a:t>Indiquez votre situation : « salarié », « retraité », « parent »</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000000"/>
                </a:solidFill>
                <a:latin typeface="Arial" panose="020B0604020202020204" pitchFamily="34" charset="0"/>
                <a:ea typeface="Inter Medium" pitchFamily="34" charset="-122"/>
                <a:cs typeface="Arial" panose="020B0604020202020204" pitchFamily="34" charset="0"/>
              </a:rPr>
              <a:t>En cas de doute, parcourez les thèmes proposés</a:t>
            </a:r>
            <a:endParaRPr lang="en-US" sz="1200" dirty="0">
              <a:latin typeface="Arial" panose="020B0604020202020204" pitchFamily="34" charset="0"/>
              <a:cs typeface="Arial" panose="020B0604020202020204" pitchFamily="34" charset="0"/>
            </a:endParaRPr>
          </a:p>
        </p:txBody>
      </p:sp>
      <p:sp>
        <p:nvSpPr>
          <p:cNvPr id="17" name="Text 14"/>
          <p:cNvSpPr/>
          <p:nvPr/>
        </p:nvSpPr>
        <p:spPr>
          <a:xfrm>
            <a:off x="5033367" y="5139507"/>
            <a:ext cx="1232445" cy="197564"/>
          </a:xfrm>
          <a:prstGeom prst="rect">
            <a:avLst/>
          </a:prstGeom>
          <a:noFill/>
          <a:ln/>
        </p:spPr>
        <p:txBody>
          <a:bodyPr wrap="none" lIns="0" tIns="0" rIns="0" bIns="0" rtlCol="0" anchor="t"/>
          <a:lstStyle/>
          <a:p>
            <a:pPr>
              <a:lnSpc>
                <a:spcPct val="104000"/>
              </a:lnSpc>
            </a:pPr>
            <a:r>
              <a:rPr lang="en-US" sz="1200" dirty="0">
                <a:solidFill>
                  <a:srgbClr val="000000"/>
                </a:solidFill>
                <a:latin typeface="Arial" panose="020B0604020202020204" pitchFamily="34" charset="0"/>
                <a:ea typeface="Twemoji Mozilla" pitchFamily="34" charset="-122"/>
                <a:cs typeface="Arial" panose="020B0604020202020204" pitchFamily="34" charset="0"/>
              </a:rPr>
              <a:t>⚠️</a:t>
            </a:r>
            <a:r>
              <a:rPr lang="en-US" sz="1200" dirty="0">
                <a:solidFill>
                  <a:srgbClr val="030303"/>
                </a:solidFill>
                <a:latin typeface="Arial" panose="020B0604020202020204" pitchFamily="34" charset="0"/>
                <a:ea typeface="DM Sans SemiBold" pitchFamily="34" charset="-122"/>
                <a:cs typeface="Arial" panose="020B0604020202020204" pitchFamily="34" charset="0"/>
              </a:rPr>
              <a:t> À </a:t>
            </a:r>
            <a:r>
              <a:rPr lang="en-US" sz="1400" b="1" dirty="0">
                <a:solidFill>
                  <a:srgbClr val="030303"/>
                </a:solidFill>
                <a:latin typeface="Arial" panose="020B0604020202020204" pitchFamily="34" charset="0"/>
                <a:ea typeface="DM Sans SemiBold" pitchFamily="34" charset="-122"/>
                <a:cs typeface="Arial" panose="020B0604020202020204" pitchFamily="34" charset="0"/>
              </a:rPr>
              <a:t>éviter</a:t>
            </a:r>
            <a:endParaRPr lang="en-US" sz="1400" b="1" dirty="0">
              <a:latin typeface="Arial" panose="020B0604020202020204" pitchFamily="34" charset="0"/>
              <a:cs typeface="Arial" panose="020B0604020202020204" pitchFamily="34" charset="0"/>
            </a:endParaRPr>
          </a:p>
        </p:txBody>
      </p:sp>
      <p:sp>
        <p:nvSpPr>
          <p:cNvPr id="18" name="Text 15"/>
          <p:cNvSpPr/>
          <p:nvPr/>
        </p:nvSpPr>
        <p:spPr>
          <a:xfrm>
            <a:off x="5033368" y="5486000"/>
            <a:ext cx="4000277" cy="1092222"/>
          </a:xfrm>
          <a:prstGeom prst="rect">
            <a:avLst/>
          </a:prstGeom>
          <a:noFill/>
          <a:ln/>
        </p:spPr>
        <p:txBody>
          <a:bodyPr wrap="square" lIns="0" tIns="0" rIns="0" bIns="0" rtlCol="0" anchor="t">
            <a:noAutofit/>
          </a:bodyPr>
          <a:lstStyle/>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Ne saisissez pas de numéro de sécurité sociale dans la barre de recherche</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Ne payez jamais sur service-public.fr : les informations sont gratuites</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Vérifiez toujours l'URL : elle doit commencer par </a:t>
            </a:r>
            <a:r>
              <a:rPr lang="en-US" sz="1200" b="1" dirty="0">
                <a:solidFill>
                  <a:srgbClr val="464646"/>
                </a:solidFill>
                <a:latin typeface="Arial" panose="020B0604020202020204" pitchFamily="34" charset="0"/>
                <a:ea typeface="Inter Bold" pitchFamily="34" charset="-122"/>
                <a:cs typeface="Arial" panose="020B0604020202020204" pitchFamily="34" charset="0"/>
              </a:rPr>
              <a:t>service-public.fr</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77120" y="331293"/>
            <a:ext cx="7392665" cy="392311"/>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La Boussole des jeunes : pour les 16–30 ans</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863130"/>
            <a:ext cx="8350856" cy="1001539"/>
          </a:xfrm>
          <a:prstGeom prst="rect">
            <a:avLst/>
          </a:prstGeom>
          <a:noFill/>
          <a:ln/>
        </p:spPr>
        <p:txBody>
          <a:bodyPr wrap="square" lIns="0" tIns="0" rIns="0" bIns="0" rtlCol="0" anchor="t">
            <a:noAutofit/>
          </a:bodyPr>
          <a:lstStyle/>
          <a:p>
            <a:pPr>
              <a:lnSpc>
                <a:spcPct val="133000"/>
              </a:lnSpc>
            </a:pPr>
            <a:r>
              <a:rPr lang="en-US" sz="1400" b="1" dirty="0">
                <a:solidFill>
                  <a:srgbClr val="464646"/>
                </a:solidFill>
                <a:latin typeface="Arial" panose="020B0604020202020204" pitchFamily="34" charset="0"/>
                <a:ea typeface="Inter Bold" pitchFamily="34" charset="-122"/>
                <a:cs typeface="Arial" panose="020B0604020202020204" pitchFamily="34" charset="0"/>
              </a:rPr>
              <a:t>boussole.jeunes.gouv.fr</a:t>
            </a:r>
            <a:r>
              <a:rPr lang="en-US" sz="1400" dirty="0">
                <a:solidFill>
                  <a:srgbClr val="464646"/>
                </a:solidFill>
                <a:latin typeface="Arial" panose="020B0604020202020204" pitchFamily="34" charset="0"/>
                <a:ea typeface="Inter Medium" pitchFamily="34" charset="-122"/>
                <a:cs typeface="Arial" panose="020B0604020202020204" pitchFamily="34" charset="0"/>
              </a:rPr>
              <a:t> est un outil numérique gratuit conçu spécifiquement pour aider les jeunes de 16 à 30 ans à s'orienter dans leurs démarches administratives, sociales et professionnelles. En quelques questions simples, il vous dirige vers les aides et dispositifs qui correspondent à votre situation.</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120" y="2575882"/>
            <a:ext cx="310083" cy="310083"/>
          </a:xfrm>
          <a:prstGeom prst="rect">
            <a:avLst/>
          </a:prstGeom>
        </p:spPr>
      </p:pic>
      <p:sp>
        <p:nvSpPr>
          <p:cNvPr id="5" name="Text 2"/>
          <p:cNvSpPr/>
          <p:nvPr/>
        </p:nvSpPr>
        <p:spPr>
          <a:xfrm>
            <a:off x="877119" y="3040970"/>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Aides financières</a:t>
            </a:r>
            <a:endParaRPr lang="en-US" sz="1400" b="1" dirty="0">
              <a:latin typeface="Arial" panose="020B0604020202020204" pitchFamily="34" charset="0"/>
              <a:cs typeface="Arial" panose="020B0604020202020204" pitchFamily="34" charset="0"/>
            </a:endParaRPr>
          </a:p>
        </p:txBody>
      </p:sp>
      <p:sp>
        <p:nvSpPr>
          <p:cNvPr id="6" name="Text 3"/>
          <p:cNvSpPr/>
          <p:nvPr/>
        </p:nvSpPr>
        <p:spPr>
          <a:xfrm>
            <a:off x="877119" y="3309233"/>
            <a:ext cx="2613868" cy="79384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Découvrez les aides au logement, les bourses, le RSA jeunes, la Garantie Jeunes et bien d'autres dispositifs selon votre profil.</a:t>
            </a:r>
            <a:endParaRPr lang="en-US" sz="12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45992" y="2575882"/>
            <a:ext cx="310083" cy="310083"/>
          </a:xfrm>
          <a:prstGeom prst="rect">
            <a:avLst/>
          </a:prstGeom>
        </p:spPr>
      </p:pic>
      <p:sp>
        <p:nvSpPr>
          <p:cNvPr id="8" name="Text 4"/>
          <p:cNvSpPr/>
          <p:nvPr/>
        </p:nvSpPr>
        <p:spPr>
          <a:xfrm>
            <a:off x="3645991" y="3040970"/>
            <a:ext cx="1665908"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Emploi &amp; formation</a:t>
            </a:r>
            <a:endParaRPr lang="en-US" sz="1400" b="1" dirty="0">
              <a:latin typeface="Arial" panose="020B0604020202020204" pitchFamily="34" charset="0"/>
              <a:cs typeface="Arial" panose="020B0604020202020204" pitchFamily="34" charset="0"/>
            </a:endParaRPr>
          </a:p>
        </p:txBody>
      </p:sp>
      <p:sp>
        <p:nvSpPr>
          <p:cNvPr id="9" name="Text 5"/>
          <p:cNvSpPr/>
          <p:nvPr/>
        </p:nvSpPr>
        <p:spPr>
          <a:xfrm>
            <a:off x="3645992" y="3309233"/>
            <a:ext cx="2613943" cy="100153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Apprentissage, contrats aidés, formations gratuites : la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Boussole</a:t>
            </a:r>
            <a:br>
              <a:rPr lang="en-US" sz="1200" dirty="0">
                <a:solidFill>
                  <a:srgbClr val="464646"/>
                </a:solidFill>
                <a:latin typeface="Arial" panose="020B0604020202020204" pitchFamily="34" charset="0"/>
                <a:ea typeface="Inter Medium" pitchFamily="34" charset="-122"/>
                <a:cs typeface="Arial" panose="020B0604020202020204" pitchFamily="34" charset="0"/>
              </a:rPr>
            </a:br>
            <a:r>
              <a:rPr lang="en-US" sz="1200" dirty="0" err="1">
                <a:solidFill>
                  <a:srgbClr val="464646"/>
                </a:solidFill>
                <a:latin typeface="Arial" panose="020B0604020202020204" pitchFamily="34" charset="0"/>
                <a:ea typeface="Inter Medium" pitchFamily="34" charset="-122"/>
                <a:cs typeface="Arial" panose="020B0604020202020204" pitchFamily="34" charset="0"/>
              </a:rPr>
              <a:t>vous</a:t>
            </a:r>
            <a:r>
              <a:rPr lang="en-US" sz="1200" dirty="0">
                <a:solidFill>
                  <a:srgbClr val="464646"/>
                </a:solidFill>
                <a:latin typeface="Arial" panose="020B0604020202020204" pitchFamily="34" charset="0"/>
                <a:ea typeface="Inter Medium" pitchFamily="34" charset="-122"/>
                <a:cs typeface="Arial" panose="020B0604020202020204" pitchFamily="34" charset="0"/>
              </a:rPr>
              <a:t> indique les portes à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pousser</a:t>
            </a:r>
            <a:br>
              <a:rPr lang="en-US" sz="1200" dirty="0">
                <a:solidFill>
                  <a:srgbClr val="464646"/>
                </a:solidFill>
                <a:latin typeface="Arial" panose="020B0604020202020204" pitchFamily="34" charset="0"/>
                <a:ea typeface="Inter Medium" pitchFamily="34" charset="-122"/>
                <a:cs typeface="Arial" panose="020B0604020202020204" pitchFamily="34" charset="0"/>
              </a:rPr>
            </a:br>
            <a:r>
              <a:rPr lang="en-US" sz="1200" dirty="0">
                <a:solidFill>
                  <a:srgbClr val="464646"/>
                </a:solidFill>
                <a:latin typeface="Arial" panose="020B0604020202020204" pitchFamily="34" charset="0"/>
                <a:ea typeface="Inter Medium" pitchFamily="34" charset="-122"/>
                <a:cs typeface="Arial" panose="020B0604020202020204" pitchFamily="34" charset="0"/>
              </a:rPr>
              <a:t>pour votre avenir professionnel.</a:t>
            </a:r>
            <a:endParaRPr lang="en-US" sz="12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14940" y="2575882"/>
            <a:ext cx="310083" cy="310083"/>
          </a:xfrm>
          <a:prstGeom prst="rect">
            <a:avLst/>
          </a:prstGeom>
        </p:spPr>
      </p:pic>
      <p:sp>
        <p:nvSpPr>
          <p:cNvPr id="11" name="Text 6"/>
          <p:cNvSpPr/>
          <p:nvPr/>
        </p:nvSpPr>
        <p:spPr>
          <a:xfrm>
            <a:off x="6414939" y="3040970"/>
            <a:ext cx="1557710"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Santé &amp; logement</a:t>
            </a:r>
            <a:endParaRPr lang="en-US" sz="1400" b="1" dirty="0">
              <a:latin typeface="Arial" panose="020B0604020202020204" pitchFamily="34" charset="0"/>
              <a:cs typeface="Arial" panose="020B0604020202020204" pitchFamily="34" charset="0"/>
            </a:endParaRPr>
          </a:p>
        </p:txBody>
      </p:sp>
      <p:sp>
        <p:nvSpPr>
          <p:cNvPr id="12" name="Text 7"/>
          <p:cNvSpPr/>
          <p:nvPr/>
        </p:nvSpPr>
        <p:spPr>
          <a:xfrm>
            <a:off x="6414940" y="3309233"/>
            <a:ext cx="2613943" cy="79384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Complémentaire santé solidaire, hébergement d'urgence, résidences jeunes : trouvez rapidement les solutions adaptées.</a:t>
            </a:r>
            <a:endParaRPr lang="en-US" sz="1200" dirty="0">
              <a:latin typeface="Arial" panose="020B0604020202020204" pitchFamily="34" charset="0"/>
              <a:cs typeface="Arial" panose="020B0604020202020204" pitchFamily="34" charset="0"/>
            </a:endParaRPr>
          </a:p>
        </p:txBody>
      </p:sp>
      <p:sp>
        <p:nvSpPr>
          <p:cNvPr id="13" name="Shape 8"/>
          <p:cNvSpPr/>
          <p:nvPr/>
        </p:nvSpPr>
        <p:spPr>
          <a:xfrm>
            <a:off x="877120" y="5752164"/>
            <a:ext cx="8151763" cy="682079"/>
          </a:xfrm>
          <a:prstGeom prst="roundRect">
            <a:avLst>
              <a:gd name="adj" fmla="val 2728"/>
            </a:avLst>
          </a:prstGeom>
          <a:solidFill>
            <a:srgbClr val="B6D6FC">
              <a:alpha val="80000"/>
            </a:srgbClr>
          </a:solidFill>
          <a:ln/>
        </p:spPr>
      </p:sp>
      <p:pic>
        <p:nvPicPr>
          <p:cNvPr id="14" name="Image 3" descr="preencoded.png"/>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01092" y="5931948"/>
            <a:ext cx="155004" cy="123974"/>
          </a:xfrm>
          <a:prstGeom prst="rect">
            <a:avLst/>
          </a:prstGeom>
        </p:spPr>
      </p:pic>
      <p:sp>
        <p:nvSpPr>
          <p:cNvPr id="15" name="Text 9"/>
          <p:cNvSpPr/>
          <p:nvPr/>
        </p:nvSpPr>
        <p:spPr>
          <a:xfrm>
            <a:off x="1280072" y="5894742"/>
            <a:ext cx="7624837" cy="396925"/>
          </a:xfrm>
          <a:prstGeom prst="rect">
            <a:avLst/>
          </a:prstGeom>
          <a:noFill/>
          <a:ln/>
        </p:spPr>
        <p:txBody>
          <a:bodyPr wrap="square" lIns="0" tIns="0" rIns="0" bIns="0" rtlCol="0" anchor="t">
            <a:noAutofit/>
          </a:bodyPr>
          <a:lstStyle/>
          <a:p>
            <a:pPr>
              <a:lnSpc>
                <a:spcPct val="133000"/>
              </a:lnSpc>
            </a:pPr>
            <a:r>
              <a:rPr lang="en-US" sz="1200" dirty="0">
                <a:solidFill>
                  <a:srgbClr val="000000"/>
                </a:solidFill>
                <a:latin typeface="Arial" panose="020B0604020202020204" pitchFamily="34" charset="0"/>
                <a:ea typeface="Inter Medium" pitchFamily="34" charset="-122"/>
                <a:cs typeface="Arial" panose="020B0604020202020204" pitchFamily="34" charset="0"/>
              </a:rPr>
              <a:t>La Boussole des jeunes pose des questions simples sur votre situation et vous oriente en moins de 5 minutes. Aucune inscription n'est nécessaire pour consulter les résultats.</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61052" y="963970"/>
            <a:ext cx="7819053" cy="4398218"/>
          </a:xfrm>
          <a:prstGeom prst="rect">
            <a:avLst/>
          </a:prstGeom>
        </p:spPr>
      </p:pic>
      <p:sp>
        <p:nvSpPr>
          <p:cNvPr id="10" name="Shape 10">
            <a:extLst>
              <a:ext uri="{FF2B5EF4-FFF2-40B4-BE49-F238E27FC236}">
                <a16:creationId xmlns:a16="http://schemas.microsoft.com/office/drawing/2014/main" id="{5A10426A-42B1-77C3-EB92-EA219F04CAFE}"/>
              </a:ext>
            </a:extLst>
          </p:cNvPr>
          <p:cNvSpPr/>
          <p:nvPr/>
        </p:nvSpPr>
        <p:spPr>
          <a:xfrm>
            <a:off x="316685" y="5141168"/>
            <a:ext cx="4488580" cy="1194318"/>
          </a:xfrm>
          <a:prstGeom prst="roundRect">
            <a:avLst>
              <a:gd name="adj" fmla="val 2838"/>
            </a:avLst>
          </a:prstGeom>
          <a:solidFill>
            <a:srgbClr val="94B9DE">
              <a:alpha val="80000"/>
            </a:srgbClr>
          </a:solidFill>
          <a:ln/>
        </p:spPr>
      </p:sp>
      <p:sp>
        <p:nvSpPr>
          <p:cNvPr id="9" name="Shape 10">
            <a:extLst>
              <a:ext uri="{FF2B5EF4-FFF2-40B4-BE49-F238E27FC236}">
                <a16:creationId xmlns:a16="http://schemas.microsoft.com/office/drawing/2014/main" id="{3C89F3FC-8119-6BFC-8301-EE4574965CB6}"/>
              </a:ext>
            </a:extLst>
          </p:cNvPr>
          <p:cNvSpPr/>
          <p:nvPr/>
        </p:nvSpPr>
        <p:spPr>
          <a:xfrm>
            <a:off x="5439747" y="5141168"/>
            <a:ext cx="4181726" cy="1194318"/>
          </a:xfrm>
          <a:prstGeom prst="roundRect">
            <a:avLst>
              <a:gd name="adj" fmla="val 2838"/>
            </a:avLst>
          </a:prstGeom>
          <a:solidFill>
            <a:srgbClr val="8FC5E0">
              <a:alpha val="80000"/>
            </a:srgbClr>
          </a:solidFill>
          <a:ln/>
        </p:spPr>
      </p:sp>
      <p:sp>
        <p:nvSpPr>
          <p:cNvPr id="2" name="Text 0"/>
          <p:cNvSpPr/>
          <p:nvPr/>
        </p:nvSpPr>
        <p:spPr>
          <a:xfrm>
            <a:off x="877119" y="227981"/>
            <a:ext cx="4167932" cy="193849"/>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FranceConnect : une clé pour tous les services</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745073"/>
            <a:ext cx="8608963" cy="434762"/>
          </a:xfrm>
          <a:prstGeom prst="rect">
            <a:avLst/>
          </a:prstGeom>
          <a:noFill/>
          <a:ln/>
        </p:spPr>
        <p:txBody>
          <a:bodyPr wrap="none" lIns="0" tIns="0" rIns="0" bIns="0" rtlCol="0" anchor="t"/>
          <a:lstStyle/>
          <a:p>
            <a:r>
              <a:rPr lang="en-US" sz="1200" b="1" dirty="0">
                <a:solidFill>
                  <a:srgbClr val="464646"/>
                </a:solidFill>
                <a:latin typeface="Arial" panose="020B0604020202020204" pitchFamily="34" charset="0"/>
                <a:ea typeface="Inter Bold" pitchFamily="34" charset="-122"/>
                <a:cs typeface="Arial" panose="020B0604020202020204" pitchFamily="34" charset="0"/>
              </a:rPr>
              <a:t>FranceConnect</a:t>
            </a:r>
            <a:r>
              <a:rPr lang="en-US" sz="1200" dirty="0">
                <a:solidFill>
                  <a:srgbClr val="464646"/>
                </a:solidFill>
                <a:latin typeface="Arial" panose="020B0604020202020204" pitchFamily="34" charset="0"/>
                <a:ea typeface="Inter Medium" pitchFamily="34" charset="-122"/>
                <a:cs typeface="Arial" panose="020B0604020202020204" pitchFamily="34" charset="0"/>
              </a:rPr>
              <a:t> est un dispositif officiel de l'État qui vous permet de vous connecter à la majorité des services publics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en</a:t>
            </a:r>
            <a:r>
              <a:rPr lang="en-US" sz="1200" dirty="0">
                <a:solidFill>
                  <a:srgbClr val="464646"/>
                </a:solidFill>
                <a:latin typeface="Arial" panose="020B0604020202020204" pitchFamily="34" charset="0"/>
                <a:ea typeface="Inter Medium" pitchFamily="34" charset="-122"/>
                <a:cs typeface="Arial" panose="020B0604020202020204" pitchFamily="34" charset="0"/>
              </a:rPr>
              <a:t>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ligne</a:t>
            </a:r>
            <a:br>
              <a:rPr lang="en-US" sz="1200" dirty="0">
                <a:solidFill>
                  <a:srgbClr val="464646"/>
                </a:solidFill>
                <a:latin typeface="Arial" panose="020B0604020202020204" pitchFamily="34" charset="0"/>
                <a:ea typeface="Inter Medium" pitchFamily="34" charset="-122"/>
                <a:cs typeface="Arial" panose="020B0604020202020204" pitchFamily="34" charset="0"/>
              </a:rPr>
            </a:br>
            <a:r>
              <a:rPr lang="en-US" sz="1200" dirty="0">
                <a:solidFill>
                  <a:srgbClr val="464646"/>
                </a:solidFill>
                <a:latin typeface="Arial" panose="020B0604020202020204" pitchFamily="34" charset="0"/>
                <a:ea typeface="Inter Medium" pitchFamily="34" charset="-122"/>
                <a:cs typeface="Arial" panose="020B0604020202020204" pitchFamily="34" charset="0"/>
              </a:rPr>
              <a:t>avec un seul identifiant. Plus besoin de retenir des dizaines de mots de passe différents !</a:t>
            </a:r>
            <a:endParaRPr lang="en-US" sz="1200" dirty="0">
              <a:latin typeface="Arial" panose="020B0604020202020204" pitchFamily="34" charset="0"/>
              <a:cs typeface="Arial" panose="020B0604020202020204" pitchFamily="34" charset="0"/>
            </a:endParaRPr>
          </a:p>
        </p:txBody>
      </p:sp>
      <p:sp>
        <p:nvSpPr>
          <p:cNvPr id="5" name="Text 2"/>
          <p:cNvSpPr/>
          <p:nvPr/>
        </p:nvSpPr>
        <p:spPr>
          <a:xfrm>
            <a:off x="485192" y="5233392"/>
            <a:ext cx="2211314" cy="230087"/>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030303"/>
                </a:solidFill>
                <a:latin typeface="Arial" panose="020B0604020202020204" pitchFamily="34" charset="0"/>
                <a:ea typeface="DM Sans SemiBold" pitchFamily="34" charset="-122"/>
                <a:cs typeface="Arial" panose="020B0604020202020204" pitchFamily="34" charset="0"/>
              </a:rPr>
              <a:t> Comment ça marche ?</a:t>
            </a:r>
            <a:endParaRPr lang="en-US" sz="1400" b="1" dirty="0">
              <a:latin typeface="Arial" panose="020B0604020202020204" pitchFamily="34" charset="0"/>
              <a:cs typeface="Arial" panose="020B0604020202020204" pitchFamily="34" charset="0"/>
            </a:endParaRPr>
          </a:p>
        </p:txBody>
      </p:sp>
      <p:sp>
        <p:nvSpPr>
          <p:cNvPr id="6" name="Text 3"/>
          <p:cNvSpPr/>
          <p:nvPr/>
        </p:nvSpPr>
        <p:spPr>
          <a:xfrm>
            <a:off x="485192" y="5481636"/>
            <a:ext cx="4392205" cy="956486"/>
          </a:xfrm>
          <a:prstGeom prst="rect">
            <a:avLst/>
          </a:prstGeom>
          <a:noFill/>
          <a:ln/>
        </p:spPr>
        <p:txBody>
          <a:bodyPr wrap="square" lIns="0" tIns="0" rIns="0" bIns="0" rtlCol="0" anchor="t">
            <a:noAutofit/>
          </a:bodyPr>
          <a:lstStyle/>
          <a:p>
            <a:pPr marL="91440" indent="-91440">
              <a:buSzPct val="100000"/>
              <a:buFont typeface="+mj-lt"/>
              <a:buAutoNum type="arabicPeriod"/>
            </a:pPr>
            <a:r>
              <a:rPr lang="en-US" sz="1200" dirty="0">
                <a:solidFill>
                  <a:srgbClr val="464646"/>
                </a:solidFill>
                <a:latin typeface="Arial" panose="020B0604020202020204" pitchFamily="34" charset="0"/>
                <a:ea typeface="Inter Medium" pitchFamily="34" charset="-122"/>
                <a:cs typeface="Arial" panose="020B0604020202020204" pitchFamily="34" charset="0"/>
              </a:rPr>
              <a:t>Cliquez sur « Se connecter avec FranceConnect »</a:t>
            </a:r>
            <a:endParaRPr lang="en-US" sz="1200" dirty="0">
              <a:latin typeface="Arial" panose="020B0604020202020204" pitchFamily="34" charset="0"/>
              <a:cs typeface="Arial" panose="020B0604020202020204" pitchFamily="34" charset="0"/>
            </a:endParaRPr>
          </a:p>
          <a:p>
            <a:pPr marL="91440" indent="-91440">
              <a:buSzPct val="100000"/>
              <a:buFont typeface="+mj-lt"/>
              <a:buAutoNum type="arabicPeriod" startAt="2"/>
            </a:pPr>
            <a:r>
              <a:rPr lang="en-US" sz="1200" dirty="0">
                <a:solidFill>
                  <a:srgbClr val="464646"/>
                </a:solidFill>
                <a:latin typeface="Arial" panose="020B0604020202020204" pitchFamily="34" charset="0"/>
                <a:ea typeface="Inter Medium" pitchFamily="34" charset="-122"/>
                <a:cs typeface="Arial" panose="020B0604020202020204" pitchFamily="34" charset="0"/>
              </a:rPr>
              <a:t>Choisissez votre fournisseur d'identité (impots.gouv, ameli…)</a:t>
            </a:r>
            <a:endParaRPr lang="en-US" sz="1200" dirty="0">
              <a:latin typeface="Arial" panose="020B0604020202020204" pitchFamily="34" charset="0"/>
              <a:cs typeface="Arial" panose="020B0604020202020204" pitchFamily="34" charset="0"/>
            </a:endParaRPr>
          </a:p>
          <a:p>
            <a:pPr marL="91440" indent="-91440">
              <a:buSzPct val="100000"/>
              <a:buFont typeface="+mj-lt"/>
              <a:buAutoNum type="arabicPeriod" startAt="3"/>
            </a:pPr>
            <a:r>
              <a:rPr lang="en-US" sz="1200" dirty="0">
                <a:solidFill>
                  <a:srgbClr val="464646"/>
                </a:solidFill>
                <a:latin typeface="Arial" panose="020B0604020202020204" pitchFamily="34" charset="0"/>
                <a:ea typeface="Inter Medium" pitchFamily="34" charset="-122"/>
                <a:cs typeface="Arial" panose="020B0604020202020204" pitchFamily="34" charset="0"/>
              </a:rPr>
              <a:t>Entrez vos identifiants habituels de ce service</a:t>
            </a:r>
            <a:endParaRPr lang="en-US" sz="1200" dirty="0">
              <a:latin typeface="Arial" panose="020B0604020202020204" pitchFamily="34" charset="0"/>
              <a:cs typeface="Arial" panose="020B0604020202020204" pitchFamily="34" charset="0"/>
            </a:endParaRPr>
          </a:p>
          <a:p>
            <a:pPr marL="91440" indent="-91440">
              <a:buSzPct val="100000"/>
              <a:buFont typeface="+mj-lt"/>
              <a:buAutoNum type="arabicPeriod" startAt="4"/>
            </a:pPr>
            <a:r>
              <a:rPr lang="en-US" sz="1200" dirty="0">
                <a:solidFill>
                  <a:srgbClr val="464646"/>
                </a:solidFill>
                <a:latin typeface="Arial" panose="020B0604020202020204" pitchFamily="34" charset="0"/>
                <a:ea typeface="Inter Medium" pitchFamily="34" charset="-122"/>
                <a:cs typeface="Arial" panose="020B0604020202020204" pitchFamily="34" charset="0"/>
              </a:rPr>
              <a:t>Vous êtes automatiquement connecté au site cible</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5621195" y="5251549"/>
            <a:ext cx="1494458" cy="96887"/>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030303"/>
                </a:solidFill>
                <a:latin typeface="Arial" panose="020B0604020202020204" pitchFamily="34" charset="0"/>
                <a:ea typeface="DM Sans SemiBold" pitchFamily="34" charset="-122"/>
                <a:cs typeface="Arial" panose="020B0604020202020204" pitchFamily="34" charset="0"/>
              </a:rPr>
              <a:t> Pourquoi c'est sécurisé ?</a:t>
            </a:r>
            <a:endParaRPr lang="en-US" sz="1400" b="1" dirty="0">
              <a:latin typeface="Arial" panose="020B0604020202020204" pitchFamily="34" charset="0"/>
              <a:cs typeface="Arial" panose="020B0604020202020204" pitchFamily="34" charset="0"/>
            </a:endParaRPr>
          </a:p>
        </p:txBody>
      </p:sp>
      <p:sp>
        <p:nvSpPr>
          <p:cNvPr id="8" name="Text 5"/>
          <p:cNvSpPr/>
          <p:nvPr/>
        </p:nvSpPr>
        <p:spPr>
          <a:xfrm>
            <a:off x="5621196" y="5481636"/>
            <a:ext cx="4000277" cy="769874"/>
          </a:xfrm>
          <a:prstGeom prst="rect">
            <a:avLst/>
          </a:prstGeom>
          <a:noFill/>
          <a:ln/>
        </p:spPr>
        <p:txBody>
          <a:bodyPr wrap="square" lIns="0" tIns="0" rIns="0" bIns="0" rtlCol="0" anchor="t">
            <a:noAutofit/>
          </a:bodyPr>
          <a:lstStyle/>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Vos identifiants ne sont jamais partagés entre les sites</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Connexion chiffrée et certifiée par l'État</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Vous pouvez révoquer l'accès à tout moment</a:t>
            </a:r>
            <a:endParaRPr lang="en-US" sz="1200" dirty="0">
              <a:latin typeface="Arial" panose="020B0604020202020204" pitchFamily="34" charset="0"/>
              <a:cs typeface="Arial" panose="020B0604020202020204" pitchFamily="34" charset="0"/>
            </a:endParaRPr>
          </a:p>
          <a:p>
            <a:pPr marL="91440" indent="-91440">
              <a:buSzPct val="100000"/>
              <a:buChar char="•"/>
            </a:pPr>
            <a:r>
              <a:rPr lang="en-US" sz="1200" dirty="0">
                <a:solidFill>
                  <a:srgbClr val="464646"/>
                </a:solidFill>
                <a:latin typeface="Arial" panose="020B0604020202020204" pitchFamily="34" charset="0"/>
                <a:ea typeface="Inter Medium" pitchFamily="34" charset="-122"/>
                <a:cs typeface="Arial" panose="020B0604020202020204" pitchFamily="34" charset="0"/>
              </a:rPr>
              <a:t>Aucun mot de passe supplémentaire à créer</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2"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119" y="3835810"/>
            <a:ext cx="4021336" cy="1487396"/>
          </a:xfrm>
          <a:prstGeom prst="rect">
            <a:avLst/>
          </a:prstGeom>
        </p:spPr>
      </p:pic>
      <p:sp>
        <p:nvSpPr>
          <p:cNvPr id="2" name="Text 0"/>
          <p:cNvSpPr/>
          <p:nvPr/>
        </p:nvSpPr>
        <p:spPr>
          <a:xfrm>
            <a:off x="877119" y="435696"/>
            <a:ext cx="5199162" cy="363364"/>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Les principaux sites par thème</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015841"/>
            <a:ext cx="8151763" cy="614660"/>
          </a:xfrm>
          <a:prstGeom prst="rect">
            <a:avLst/>
          </a:prstGeom>
          <a:noFill/>
          <a:ln/>
        </p:spPr>
        <p:txBody>
          <a:bodyPr wrap="square" lIns="0" tIns="0" rIns="0" bIns="0" rtlCol="0" anchor="t">
            <a:noAutofit/>
          </a:bodyPr>
          <a:lstStyle/>
          <a:p>
            <a:pPr>
              <a:lnSpc>
                <a:spcPct val="129000"/>
              </a:lnSpc>
            </a:pPr>
            <a:r>
              <a:rPr lang="en-US" sz="1400" dirty="0">
                <a:solidFill>
                  <a:srgbClr val="464646"/>
                </a:solidFill>
                <a:latin typeface="Arial" panose="020B0604020202020204" pitchFamily="34" charset="0"/>
                <a:ea typeface="Inter Medium" pitchFamily="34" charset="-122"/>
                <a:cs typeface="Arial" panose="020B0604020202020204" pitchFamily="34" charset="0"/>
              </a:rPr>
              <a:t>Voici un panorama des sites officiels les plus utiles au quotidien. Tous sont gratuits et accessibles depuis un ordinateur, une tablette ou un smartphone.</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119" y="1862294"/>
            <a:ext cx="4021336" cy="1487396"/>
          </a:xfrm>
          <a:prstGeom prst="rect">
            <a:avLst/>
          </a:prstGeom>
        </p:spPr>
      </p:pic>
      <p:pic>
        <p:nvPicPr>
          <p:cNvPr id="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00574" y="1963796"/>
            <a:ext cx="174427" cy="174427"/>
          </a:xfrm>
          <a:prstGeom prst="rect">
            <a:avLst/>
          </a:prstGeom>
        </p:spPr>
      </p:pic>
      <p:sp>
        <p:nvSpPr>
          <p:cNvPr id="6" name="Text 2"/>
          <p:cNvSpPr/>
          <p:nvPr/>
        </p:nvSpPr>
        <p:spPr>
          <a:xfrm>
            <a:off x="1007641" y="2334452"/>
            <a:ext cx="1453604" cy="181645"/>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Impôts</a:t>
            </a:r>
            <a:endParaRPr lang="en-US" sz="1400" b="1" dirty="0">
              <a:latin typeface="Arial" panose="020B0604020202020204" pitchFamily="34" charset="0"/>
              <a:cs typeface="Arial" panose="020B0604020202020204" pitchFamily="34" charset="0"/>
            </a:endParaRPr>
          </a:p>
        </p:txBody>
      </p:sp>
      <p:sp>
        <p:nvSpPr>
          <p:cNvPr id="7" name="Text 3"/>
          <p:cNvSpPr/>
          <p:nvPr/>
        </p:nvSpPr>
        <p:spPr>
          <a:xfrm>
            <a:off x="1007642" y="2581506"/>
            <a:ext cx="3760291" cy="360462"/>
          </a:xfrm>
          <a:prstGeom prst="rect">
            <a:avLst/>
          </a:prstGeom>
          <a:noFill/>
          <a:ln/>
        </p:spPr>
        <p:txBody>
          <a:bodyPr wrap="square" lIns="0" tIns="0" rIns="0" bIns="0" rtlCol="0" anchor="t">
            <a:noAutofit/>
          </a:bodyPr>
          <a:lstStyle/>
          <a:p>
            <a:pPr>
              <a:lnSpc>
                <a:spcPct val="129000"/>
              </a:lnSpc>
            </a:pPr>
            <a:r>
              <a:rPr lang="en-US" sz="1200" b="1" dirty="0">
                <a:solidFill>
                  <a:srgbClr val="464646"/>
                </a:solidFill>
                <a:latin typeface="Arial" panose="020B0604020202020204" pitchFamily="34" charset="0"/>
                <a:ea typeface="Inter Bold" pitchFamily="34" charset="-122"/>
                <a:cs typeface="Arial" panose="020B0604020202020204" pitchFamily="34" charset="0"/>
              </a:rPr>
              <a:t>impots.gouv.fr</a:t>
            </a:r>
            <a:r>
              <a:rPr lang="en-US" sz="1200" dirty="0">
                <a:solidFill>
                  <a:srgbClr val="464646"/>
                </a:solidFill>
                <a:latin typeface="Arial" panose="020B0604020202020204" pitchFamily="34" charset="0"/>
                <a:ea typeface="Inter Medium" pitchFamily="34" charset="-122"/>
                <a:cs typeface="Arial" panose="020B0604020202020204" pitchFamily="34" charset="0"/>
              </a:rPr>
              <a:t> — Déclaration de revenus, paiement, simulation d'impôt, remboursements. Accessible via FranceConnect.</a:t>
            </a:r>
            <a:endParaRPr lang="en-US" sz="1200" dirty="0">
              <a:latin typeface="Arial" panose="020B0604020202020204" pitchFamily="34" charset="0"/>
              <a:cs typeface="Arial" panose="020B0604020202020204" pitchFamily="34" charset="0"/>
            </a:endParaRPr>
          </a:p>
        </p:txBody>
      </p:sp>
      <p:pic>
        <p:nvPicPr>
          <p:cNvPr id="8"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7471" y="1862294"/>
            <a:ext cx="4021410" cy="1487396"/>
          </a:xfrm>
          <a:prstGeom prst="rect">
            <a:avLst/>
          </a:prstGeom>
        </p:spPr>
      </p:pic>
      <p:pic>
        <p:nvPicPr>
          <p:cNvPr id="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30927" y="1963796"/>
            <a:ext cx="174427" cy="174427"/>
          </a:xfrm>
          <a:prstGeom prst="rect">
            <a:avLst/>
          </a:prstGeom>
        </p:spPr>
      </p:pic>
      <p:sp>
        <p:nvSpPr>
          <p:cNvPr id="10" name="Text 4"/>
          <p:cNvSpPr/>
          <p:nvPr/>
        </p:nvSpPr>
        <p:spPr>
          <a:xfrm>
            <a:off x="5137993" y="2334452"/>
            <a:ext cx="1453604" cy="181645"/>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Santé</a:t>
            </a:r>
            <a:endParaRPr lang="en-US" sz="1400" b="1" dirty="0">
              <a:latin typeface="Arial" panose="020B0604020202020204" pitchFamily="34" charset="0"/>
              <a:cs typeface="Arial" panose="020B0604020202020204" pitchFamily="34" charset="0"/>
            </a:endParaRPr>
          </a:p>
        </p:txBody>
      </p:sp>
      <p:sp>
        <p:nvSpPr>
          <p:cNvPr id="11" name="Text 5"/>
          <p:cNvSpPr/>
          <p:nvPr/>
        </p:nvSpPr>
        <p:spPr>
          <a:xfrm>
            <a:off x="5137993" y="2581506"/>
            <a:ext cx="3760366" cy="360462"/>
          </a:xfrm>
          <a:prstGeom prst="rect">
            <a:avLst/>
          </a:prstGeom>
          <a:noFill/>
          <a:ln/>
        </p:spPr>
        <p:txBody>
          <a:bodyPr wrap="square" lIns="0" tIns="0" rIns="0" bIns="0" rtlCol="0" anchor="t">
            <a:noAutofit/>
          </a:bodyPr>
          <a:lstStyle/>
          <a:p>
            <a:pPr>
              <a:lnSpc>
                <a:spcPct val="129000"/>
              </a:lnSpc>
            </a:pPr>
            <a:r>
              <a:rPr lang="en-US" sz="1200" b="1" dirty="0">
                <a:solidFill>
                  <a:srgbClr val="464646"/>
                </a:solidFill>
                <a:latin typeface="Arial" panose="020B0604020202020204" pitchFamily="34" charset="0"/>
                <a:ea typeface="Inter Bold" pitchFamily="34" charset="-122"/>
                <a:cs typeface="Arial" panose="020B0604020202020204" pitchFamily="34" charset="0"/>
              </a:rPr>
              <a:t>ameli.fr</a:t>
            </a:r>
            <a:r>
              <a:rPr lang="en-US" sz="1200" dirty="0">
                <a:solidFill>
                  <a:srgbClr val="464646"/>
                </a:solidFill>
                <a:latin typeface="Arial" panose="020B0604020202020204" pitchFamily="34" charset="0"/>
                <a:ea typeface="Inter Medium" pitchFamily="34" charset="-122"/>
                <a:cs typeface="Arial" panose="020B0604020202020204" pitchFamily="34" charset="0"/>
              </a:rPr>
              <a:t> — Remboursements, carte vitale, arrêts de travail, médecin traitant. Votre espace personnel Ameli.</a:t>
            </a:r>
            <a:endParaRPr lang="en-US" sz="1200" dirty="0">
              <a:latin typeface="Arial" panose="020B0604020202020204" pitchFamily="34" charset="0"/>
              <a:cs typeface="Arial" panose="020B0604020202020204" pitchFamily="34" charset="0"/>
            </a:endParaRPr>
          </a:p>
        </p:txBody>
      </p:sp>
      <p:pic>
        <p:nvPicPr>
          <p:cNvPr id="13" name="Image 5"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00574" y="3937312"/>
            <a:ext cx="174427" cy="174427"/>
          </a:xfrm>
          <a:prstGeom prst="rect">
            <a:avLst/>
          </a:prstGeom>
        </p:spPr>
      </p:pic>
      <p:sp>
        <p:nvSpPr>
          <p:cNvPr id="14" name="Text 6"/>
          <p:cNvSpPr/>
          <p:nvPr/>
        </p:nvSpPr>
        <p:spPr>
          <a:xfrm>
            <a:off x="1007641" y="4307969"/>
            <a:ext cx="1547440" cy="181645"/>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Famille &amp; logement</a:t>
            </a:r>
            <a:endParaRPr lang="en-US" sz="1400" b="1" dirty="0">
              <a:latin typeface="Arial" panose="020B0604020202020204" pitchFamily="34" charset="0"/>
              <a:cs typeface="Arial" panose="020B0604020202020204" pitchFamily="34" charset="0"/>
            </a:endParaRPr>
          </a:p>
        </p:txBody>
      </p:sp>
      <p:sp>
        <p:nvSpPr>
          <p:cNvPr id="15" name="Text 7"/>
          <p:cNvSpPr/>
          <p:nvPr/>
        </p:nvSpPr>
        <p:spPr>
          <a:xfrm>
            <a:off x="1007642" y="4555022"/>
            <a:ext cx="3760291" cy="360462"/>
          </a:xfrm>
          <a:prstGeom prst="rect">
            <a:avLst/>
          </a:prstGeom>
          <a:noFill/>
          <a:ln/>
        </p:spPr>
        <p:txBody>
          <a:bodyPr wrap="square" lIns="0" tIns="0" rIns="0" bIns="0" rtlCol="0" anchor="t">
            <a:noAutofit/>
          </a:bodyPr>
          <a:lstStyle/>
          <a:p>
            <a:pPr>
              <a:lnSpc>
                <a:spcPct val="129000"/>
              </a:lnSpc>
            </a:pPr>
            <a:r>
              <a:rPr lang="en-US" sz="1200" b="1" dirty="0">
                <a:solidFill>
                  <a:srgbClr val="464646"/>
                </a:solidFill>
                <a:latin typeface="Arial" panose="020B0604020202020204" pitchFamily="34" charset="0"/>
                <a:ea typeface="Inter Bold" pitchFamily="34" charset="-122"/>
                <a:cs typeface="Arial" panose="020B0604020202020204" pitchFamily="34" charset="0"/>
              </a:rPr>
              <a:t>caf.fr</a:t>
            </a:r>
            <a:r>
              <a:rPr lang="en-US" sz="1200" dirty="0">
                <a:solidFill>
                  <a:srgbClr val="464646"/>
                </a:solidFill>
                <a:latin typeface="Arial" panose="020B0604020202020204" pitchFamily="34" charset="0"/>
                <a:ea typeface="Inter Medium" pitchFamily="34" charset="-122"/>
                <a:cs typeface="Arial" panose="020B0604020202020204" pitchFamily="34" charset="0"/>
              </a:rPr>
              <a:t> — APL, allocations familiales, RSA, prime d'activité. Gérez tout depuis votre espace en ligne.</a:t>
            </a:r>
            <a:endParaRPr lang="en-US" sz="1200" dirty="0">
              <a:latin typeface="Arial" panose="020B0604020202020204" pitchFamily="34" charset="0"/>
              <a:cs typeface="Arial" panose="020B0604020202020204" pitchFamily="34" charset="0"/>
            </a:endParaRPr>
          </a:p>
        </p:txBody>
      </p:sp>
      <p:pic>
        <p:nvPicPr>
          <p:cNvPr id="16" name="Image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7471" y="3835810"/>
            <a:ext cx="4021410" cy="1487396"/>
          </a:xfrm>
          <a:prstGeom prst="rect">
            <a:avLst/>
          </a:prstGeom>
        </p:spPr>
      </p:pic>
      <p:pic>
        <p:nvPicPr>
          <p:cNvPr id="17"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30927" y="3937312"/>
            <a:ext cx="174427" cy="174427"/>
          </a:xfrm>
          <a:prstGeom prst="rect">
            <a:avLst/>
          </a:prstGeom>
        </p:spPr>
      </p:pic>
      <p:sp>
        <p:nvSpPr>
          <p:cNvPr id="18" name="Text 8"/>
          <p:cNvSpPr/>
          <p:nvPr/>
        </p:nvSpPr>
        <p:spPr>
          <a:xfrm>
            <a:off x="5137993" y="4307969"/>
            <a:ext cx="1551608" cy="181645"/>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Véhicule &amp; identité</a:t>
            </a:r>
            <a:endParaRPr lang="en-US" sz="1400" b="1" dirty="0">
              <a:latin typeface="Arial" panose="020B0604020202020204" pitchFamily="34" charset="0"/>
              <a:cs typeface="Arial" panose="020B0604020202020204" pitchFamily="34" charset="0"/>
            </a:endParaRPr>
          </a:p>
        </p:txBody>
      </p:sp>
      <p:sp>
        <p:nvSpPr>
          <p:cNvPr id="19" name="Text 9"/>
          <p:cNvSpPr/>
          <p:nvPr/>
        </p:nvSpPr>
        <p:spPr>
          <a:xfrm>
            <a:off x="5137993" y="4555022"/>
            <a:ext cx="3760366" cy="360462"/>
          </a:xfrm>
          <a:prstGeom prst="rect">
            <a:avLst/>
          </a:prstGeom>
          <a:noFill/>
          <a:ln/>
        </p:spPr>
        <p:txBody>
          <a:bodyPr wrap="square" lIns="0" tIns="0" rIns="0" bIns="0" rtlCol="0" anchor="t">
            <a:noAutofit/>
          </a:bodyPr>
          <a:lstStyle/>
          <a:p>
            <a:pPr>
              <a:lnSpc>
                <a:spcPct val="129000"/>
              </a:lnSpc>
            </a:pPr>
            <a:r>
              <a:rPr lang="en-US" sz="1200" b="1" dirty="0">
                <a:solidFill>
                  <a:srgbClr val="464646"/>
                </a:solidFill>
                <a:latin typeface="Arial" panose="020B0604020202020204" pitchFamily="34" charset="0"/>
                <a:ea typeface="Inter Bold" pitchFamily="34" charset="-122"/>
                <a:cs typeface="Arial" panose="020B0604020202020204" pitchFamily="34" charset="0"/>
              </a:rPr>
              <a:t>ants.gouv.fr</a:t>
            </a:r>
            <a:r>
              <a:rPr lang="en-US" sz="1200" dirty="0">
                <a:solidFill>
                  <a:srgbClr val="464646"/>
                </a:solidFill>
                <a:latin typeface="Arial" panose="020B0604020202020204" pitchFamily="34" charset="0"/>
                <a:ea typeface="Inter Medium" pitchFamily="34" charset="-122"/>
                <a:cs typeface="Arial" panose="020B0604020202020204" pitchFamily="34" charset="0"/>
              </a:rPr>
              <a:t> — Carte grise, permis de conduire, passeport, carte d'identité. Fini les longues files en préfecture.</a:t>
            </a:r>
            <a:endParaRPr lang="en-US" sz="1200" dirty="0">
              <a:latin typeface="Arial" panose="020B0604020202020204" pitchFamily="34" charset="0"/>
              <a:cs typeface="Arial" panose="020B0604020202020204" pitchFamily="34" charset="0"/>
            </a:endParaRPr>
          </a:p>
        </p:txBody>
      </p:sp>
      <p:sp>
        <p:nvSpPr>
          <p:cNvPr id="20" name="Shape 10"/>
          <p:cNvSpPr/>
          <p:nvPr/>
        </p:nvSpPr>
        <p:spPr>
          <a:xfrm>
            <a:off x="877120" y="5761715"/>
            <a:ext cx="8151763" cy="614660"/>
          </a:xfrm>
          <a:prstGeom prst="roundRect">
            <a:avLst>
              <a:gd name="adj" fmla="val 2838"/>
            </a:avLst>
          </a:prstGeom>
          <a:solidFill>
            <a:srgbClr val="95B8DE">
              <a:alpha val="63000"/>
            </a:srgbClr>
          </a:solidFill>
          <a:ln/>
        </p:spPr>
      </p:sp>
      <p:pic>
        <p:nvPicPr>
          <p:cNvPr id="21" name="Image 8" descr="preencoded.png"/>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93354" y="5877655"/>
            <a:ext cx="145331" cy="116235"/>
          </a:xfrm>
          <a:prstGeom prst="rect">
            <a:avLst/>
          </a:prstGeom>
        </p:spPr>
      </p:pic>
      <p:sp>
        <p:nvSpPr>
          <p:cNvPr id="22" name="Text 11"/>
          <p:cNvSpPr/>
          <p:nvPr/>
        </p:nvSpPr>
        <p:spPr>
          <a:xfrm>
            <a:off x="1254919" y="5842159"/>
            <a:ext cx="7657728" cy="360462"/>
          </a:xfrm>
          <a:prstGeom prst="rect">
            <a:avLst/>
          </a:prstGeom>
          <a:noFill/>
          <a:ln/>
        </p:spPr>
        <p:txBody>
          <a:bodyPr wrap="square" lIns="0" tIns="0" rIns="0" bIns="0" rtlCol="0" anchor="t">
            <a:noAutofit/>
          </a:bodyPr>
          <a:lstStyle/>
          <a:p>
            <a:pPr>
              <a:lnSpc>
                <a:spcPct val="129000"/>
              </a:lnSpc>
            </a:pPr>
            <a:r>
              <a:rPr lang="en-US" sz="1200" dirty="0">
                <a:solidFill>
                  <a:srgbClr val="000000"/>
                </a:solidFill>
                <a:latin typeface="Arial" panose="020B0604020202020204" pitchFamily="34" charset="0"/>
                <a:ea typeface="Inter Medium" pitchFamily="34" charset="-122"/>
                <a:cs typeface="Arial" panose="020B0604020202020204" pitchFamily="34" charset="0"/>
              </a:rPr>
              <a:t>Attention aux sites non officiels qui proposent ces démarches contre paiement ! Vérifiez toujours que l'URL se termine en </a:t>
            </a:r>
            <a:r>
              <a:rPr lang="en-US" sz="1200" b="1" dirty="0">
                <a:solidFill>
                  <a:srgbClr val="000000"/>
                </a:solidFill>
                <a:latin typeface="Arial" panose="020B0604020202020204" pitchFamily="34" charset="0"/>
                <a:ea typeface="Inter Bold" pitchFamily="34" charset="-122"/>
                <a:cs typeface="Arial" panose="020B0604020202020204" pitchFamily="34" charset="0"/>
              </a:rPr>
              <a:t>.gouv.fr</a:t>
            </a:r>
            <a:r>
              <a:rPr lang="en-US" sz="1200" dirty="0">
                <a:solidFill>
                  <a:srgbClr val="000000"/>
                </a:solidFill>
                <a:latin typeface="Arial" panose="020B0604020202020204" pitchFamily="34" charset="0"/>
                <a:ea typeface="Inter Medium" pitchFamily="34" charset="-122"/>
                <a:cs typeface="Arial" panose="020B0604020202020204" pitchFamily="34" charset="0"/>
              </a:rPr>
              <a:t> pour être sûr d'être sur un site de l'État.</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77119" y="380703"/>
            <a:ext cx="6560046" cy="392311"/>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Vous n'êtes pas seul·e : les lieux d'aide</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062726"/>
            <a:ext cx="8151763" cy="591795"/>
          </a:xfrm>
          <a:prstGeom prst="rect">
            <a:avLst/>
          </a:prstGeom>
          <a:noFill/>
          <a:ln/>
        </p:spPr>
        <p:txBody>
          <a:bodyPr wrap="square" lIns="0" tIns="0" rIns="0" bIns="0" rtlCol="0" anchor="t">
            <a:noAutofit/>
          </a:bodyPr>
          <a:lstStyle/>
          <a:p>
            <a:pPr>
              <a:lnSpc>
                <a:spcPct val="133000"/>
              </a:lnSpc>
            </a:pPr>
            <a:r>
              <a:rPr lang="en-US" sz="1400" dirty="0">
                <a:solidFill>
                  <a:srgbClr val="464646"/>
                </a:solidFill>
                <a:latin typeface="Arial" panose="020B0604020202020204" pitchFamily="34" charset="0"/>
                <a:ea typeface="Inter Medium" pitchFamily="34" charset="-122"/>
                <a:cs typeface="Arial" panose="020B0604020202020204" pitchFamily="34" charset="0"/>
              </a:rPr>
              <a:t>Effectuer des démarches en ligne ne veut pas dire être seul face à l'écran. De nombreux professionnels et bénévoles sont là pour vous accompagner, gratuitement, près de chez vous.</a:t>
            </a: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3628" y="2355875"/>
            <a:ext cx="186035" cy="186035"/>
          </a:xfrm>
          <a:prstGeom prst="rect">
            <a:avLst/>
          </a:prstGeom>
        </p:spPr>
      </p:pic>
      <p:sp>
        <p:nvSpPr>
          <p:cNvPr id="5" name="Text 2"/>
          <p:cNvSpPr/>
          <p:nvPr/>
        </p:nvSpPr>
        <p:spPr>
          <a:xfrm>
            <a:off x="1280145" y="2352080"/>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France Services</a:t>
            </a:r>
            <a:endParaRPr lang="en-US" sz="1400" b="1" dirty="0">
              <a:latin typeface="Arial" panose="020B0604020202020204" pitchFamily="34" charset="0"/>
              <a:cs typeface="Arial" panose="020B0604020202020204" pitchFamily="34" charset="0"/>
            </a:endParaRPr>
          </a:p>
        </p:txBody>
      </p:sp>
      <p:sp>
        <p:nvSpPr>
          <p:cNvPr id="6" name="Text 3"/>
          <p:cNvSpPr/>
          <p:nvPr/>
        </p:nvSpPr>
        <p:spPr>
          <a:xfrm>
            <a:off x="1280146" y="2620343"/>
            <a:ext cx="3595315" cy="79384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Un réseau de plus de 2 700 espaces en France où des agents formés vous aident à réaliser toutes vos démarches administratives en ligne, gratuitement. Disponible en zones urbaines et rurales.</a:t>
            </a:r>
            <a:endParaRPr lang="en-US" sz="12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76975" y="2355875"/>
            <a:ext cx="186035" cy="186035"/>
          </a:xfrm>
          <a:prstGeom prst="rect">
            <a:avLst/>
          </a:prstGeom>
        </p:spPr>
      </p:pic>
      <p:sp>
        <p:nvSpPr>
          <p:cNvPr id="8" name="Text 4"/>
          <p:cNvSpPr/>
          <p:nvPr/>
        </p:nvSpPr>
        <p:spPr>
          <a:xfrm>
            <a:off x="5433493" y="2352080"/>
            <a:ext cx="2570187"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Bibliothèques et médiathèques</a:t>
            </a:r>
            <a:endParaRPr lang="en-US" sz="1400" b="1" dirty="0">
              <a:latin typeface="Arial" panose="020B0604020202020204" pitchFamily="34" charset="0"/>
              <a:cs typeface="Arial" panose="020B0604020202020204" pitchFamily="34" charset="0"/>
            </a:endParaRPr>
          </a:p>
        </p:txBody>
      </p:sp>
      <p:sp>
        <p:nvSpPr>
          <p:cNvPr id="9" name="Text 5"/>
          <p:cNvSpPr/>
          <p:nvPr/>
        </p:nvSpPr>
        <p:spPr>
          <a:xfrm>
            <a:off x="5433492" y="2620343"/>
            <a:ext cx="3595390" cy="79384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De nombreuses bibliothèques proposent des ateliers numériques gratuits et un accès à des ordinateurs avec une connexion internet. Renseignez-vous auprès de votre mairie.</a:t>
            </a:r>
            <a:endParaRPr lang="en-US" sz="12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3628" y="4415610"/>
            <a:ext cx="186035" cy="186035"/>
          </a:xfrm>
          <a:prstGeom prst="rect">
            <a:avLst/>
          </a:prstGeom>
        </p:spPr>
      </p:pic>
      <p:sp>
        <p:nvSpPr>
          <p:cNvPr id="11" name="Text 6"/>
          <p:cNvSpPr/>
          <p:nvPr/>
        </p:nvSpPr>
        <p:spPr>
          <a:xfrm>
            <a:off x="1280145" y="4411815"/>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Aidants Connect</a:t>
            </a:r>
            <a:endParaRPr lang="en-US" sz="1400" b="1" dirty="0">
              <a:latin typeface="Arial" panose="020B0604020202020204" pitchFamily="34" charset="0"/>
              <a:cs typeface="Arial" panose="020B0604020202020204" pitchFamily="34" charset="0"/>
            </a:endParaRPr>
          </a:p>
        </p:txBody>
      </p:sp>
      <p:sp>
        <p:nvSpPr>
          <p:cNvPr id="12" name="Text 7"/>
          <p:cNvSpPr/>
          <p:nvPr/>
        </p:nvSpPr>
        <p:spPr>
          <a:xfrm>
            <a:off x="1280146" y="4680078"/>
            <a:ext cx="3595315" cy="793849"/>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Ce dispositif permet à un proche ou un professionnel de confiance d'effectuer des démarches à votre place, de manière sécurisée et légale, si vous avez des difficultés à le faire vous-même.</a:t>
            </a:r>
            <a:endParaRPr lang="en-US" sz="1200"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76975" y="4415610"/>
            <a:ext cx="186035" cy="186035"/>
          </a:xfrm>
          <a:prstGeom prst="rect">
            <a:avLst/>
          </a:prstGeom>
        </p:spPr>
      </p:pic>
      <p:sp>
        <p:nvSpPr>
          <p:cNvPr id="14" name="Text 8"/>
          <p:cNvSpPr/>
          <p:nvPr/>
        </p:nvSpPr>
        <p:spPr>
          <a:xfrm>
            <a:off x="5433492" y="4411815"/>
            <a:ext cx="1550566" cy="193849"/>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464646"/>
                </a:solidFill>
                <a:latin typeface="Arial" panose="020B0604020202020204" pitchFamily="34" charset="0"/>
                <a:ea typeface="DM Sans SemiBold" pitchFamily="34" charset="-122"/>
                <a:cs typeface="Arial" panose="020B0604020202020204" pitchFamily="34" charset="0"/>
              </a:rPr>
              <a:t> Le numéro 3939</a:t>
            </a:r>
            <a:endParaRPr lang="en-US" sz="1400" b="1" dirty="0">
              <a:latin typeface="Arial" panose="020B0604020202020204" pitchFamily="34" charset="0"/>
              <a:cs typeface="Arial" panose="020B0604020202020204" pitchFamily="34" charset="0"/>
            </a:endParaRPr>
          </a:p>
        </p:txBody>
      </p:sp>
      <p:sp>
        <p:nvSpPr>
          <p:cNvPr id="15" name="Text 9"/>
          <p:cNvSpPr/>
          <p:nvPr/>
        </p:nvSpPr>
        <p:spPr>
          <a:xfrm>
            <a:off x="5433491" y="4680078"/>
            <a:ext cx="3691847" cy="595387"/>
          </a:xfrm>
          <a:prstGeom prst="rect">
            <a:avLst/>
          </a:prstGeom>
          <a:noFill/>
          <a:ln/>
        </p:spPr>
        <p:txBody>
          <a:bodyPr wrap="square" lIns="0" tIns="0" rIns="0" bIns="0" rtlCol="0" anchor="t">
            <a:noAutofit/>
          </a:bodyPr>
          <a:lstStyle/>
          <a:p>
            <a:pPr>
              <a:lnSpc>
                <a:spcPct val="133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 Allô Service Public » répond à toutes vos questions administratives par téléphone, du lundi au vendredi, de 8h à 20h. Un conseiller humain vous guide pas à pas.</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77119" y="516545"/>
            <a:ext cx="6692578" cy="369466"/>
          </a:xfrm>
          <a:prstGeom prst="rect">
            <a:avLst/>
          </a:prstGeom>
          <a:noFill/>
          <a:ln/>
        </p:spPr>
        <p:txBody>
          <a:bodyPr wrap="none" lIns="0" tIns="0" rIns="0" bIns="0" rtlCol="0" anchor="t"/>
          <a:lstStyle/>
          <a:p>
            <a:pPr>
              <a:lnSpc>
                <a:spcPct val="104000"/>
              </a:lnSpc>
            </a:pPr>
            <a:r>
              <a:rPr lang="en-US" sz="2400" dirty="0">
                <a:solidFill>
                  <a:srgbClr val="000000"/>
                </a:solidFill>
                <a:latin typeface="Arial" panose="020B0604020202020204" pitchFamily="34" charset="0"/>
                <a:ea typeface="Twemoji Mozilla" pitchFamily="34" charset="-122"/>
                <a:cs typeface="Arial" panose="020B0604020202020204" pitchFamily="34" charset="0"/>
              </a:rPr>
              <a:t>✅</a:t>
            </a:r>
            <a:r>
              <a:rPr lang="en-US" sz="2400" dirty="0">
                <a:solidFill>
                  <a:srgbClr val="030303"/>
                </a:solidFill>
                <a:latin typeface="Arial" panose="020B0604020202020204" pitchFamily="34" charset="0"/>
                <a:ea typeface="DM Sans SemiBold" pitchFamily="34" charset="-122"/>
                <a:cs typeface="Arial" panose="020B0604020202020204" pitchFamily="34" charset="0"/>
              </a:rPr>
              <a:t> Ce que vous pouvez faire dès aujourd'hui</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877120" y="1227937"/>
            <a:ext cx="8151763" cy="525779"/>
          </a:xfrm>
          <a:prstGeom prst="rect">
            <a:avLst/>
          </a:prstGeom>
          <a:noFill/>
          <a:ln/>
        </p:spPr>
        <p:txBody>
          <a:bodyPr wrap="square" lIns="0" tIns="0" rIns="0" bIns="0" rtlCol="0" anchor="t">
            <a:noAutofit/>
          </a:bodyPr>
          <a:lstStyle/>
          <a:p>
            <a:pPr>
              <a:lnSpc>
                <a:spcPct val="130000"/>
              </a:lnSpc>
            </a:pPr>
            <a:r>
              <a:rPr lang="en-US" sz="1400" dirty="0">
                <a:solidFill>
                  <a:srgbClr val="464646"/>
                </a:solidFill>
                <a:latin typeface="Arial" panose="020B0604020202020204" pitchFamily="34" charset="0"/>
                <a:ea typeface="Inter Medium" pitchFamily="34" charset="-122"/>
                <a:cs typeface="Arial" panose="020B0604020202020204" pitchFamily="34" charset="0"/>
              </a:rPr>
              <a:t>Vous avez maintenant tous les repères pour commencer. Voici les premières actions concrètes à entreprendre — à votre rythme, sans pression. Chaque petit pas compte !</a:t>
            </a:r>
            <a:endParaRPr lang="en-US" sz="1400" dirty="0">
              <a:latin typeface="Arial" panose="020B0604020202020204" pitchFamily="34" charset="0"/>
              <a:cs typeface="Arial" panose="020B0604020202020204" pitchFamily="34" charset="0"/>
            </a:endParaRPr>
          </a:p>
        </p:txBody>
      </p:sp>
      <p:sp>
        <p:nvSpPr>
          <p:cNvPr id="4" name="Shape 2"/>
          <p:cNvSpPr/>
          <p:nvPr/>
        </p:nvSpPr>
        <p:spPr>
          <a:xfrm>
            <a:off x="877119" y="2493541"/>
            <a:ext cx="2642146" cy="1457186"/>
          </a:xfrm>
          <a:prstGeom prst="roundRect">
            <a:avLst>
              <a:gd name="adj" fmla="val 1701"/>
            </a:avLst>
          </a:prstGeom>
          <a:solidFill>
            <a:srgbClr val="94B9DE">
              <a:alpha val="60000"/>
            </a:srgbClr>
          </a:solidFill>
          <a:ln/>
        </p:spPr>
      </p:sp>
      <p:sp>
        <p:nvSpPr>
          <p:cNvPr id="5" name="Text 3"/>
          <p:cNvSpPr/>
          <p:nvPr/>
        </p:nvSpPr>
        <p:spPr>
          <a:xfrm>
            <a:off x="995289" y="2611710"/>
            <a:ext cx="1927399" cy="184696"/>
          </a:xfrm>
          <a:prstGeom prst="rect">
            <a:avLst/>
          </a:prstGeom>
          <a:noFill/>
          <a:ln/>
        </p:spPr>
        <p:txBody>
          <a:bodyPr wrap="none" lIns="0" tIns="0" rIns="0" bIns="0" rtlCol="0" anchor="t"/>
          <a:lstStyle/>
          <a:p>
            <a:pPr>
              <a:lnSpc>
                <a:spcPct val="104000"/>
              </a:lnSpc>
            </a:pPr>
            <a:r>
              <a:rPr lang="en-US" sz="1200" b="1" dirty="0">
                <a:solidFill>
                  <a:srgbClr val="000000"/>
                </a:solidFill>
                <a:latin typeface="Arial" panose="020B0604020202020204" pitchFamily="34" charset="0"/>
                <a:ea typeface="Twemoji Mozilla" pitchFamily="34" charset="-122"/>
                <a:cs typeface="Arial" panose="020B0604020202020204" pitchFamily="34" charset="0"/>
              </a:rPr>
              <a:t>1️⃣</a:t>
            </a:r>
            <a:r>
              <a:rPr lang="en-US" sz="1200" b="1" dirty="0">
                <a:solidFill>
                  <a:srgbClr val="464646"/>
                </a:solidFill>
                <a:latin typeface="Arial" panose="020B0604020202020204" pitchFamily="34" charset="0"/>
                <a:ea typeface="DM Sans SemiBold" pitchFamily="34" charset="-122"/>
                <a:cs typeface="Arial" panose="020B0604020202020204" pitchFamily="34" charset="0"/>
              </a:rPr>
              <a:t> Visitez service-public.fr</a:t>
            </a:r>
            <a:endParaRPr lang="en-US" sz="1200" b="1" dirty="0">
              <a:latin typeface="Arial" panose="020B0604020202020204" pitchFamily="34" charset="0"/>
              <a:cs typeface="Arial" panose="020B0604020202020204" pitchFamily="34" charset="0"/>
            </a:endParaRPr>
          </a:p>
        </p:txBody>
      </p:sp>
      <p:sp>
        <p:nvSpPr>
          <p:cNvPr id="6" name="Text 4"/>
          <p:cNvSpPr/>
          <p:nvPr/>
        </p:nvSpPr>
        <p:spPr>
          <a:xfrm>
            <a:off x="995289" y="2863975"/>
            <a:ext cx="2405807" cy="554087"/>
          </a:xfrm>
          <a:prstGeom prst="rect">
            <a:avLst/>
          </a:prstGeom>
          <a:noFill/>
          <a:ln/>
        </p:spPr>
        <p:txBody>
          <a:bodyPr wrap="square" lIns="0" tIns="0" rIns="0" bIns="0" rtlCol="0" anchor="t">
            <a:noAutofit/>
          </a:bodyPr>
          <a:lstStyle/>
          <a:p>
            <a:pP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Explorez la page d'accueil, testez la barre de recherche avec une démarche qui vous concerne.</a:t>
            </a:r>
            <a:endParaRPr lang="en-US" sz="1200" dirty="0">
              <a:latin typeface="Arial" panose="020B0604020202020204" pitchFamily="34" charset="0"/>
              <a:cs typeface="Arial" panose="020B0604020202020204" pitchFamily="34" charset="0"/>
            </a:endParaRPr>
          </a:p>
        </p:txBody>
      </p:sp>
      <p:sp>
        <p:nvSpPr>
          <p:cNvPr id="7" name="Shape 5"/>
          <p:cNvSpPr/>
          <p:nvPr/>
        </p:nvSpPr>
        <p:spPr>
          <a:xfrm>
            <a:off x="3631927" y="2493541"/>
            <a:ext cx="2642146" cy="1457186"/>
          </a:xfrm>
          <a:prstGeom prst="roundRect">
            <a:avLst>
              <a:gd name="adj" fmla="val 1701"/>
            </a:avLst>
          </a:prstGeom>
          <a:solidFill>
            <a:srgbClr val="94B9DE">
              <a:alpha val="60000"/>
            </a:srgbClr>
          </a:solidFill>
          <a:ln/>
        </p:spPr>
      </p:sp>
      <p:sp>
        <p:nvSpPr>
          <p:cNvPr id="8" name="Text 6"/>
          <p:cNvSpPr/>
          <p:nvPr/>
        </p:nvSpPr>
        <p:spPr>
          <a:xfrm>
            <a:off x="3750097" y="2611710"/>
            <a:ext cx="2176314" cy="184696"/>
          </a:xfrm>
          <a:prstGeom prst="rect">
            <a:avLst/>
          </a:prstGeom>
          <a:noFill/>
          <a:ln/>
        </p:spPr>
        <p:txBody>
          <a:bodyPr wrap="none" lIns="0" tIns="0" rIns="0" bIns="0" rtlCol="0" anchor="t"/>
          <a:lstStyle/>
          <a:p>
            <a:pPr>
              <a:lnSpc>
                <a:spcPct val="104000"/>
              </a:lnSpc>
            </a:pPr>
            <a:r>
              <a:rPr lang="en-US" sz="1200" b="1" dirty="0">
                <a:solidFill>
                  <a:srgbClr val="000000"/>
                </a:solidFill>
                <a:latin typeface="Arial" panose="020B0604020202020204" pitchFamily="34" charset="0"/>
                <a:ea typeface="Twemoji Mozilla" pitchFamily="34" charset="-122"/>
                <a:cs typeface="Arial" panose="020B0604020202020204" pitchFamily="34" charset="0"/>
              </a:rPr>
              <a:t>2️⃣</a:t>
            </a:r>
            <a:r>
              <a:rPr lang="en-US" sz="1200" b="1" dirty="0">
                <a:solidFill>
                  <a:srgbClr val="464646"/>
                </a:solidFill>
                <a:latin typeface="Arial" panose="020B0604020202020204" pitchFamily="34" charset="0"/>
                <a:ea typeface="DM Sans SemiBold" pitchFamily="34" charset="-122"/>
                <a:cs typeface="Arial" panose="020B0604020202020204" pitchFamily="34" charset="0"/>
              </a:rPr>
              <a:t> Créez votre FranceConnect</a:t>
            </a:r>
            <a:endParaRPr lang="en-US" sz="1200" b="1" dirty="0">
              <a:latin typeface="Arial" panose="020B0604020202020204" pitchFamily="34" charset="0"/>
              <a:cs typeface="Arial" panose="020B0604020202020204" pitchFamily="34" charset="0"/>
            </a:endParaRPr>
          </a:p>
        </p:txBody>
      </p:sp>
      <p:sp>
        <p:nvSpPr>
          <p:cNvPr id="9" name="Text 7"/>
          <p:cNvSpPr/>
          <p:nvPr/>
        </p:nvSpPr>
        <p:spPr>
          <a:xfrm>
            <a:off x="3750098" y="2863975"/>
            <a:ext cx="2405807" cy="554087"/>
          </a:xfrm>
          <a:prstGeom prst="rect">
            <a:avLst/>
          </a:prstGeom>
          <a:noFill/>
          <a:ln/>
        </p:spPr>
        <p:txBody>
          <a:bodyPr wrap="square" lIns="0" tIns="0" rIns="0" bIns="0" rtlCol="0" anchor="t">
            <a:noAutofit/>
          </a:bodyPr>
          <a:lstStyle/>
          <a:p>
            <a:pP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Utilisez vos identifiants impots.gouv.fr ou ameli.fr pour créer votre accès unique. C'est rapide et gratuit.</a:t>
            </a:r>
            <a:endParaRPr lang="en-US" sz="1200" dirty="0">
              <a:latin typeface="Arial" panose="020B0604020202020204" pitchFamily="34" charset="0"/>
              <a:cs typeface="Arial" panose="020B0604020202020204" pitchFamily="34" charset="0"/>
            </a:endParaRPr>
          </a:p>
        </p:txBody>
      </p:sp>
      <p:sp>
        <p:nvSpPr>
          <p:cNvPr id="10" name="Shape 8"/>
          <p:cNvSpPr/>
          <p:nvPr/>
        </p:nvSpPr>
        <p:spPr>
          <a:xfrm>
            <a:off x="6386736" y="2493541"/>
            <a:ext cx="2642146" cy="1457186"/>
          </a:xfrm>
          <a:prstGeom prst="roundRect">
            <a:avLst>
              <a:gd name="adj" fmla="val 1701"/>
            </a:avLst>
          </a:prstGeom>
          <a:solidFill>
            <a:srgbClr val="94B9DE">
              <a:alpha val="60000"/>
            </a:srgbClr>
          </a:solidFill>
          <a:ln/>
        </p:spPr>
      </p:sp>
      <p:sp>
        <p:nvSpPr>
          <p:cNvPr id="11" name="Text 9"/>
          <p:cNvSpPr/>
          <p:nvPr/>
        </p:nvSpPr>
        <p:spPr>
          <a:xfrm>
            <a:off x="6504906" y="2611710"/>
            <a:ext cx="2369641" cy="184696"/>
          </a:xfrm>
          <a:prstGeom prst="rect">
            <a:avLst/>
          </a:prstGeom>
          <a:noFill/>
          <a:ln/>
        </p:spPr>
        <p:txBody>
          <a:bodyPr wrap="none" lIns="0" tIns="0" rIns="0" bIns="0" rtlCol="0" anchor="t"/>
          <a:lstStyle/>
          <a:p>
            <a:pPr>
              <a:lnSpc>
                <a:spcPct val="104000"/>
              </a:lnSpc>
            </a:pPr>
            <a:r>
              <a:rPr lang="en-US" sz="1200" b="1" dirty="0">
                <a:solidFill>
                  <a:srgbClr val="000000"/>
                </a:solidFill>
                <a:latin typeface="Arial" panose="020B0604020202020204" pitchFamily="34" charset="0"/>
                <a:ea typeface="Twemoji Mozilla" pitchFamily="34" charset="-122"/>
                <a:cs typeface="Arial" panose="020B0604020202020204" pitchFamily="34" charset="0"/>
              </a:rPr>
              <a:t>3️⃣</a:t>
            </a:r>
            <a:r>
              <a:rPr lang="en-US" sz="1200" b="1" dirty="0">
                <a:solidFill>
                  <a:srgbClr val="464646"/>
                </a:solidFill>
                <a:latin typeface="Arial" panose="020B0604020202020204" pitchFamily="34" charset="0"/>
                <a:ea typeface="DM Sans SemiBold" pitchFamily="34" charset="-122"/>
                <a:cs typeface="Arial" panose="020B0604020202020204" pitchFamily="34" charset="0"/>
              </a:rPr>
              <a:t> Repérez votre France Services</a:t>
            </a:r>
            <a:endParaRPr lang="en-US" sz="1200" b="1" dirty="0">
              <a:latin typeface="Arial" panose="020B0604020202020204" pitchFamily="34" charset="0"/>
              <a:cs typeface="Arial" panose="020B0604020202020204" pitchFamily="34" charset="0"/>
            </a:endParaRPr>
          </a:p>
        </p:txBody>
      </p:sp>
      <p:sp>
        <p:nvSpPr>
          <p:cNvPr id="12" name="Text 10"/>
          <p:cNvSpPr/>
          <p:nvPr/>
        </p:nvSpPr>
        <p:spPr>
          <a:xfrm>
            <a:off x="6504906" y="2863975"/>
            <a:ext cx="2405807" cy="554087"/>
          </a:xfrm>
          <a:prstGeom prst="rect">
            <a:avLst/>
          </a:prstGeom>
          <a:noFill/>
          <a:ln/>
        </p:spPr>
        <p:txBody>
          <a:bodyPr wrap="square" lIns="0" tIns="0" rIns="0" bIns="0" rtlCol="0" anchor="t">
            <a:noAutofit/>
          </a:bodyPr>
          <a:lstStyle/>
          <a:p>
            <a:pP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Trouvez l'espace France Services le plus proche sur </a:t>
            </a:r>
            <a:r>
              <a:rPr lang="en-US" sz="1200" b="1" dirty="0">
                <a:solidFill>
                  <a:srgbClr val="464646"/>
                </a:solidFill>
                <a:latin typeface="Arial" panose="020B0604020202020204" pitchFamily="34" charset="0"/>
                <a:ea typeface="Inter Bold" pitchFamily="34" charset="-122"/>
                <a:cs typeface="Arial" panose="020B0604020202020204" pitchFamily="34" charset="0"/>
              </a:rPr>
              <a:t>france-services.gouv.fr</a:t>
            </a:r>
            <a:r>
              <a:rPr lang="en-US" sz="1200" dirty="0">
                <a:solidFill>
                  <a:srgbClr val="464646"/>
                </a:solidFill>
                <a:latin typeface="Arial" panose="020B0604020202020204" pitchFamily="34" charset="0"/>
                <a:ea typeface="Inter Medium" pitchFamily="34" charset="-122"/>
                <a:cs typeface="Arial" panose="020B0604020202020204" pitchFamily="34" charset="0"/>
              </a:rPr>
              <a:t> et n'hésitez pas à vous y rendre.</a:t>
            </a:r>
            <a:endParaRPr lang="en-US" sz="1200" dirty="0">
              <a:latin typeface="Arial" panose="020B0604020202020204" pitchFamily="34" charset="0"/>
              <a:cs typeface="Arial" panose="020B0604020202020204" pitchFamily="34" charset="0"/>
            </a:endParaRPr>
          </a:p>
        </p:txBody>
      </p:sp>
      <p:sp>
        <p:nvSpPr>
          <p:cNvPr id="13" name="Shape 11"/>
          <p:cNvSpPr/>
          <p:nvPr/>
        </p:nvSpPr>
        <p:spPr>
          <a:xfrm>
            <a:off x="877120" y="5690457"/>
            <a:ext cx="8151763" cy="635943"/>
          </a:xfrm>
          <a:prstGeom prst="roundRect">
            <a:avLst>
              <a:gd name="adj" fmla="val 2789"/>
            </a:avLst>
          </a:prstGeom>
          <a:solidFill>
            <a:srgbClr val="A8DEEE">
              <a:alpha val="60000"/>
            </a:srgbClr>
          </a:solidFill>
          <a:ln/>
        </p:spPr>
      </p:sp>
      <p:pic>
        <p:nvPicPr>
          <p:cNvPr id="1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5288" y="5811902"/>
            <a:ext cx="147786" cy="118170"/>
          </a:xfrm>
          <a:prstGeom prst="rect">
            <a:avLst/>
          </a:prstGeom>
        </p:spPr>
      </p:pic>
      <p:sp>
        <p:nvSpPr>
          <p:cNvPr id="15" name="Text 12"/>
          <p:cNvSpPr/>
          <p:nvPr/>
        </p:nvSpPr>
        <p:spPr>
          <a:xfrm>
            <a:off x="1261244" y="5774695"/>
            <a:ext cx="7649468" cy="374154"/>
          </a:xfrm>
          <a:prstGeom prst="rect">
            <a:avLst/>
          </a:prstGeom>
          <a:noFill/>
          <a:ln/>
        </p:spPr>
        <p:txBody>
          <a:bodyPr wrap="square" lIns="0" tIns="0" rIns="0" bIns="0" rtlCol="0" anchor="t">
            <a:noAutofit/>
          </a:bodyPr>
          <a:lstStyle/>
          <a:p>
            <a:pPr>
              <a:lnSpc>
                <a:spcPct val="130000"/>
              </a:lnSpc>
            </a:pPr>
            <a:r>
              <a:rPr lang="en-US" sz="1200" dirty="0">
                <a:solidFill>
                  <a:srgbClr val="000000"/>
                </a:solidFill>
                <a:latin typeface="Arial" panose="020B0604020202020204" pitchFamily="34" charset="0"/>
                <a:ea typeface="Twemoji Mozilla" pitchFamily="34" charset="-122"/>
                <a:cs typeface="Arial" panose="020B0604020202020204" pitchFamily="34" charset="0"/>
              </a:rPr>
              <a:t>🎉</a:t>
            </a:r>
            <a:r>
              <a:rPr lang="en-US" sz="1200" dirty="0">
                <a:solidFill>
                  <a:srgbClr val="000000"/>
                </a:solidFill>
                <a:latin typeface="Arial" panose="020B0604020202020204" pitchFamily="34" charset="0"/>
                <a:ea typeface="Inter Medium" pitchFamily="34" charset="-122"/>
                <a:cs typeface="Arial" panose="020B0604020202020204" pitchFamily="34" charset="0"/>
              </a:rPr>
              <a:t> Bravo d'avoir participé à cet atelier ! L'administration numérique peut sembler intimidante, mais avec les bons outils et un peu de pratique, elle devient une vraie facilité au quotidien. Vous pouvez le faire !</a:t>
            </a:r>
            <a:endParaRPr lang="en-US" sz="1200" dirty="0">
              <a:latin typeface="Arial" panose="020B0604020202020204" pitchFamily="34" charset="0"/>
              <a:cs typeface="Arial" panose="020B0604020202020204" pitchFamily="34" charset="0"/>
            </a:endParaRPr>
          </a:p>
        </p:txBody>
      </p:sp>
      <p:sp>
        <p:nvSpPr>
          <p:cNvPr id="16" name="Text 13"/>
          <p:cNvSpPr/>
          <p:nvPr/>
        </p:nvSpPr>
        <p:spPr>
          <a:xfrm>
            <a:off x="540024" y="4161839"/>
            <a:ext cx="2623393" cy="390153"/>
          </a:xfrm>
          <a:prstGeom prst="rect">
            <a:avLst/>
          </a:prstGeom>
          <a:noFill/>
          <a:ln/>
        </p:spPr>
        <p:txBody>
          <a:bodyPr wrap="none" lIns="0" tIns="0" rIns="0" bIns="0" rtlCol="0" anchor="t"/>
          <a:lstStyle/>
          <a:p>
            <a:pPr algn="ctr">
              <a:lnSpc>
                <a:spcPct val="83000"/>
              </a:lnSpc>
            </a:pPr>
            <a:r>
              <a:rPr lang="en-US" sz="1400" b="1" dirty="0">
                <a:solidFill>
                  <a:srgbClr val="464646"/>
                </a:solidFill>
                <a:latin typeface="Arial" panose="020B0604020202020204" pitchFamily="34" charset="0"/>
                <a:ea typeface="DM Sans SemiBold" pitchFamily="34" charset="-122"/>
                <a:cs typeface="Arial" panose="020B0604020202020204" pitchFamily="34" charset="0"/>
              </a:rPr>
              <a:t>2700+</a:t>
            </a:r>
            <a:endParaRPr lang="en-US" sz="1400" b="1" dirty="0">
              <a:latin typeface="Arial" panose="020B0604020202020204" pitchFamily="34" charset="0"/>
              <a:cs typeface="Arial" panose="020B0604020202020204" pitchFamily="34" charset="0"/>
            </a:endParaRPr>
          </a:p>
        </p:txBody>
      </p:sp>
      <p:sp>
        <p:nvSpPr>
          <p:cNvPr id="17" name="Text 14"/>
          <p:cNvSpPr/>
          <p:nvPr/>
        </p:nvSpPr>
        <p:spPr>
          <a:xfrm>
            <a:off x="969243" y="4510840"/>
            <a:ext cx="1764878" cy="184696"/>
          </a:xfrm>
          <a:prstGeom prst="rect">
            <a:avLst/>
          </a:prstGeom>
          <a:noFill/>
          <a:ln/>
        </p:spPr>
        <p:txBody>
          <a:bodyPr wrap="none" lIns="0" tIns="0" rIns="0" bIns="0" rtlCol="0" anchor="t"/>
          <a:lstStyle/>
          <a:p>
            <a:pPr algn="ct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Espaces France Services</a:t>
            </a:r>
            <a:endParaRPr lang="en-US" sz="1200" b="1" dirty="0">
              <a:latin typeface="Arial" panose="020B0604020202020204" pitchFamily="34" charset="0"/>
              <a:cs typeface="Arial" panose="020B0604020202020204" pitchFamily="34" charset="0"/>
            </a:endParaRPr>
          </a:p>
        </p:txBody>
      </p:sp>
      <p:sp>
        <p:nvSpPr>
          <p:cNvPr id="18" name="Text 15"/>
          <p:cNvSpPr/>
          <p:nvPr/>
        </p:nvSpPr>
        <p:spPr>
          <a:xfrm>
            <a:off x="540024" y="4763103"/>
            <a:ext cx="2623393" cy="481885"/>
          </a:xfrm>
          <a:prstGeom prst="rect">
            <a:avLst/>
          </a:prstGeom>
          <a:noFill/>
          <a:ln/>
        </p:spPr>
        <p:txBody>
          <a:bodyPr wrap="none" lIns="0" tIns="0" rIns="0" bIns="0" rtlCol="0" anchor="t"/>
          <a:lstStyle/>
          <a:p>
            <a:pPr algn="ct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répartis sur tout le </a:t>
            </a:r>
            <a:r>
              <a:rPr lang="en-US" sz="1200" dirty="0" err="1">
                <a:solidFill>
                  <a:srgbClr val="464646"/>
                </a:solidFill>
                <a:latin typeface="Arial" panose="020B0604020202020204" pitchFamily="34" charset="0"/>
                <a:ea typeface="Inter Medium" pitchFamily="34" charset="-122"/>
                <a:cs typeface="Arial" panose="020B0604020202020204" pitchFamily="34" charset="0"/>
              </a:rPr>
              <a:t>territoire</a:t>
            </a:r>
            <a:r>
              <a:rPr lang="en-US" sz="1200" dirty="0">
                <a:solidFill>
                  <a:srgbClr val="464646"/>
                </a:solidFill>
                <a:latin typeface="Arial" panose="020B0604020202020204" pitchFamily="34" charset="0"/>
                <a:ea typeface="Inter Medium" pitchFamily="34" charset="-122"/>
                <a:cs typeface="Arial" panose="020B0604020202020204" pitchFamily="34" charset="0"/>
              </a:rPr>
              <a:t> français</a:t>
            </a:r>
            <a:endParaRPr lang="en-US" sz="1200" dirty="0">
              <a:latin typeface="Arial" panose="020B0604020202020204" pitchFamily="34" charset="0"/>
              <a:cs typeface="Arial" panose="020B0604020202020204" pitchFamily="34" charset="0"/>
            </a:endParaRPr>
          </a:p>
        </p:txBody>
      </p:sp>
      <p:sp>
        <p:nvSpPr>
          <p:cNvPr id="19" name="Text 16"/>
          <p:cNvSpPr/>
          <p:nvPr/>
        </p:nvSpPr>
        <p:spPr>
          <a:xfrm>
            <a:off x="3641304" y="4531152"/>
            <a:ext cx="2623393" cy="390153"/>
          </a:xfrm>
          <a:prstGeom prst="rect">
            <a:avLst/>
          </a:prstGeom>
          <a:noFill/>
          <a:ln/>
        </p:spPr>
        <p:txBody>
          <a:bodyPr wrap="none" lIns="0" tIns="0" rIns="0" bIns="0" rtlCol="0" anchor="t"/>
          <a:lstStyle/>
          <a:p>
            <a:pPr algn="ctr">
              <a:lnSpc>
                <a:spcPct val="83000"/>
              </a:lnSpc>
            </a:pPr>
            <a:r>
              <a:rPr lang="en-US" sz="1400" b="1" dirty="0">
                <a:solidFill>
                  <a:srgbClr val="464646"/>
                </a:solidFill>
                <a:latin typeface="Arial" panose="020B0604020202020204" pitchFamily="34" charset="0"/>
                <a:ea typeface="DM Sans SemiBold" pitchFamily="34" charset="-122"/>
                <a:cs typeface="Arial" panose="020B0604020202020204" pitchFamily="34" charset="0"/>
              </a:rPr>
              <a:t>1200+</a:t>
            </a:r>
            <a:endParaRPr lang="en-US" sz="1400" b="1" dirty="0">
              <a:latin typeface="Arial" panose="020B0604020202020204" pitchFamily="34" charset="0"/>
              <a:cs typeface="Arial" panose="020B0604020202020204" pitchFamily="34" charset="0"/>
            </a:endParaRPr>
          </a:p>
        </p:txBody>
      </p:sp>
      <p:sp>
        <p:nvSpPr>
          <p:cNvPr id="20" name="Text 17"/>
          <p:cNvSpPr/>
          <p:nvPr/>
        </p:nvSpPr>
        <p:spPr>
          <a:xfrm>
            <a:off x="4214069" y="4880153"/>
            <a:ext cx="1477863" cy="184696"/>
          </a:xfrm>
          <a:prstGeom prst="rect">
            <a:avLst/>
          </a:prstGeom>
          <a:noFill/>
          <a:ln/>
        </p:spPr>
        <p:txBody>
          <a:bodyPr wrap="none" lIns="0" tIns="0" rIns="0" bIns="0" rtlCol="0" anchor="t"/>
          <a:lstStyle/>
          <a:p>
            <a:pPr algn="ct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Fiches pratiques</a:t>
            </a:r>
            <a:endParaRPr lang="en-US" sz="1200" b="1" dirty="0">
              <a:latin typeface="Arial" panose="020B0604020202020204" pitchFamily="34" charset="0"/>
              <a:cs typeface="Arial" panose="020B0604020202020204" pitchFamily="34" charset="0"/>
            </a:endParaRPr>
          </a:p>
        </p:txBody>
      </p:sp>
      <p:sp>
        <p:nvSpPr>
          <p:cNvPr id="21" name="Text 18"/>
          <p:cNvSpPr/>
          <p:nvPr/>
        </p:nvSpPr>
        <p:spPr>
          <a:xfrm>
            <a:off x="3641304" y="5132417"/>
            <a:ext cx="2623393" cy="184696"/>
          </a:xfrm>
          <a:prstGeom prst="rect">
            <a:avLst/>
          </a:prstGeom>
          <a:noFill/>
          <a:ln/>
        </p:spPr>
        <p:txBody>
          <a:bodyPr wrap="none" lIns="0" tIns="0" rIns="0" bIns="0" rtlCol="0" anchor="t"/>
          <a:lstStyle/>
          <a:p>
            <a:pPr algn="ct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disponibles gratuitement sur service-public.fr</a:t>
            </a:r>
            <a:endParaRPr lang="en-US" sz="1200" dirty="0">
              <a:latin typeface="Arial" panose="020B0604020202020204" pitchFamily="34" charset="0"/>
              <a:cs typeface="Arial" panose="020B0604020202020204" pitchFamily="34" charset="0"/>
            </a:endParaRPr>
          </a:p>
        </p:txBody>
      </p:sp>
      <p:sp>
        <p:nvSpPr>
          <p:cNvPr id="22" name="Text 19"/>
          <p:cNvSpPr/>
          <p:nvPr/>
        </p:nvSpPr>
        <p:spPr>
          <a:xfrm>
            <a:off x="6405489" y="4161839"/>
            <a:ext cx="2623393" cy="390153"/>
          </a:xfrm>
          <a:prstGeom prst="rect">
            <a:avLst/>
          </a:prstGeom>
          <a:noFill/>
          <a:ln/>
        </p:spPr>
        <p:txBody>
          <a:bodyPr wrap="none" lIns="0" tIns="0" rIns="0" bIns="0" rtlCol="0" anchor="t"/>
          <a:lstStyle/>
          <a:p>
            <a:pPr algn="ctr">
              <a:lnSpc>
                <a:spcPct val="83000"/>
              </a:lnSpc>
            </a:pPr>
            <a:r>
              <a:rPr lang="en-US" sz="1400" b="1" dirty="0">
                <a:solidFill>
                  <a:srgbClr val="464646"/>
                </a:solidFill>
                <a:latin typeface="Arial" panose="020B0604020202020204" pitchFamily="34" charset="0"/>
                <a:ea typeface="DM Sans SemiBold" pitchFamily="34" charset="-122"/>
                <a:cs typeface="Arial" panose="020B0604020202020204" pitchFamily="34" charset="0"/>
              </a:rPr>
              <a:t>37M</a:t>
            </a:r>
            <a:endParaRPr lang="en-US" sz="1400" b="1" dirty="0">
              <a:latin typeface="Arial" panose="020B0604020202020204" pitchFamily="34" charset="0"/>
              <a:cs typeface="Arial" panose="020B0604020202020204" pitchFamily="34" charset="0"/>
            </a:endParaRPr>
          </a:p>
        </p:txBody>
      </p:sp>
      <p:sp>
        <p:nvSpPr>
          <p:cNvPr id="23" name="Text 20"/>
          <p:cNvSpPr/>
          <p:nvPr/>
        </p:nvSpPr>
        <p:spPr>
          <a:xfrm>
            <a:off x="6742584" y="4510840"/>
            <a:ext cx="1949128" cy="184696"/>
          </a:xfrm>
          <a:prstGeom prst="rect">
            <a:avLst/>
          </a:prstGeom>
          <a:noFill/>
          <a:ln/>
        </p:spPr>
        <p:txBody>
          <a:bodyPr wrap="none" lIns="0" tIns="0" rIns="0" bIns="0" rtlCol="0" anchor="t"/>
          <a:lstStyle/>
          <a:p>
            <a:pPr algn="ctr">
              <a:lnSpc>
                <a:spcPct val="104000"/>
              </a:lnSpc>
            </a:pPr>
            <a:r>
              <a:rPr lang="en-US" sz="1200" b="1" dirty="0">
                <a:solidFill>
                  <a:srgbClr val="464646"/>
                </a:solidFill>
                <a:latin typeface="Arial" panose="020B0604020202020204" pitchFamily="34" charset="0"/>
                <a:ea typeface="DM Sans SemiBold" pitchFamily="34" charset="-122"/>
                <a:cs typeface="Arial" panose="020B0604020202020204" pitchFamily="34" charset="0"/>
              </a:rPr>
              <a:t>Utilisateurs FranceConnect</a:t>
            </a:r>
            <a:endParaRPr lang="en-US" sz="1200" b="1" dirty="0">
              <a:latin typeface="Arial" panose="020B0604020202020204" pitchFamily="34" charset="0"/>
              <a:cs typeface="Arial" panose="020B0604020202020204" pitchFamily="34" charset="0"/>
            </a:endParaRPr>
          </a:p>
        </p:txBody>
      </p:sp>
      <p:sp>
        <p:nvSpPr>
          <p:cNvPr id="24" name="Text 21"/>
          <p:cNvSpPr/>
          <p:nvPr/>
        </p:nvSpPr>
        <p:spPr>
          <a:xfrm>
            <a:off x="6405489" y="4763104"/>
            <a:ext cx="2623393" cy="184696"/>
          </a:xfrm>
          <a:prstGeom prst="rect">
            <a:avLst/>
          </a:prstGeom>
          <a:noFill/>
          <a:ln/>
        </p:spPr>
        <p:txBody>
          <a:bodyPr wrap="none" lIns="0" tIns="0" rIns="0" bIns="0" rtlCol="0" anchor="t"/>
          <a:lstStyle/>
          <a:p>
            <a:pPr algn="ctr">
              <a:lnSpc>
                <a:spcPct val="130000"/>
              </a:lnSpc>
            </a:pPr>
            <a:r>
              <a:rPr lang="en-US" sz="1200" dirty="0">
                <a:solidFill>
                  <a:srgbClr val="464646"/>
                </a:solidFill>
                <a:latin typeface="Arial" panose="020B0604020202020204" pitchFamily="34" charset="0"/>
                <a:ea typeface="Inter Medium" pitchFamily="34" charset="-122"/>
                <a:cs typeface="Arial" panose="020B0604020202020204" pitchFamily="34" charset="0"/>
              </a:rPr>
              <a:t>ont déjà adopté la clé unique numérique</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BCD82C3C-6D60-1813-D13D-B8FDAAFFCC94}"/>
              </a:ext>
            </a:extLst>
          </p:cNvPr>
          <p:cNvSpPr/>
          <p:nvPr/>
        </p:nvSpPr>
        <p:spPr>
          <a:xfrm>
            <a:off x="918233" y="1257886"/>
            <a:ext cx="8002795" cy="681337"/>
          </a:xfrm>
          <a:prstGeom prst="roundRect">
            <a:avLst/>
          </a:prstGeom>
          <a:solidFill>
            <a:srgbClr val="D6DF8E">
              <a:alpha val="90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3" name="Text 0">
            <a:extLst>
              <a:ext uri="{FF2B5EF4-FFF2-40B4-BE49-F238E27FC236}">
                <a16:creationId xmlns:a16="http://schemas.microsoft.com/office/drawing/2014/main" id="{A217D12D-4171-9066-A7BF-4F6F408B4278}"/>
              </a:ext>
            </a:extLst>
          </p:cNvPr>
          <p:cNvSpPr/>
          <p:nvPr/>
        </p:nvSpPr>
        <p:spPr>
          <a:xfrm>
            <a:off x="1539171" y="514782"/>
            <a:ext cx="8333873" cy="380585"/>
          </a:xfrm>
          <a:prstGeom prst="rect">
            <a:avLst/>
          </a:prstGeom>
          <a:noFill/>
          <a:ln/>
        </p:spPr>
        <p:txBody>
          <a:bodyPr wrap="none" lIns="0" tIns="0" rIns="0" bIns="0" rtlCol="0" anchor="t"/>
          <a:lstStyle/>
          <a:p>
            <a:pPr>
              <a:lnSpc>
                <a:spcPct val="104000"/>
              </a:lnSpc>
            </a:pPr>
            <a:r>
              <a:rPr lang="en-US" sz="2400" b="1" dirty="0" err="1">
                <a:solidFill>
                  <a:srgbClr val="000000"/>
                </a:solidFill>
                <a:latin typeface="Arial" panose="020B0604020202020204" pitchFamily="34" charset="0"/>
                <a:ea typeface="Inter Bold" pitchFamily="34" charset="-122"/>
                <a:cs typeface="Arial" panose="020B0604020202020204" pitchFamily="34" charset="0"/>
              </a:rPr>
              <a:t>Offre</a:t>
            </a:r>
            <a:r>
              <a:rPr lang="en-US" sz="2400" b="1" dirty="0">
                <a:solidFill>
                  <a:srgbClr val="000000"/>
                </a:solidFill>
                <a:latin typeface="Arial" panose="020B0604020202020204" pitchFamily="34" charset="0"/>
                <a:ea typeface="Inter Bold" pitchFamily="34" charset="-122"/>
                <a:cs typeface="Arial" panose="020B0604020202020204" pitchFamily="34" charset="0"/>
              </a:rPr>
              <a:t> </a:t>
            </a:r>
            <a:r>
              <a:rPr lang="en-US" sz="2400" b="1" dirty="0" err="1">
                <a:solidFill>
                  <a:srgbClr val="000000"/>
                </a:solidFill>
                <a:latin typeface="Arial" panose="020B0604020202020204" pitchFamily="34" charset="0"/>
                <a:ea typeface="Inter Bold" pitchFamily="34" charset="-122"/>
                <a:cs typeface="Arial" panose="020B0604020202020204" pitchFamily="34" charset="0"/>
              </a:rPr>
              <a:t>départementale</a:t>
            </a:r>
            <a:r>
              <a:rPr lang="en-US" sz="2400" b="1" dirty="0">
                <a:solidFill>
                  <a:srgbClr val="000000"/>
                </a:solidFill>
                <a:latin typeface="Arial" panose="020B0604020202020204" pitchFamily="34" charset="0"/>
                <a:ea typeface="Inter Bold" pitchFamily="34" charset="-122"/>
                <a:cs typeface="Arial" panose="020B0604020202020204" pitchFamily="34" charset="0"/>
              </a:rPr>
              <a:t> </a:t>
            </a:r>
            <a:r>
              <a:rPr lang="en-US" sz="2400" b="1" dirty="0" err="1">
                <a:solidFill>
                  <a:srgbClr val="000000"/>
                </a:solidFill>
                <a:latin typeface="Arial" panose="020B0604020202020204" pitchFamily="34" charset="0"/>
                <a:ea typeface="Inter Bold" pitchFamily="34" charset="-122"/>
                <a:cs typeface="Arial" panose="020B0604020202020204" pitchFamily="34" charset="0"/>
              </a:rPr>
              <a:t>d’Inclusion</a:t>
            </a:r>
            <a:r>
              <a:rPr lang="en-US" sz="2400" b="1" dirty="0">
                <a:solidFill>
                  <a:srgbClr val="000000"/>
                </a:solidFill>
                <a:latin typeface="Arial" panose="020B0604020202020204" pitchFamily="34" charset="0"/>
                <a:ea typeface="Inter Bold" pitchFamily="34" charset="-122"/>
                <a:cs typeface="Arial" panose="020B0604020202020204" pitchFamily="34" charset="0"/>
              </a:rPr>
              <a:t> Numérique</a:t>
            </a:r>
            <a:endParaRPr lang="en-US" sz="2400" dirty="0">
              <a:latin typeface="Arial" panose="020B0604020202020204" pitchFamily="34" charset="0"/>
              <a:cs typeface="Arial" panose="020B0604020202020204" pitchFamily="34" charset="0"/>
            </a:endParaRPr>
          </a:p>
        </p:txBody>
      </p:sp>
      <p:sp>
        <p:nvSpPr>
          <p:cNvPr id="4" name="Text 1">
            <a:extLst>
              <a:ext uri="{FF2B5EF4-FFF2-40B4-BE49-F238E27FC236}">
                <a16:creationId xmlns:a16="http://schemas.microsoft.com/office/drawing/2014/main" id="{2BC2CD46-C00F-6E81-50EB-F60BDB72D712}"/>
              </a:ext>
            </a:extLst>
          </p:cNvPr>
          <p:cNvSpPr/>
          <p:nvPr/>
        </p:nvSpPr>
        <p:spPr>
          <a:xfrm>
            <a:off x="2069873" y="1282825"/>
            <a:ext cx="5906208" cy="565774"/>
          </a:xfrm>
          <a:prstGeom prst="rect">
            <a:avLst/>
          </a:prstGeom>
          <a:noFill/>
          <a:ln/>
        </p:spPr>
        <p:txBody>
          <a:bodyPr wrap="square" lIns="0" tIns="0" rIns="0" bIns="0" rtlCol="0" anchor="t">
            <a:noAutofit/>
          </a:bodyPr>
          <a:lstStyle/>
          <a:p>
            <a:pPr algn="ctr">
              <a:lnSpc>
                <a:spcPct val="127000"/>
              </a:lnSpc>
            </a:pPr>
            <a:r>
              <a:rPr lang="fr-FR" sz="1400" b="1" dirty="0">
                <a:solidFill>
                  <a:srgbClr val="272525"/>
                </a:solidFill>
                <a:latin typeface="Arial" panose="020B0604020202020204" pitchFamily="34" charset="0"/>
                <a:ea typeface="Inter" pitchFamily="34" charset="-122"/>
                <a:cs typeface="Arial" panose="020B0604020202020204" pitchFamily="34" charset="0"/>
              </a:rPr>
              <a:t>Voici les 5 offres et services dispensés par l’équipe départementale</a:t>
            </a:r>
          </a:p>
          <a:p>
            <a:pPr algn="ctr">
              <a:lnSpc>
                <a:spcPct val="127000"/>
              </a:lnSpc>
            </a:pPr>
            <a:r>
              <a:rPr lang="fr-FR" sz="1400" b="1" dirty="0">
                <a:solidFill>
                  <a:srgbClr val="272525"/>
                </a:solidFill>
                <a:latin typeface="Arial" panose="020B0604020202020204" pitchFamily="34" charset="0"/>
                <a:ea typeface="Inter" pitchFamily="34" charset="-122"/>
                <a:cs typeface="Arial" panose="020B0604020202020204" pitchFamily="34" charset="0"/>
              </a:rPr>
              <a:t>des Conseiller.es numériques :</a:t>
            </a:r>
            <a:endParaRPr lang="en-US" sz="1400" b="1" dirty="0">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15324CD5-4A5A-A90D-D02D-7E25C4D50517}"/>
              </a:ext>
            </a:extLst>
          </p:cNvPr>
          <p:cNvSpPr/>
          <p:nvPr/>
        </p:nvSpPr>
        <p:spPr>
          <a:xfrm>
            <a:off x="918233" y="2349802"/>
            <a:ext cx="2593972" cy="1994478"/>
          </a:xfrm>
          <a:prstGeom prst="roundRect">
            <a:avLst>
              <a:gd name="adj" fmla="val 3862"/>
            </a:avLst>
          </a:prstGeom>
          <a:solidFill>
            <a:srgbClr val="A8DEEE">
              <a:alpha val="60000"/>
            </a:srgbClr>
          </a:solidFill>
          <a:ln w="6350">
            <a:solidFill>
              <a:schemeClr val="bg1">
                <a:lumMod val="50000"/>
              </a:schemeClr>
            </a:solidFill>
            <a:prstDash val="solid"/>
          </a:ln>
        </p:spPr>
      </p:sp>
      <p:sp>
        <p:nvSpPr>
          <p:cNvPr id="6" name="Shape 5">
            <a:extLst>
              <a:ext uri="{FF2B5EF4-FFF2-40B4-BE49-F238E27FC236}">
                <a16:creationId xmlns:a16="http://schemas.microsoft.com/office/drawing/2014/main" id="{C3235BF9-4BC7-E2DD-B821-AE703B7F0321}"/>
              </a:ext>
            </a:extLst>
          </p:cNvPr>
          <p:cNvSpPr/>
          <p:nvPr/>
        </p:nvSpPr>
        <p:spPr>
          <a:xfrm>
            <a:off x="3622563" y="2349801"/>
            <a:ext cx="2594053" cy="1994477"/>
          </a:xfrm>
          <a:prstGeom prst="roundRect">
            <a:avLst>
              <a:gd name="adj" fmla="val 3862"/>
            </a:avLst>
          </a:prstGeom>
          <a:solidFill>
            <a:srgbClr val="A8DEEE">
              <a:alpha val="60000"/>
            </a:srgbClr>
          </a:solidFill>
          <a:ln w="6350">
            <a:solidFill>
              <a:schemeClr val="bg1">
                <a:lumMod val="50000"/>
              </a:schemeClr>
            </a:solidFill>
            <a:prstDash val="solid"/>
          </a:ln>
        </p:spPr>
      </p:sp>
      <p:sp>
        <p:nvSpPr>
          <p:cNvPr id="7" name="Shape 8">
            <a:extLst>
              <a:ext uri="{FF2B5EF4-FFF2-40B4-BE49-F238E27FC236}">
                <a16:creationId xmlns:a16="http://schemas.microsoft.com/office/drawing/2014/main" id="{66D7C968-2192-BB0F-9790-BAC40D8A4269}"/>
              </a:ext>
            </a:extLst>
          </p:cNvPr>
          <p:cNvSpPr/>
          <p:nvPr/>
        </p:nvSpPr>
        <p:spPr>
          <a:xfrm>
            <a:off x="6326975" y="2349802"/>
            <a:ext cx="2594053" cy="1994478"/>
          </a:xfrm>
          <a:prstGeom prst="roundRect">
            <a:avLst>
              <a:gd name="adj" fmla="val 3862"/>
            </a:avLst>
          </a:prstGeom>
          <a:solidFill>
            <a:srgbClr val="A8DEEE">
              <a:alpha val="60000"/>
            </a:srgbClr>
          </a:solidFill>
          <a:ln w="6350">
            <a:solidFill>
              <a:schemeClr val="bg1">
                <a:lumMod val="50000"/>
              </a:schemeClr>
            </a:solidFill>
            <a:prstDash val="solid"/>
          </a:ln>
        </p:spPr>
      </p:sp>
      <p:sp>
        <p:nvSpPr>
          <p:cNvPr id="8" name="Text 9">
            <a:extLst>
              <a:ext uri="{FF2B5EF4-FFF2-40B4-BE49-F238E27FC236}">
                <a16:creationId xmlns:a16="http://schemas.microsoft.com/office/drawing/2014/main" id="{A7C59EBB-4EF9-0E1E-E65B-A820AAE0B893}"/>
              </a:ext>
            </a:extLst>
          </p:cNvPr>
          <p:cNvSpPr/>
          <p:nvPr/>
        </p:nvSpPr>
        <p:spPr>
          <a:xfrm>
            <a:off x="6453861" y="2476692"/>
            <a:ext cx="1522220" cy="195411"/>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Le Pass Numérique</a:t>
            </a:r>
            <a:endParaRPr lang="en-US" sz="1200" dirty="0">
              <a:latin typeface="Arial" panose="020B0604020202020204" pitchFamily="34" charset="0"/>
              <a:cs typeface="Arial" panose="020B0604020202020204" pitchFamily="34" charset="0"/>
            </a:endParaRPr>
          </a:p>
        </p:txBody>
      </p:sp>
      <p:sp>
        <p:nvSpPr>
          <p:cNvPr id="9" name="Text 10">
            <a:extLst>
              <a:ext uri="{FF2B5EF4-FFF2-40B4-BE49-F238E27FC236}">
                <a16:creationId xmlns:a16="http://schemas.microsoft.com/office/drawing/2014/main" id="{1F624EAD-F448-B153-B3D7-A1FA1600ECD2}"/>
              </a:ext>
            </a:extLst>
          </p:cNvPr>
          <p:cNvSpPr/>
          <p:nvPr/>
        </p:nvSpPr>
        <p:spPr>
          <a:xfrm>
            <a:off x="6453862" y="2738287"/>
            <a:ext cx="2340282" cy="1093463"/>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Aptos" panose="020B0004020202020204" pitchFamily="34" charset="0"/>
                <a:cs typeface="Arial" panose="020B0604020202020204" pitchFamily="34" charset="0"/>
              </a:rPr>
              <a:t>Dispositif qui finance des formations aux compétences numériques de par des formateurs agréés.</a:t>
            </a:r>
          </a:p>
        </p:txBody>
      </p:sp>
      <p:sp>
        <p:nvSpPr>
          <p:cNvPr id="10" name="Shape 11">
            <a:extLst>
              <a:ext uri="{FF2B5EF4-FFF2-40B4-BE49-F238E27FC236}">
                <a16:creationId xmlns:a16="http://schemas.microsoft.com/office/drawing/2014/main" id="{30662AA8-5223-ACF4-7514-D6D6671BDC5A}"/>
              </a:ext>
            </a:extLst>
          </p:cNvPr>
          <p:cNvSpPr/>
          <p:nvPr/>
        </p:nvSpPr>
        <p:spPr>
          <a:xfrm>
            <a:off x="918233" y="4533301"/>
            <a:ext cx="3946178" cy="1448459"/>
          </a:xfrm>
          <a:prstGeom prst="roundRect">
            <a:avLst>
              <a:gd name="adj" fmla="val 4492"/>
            </a:avLst>
          </a:prstGeom>
          <a:solidFill>
            <a:srgbClr val="A8DEEE">
              <a:alpha val="60000"/>
            </a:srgbClr>
          </a:solidFill>
          <a:ln w="6350">
            <a:solidFill>
              <a:schemeClr val="bg1">
                <a:lumMod val="50000"/>
              </a:schemeClr>
            </a:solidFill>
            <a:prstDash val="solid"/>
          </a:ln>
        </p:spPr>
      </p:sp>
      <p:sp>
        <p:nvSpPr>
          <p:cNvPr id="11" name="Text 12">
            <a:extLst>
              <a:ext uri="{FF2B5EF4-FFF2-40B4-BE49-F238E27FC236}">
                <a16:creationId xmlns:a16="http://schemas.microsoft.com/office/drawing/2014/main" id="{348C5A8D-312A-E3F7-9911-A70E9B137B58}"/>
              </a:ext>
            </a:extLst>
          </p:cNvPr>
          <p:cNvSpPr/>
          <p:nvPr/>
        </p:nvSpPr>
        <p:spPr>
          <a:xfrm>
            <a:off x="1045117" y="4660189"/>
            <a:ext cx="1522220" cy="195411"/>
          </a:xfrm>
          <a:prstGeom prst="rect">
            <a:avLst/>
          </a:prstGeom>
          <a:noFill/>
          <a:ln/>
        </p:spPr>
        <p:txBody>
          <a:bodyPr wrap="none" lIns="0" tIns="0" rIns="0" bIns="0" rtlCol="0" anchor="t"/>
          <a:lstStyle/>
          <a:p>
            <a:pPr>
              <a:lnSpc>
                <a:spcPct val="104000"/>
              </a:lnSpc>
            </a:pPr>
            <a:r>
              <a:rPr lang="en-US" sz="1200" b="1" dirty="0" err="1">
                <a:solidFill>
                  <a:srgbClr val="000000"/>
                </a:solidFill>
                <a:latin typeface="Arial" panose="020B0604020202020204" pitchFamily="34" charset="0"/>
                <a:ea typeface="Inter Bold" panose="020B0604020202020204" charset="0"/>
                <a:cs typeface="Arial" panose="020B0604020202020204" pitchFamily="34" charset="0"/>
              </a:rPr>
              <a:t>Ordi</a:t>
            </a:r>
            <a:r>
              <a:rPr lang="en-US" sz="1200" b="1" dirty="0">
                <a:solidFill>
                  <a:srgbClr val="000000"/>
                </a:solidFill>
                <a:latin typeface="Arial" panose="020B0604020202020204" pitchFamily="34" charset="0"/>
                <a:ea typeface="Inter Bold" panose="020B0604020202020204" charset="0"/>
                <a:cs typeface="Arial" panose="020B0604020202020204" pitchFamily="34" charset="0"/>
              </a:rPr>
              <a:t> </a:t>
            </a:r>
            <a:r>
              <a:rPr lang="en-US" sz="1200" b="1" dirty="0" err="1">
                <a:solidFill>
                  <a:srgbClr val="000000"/>
                </a:solidFill>
                <a:latin typeface="Arial" panose="020B0604020202020204" pitchFamily="34" charset="0"/>
                <a:ea typeface="Inter Bold" panose="020B0604020202020204" charset="0"/>
                <a:cs typeface="Arial" panose="020B0604020202020204" pitchFamily="34" charset="0"/>
              </a:rPr>
              <a:t>Solidaire</a:t>
            </a:r>
            <a:endParaRPr lang="en-US" sz="1200" dirty="0">
              <a:latin typeface="Arial" panose="020B0604020202020204" pitchFamily="34" charset="0"/>
              <a:ea typeface="Inter Bold" panose="020B0604020202020204" charset="0"/>
              <a:cs typeface="Arial" panose="020B0604020202020204" pitchFamily="34" charset="0"/>
            </a:endParaRPr>
          </a:p>
        </p:txBody>
      </p:sp>
      <p:sp>
        <p:nvSpPr>
          <p:cNvPr id="12" name="Text 13">
            <a:extLst>
              <a:ext uri="{FF2B5EF4-FFF2-40B4-BE49-F238E27FC236}">
                <a16:creationId xmlns:a16="http://schemas.microsoft.com/office/drawing/2014/main" id="{1B464203-999C-5C33-C13E-3CA40E7862B3}"/>
              </a:ext>
            </a:extLst>
          </p:cNvPr>
          <p:cNvSpPr/>
          <p:nvPr/>
        </p:nvSpPr>
        <p:spPr>
          <a:xfrm>
            <a:off x="1045117" y="4921786"/>
            <a:ext cx="3692408" cy="623398"/>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Inter" panose="020B0604020202020204" charset="0"/>
                <a:cs typeface="Arial" panose="020B0604020202020204" pitchFamily="34" charset="0"/>
              </a:rPr>
              <a:t>Reconditionnement de matériel informatique revendu à prix solidaires, dans le cadre d'un chantier d'insertion.</a:t>
            </a:r>
          </a:p>
        </p:txBody>
      </p:sp>
      <p:sp>
        <p:nvSpPr>
          <p:cNvPr id="13" name="Shape 14">
            <a:extLst>
              <a:ext uri="{FF2B5EF4-FFF2-40B4-BE49-F238E27FC236}">
                <a16:creationId xmlns:a16="http://schemas.microsoft.com/office/drawing/2014/main" id="{EFD26E34-9D5B-E5D7-C222-94CF753A9928}"/>
              </a:ext>
            </a:extLst>
          </p:cNvPr>
          <p:cNvSpPr/>
          <p:nvPr/>
        </p:nvSpPr>
        <p:spPr>
          <a:xfrm>
            <a:off x="4974769" y="4533301"/>
            <a:ext cx="3946259" cy="1448459"/>
          </a:xfrm>
          <a:prstGeom prst="roundRect">
            <a:avLst>
              <a:gd name="adj" fmla="val 4492"/>
            </a:avLst>
          </a:prstGeom>
          <a:solidFill>
            <a:srgbClr val="A8DEEE">
              <a:alpha val="60000"/>
            </a:srgbClr>
          </a:solidFill>
          <a:ln w="6350">
            <a:solidFill>
              <a:schemeClr val="bg1">
                <a:lumMod val="50000"/>
              </a:schemeClr>
            </a:solidFill>
            <a:prstDash val="solid"/>
          </a:ln>
        </p:spPr>
      </p:sp>
      <p:sp>
        <p:nvSpPr>
          <p:cNvPr id="14" name="Text 16">
            <a:extLst>
              <a:ext uri="{FF2B5EF4-FFF2-40B4-BE49-F238E27FC236}">
                <a16:creationId xmlns:a16="http://schemas.microsoft.com/office/drawing/2014/main" id="{CDB43D66-0D19-1079-B2B1-BD60234B58AE}"/>
              </a:ext>
            </a:extLst>
          </p:cNvPr>
          <p:cNvSpPr/>
          <p:nvPr/>
        </p:nvSpPr>
        <p:spPr>
          <a:xfrm>
            <a:off x="5101655" y="4921786"/>
            <a:ext cx="3692488" cy="623398"/>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Inter" panose="020B0604020202020204" charset="0"/>
                <a:cs typeface="Arial" panose="020B0604020202020204" pitchFamily="34" charset="0"/>
              </a:rPr>
              <a:t>Après une formation, les parents des collégiens reçoivent gratuitement un ordinateur reconditionné, l'ensemble du dispositif étant intégralement pris en charge. </a:t>
            </a:r>
          </a:p>
        </p:txBody>
      </p:sp>
      <p:sp>
        <p:nvSpPr>
          <p:cNvPr id="15" name="Text 6">
            <a:extLst>
              <a:ext uri="{FF2B5EF4-FFF2-40B4-BE49-F238E27FC236}">
                <a16:creationId xmlns:a16="http://schemas.microsoft.com/office/drawing/2014/main" id="{3B009080-C27D-127E-181D-82C28FB0EA2A}"/>
              </a:ext>
            </a:extLst>
          </p:cNvPr>
          <p:cNvSpPr/>
          <p:nvPr/>
        </p:nvSpPr>
        <p:spPr>
          <a:xfrm>
            <a:off x="1230851" y="2462745"/>
            <a:ext cx="2222426" cy="387114"/>
          </a:xfrm>
          <a:prstGeom prst="rect">
            <a:avLst/>
          </a:prstGeom>
          <a:noFill/>
          <a:ln/>
        </p:spPr>
        <p:txBody>
          <a:bodyPr wrap="square" lIns="0" tIns="0" rIns="0" bIns="0" rtlCol="0" anchor="t">
            <a:noAutofit/>
          </a:bodyPr>
          <a:lstStyle/>
          <a:p>
            <a:pPr>
              <a:lnSpc>
                <a:spcPct val="104000"/>
              </a:lnSpc>
            </a:pPr>
            <a:r>
              <a:rPr lang="en-US" sz="1200" b="1" dirty="0" err="1">
                <a:solidFill>
                  <a:srgbClr val="272525"/>
                </a:solidFill>
                <a:latin typeface="Arial" panose="020B0604020202020204" pitchFamily="34" charset="0"/>
                <a:ea typeface="Inter Bold" pitchFamily="34" charset="-122"/>
                <a:cs typeface="Arial" panose="020B0604020202020204" pitchFamily="34" charset="0"/>
              </a:rPr>
              <a:t>Accompagnement</a:t>
            </a:r>
            <a:r>
              <a:rPr lang="en-US" sz="1200" b="1" dirty="0">
                <a:solidFill>
                  <a:srgbClr val="272525"/>
                </a:solidFill>
                <a:latin typeface="Arial" panose="020B0604020202020204" pitchFamily="34" charset="0"/>
                <a:ea typeface="Inter Bold" pitchFamily="34" charset="-122"/>
                <a:cs typeface="Arial" panose="020B0604020202020204" pitchFamily="34" charset="0"/>
              </a:rPr>
              <a:t> individuel</a:t>
            </a:r>
            <a:endParaRPr lang="en-US" sz="1200" dirty="0">
              <a:latin typeface="Arial" panose="020B0604020202020204" pitchFamily="34" charset="0"/>
              <a:cs typeface="Arial" panose="020B0604020202020204" pitchFamily="34" charset="0"/>
            </a:endParaRPr>
          </a:p>
        </p:txBody>
      </p:sp>
      <p:sp>
        <p:nvSpPr>
          <p:cNvPr id="16" name="Text 7">
            <a:extLst>
              <a:ext uri="{FF2B5EF4-FFF2-40B4-BE49-F238E27FC236}">
                <a16:creationId xmlns:a16="http://schemas.microsoft.com/office/drawing/2014/main" id="{608C132E-8312-104F-26D3-4AA343A698DF}"/>
              </a:ext>
            </a:extLst>
          </p:cNvPr>
          <p:cNvSpPr/>
          <p:nvPr/>
        </p:nvSpPr>
        <p:spPr>
          <a:xfrm>
            <a:off x="1230851" y="2736696"/>
            <a:ext cx="2222426" cy="761976"/>
          </a:xfrm>
          <a:prstGeom prst="rect">
            <a:avLst/>
          </a:prstGeom>
          <a:noFill/>
          <a:ln/>
        </p:spPr>
        <p:txBody>
          <a:bodyPr wrap="square" lIns="0" tIns="0" rIns="0" bIns="0" rtlCol="0" anchor="t">
            <a:noAutofit/>
          </a:bodyPr>
          <a:lstStyle/>
          <a:p>
            <a:pPr>
              <a:lnSpc>
                <a:spcPct val="128000"/>
              </a:lnSpc>
            </a:pPr>
            <a:r>
              <a:rPr lang="en-US" sz="1200" dirty="0">
                <a:solidFill>
                  <a:srgbClr val="272525"/>
                </a:solidFill>
                <a:latin typeface="Arial" panose="020B0604020202020204" pitchFamily="34" charset="0"/>
                <a:ea typeface="Inter" pitchFamily="34" charset="-122"/>
                <a:cs typeface="Arial" panose="020B0604020202020204" pitchFamily="34" charset="0"/>
              </a:rPr>
              <a:t>Vous rencontrez un problème spécifique ? Nos conseiller.es vous </a:t>
            </a:r>
            <a:r>
              <a:rPr lang="en-US" sz="1200" dirty="0" err="1">
                <a:solidFill>
                  <a:srgbClr val="272525"/>
                </a:solidFill>
                <a:latin typeface="Arial" panose="020B0604020202020204" pitchFamily="34" charset="0"/>
                <a:ea typeface="Inter" pitchFamily="34" charset="-122"/>
                <a:cs typeface="Arial" panose="020B0604020202020204" pitchFamily="34" charset="0"/>
              </a:rPr>
              <a:t>reçoivent</a:t>
            </a:r>
            <a:r>
              <a:rPr lang="en-US" sz="1200" dirty="0">
                <a:solidFill>
                  <a:srgbClr val="272525"/>
                </a:solidFill>
                <a:latin typeface="Arial" panose="020B0604020202020204" pitchFamily="34" charset="0"/>
                <a:ea typeface="Inter" pitchFamily="34" charset="-122"/>
                <a:cs typeface="Arial" panose="020B0604020202020204" pitchFamily="34" charset="0"/>
              </a:rPr>
              <a:t> sur rendez-vous pour un </a:t>
            </a:r>
            <a:r>
              <a:rPr lang="en-US" sz="1200" dirty="0" err="1">
                <a:solidFill>
                  <a:srgbClr val="272525"/>
                </a:solidFill>
                <a:latin typeface="Arial" panose="020B0604020202020204" pitchFamily="34" charset="0"/>
                <a:ea typeface="Inter" pitchFamily="34" charset="-122"/>
                <a:cs typeface="Arial" panose="020B0604020202020204" pitchFamily="34" charset="0"/>
              </a:rPr>
              <a:t>suivi</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personnalisé</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en</a:t>
            </a:r>
            <a:r>
              <a:rPr lang="en-US" sz="1200" dirty="0">
                <a:solidFill>
                  <a:srgbClr val="272525"/>
                </a:solidFill>
                <a:latin typeface="Arial" panose="020B0604020202020204" pitchFamily="34" charset="0"/>
                <a:ea typeface="Inter" pitchFamily="34" charset="-122"/>
                <a:cs typeface="Arial" panose="020B0604020202020204" pitchFamily="34" charset="0"/>
              </a:rPr>
              <a:t> CMS.</a:t>
            </a:r>
            <a:endParaRPr lang="en-US" sz="1200" dirty="0">
              <a:latin typeface="Arial" panose="020B0604020202020204" pitchFamily="34" charset="0"/>
              <a:cs typeface="Arial" panose="020B0604020202020204" pitchFamily="34" charset="0"/>
            </a:endParaRPr>
          </a:p>
        </p:txBody>
      </p:sp>
      <p:sp>
        <p:nvSpPr>
          <p:cNvPr id="17" name="Text 3">
            <a:extLst>
              <a:ext uri="{FF2B5EF4-FFF2-40B4-BE49-F238E27FC236}">
                <a16:creationId xmlns:a16="http://schemas.microsoft.com/office/drawing/2014/main" id="{18232FDD-8471-55D7-189B-493FBF74AA74}"/>
              </a:ext>
            </a:extLst>
          </p:cNvPr>
          <p:cNvSpPr/>
          <p:nvPr/>
        </p:nvSpPr>
        <p:spPr>
          <a:xfrm>
            <a:off x="3878016" y="2493018"/>
            <a:ext cx="1570346" cy="193557"/>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Ateliers </a:t>
            </a:r>
            <a:r>
              <a:rPr lang="en-US" sz="1200" b="1" dirty="0" err="1">
                <a:solidFill>
                  <a:srgbClr val="272525"/>
                </a:solidFill>
                <a:latin typeface="Arial" panose="020B0604020202020204" pitchFamily="34" charset="0"/>
                <a:ea typeface="Inter Bold" pitchFamily="34" charset="-122"/>
                <a:cs typeface="Arial" panose="020B0604020202020204" pitchFamily="34" charset="0"/>
              </a:rPr>
              <a:t>collectifs</a:t>
            </a:r>
            <a:endParaRPr lang="en-US" sz="1200" dirty="0">
              <a:latin typeface="Arial" panose="020B0604020202020204" pitchFamily="34" charset="0"/>
              <a:cs typeface="Arial" panose="020B0604020202020204" pitchFamily="34" charset="0"/>
            </a:endParaRPr>
          </a:p>
        </p:txBody>
      </p:sp>
      <p:sp>
        <p:nvSpPr>
          <p:cNvPr id="18" name="Text 4">
            <a:extLst>
              <a:ext uri="{FF2B5EF4-FFF2-40B4-BE49-F238E27FC236}">
                <a16:creationId xmlns:a16="http://schemas.microsoft.com/office/drawing/2014/main" id="{C0610A05-79D4-AA3D-1B23-BC591A0E5D78}"/>
              </a:ext>
            </a:extLst>
          </p:cNvPr>
          <p:cNvSpPr/>
          <p:nvPr/>
        </p:nvSpPr>
        <p:spPr>
          <a:xfrm>
            <a:off x="3878016" y="2755097"/>
            <a:ext cx="2222426" cy="761976"/>
          </a:xfrm>
          <a:prstGeom prst="rect">
            <a:avLst/>
          </a:prstGeom>
          <a:noFill/>
          <a:ln/>
        </p:spPr>
        <p:txBody>
          <a:bodyPr wrap="square" lIns="0" tIns="0" rIns="0" bIns="0" rtlCol="0" anchor="t">
            <a:noAutofit/>
          </a:bodyPr>
          <a:lstStyle/>
          <a:p>
            <a:pPr>
              <a:lnSpc>
                <a:spcPct val="128000"/>
              </a:lnSpc>
            </a:pPr>
            <a:r>
              <a:rPr lang="en-US" sz="1200" dirty="0">
                <a:solidFill>
                  <a:srgbClr val="272525"/>
                </a:solidFill>
                <a:latin typeface="Arial" panose="020B0604020202020204" pitchFamily="34" charset="0"/>
                <a:ea typeface="Inter" pitchFamily="34" charset="-122"/>
                <a:cs typeface="Arial" panose="020B0604020202020204" pitchFamily="34" charset="0"/>
              </a:rPr>
              <a:t>Des sessions en présentiel animées par </a:t>
            </a:r>
            <a:r>
              <a:rPr lang="en-US" sz="1200" dirty="0" err="1">
                <a:solidFill>
                  <a:srgbClr val="272525"/>
                </a:solidFill>
                <a:latin typeface="Arial" panose="020B0604020202020204" pitchFamily="34" charset="0"/>
                <a:ea typeface="Inter" pitchFamily="34" charset="-122"/>
                <a:cs typeface="Arial" panose="020B0604020202020204" pitchFamily="34" charset="0"/>
              </a:rPr>
              <a:t>vos</a:t>
            </a:r>
            <a:r>
              <a:rPr lang="en-US" sz="1200" dirty="0">
                <a:solidFill>
                  <a:srgbClr val="272525"/>
                </a:solidFill>
                <a:latin typeface="Arial" panose="020B0604020202020204" pitchFamily="34" charset="0"/>
                <a:ea typeface="Inter" pitchFamily="34" charset="-122"/>
                <a:cs typeface="Arial" panose="020B0604020202020204" pitchFamily="34" charset="0"/>
              </a:rPr>
              <a:t> conseiller.es </a:t>
            </a:r>
            <a:r>
              <a:rPr lang="en-US" sz="1200" dirty="0" err="1">
                <a:solidFill>
                  <a:srgbClr val="272525"/>
                </a:solidFill>
                <a:latin typeface="Arial" panose="020B0604020202020204" pitchFamily="34" charset="0"/>
                <a:ea typeface="Inter" pitchFamily="34" charset="-122"/>
                <a:cs typeface="Arial" panose="020B0604020202020204" pitchFamily="34" charset="0"/>
              </a:rPr>
              <a:t>numériques</a:t>
            </a:r>
            <a:r>
              <a:rPr lang="en-US" sz="1200" dirty="0">
                <a:solidFill>
                  <a:srgbClr val="272525"/>
                </a:solidFill>
                <a:latin typeface="Arial" panose="020B0604020202020204" pitchFamily="34" charset="0"/>
                <a:ea typeface="Inter" pitchFamily="34" charset="-122"/>
                <a:cs typeface="Arial" panose="020B0604020202020204" pitchFamily="34" charset="0"/>
              </a:rPr>
              <a:t> dans </a:t>
            </a:r>
            <a:r>
              <a:rPr lang="en-US" sz="1200" dirty="0" err="1">
                <a:solidFill>
                  <a:srgbClr val="272525"/>
                </a:solidFill>
                <a:latin typeface="Arial" panose="020B0604020202020204" pitchFamily="34" charset="0"/>
                <a:ea typeface="Inter" pitchFamily="34" charset="-122"/>
                <a:cs typeface="Arial" panose="020B0604020202020204" pitchFamily="34" charset="0"/>
              </a:rPr>
              <a:t>plusieurs</a:t>
            </a:r>
            <a:r>
              <a:rPr lang="en-US" sz="1200" dirty="0">
                <a:solidFill>
                  <a:srgbClr val="272525"/>
                </a:solidFill>
                <a:latin typeface="Arial" panose="020B0604020202020204" pitchFamily="34" charset="0"/>
                <a:ea typeface="Inter" pitchFamily="34" charset="-122"/>
                <a:cs typeface="Arial" panose="020B0604020202020204" pitchFamily="34" charset="0"/>
              </a:rPr>
              <a:t> communes du Lot-et-Garonne, pour </a:t>
            </a:r>
            <a:r>
              <a:rPr lang="en-US" sz="1200" dirty="0" err="1">
                <a:solidFill>
                  <a:srgbClr val="272525"/>
                </a:solidFill>
                <a:latin typeface="Arial" panose="020B0604020202020204" pitchFamily="34" charset="0"/>
                <a:ea typeface="Inter" pitchFamily="34" charset="-122"/>
                <a:cs typeface="Arial" panose="020B0604020202020204" pitchFamily="34" charset="0"/>
              </a:rPr>
              <a:t>être</a:t>
            </a:r>
            <a:r>
              <a:rPr lang="en-US" sz="1200" dirty="0">
                <a:solidFill>
                  <a:srgbClr val="272525"/>
                </a:solidFill>
                <a:latin typeface="Arial" panose="020B0604020202020204" pitchFamily="34" charset="0"/>
                <a:ea typeface="Inter" pitchFamily="34" charset="-122"/>
                <a:cs typeface="Arial" panose="020B0604020202020204" pitchFamily="34" charset="0"/>
              </a:rPr>
              <a:t> au plus </a:t>
            </a:r>
            <a:r>
              <a:rPr lang="en-US" sz="1200" dirty="0" err="1">
                <a:solidFill>
                  <a:srgbClr val="272525"/>
                </a:solidFill>
                <a:latin typeface="Arial" panose="020B0604020202020204" pitchFamily="34" charset="0"/>
                <a:ea typeface="Inter" pitchFamily="34" charset="-122"/>
                <a:cs typeface="Arial" panose="020B0604020202020204" pitchFamily="34" charset="0"/>
              </a:rPr>
              <a:t>proche</a:t>
            </a:r>
            <a:r>
              <a:rPr lang="en-US" sz="1200" dirty="0">
                <a:solidFill>
                  <a:srgbClr val="272525"/>
                </a:solidFill>
                <a:latin typeface="Arial" panose="020B0604020202020204" pitchFamily="34" charset="0"/>
                <a:ea typeface="Inter" pitchFamily="34" charset="-122"/>
                <a:cs typeface="Arial" panose="020B0604020202020204" pitchFamily="34" charset="0"/>
              </a:rPr>
              <a:t> de chez </a:t>
            </a:r>
            <a:r>
              <a:rPr lang="en-US" sz="1200" dirty="0" err="1">
                <a:solidFill>
                  <a:srgbClr val="272525"/>
                </a:solidFill>
                <a:latin typeface="Arial" panose="020B0604020202020204" pitchFamily="34" charset="0"/>
                <a:ea typeface="Inter" pitchFamily="34" charset="-122"/>
                <a:cs typeface="Arial" panose="020B0604020202020204" pitchFamily="34" charset="0"/>
              </a:rPr>
              <a:t>vous</a:t>
            </a:r>
            <a:r>
              <a:rPr lang="en-US" sz="1200" dirty="0">
                <a:solidFill>
                  <a:srgbClr val="272525"/>
                </a:solidFill>
                <a:latin typeface="Arial" panose="020B0604020202020204" pitchFamily="34" charset="0"/>
                <a:ea typeface="Inter"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19" name="Text 3">
            <a:extLst>
              <a:ext uri="{FF2B5EF4-FFF2-40B4-BE49-F238E27FC236}">
                <a16:creationId xmlns:a16="http://schemas.microsoft.com/office/drawing/2014/main" id="{0014AB91-82DD-AB72-D8A8-4EDA069DCF76}"/>
              </a:ext>
            </a:extLst>
          </p:cNvPr>
          <p:cNvSpPr/>
          <p:nvPr/>
        </p:nvSpPr>
        <p:spPr>
          <a:xfrm>
            <a:off x="5098155" y="4654769"/>
            <a:ext cx="1570346" cy="193557"/>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Parents-</a:t>
            </a:r>
            <a:r>
              <a:rPr lang="en-US" sz="1200" b="1" dirty="0" err="1">
                <a:solidFill>
                  <a:srgbClr val="272525"/>
                </a:solidFill>
                <a:latin typeface="Arial" panose="020B0604020202020204" pitchFamily="34" charset="0"/>
                <a:ea typeface="Inter Bold" pitchFamily="34" charset="-122"/>
                <a:cs typeface="Arial" panose="020B0604020202020204" pitchFamily="34" charset="0"/>
              </a:rPr>
              <a:t>Connectés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0377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3F84403E-9922-2AB1-47F0-79A2A321FFD5}"/>
              </a:ext>
            </a:extLst>
          </p:cNvPr>
          <p:cNvSpPr/>
          <p:nvPr/>
        </p:nvSpPr>
        <p:spPr>
          <a:xfrm>
            <a:off x="3904785" y="1010653"/>
            <a:ext cx="5527971" cy="1016882"/>
          </a:xfrm>
          <a:prstGeom prst="roundRect">
            <a:avLst/>
          </a:prstGeom>
          <a:solidFill>
            <a:srgbClr val="D6DF8E">
              <a:alpha val="90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3" name="Image 0" descr="preencoded.png">
            <a:extLst>
              <a:ext uri="{FF2B5EF4-FFF2-40B4-BE49-F238E27FC236}">
                <a16:creationId xmlns:a16="http://schemas.microsoft.com/office/drawing/2014/main" id="{9CD5B01E-A85A-D41D-19DD-0EA41EC97C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5137" y="1010653"/>
            <a:ext cx="3112090" cy="4668252"/>
          </a:xfrm>
          <a:prstGeom prst="rect">
            <a:avLst/>
          </a:prstGeom>
        </p:spPr>
      </p:pic>
      <p:sp>
        <p:nvSpPr>
          <p:cNvPr id="4" name="Text 0">
            <a:extLst>
              <a:ext uri="{FF2B5EF4-FFF2-40B4-BE49-F238E27FC236}">
                <a16:creationId xmlns:a16="http://schemas.microsoft.com/office/drawing/2014/main" id="{6FAC5496-8BB0-B782-0D99-D80E15D67B0F}"/>
              </a:ext>
            </a:extLst>
          </p:cNvPr>
          <p:cNvSpPr/>
          <p:nvPr/>
        </p:nvSpPr>
        <p:spPr>
          <a:xfrm>
            <a:off x="3891159" y="1081161"/>
            <a:ext cx="5527971" cy="830765"/>
          </a:xfrm>
          <a:prstGeom prst="rect">
            <a:avLst/>
          </a:prstGeom>
          <a:noFill/>
          <a:ln/>
        </p:spPr>
        <p:txBody>
          <a:bodyPr wrap="none" lIns="0" tIns="0" rIns="0" bIns="0" rtlCol="0" anchor="t"/>
          <a:lstStyle/>
          <a:p>
            <a:pPr algn="ctr">
              <a:lnSpc>
                <a:spcPct val="104000"/>
              </a:lnSpc>
            </a:pPr>
            <a:r>
              <a:rPr lang="en-US" sz="2438" b="1" dirty="0">
                <a:solidFill>
                  <a:srgbClr val="000000"/>
                </a:solidFill>
                <a:latin typeface="Arial" panose="020B0604020202020204" pitchFamily="34" charset="0"/>
                <a:ea typeface="Inter Bold" pitchFamily="34" charset="-122"/>
                <a:cs typeface="Arial" panose="020B0604020202020204" pitchFamily="34" charset="0"/>
              </a:rPr>
              <a:t>Besoin d'aide ? Nous sommes </a:t>
            </a:r>
            <a:r>
              <a:rPr lang="en-US" sz="2438" b="1" dirty="0" err="1">
                <a:solidFill>
                  <a:srgbClr val="000000"/>
                </a:solidFill>
                <a:latin typeface="Arial" panose="020B0604020202020204" pitchFamily="34" charset="0"/>
                <a:ea typeface="Inter Bold" pitchFamily="34" charset="-122"/>
                <a:cs typeface="Arial" panose="020B0604020202020204" pitchFamily="34" charset="0"/>
              </a:rPr>
              <a:t>là</a:t>
            </a:r>
            <a:r>
              <a:rPr lang="en-US" sz="2438" b="1" dirty="0">
                <a:solidFill>
                  <a:srgbClr val="000000"/>
                </a:solidFill>
                <a:latin typeface="Arial" panose="020B0604020202020204" pitchFamily="34" charset="0"/>
                <a:ea typeface="Inter Bold" pitchFamily="34" charset="-122"/>
                <a:cs typeface="Arial" panose="020B0604020202020204" pitchFamily="34" charset="0"/>
              </a:rPr>
              <a:t> !</a:t>
            </a:r>
          </a:p>
          <a:p>
            <a:pPr algn="ctr">
              <a:lnSpc>
                <a:spcPct val="104000"/>
              </a:lnSpc>
            </a:pPr>
            <a:r>
              <a:rPr lang="en-US" sz="2438" b="1" dirty="0">
                <a:solidFill>
                  <a:srgbClr val="000000"/>
                </a:solidFill>
                <a:latin typeface="Arial" panose="020B0604020202020204" pitchFamily="34" charset="0"/>
                <a:ea typeface="Inter Bold" pitchFamily="34" charset="-122"/>
                <a:cs typeface="Arial" panose="020B0604020202020204" pitchFamily="34" charset="0"/>
              </a:rPr>
              <a:t>Pour nous </a:t>
            </a:r>
            <a:r>
              <a:rPr lang="en-US" sz="2438" b="1" dirty="0" err="1">
                <a:solidFill>
                  <a:srgbClr val="000000"/>
                </a:solidFill>
                <a:latin typeface="Arial" panose="020B0604020202020204" pitchFamily="34" charset="0"/>
                <a:ea typeface="Inter Bold" pitchFamily="34" charset="-122"/>
                <a:cs typeface="Arial" panose="020B0604020202020204" pitchFamily="34" charset="0"/>
              </a:rPr>
              <a:t>joindre</a:t>
            </a:r>
            <a:r>
              <a:rPr lang="en-US" sz="2438" b="1" dirty="0">
                <a:solidFill>
                  <a:srgbClr val="000000"/>
                </a:solidFill>
                <a:latin typeface="Arial" panose="020B0604020202020204" pitchFamily="34" charset="0"/>
                <a:ea typeface="Inter Bold" pitchFamily="34" charset="-122"/>
                <a:cs typeface="Arial" panose="020B0604020202020204" pitchFamily="34" charset="0"/>
              </a:rPr>
              <a:t>…</a:t>
            </a:r>
            <a:endParaRPr lang="en-US" sz="2438" dirty="0">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0587B08D-2CBF-EEB2-6A08-B3071EAEB3ED}"/>
              </a:ext>
            </a:extLst>
          </p:cNvPr>
          <p:cNvSpPr/>
          <p:nvPr/>
        </p:nvSpPr>
        <p:spPr>
          <a:xfrm>
            <a:off x="3891159" y="2339485"/>
            <a:ext cx="2501025" cy="1496219"/>
          </a:xfrm>
          <a:prstGeom prst="roundRect">
            <a:avLst>
              <a:gd name="adj" fmla="val 3477"/>
            </a:avLst>
          </a:prstGeom>
          <a:solidFill>
            <a:srgbClr val="A8DEEE">
              <a:alpha val="60000"/>
            </a:srgbClr>
          </a:solidFill>
          <a:ln w="6350">
            <a:solidFill>
              <a:schemeClr val="bg1">
                <a:lumMod val="65000"/>
              </a:schemeClr>
            </a:solidFill>
            <a:prstDash val="solid"/>
          </a:ln>
        </p:spPr>
      </p:sp>
      <p:sp>
        <p:nvSpPr>
          <p:cNvPr id="6" name="Shape 5">
            <a:extLst>
              <a:ext uri="{FF2B5EF4-FFF2-40B4-BE49-F238E27FC236}">
                <a16:creationId xmlns:a16="http://schemas.microsoft.com/office/drawing/2014/main" id="{D927687A-73B6-EC39-058F-D79D3D6921C3}"/>
              </a:ext>
            </a:extLst>
          </p:cNvPr>
          <p:cNvSpPr/>
          <p:nvPr/>
        </p:nvSpPr>
        <p:spPr>
          <a:xfrm>
            <a:off x="6506332" y="2339485"/>
            <a:ext cx="2926425" cy="1496219"/>
          </a:xfrm>
          <a:prstGeom prst="roundRect">
            <a:avLst>
              <a:gd name="adj" fmla="val 3477"/>
            </a:avLst>
          </a:prstGeom>
          <a:solidFill>
            <a:srgbClr val="A8DEEE">
              <a:alpha val="60000"/>
            </a:srgbClr>
          </a:solidFill>
          <a:ln w="6350">
            <a:solidFill>
              <a:schemeClr val="bg1">
                <a:lumMod val="65000"/>
              </a:schemeClr>
            </a:solidFill>
            <a:prstDash val="solid"/>
          </a:ln>
        </p:spPr>
      </p:sp>
      <p:sp>
        <p:nvSpPr>
          <p:cNvPr id="7" name="Shape 8">
            <a:extLst>
              <a:ext uri="{FF2B5EF4-FFF2-40B4-BE49-F238E27FC236}">
                <a16:creationId xmlns:a16="http://schemas.microsoft.com/office/drawing/2014/main" id="{B40B8D6D-6036-3292-B6A2-2D95CE0F130D}"/>
              </a:ext>
            </a:extLst>
          </p:cNvPr>
          <p:cNvSpPr/>
          <p:nvPr/>
        </p:nvSpPr>
        <p:spPr>
          <a:xfrm>
            <a:off x="3891158" y="3949855"/>
            <a:ext cx="5541599" cy="921674"/>
          </a:xfrm>
          <a:prstGeom prst="roundRect">
            <a:avLst>
              <a:gd name="adj" fmla="val 5645"/>
            </a:avLst>
          </a:prstGeom>
          <a:solidFill>
            <a:srgbClr val="A8DEEE">
              <a:alpha val="60000"/>
            </a:srgbClr>
          </a:solidFill>
          <a:ln w="6350">
            <a:solidFill>
              <a:schemeClr val="bg1">
                <a:lumMod val="65000"/>
              </a:schemeClr>
            </a:solidFill>
            <a:prstDash val="solid"/>
          </a:ln>
        </p:spPr>
      </p:sp>
      <p:sp>
        <p:nvSpPr>
          <p:cNvPr id="8" name="Text 20">
            <a:extLst>
              <a:ext uri="{FF2B5EF4-FFF2-40B4-BE49-F238E27FC236}">
                <a16:creationId xmlns:a16="http://schemas.microsoft.com/office/drawing/2014/main" id="{F5835510-6F34-1B72-8214-D0FE18CCD559}"/>
              </a:ext>
            </a:extLst>
          </p:cNvPr>
          <p:cNvSpPr/>
          <p:nvPr/>
        </p:nvSpPr>
        <p:spPr>
          <a:xfrm>
            <a:off x="5312899" y="4112245"/>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Email</a:t>
            </a:r>
            <a:endParaRPr lang="en-US" sz="1400" dirty="0">
              <a:latin typeface="Arial" panose="020B0604020202020204" pitchFamily="34" charset="0"/>
              <a:cs typeface="Arial" panose="020B0604020202020204" pitchFamily="34" charset="0"/>
            </a:endParaRPr>
          </a:p>
        </p:txBody>
      </p:sp>
      <p:sp>
        <p:nvSpPr>
          <p:cNvPr id="9" name="Text 21">
            <a:extLst>
              <a:ext uri="{FF2B5EF4-FFF2-40B4-BE49-F238E27FC236}">
                <a16:creationId xmlns:a16="http://schemas.microsoft.com/office/drawing/2014/main" id="{ABF6AB00-5C5B-6694-CA30-35CB8930D188}"/>
              </a:ext>
            </a:extLst>
          </p:cNvPr>
          <p:cNvSpPr/>
          <p:nvPr/>
        </p:nvSpPr>
        <p:spPr>
          <a:xfrm>
            <a:off x="5312899" y="4373841"/>
            <a:ext cx="2420654" cy="185738"/>
          </a:xfrm>
          <a:prstGeom prst="rect">
            <a:avLst/>
          </a:prstGeom>
          <a:noFill/>
          <a:ln/>
        </p:spPr>
        <p:txBody>
          <a:bodyPr wrap="none" lIns="0" tIns="0" rIns="0" bIns="0" rtlCol="0" anchor="t"/>
          <a:lstStyle/>
          <a:p>
            <a:pPr>
              <a:lnSpc>
                <a:spcPct val="127000"/>
              </a:lnSpc>
            </a:pPr>
            <a:r>
              <a:rPr lang="en-US" sz="1200" b="1" u="sng" dirty="0">
                <a:solidFill>
                  <a:srgbClr val="4950BC"/>
                </a:solidFill>
                <a:latin typeface="Arial" panose="020B0604020202020204" pitchFamily="34" charset="0"/>
                <a:ea typeface="Inter Bold" pitchFamily="34" charset="-122"/>
                <a:cs typeface="Arial" panose="020B0604020202020204" pitchFamily="34" charset="0"/>
                <a:hlinkClick r:id="rId3">
                  <a:extLst>
                    <a:ext uri="{A12FA001-AC4F-418D-AE19-62706E023703}">
                      <ahyp:hlinkClr xmlns:ahyp="http://schemas.microsoft.com/office/drawing/2018/hyperlinkcolor" val="tx"/>
                    </a:ext>
                  </a:extLst>
                </a:hlinkClick>
              </a:rPr>
              <a:t>conseiller-numerique@lotetgaronne.fr</a:t>
            </a:r>
            <a:endParaRPr lang="en-US" sz="1200" dirty="0">
              <a:latin typeface="Arial" panose="020B0604020202020204" pitchFamily="34" charset="0"/>
              <a:cs typeface="Arial" panose="020B0604020202020204" pitchFamily="34" charset="0"/>
            </a:endParaRPr>
          </a:p>
        </p:txBody>
      </p:sp>
      <p:sp>
        <p:nvSpPr>
          <p:cNvPr id="10" name="Text 24">
            <a:extLst>
              <a:ext uri="{FF2B5EF4-FFF2-40B4-BE49-F238E27FC236}">
                <a16:creationId xmlns:a16="http://schemas.microsoft.com/office/drawing/2014/main" id="{4C3A4858-C4D7-125B-83A6-0BF42828DFBE}"/>
              </a:ext>
            </a:extLst>
          </p:cNvPr>
          <p:cNvSpPr/>
          <p:nvPr/>
        </p:nvSpPr>
        <p:spPr>
          <a:xfrm>
            <a:off x="4417484" y="2852601"/>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Téléphone</a:t>
            </a:r>
            <a:endParaRPr lang="en-US" sz="1400" dirty="0">
              <a:latin typeface="Arial" panose="020B0604020202020204" pitchFamily="34" charset="0"/>
              <a:cs typeface="Arial" panose="020B0604020202020204" pitchFamily="34" charset="0"/>
            </a:endParaRPr>
          </a:p>
        </p:txBody>
      </p:sp>
      <p:sp>
        <p:nvSpPr>
          <p:cNvPr id="11" name="Text 25">
            <a:extLst>
              <a:ext uri="{FF2B5EF4-FFF2-40B4-BE49-F238E27FC236}">
                <a16:creationId xmlns:a16="http://schemas.microsoft.com/office/drawing/2014/main" id="{3808AAC0-4526-48C2-294F-222A48A7F9E5}"/>
              </a:ext>
            </a:extLst>
          </p:cNvPr>
          <p:cNvSpPr/>
          <p:nvPr/>
        </p:nvSpPr>
        <p:spPr>
          <a:xfrm>
            <a:off x="4592053" y="3114197"/>
            <a:ext cx="2420734" cy="185738"/>
          </a:xfrm>
          <a:prstGeom prst="rect">
            <a:avLst/>
          </a:prstGeom>
          <a:noFill/>
          <a:ln/>
        </p:spPr>
        <p:txBody>
          <a:bodyPr wrap="none" lIns="0" tIns="0" rIns="0" bIns="0" rtlCol="0" anchor="t"/>
          <a:lstStyle/>
          <a:p>
            <a:pPr>
              <a:lnSpc>
                <a:spcPct val="127000"/>
              </a:lnSpc>
            </a:pPr>
            <a:r>
              <a:rPr lang="en-US" sz="1200" dirty="0">
                <a:solidFill>
                  <a:srgbClr val="272525"/>
                </a:solidFill>
                <a:latin typeface="Arial" panose="020B0604020202020204" pitchFamily="34" charset="0"/>
                <a:ea typeface="Inter" pitchFamily="34" charset="-122"/>
                <a:cs typeface="Arial" panose="020B0604020202020204" pitchFamily="34" charset="0"/>
              </a:rPr>
              <a:t>05 53 47 31 32</a:t>
            </a:r>
            <a:endParaRPr lang="en-US" sz="1200" dirty="0">
              <a:latin typeface="Arial" panose="020B0604020202020204" pitchFamily="34" charset="0"/>
              <a:cs typeface="Arial" panose="020B0604020202020204" pitchFamily="34" charset="0"/>
            </a:endParaRPr>
          </a:p>
        </p:txBody>
      </p:sp>
      <p:sp>
        <p:nvSpPr>
          <p:cNvPr id="12" name="Text 28">
            <a:extLst>
              <a:ext uri="{FF2B5EF4-FFF2-40B4-BE49-F238E27FC236}">
                <a16:creationId xmlns:a16="http://schemas.microsoft.com/office/drawing/2014/main" id="{A8D54BC7-EC2C-E6EF-BA71-F3C946156769}"/>
              </a:ext>
            </a:extLst>
          </p:cNvPr>
          <p:cNvSpPr/>
          <p:nvPr/>
        </p:nvSpPr>
        <p:spPr>
          <a:xfrm>
            <a:off x="6673940" y="2823660"/>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Site web</a:t>
            </a:r>
            <a:endParaRPr lang="en-US" sz="1400" dirty="0">
              <a:latin typeface="Arial" panose="020B0604020202020204" pitchFamily="34" charset="0"/>
              <a:cs typeface="Arial" panose="020B0604020202020204" pitchFamily="34" charset="0"/>
            </a:endParaRPr>
          </a:p>
        </p:txBody>
      </p:sp>
      <p:sp>
        <p:nvSpPr>
          <p:cNvPr id="13" name="Text 29">
            <a:extLst>
              <a:ext uri="{FF2B5EF4-FFF2-40B4-BE49-F238E27FC236}">
                <a16:creationId xmlns:a16="http://schemas.microsoft.com/office/drawing/2014/main" id="{7B81307C-281A-1A72-A058-E428727F406A}"/>
              </a:ext>
            </a:extLst>
          </p:cNvPr>
          <p:cNvSpPr/>
          <p:nvPr/>
        </p:nvSpPr>
        <p:spPr>
          <a:xfrm>
            <a:off x="6673941" y="3085256"/>
            <a:ext cx="2420734" cy="185738"/>
          </a:xfrm>
          <a:prstGeom prst="rect">
            <a:avLst/>
          </a:prstGeom>
          <a:noFill/>
          <a:ln/>
        </p:spPr>
        <p:txBody>
          <a:bodyPr wrap="none" lIns="0" tIns="0" rIns="0" bIns="0" rtlCol="0" anchor="t"/>
          <a:lstStyle/>
          <a:p>
            <a:pPr>
              <a:lnSpc>
                <a:spcPct val="127000"/>
              </a:lnSpc>
            </a:pPr>
            <a:r>
              <a:rPr lang="en-US" sz="1200" dirty="0">
                <a:solidFill>
                  <a:srgbClr val="272525"/>
                </a:solidFill>
                <a:latin typeface="Arial" panose="020B0604020202020204" pitchFamily="34" charset="0"/>
                <a:ea typeface="Inter" pitchFamily="34" charset="-122"/>
                <a:cs typeface="Arial" panose="020B0604020202020204" pitchFamily="34" charset="0"/>
              </a:rPr>
              <a:t>lotetgaronne.fr/inclusion-numerique</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3525293"/>
      </p:ext>
    </p:extLst>
  </p:cSld>
  <p:clrMapOvr>
    <a:masterClrMapping/>
  </p:clrMapOvr>
</p:sld>
</file>

<file path=ppt/theme/theme1.xml><?xml version="1.0" encoding="utf-8"?>
<a:theme xmlns:a="http://schemas.openxmlformats.org/drawingml/2006/main" name="Thème Office 2013 – 2022">
  <a:themeElements>
    <a:clrScheme name="Thème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38</TotalTime>
  <Words>1669</Words>
  <Application>Microsoft Office PowerPoint</Application>
  <PresentationFormat>Format A4 (210 x 297 mm)</PresentationFormat>
  <Paragraphs>143</Paragraphs>
  <Slides>12</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Calibri Light</vt:lpstr>
      <vt:lpstr>Arial</vt:lpstr>
      <vt:lpstr>Calibri</vt:lpstr>
      <vt:lpstr>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Aswad Michel</cp:lastModifiedBy>
  <cp:revision>10</cp:revision>
  <dcterms:created xsi:type="dcterms:W3CDTF">2026-06-23T19:26:55Z</dcterms:created>
  <dcterms:modified xsi:type="dcterms:W3CDTF">2026-07-07T09:32:29Z</dcterms:modified>
</cp:coreProperties>
</file>