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906000" cy="6858000" type="A4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088"/>
    <a:srgbClr val="94B7DD"/>
    <a:srgbClr val="A8DEEE"/>
    <a:srgbClr val="D6DF8E"/>
    <a:srgbClr val="94B9DE"/>
    <a:srgbClr val="D5E08E"/>
    <a:srgbClr val="91BEE1"/>
    <a:srgbClr val="92BBDF"/>
    <a:srgbClr val="94BA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606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1pPr>
    <a:lvl2pPr marL="536372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2pPr>
    <a:lvl3pPr marL="1072743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3pPr>
    <a:lvl4pPr marL="1609115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4pPr>
    <a:lvl5pPr marL="2145487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5pPr>
    <a:lvl6pPr marL="2681859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6pPr>
    <a:lvl7pPr marL="3218230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7pPr>
    <a:lvl8pPr marL="3754602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8pPr>
    <a:lvl9pPr marL="4290974" algn="l" defTabSz="107274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2408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28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260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224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431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79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562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4844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358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7343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3967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87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8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conseiller-numerique@lotetgaronne.fr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85725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521895"/>
            <a:ext cx="463339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Pièces jointes par e-mail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1" y="2963098"/>
            <a:ext cx="42183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Envoyer, recevoir et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rester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toute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sécurité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21" y="3542260"/>
            <a:ext cx="4722763" cy="1262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Bienvenue dans cet atelier ! Nous allons découvrir ensemble comment envoyer et recevoir des pièces jointes avec Gmail, Outlook et Proton Mail — pas à pas, sans jargon technique. Que vous soyez débutant ou utilisateur régulier, vous repartirez avec des réflexes concrets pour gérer vos fichiers en toute confiance.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0">
            <a:extLst>
              <a:ext uri="{FF2B5EF4-FFF2-40B4-BE49-F238E27FC236}">
                <a16:creationId xmlns:a16="http://schemas.microsoft.com/office/drawing/2014/main" id="{FBB9154C-FA88-929D-AECE-0966F6FBB926}"/>
              </a:ext>
            </a:extLst>
          </p:cNvPr>
          <p:cNvSpPr/>
          <p:nvPr/>
        </p:nvSpPr>
        <p:spPr>
          <a:xfrm>
            <a:off x="815134" y="5334964"/>
            <a:ext cx="8151763" cy="471115"/>
          </a:xfrm>
          <a:prstGeom prst="roundRect">
            <a:avLst>
              <a:gd name="adj" fmla="val 10886"/>
            </a:avLst>
          </a:prstGeom>
          <a:solidFill>
            <a:srgbClr val="B6D6FC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877121" y="734715"/>
            <a:ext cx="5203329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🗺️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Au programme de cet atelier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19" y="21377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121" y="2334239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877119" y="2424803"/>
            <a:ext cx="23601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Qu'est-ce qu'une pièce jointe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7121" y="269306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Comprendre le principe et les types de fichiers courants.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14987" y="21377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14988" y="2334239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014987" y="24248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Comment envoyer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14988" y="269306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Les étapes dans Gmail, Outlook et Proton Mail.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7119" y="364450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7121" y="3840957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119" y="3931520"/>
            <a:ext cx="21971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Comment recevoir et ouvrir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7121" y="419978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Télécharger, prévisualiser et organiser ses fichiers.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14987" y="364450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14988" y="3840957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5014987" y="393152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Pièges et sécurité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14988" y="419978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Reconnaître les fichiers dangereux, éviter les erreurs classiques.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7121" y="539853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Chaque partie est illustrée d'exemples concrets tirés du quotidien. N'hésitez pas à poser vos questions à tout moment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857252"/>
            <a:ext cx="3429000" cy="51455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21" y="554828"/>
            <a:ext cx="5040600" cy="71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📎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Qu'est-ce qu'une pièce jointe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7121" y="1106294"/>
            <a:ext cx="4722763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Une pièce jointe, c'est simplement 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 fichier que l'on accroche à un e-mail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comme on agrafait autrefois un document à une lettre. Ce fichier voyage avec le message et le destinataire peut le consulter ou le sauvegarder sur son propre appareil.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77121" y="2721993"/>
            <a:ext cx="4722763" cy="655886"/>
          </a:xfrm>
          <a:prstGeom prst="roundRect">
            <a:avLst>
              <a:gd name="adj" fmla="val 7323"/>
            </a:avLst>
          </a:prstGeom>
          <a:solidFill>
            <a:srgbClr val="94BADF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6181" y="2841055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📄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Documents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181" y="3082976"/>
            <a:ext cx="448463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Lettres, CV, contrats, formulaires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7121" y="3483249"/>
            <a:ext cx="4722763" cy="655886"/>
          </a:xfrm>
          <a:prstGeom prst="roundRect">
            <a:avLst>
              <a:gd name="adj" fmla="val 7323"/>
            </a:avLst>
          </a:prstGeom>
          <a:solidFill>
            <a:srgbClr val="A8DEE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181" y="3602311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🖼️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Images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6181" y="3844231"/>
            <a:ext cx="448463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Photos de famille, captures d'écran, illustrations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77121" y="4244505"/>
            <a:ext cx="4722763" cy="655886"/>
          </a:xfrm>
          <a:prstGeom prst="roundRect">
            <a:avLst>
              <a:gd name="adj" fmla="val 7323"/>
            </a:avLst>
          </a:prstGeom>
          <a:solidFill>
            <a:srgbClr val="94BADF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181" y="4363567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🎵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Médias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96181" y="4605487"/>
            <a:ext cx="448463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Vidéos, fichiers audio, enregistrements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77121" y="5005761"/>
            <a:ext cx="4722763" cy="655886"/>
          </a:xfrm>
          <a:prstGeom prst="roundRect">
            <a:avLst>
              <a:gd name="adj" fmla="val 7323"/>
            </a:avLst>
          </a:prstGeom>
          <a:solidFill>
            <a:srgbClr val="A8DEE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181" y="5124823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📊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Tableurs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6181" y="5366743"/>
            <a:ext cx="448463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Budgets, listes, données chiffrées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0">
            <a:extLst>
              <a:ext uri="{FF2B5EF4-FFF2-40B4-BE49-F238E27FC236}">
                <a16:creationId xmlns:a16="http://schemas.microsoft.com/office/drawing/2014/main" id="{6F9DAB16-650A-37EA-45B2-77C518A172AA}"/>
              </a:ext>
            </a:extLst>
          </p:cNvPr>
          <p:cNvSpPr/>
          <p:nvPr/>
        </p:nvSpPr>
        <p:spPr>
          <a:xfrm>
            <a:off x="877121" y="1327002"/>
            <a:ext cx="8151763" cy="703637"/>
          </a:xfrm>
          <a:prstGeom prst="roundRect">
            <a:avLst>
              <a:gd name="adj" fmla="val 10886"/>
            </a:avLst>
          </a:prstGeom>
          <a:solidFill>
            <a:srgbClr val="D6DF8E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817065" y="632411"/>
            <a:ext cx="8673930" cy="772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🗂️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Les types de fichiers — Ce que disent les extensions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172" y="1377269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Chaque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	</a:t>
            </a: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fichier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porte une 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extension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les quelques lettres après le point dans son nom (ex. :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photo.jpg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). C'est votre premier repère pour savoir de quoi il s'agit.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121" y="2251200"/>
            <a:ext cx="4015755" cy="12876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0597" y="2387527"/>
            <a:ext cx="169842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📝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Texte et documents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0595" y="2650355"/>
            <a:ext cx="368595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.pdf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document universel, se lit partout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.docx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fichier Word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.odt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format libre (LibreOffice)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3054" y="2251200"/>
            <a:ext cx="4015829" cy="12876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6531" y="2387527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🖼️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Images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06529" y="2650355"/>
            <a:ext cx="3686026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.jpg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/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.jpeg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photos compressées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.png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images avec transparence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.gif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images animées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121" y="3748368"/>
            <a:ext cx="4015755" cy="11248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0597" y="3884694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📦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Archives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70595" y="4147525"/>
            <a:ext cx="36859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.zip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dossier compressé contenant plusieurs fichiers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.rar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même principe, format différent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3054" y="3748368"/>
            <a:ext cx="4015829" cy="1124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06531" y="3884694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⚠️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À surveiller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206529" y="4147525"/>
            <a:ext cx="368602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.exe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/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.bat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/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.vbs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fichiers exécutables, potentiellement dangereux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877121" y="5425795"/>
            <a:ext cx="8151763" cy="703637"/>
          </a:xfrm>
          <a:prstGeom prst="roundRect">
            <a:avLst>
              <a:gd name="adj" fmla="val 10886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160" y="5629973"/>
            <a:ext cx="152623" cy="1220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3821" y="5564428"/>
            <a:ext cx="809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format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.pdf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est idéal pour partager des documents officiels : il s'ouvre sur tous les appareils et préserve la mise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page exacte.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85725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21" y="239957"/>
            <a:ext cx="6282804" cy="646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📤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Envoyer une pièce jointe avec Gmail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7121" y="945620"/>
            <a:ext cx="4722763" cy="814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Gmail est l'un des services de messagerie les plus utilisés en France. Joindre un fichier est simple et rapide depuis un ordinateur ou un smartphone.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121" y="1973286"/>
            <a:ext cx="4722763" cy="21614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93347" y="3536043"/>
            <a:ext cx="886654" cy="34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Cliquer Envoyer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375919" y="3536043"/>
            <a:ext cx="886654" cy="34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Cliquer trombone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264565" y="3536043"/>
            <a:ext cx="886654" cy="34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Destinataire &amp; objet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28919" y="3536043"/>
            <a:ext cx="886654" cy="34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Nouveau message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77121" y="4474010"/>
            <a:ext cx="4722763" cy="779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Sur mobile, l'icône de trombone se trouve en bas de la fenêtre de rédaction. Vous pouvez aussi glisser-déposer un fichier directement dans la fenêtre de composition depuis votre ordinateur.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77121" y="5746174"/>
            <a:ext cx="4722763" cy="871869"/>
          </a:xfrm>
          <a:prstGeom prst="roundRect">
            <a:avLst>
              <a:gd name="adj" fmla="val 8549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811" y="5884662"/>
            <a:ext cx="128364" cy="1026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0866" y="5848347"/>
            <a:ext cx="4286324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Gmail limite chaque pièce jointe à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25 Mo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Au-delà, Google propose automatiquement un lien Google Drive — pratique et transparent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1" y="641659"/>
            <a:ext cx="6678513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📤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Envoyer une pièce jointe avec Outlook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7823" y="2346202"/>
            <a:ext cx="4103191" cy="1985963"/>
          </a:xfrm>
          <a:prstGeom prst="roundRect">
            <a:avLst>
              <a:gd name="adj" fmla="val 4497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911798" y="2470177"/>
            <a:ext cx="25389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Sur ordinateur (application)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1796" y="2787999"/>
            <a:ext cx="3855244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Nouveau message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Dans le ruban, cliquer sur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 un fichier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Choisir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Parcourir cet ordinateur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Sélectionner votre fichier et valider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Envoyer votre e-mail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09048" y="2470177"/>
            <a:ext cx="2373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Sur le web (Outlook.com)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09046" y="2787999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Nouveau message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l'icône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trombone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en bas de la fenêtre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Sélectionner votre fichier depuis votre appareil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Attendre le chargement, puis envoyer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09046" y="382361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Outlook propose aussi d'insérer des fichiers depuis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OneDrive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son service de stockage en ligne intégré.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77121" y="5156018"/>
            <a:ext cx="8151763" cy="483617"/>
          </a:xfrm>
          <a:prstGeom prst="roundRect">
            <a:avLst>
              <a:gd name="adj" fmla="val 10773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92" y="5335801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073" y="5298593"/>
            <a:ext cx="76248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Outlook accepte les pièces jointes jusqu'à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20 Mo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Pour les fichiers plus lourds, partagez-les via un lien OneDrive.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85725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4023" y="441386"/>
            <a:ext cx="6604861" cy="683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📤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Envoyer une pièce jointe avec Proton Mail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1348557"/>
            <a:ext cx="472276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Proton Mail est une messagerie axée sur la 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confidentialité et le chiffrement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Populaire auprès de ceux qui souhaitent protéger leurs échanges, elle reste simple à utiliser au quotidien.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6823" y="2697175"/>
            <a:ext cx="162744" cy="162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58769" y="2693865"/>
            <a:ext cx="141952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Ouvrir la composition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658769" y="2920305"/>
            <a:ext cx="437011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Nouveau message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depuis la boîte de réception.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6823" y="3276340"/>
            <a:ext cx="162744" cy="162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58769" y="327303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 le fichier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658769" y="3499470"/>
            <a:ext cx="437011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l'icône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trombone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glisser-déposer le fichier dans la fenêtre.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6823" y="3855504"/>
            <a:ext cx="162744" cy="162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58767" y="3852195"/>
            <a:ext cx="145025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Vérifier le chiffrement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658769" y="4078635"/>
            <a:ext cx="437011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cadenas vert indique que votre message est chiffré de bout en bout.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6823" y="4434669"/>
            <a:ext cx="162744" cy="162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58769" y="443135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Envoyer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658769" y="4657799"/>
            <a:ext cx="437011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Envoyer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La limite est de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25 Mo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 message.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4306121" y="5454268"/>
            <a:ext cx="4722763" cy="912680"/>
          </a:xfrm>
          <a:prstGeom prst="roundRect">
            <a:avLst>
              <a:gd name="adj" fmla="val 8279"/>
            </a:avLst>
          </a:prstGeom>
          <a:solidFill>
            <a:srgbClr val="D6DF8E">
              <a:alpha val="80000"/>
            </a:srgbClr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4616" y="5604435"/>
            <a:ext cx="135657" cy="1084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8768" y="5566781"/>
            <a:ext cx="426161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Lorsque vous envoyez un message à un autre utilisateur Proton Mail, la pièce jointe est automatiquement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chiffrée de bout en bout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personne d'autre ne peut la lire.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0">
            <a:extLst>
              <a:ext uri="{FF2B5EF4-FFF2-40B4-BE49-F238E27FC236}">
                <a16:creationId xmlns:a16="http://schemas.microsoft.com/office/drawing/2014/main" id="{D0867D19-52CA-7249-C00F-3481F4E74484}"/>
              </a:ext>
            </a:extLst>
          </p:cNvPr>
          <p:cNvSpPr/>
          <p:nvPr/>
        </p:nvSpPr>
        <p:spPr>
          <a:xfrm>
            <a:off x="795636" y="1566116"/>
            <a:ext cx="8233248" cy="702631"/>
          </a:xfrm>
          <a:prstGeom prst="roundRect">
            <a:avLst>
              <a:gd name="adj" fmla="val 8279"/>
            </a:avLst>
          </a:prstGeom>
          <a:solidFill>
            <a:srgbClr val="D6DF8E">
              <a:alpha val="80000"/>
            </a:srgbClr>
          </a:solidFill>
          <a:ln/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77295FE5-6618-3A3E-D6F9-7541DDD3502C}"/>
              </a:ext>
            </a:extLst>
          </p:cNvPr>
          <p:cNvSpPr/>
          <p:nvPr/>
        </p:nvSpPr>
        <p:spPr>
          <a:xfrm>
            <a:off x="874442" y="2833391"/>
            <a:ext cx="2282576" cy="359197"/>
          </a:xfrm>
          <a:prstGeom prst="rect">
            <a:avLst/>
          </a:prstGeom>
          <a:solidFill>
            <a:srgbClr val="92BBDF"/>
          </a:solidFill>
          <a:ln/>
        </p:spPr>
      </p:sp>
      <p:sp>
        <p:nvSpPr>
          <p:cNvPr id="2" name="Text 0"/>
          <p:cNvSpPr/>
          <p:nvPr/>
        </p:nvSpPr>
        <p:spPr>
          <a:xfrm>
            <a:off x="877121" y="715485"/>
            <a:ext cx="6020916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⚖️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Comparatif des trois messageries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1792" y="1610744"/>
            <a:ext cx="7300721" cy="65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Chaque service a ses forces. Voici un aperçu rapide pour choisir ou </a:t>
            </a: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mieux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comprendre</a:t>
            </a:r>
            <a:b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celui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vous utilisez.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121" y="2828629"/>
            <a:ext cx="8151763" cy="2183755"/>
          </a:xfrm>
          <a:prstGeom prst="roundRect">
            <a:avLst>
              <a:gd name="adj" fmla="val 23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929" y="2886689"/>
            <a:ext cx="24890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Critère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61781" y="2833391"/>
            <a:ext cx="1954113" cy="359197"/>
          </a:xfrm>
          <a:prstGeom prst="rect">
            <a:avLst/>
          </a:prstGeom>
          <a:solidFill>
            <a:srgbClr val="92BBDF"/>
          </a:solidFill>
          <a:ln/>
        </p:spPr>
      </p:sp>
      <p:sp>
        <p:nvSpPr>
          <p:cNvPr id="7" name="Text 5"/>
          <p:cNvSpPr/>
          <p:nvPr/>
        </p:nvSpPr>
        <p:spPr>
          <a:xfrm>
            <a:off x="3285754" y="2886689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Gmail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15894" y="2833391"/>
            <a:ext cx="1954113" cy="359197"/>
          </a:xfrm>
          <a:prstGeom prst="rect">
            <a:avLst/>
          </a:prstGeom>
          <a:solidFill>
            <a:srgbClr val="92BBDF"/>
          </a:solidFill>
          <a:ln/>
        </p:spPr>
      </p:sp>
      <p:sp>
        <p:nvSpPr>
          <p:cNvPr id="9" name="Text 7"/>
          <p:cNvSpPr/>
          <p:nvPr/>
        </p:nvSpPr>
        <p:spPr>
          <a:xfrm>
            <a:off x="5239866" y="2886689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Outlook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70008" y="2833391"/>
            <a:ext cx="1954113" cy="359197"/>
          </a:xfrm>
          <a:prstGeom prst="rect">
            <a:avLst/>
          </a:prstGeom>
          <a:solidFill>
            <a:srgbClr val="92BBDF"/>
          </a:solidFill>
          <a:ln/>
        </p:spPr>
      </p:sp>
      <p:sp>
        <p:nvSpPr>
          <p:cNvPr id="11" name="Text 9"/>
          <p:cNvSpPr/>
          <p:nvPr/>
        </p:nvSpPr>
        <p:spPr>
          <a:xfrm>
            <a:off x="7193979" y="2886689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Proton Mail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929" y="3274144"/>
            <a:ext cx="24890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Limite pièce jointe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85754" y="3274144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25 Mo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39866" y="3274144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20 Mo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93979" y="3274144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25 Mo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929" y="3635723"/>
            <a:ext cx="24890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Stockage cloud intégré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85754" y="3635723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Google Drive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39866" y="3635723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OneDrive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93979" y="3635723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Proton Drive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929" y="3997300"/>
            <a:ext cx="24890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Chiffrement de bout en bout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85754" y="3997300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Non (standard)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39866" y="3997300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Non (standard)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93979" y="3997301"/>
            <a:ext cx="2163366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✅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Oui (natif)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05929" y="4363642"/>
            <a:ext cx="24890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Interface mobile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85754" y="4363642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Très intuitive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39866" y="4363642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Très intuitive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93979" y="4363642"/>
            <a:ext cx="21633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Simple et claire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5929" y="4725219"/>
            <a:ext cx="24890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Gratuit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85754" y="4725221"/>
            <a:ext cx="2163366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✅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39866" y="4725221"/>
            <a:ext cx="2163366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✅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Oui (web)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93979" y="4725221"/>
            <a:ext cx="2163366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✅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Oui (limité)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85725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5145" y="324900"/>
            <a:ext cx="5173527" cy="70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📥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Recevoir et ouvrir une pièce jointe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1" y="1094424"/>
            <a:ext cx="47227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Quand vous recevez un e-mail avec une pièce jointe, une 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icône de trombone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apparaît dans la liste de vos messages. À l'ouverture, le fichier est affiché en bas ou en haut du message selon le service utilisé.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313546" y="2533406"/>
            <a:ext cx="2310408" cy="1421601"/>
          </a:xfrm>
          <a:prstGeom prst="roundRect">
            <a:avLst>
              <a:gd name="adj" fmla="val 4769"/>
            </a:avLst>
          </a:prstGeom>
          <a:solidFill>
            <a:srgbClr val="91BEE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23247" y="2650532"/>
            <a:ext cx="140516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👁️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Prévisualiser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23247" y="2892007"/>
            <a:ext cx="207615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l'aperçu du fichier pour le lire directement dans le navigateur, sans le télécharger.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18399" y="2533406"/>
            <a:ext cx="2310482" cy="1421601"/>
          </a:xfrm>
          <a:prstGeom prst="roundRect">
            <a:avLst>
              <a:gd name="adj" fmla="val 4769"/>
            </a:avLst>
          </a:prstGeom>
          <a:solidFill>
            <a:srgbClr val="91BEE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5529" y="2650532"/>
            <a:ext cx="140516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⬇️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Télécharger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35529" y="2892007"/>
            <a:ext cx="207622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Télécharger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 enregistrer le fichier sur votre appareil (dossier Téléchargements).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06121" y="4201939"/>
            <a:ext cx="4722763" cy="958895"/>
          </a:xfrm>
          <a:prstGeom prst="roundRect">
            <a:avLst>
              <a:gd name="adj" fmla="val 7296"/>
            </a:avLst>
          </a:prstGeom>
          <a:solidFill>
            <a:srgbClr val="D5E08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3248" y="4319065"/>
            <a:ext cx="191095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☁️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Enregistrer dans le cloud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23248" y="4560538"/>
            <a:ext cx="4488507" cy="47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Gmail propose d'enregistrer directement dans Google Drive.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Outlook dans OneDrive.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11134" y="5411978"/>
            <a:ext cx="4722763" cy="911184"/>
          </a:xfrm>
          <a:prstGeom prst="roundRect">
            <a:avLst>
              <a:gd name="adj" fmla="val 6264"/>
            </a:avLst>
          </a:prstGeom>
          <a:solidFill>
            <a:srgbClr val="91BEE1">
              <a:alpha val="80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3497" y="5568324"/>
            <a:ext cx="140494" cy="1123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71345" y="5531710"/>
            <a:ext cx="4245173" cy="6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Avant d'ouvrir une pièce jointe, demandez-vous toujours :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est-ce que je connais l'expéditeur ?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C'est votre premier bouclier contre les fichiers malveillants.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19" y="624824"/>
            <a:ext cx="7236396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🔎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Retrouver ses pièces jointes téléchargées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3" y="1440297"/>
            <a:ext cx="8151763" cy="633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Une fois téléchargé, où se trouve le fichier ? C'est souvent une source de confusion. Voici comment le retrouver facilement selon votre appareil.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121" y="2669009"/>
            <a:ext cx="2634555" cy="2193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2532" y="2807273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💻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Windows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2532" y="3080296"/>
            <a:ext cx="230088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fichier se trouve dans le dossier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Téléchargements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Ouvrez l'Explorateur de fichiers (icône dossier dans la barre des tâches) puis cliquez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Téléchargements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le menu gauche.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5648" y="2669009"/>
            <a:ext cx="2634630" cy="2193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31059" y="2807273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🍎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Mac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831061" y="3080298"/>
            <a:ext cx="23009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Accédez au dossier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Téléchargements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depuis le Finder ou directement depuis le Dock (icône de pile en bas à droite).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254" y="2669009"/>
            <a:ext cx="2634555" cy="21931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9665" y="2807271"/>
            <a:ext cx="2300883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📱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Smartphone (Android / iOS)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589665" y="3274146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Ouvrez l'application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Fichiers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(iOS) ou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Mes fichiers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(Android), puis naviguez jusqu'au dossier Téléchargements.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877121" y="5457523"/>
            <a:ext cx="8151763" cy="682079"/>
          </a:xfrm>
          <a:prstGeom prst="roundRect">
            <a:avLst>
              <a:gd name="adj" fmla="val 7638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92" y="5699033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072" y="5600101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Sur smartphone, vous pouvez aussi appuyer longuement sur la pièce jointe dans l'e-mail pour choisir directement l'application avec laquelle l'ouvrir.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1" y="685965"/>
            <a:ext cx="5604123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⚠️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Les pièges à éviter absolument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1" y="152650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majorité des cyberattaques arrivent par e-mail. Reconnaître un fichier suspect peut vous éviter de graves désagréments : virus, vol de données, arnaques financières.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28" y="3035873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45" y="3032077"/>
            <a:ext cx="248937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Expéditeur inconnu ou inhabituel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80147" y="3300340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e-mail d'une adresse que vous ne connaissez pas avec une pièce jointe ? Ne l'ouvrez pas. En cas de doute, contactez l'expéditeur par un autre moyen.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6976" y="3035873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33494" y="3032077"/>
            <a:ext cx="24569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Objet alarmiste ou trop alléchant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33492" y="3300340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« Votre colis est bloqué », « Vous avez gagné un prix » — ce sont des appâts classiques pour vous faire ouvrir un fichier piégé.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28" y="4670108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45" y="466631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Extension suspecte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80147" y="4934575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fichier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.exe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.vbs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.bat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reçu par e-mail est presque toujours dangereux. Ne double-cliquez jamais dessus.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6976" y="4670108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33492" y="4666313"/>
            <a:ext cx="20336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Archive avec mot de passe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433492" y="4934576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fichier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.zip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protégé par un mot de passe fourni dans le même e-mail est une technique courante pour contourner les antivirus.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E5E89C5-CBC3-7388-193D-FB77F2709D03}"/>
              </a:ext>
            </a:extLst>
          </p:cNvPr>
          <p:cNvSpPr/>
          <p:nvPr/>
        </p:nvSpPr>
        <p:spPr>
          <a:xfrm>
            <a:off x="808113" y="5555689"/>
            <a:ext cx="8151763" cy="496580"/>
          </a:xfrm>
          <a:prstGeom prst="roundRect">
            <a:avLst>
              <a:gd name="adj" fmla="val 15401"/>
            </a:avLst>
          </a:prstGeom>
          <a:solidFill>
            <a:srgbClr val="D6DF8E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877119" y="490999"/>
            <a:ext cx="5808353" cy="406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🛡️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Les signaux d'alarme — Infographie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118" y="1022522"/>
            <a:ext cx="8091093" cy="4551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7664" y="5608588"/>
            <a:ext cx="8608963" cy="4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 vous reconnaissez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 seul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ces signaux dans un e-mail reçu, la prudence s'impose. En cas de doute,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supprimez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le message sans ouvrir la pièce jointe.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08113" y="6249277"/>
            <a:ext cx="8151763" cy="496580"/>
          </a:xfrm>
          <a:prstGeom prst="roundRect">
            <a:avLst>
              <a:gd name="adj" fmla="val 15401"/>
            </a:avLst>
          </a:prstGeom>
          <a:solidFill>
            <a:srgbClr val="94B9DE">
              <a:alpha val="8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99329" y="6292661"/>
            <a:ext cx="8345537" cy="36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 transmettez jamais cet e-mail suspect à d'autres personnes — même pour leur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montrer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pourriez involontairement propager un fichier malveillant.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85725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21" y="483579"/>
            <a:ext cx="4525491" cy="289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Bonnes pratiques recommandées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2199" y="972813"/>
            <a:ext cx="4722763" cy="75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6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Quelques habitudes simples suffisent pour envoyer et recevoir des pièces jointes en toute sérénité, que vous utilisiez Gmail, Outlook ou Proton Mail.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77121" y="1861317"/>
            <a:ext cx="4722763" cy="934281"/>
          </a:xfrm>
          <a:prstGeom prst="roundRect">
            <a:avLst>
              <a:gd name="adj" fmla="val 4552"/>
            </a:avLst>
          </a:prstGeom>
          <a:solidFill>
            <a:srgbClr val="A8DEE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2964" y="1965787"/>
            <a:ext cx="273248" cy="273248"/>
          </a:xfrm>
          <a:prstGeom prst="roundRect">
            <a:avLst>
              <a:gd name="adj" fmla="val 20912975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122" y="2053647"/>
            <a:ext cx="122932" cy="1229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1371" y="1971749"/>
            <a:ext cx="1788988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Nommez vos fichiers clairement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321372" y="2241783"/>
            <a:ext cx="4531072" cy="5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Ex. :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CV_Marie_Dupont.pdf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plutôt que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fichier1.pdf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Cela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rassure le destinataire.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77121" y="3098799"/>
            <a:ext cx="4722763" cy="840581"/>
          </a:xfrm>
          <a:prstGeom prst="roundRect">
            <a:avLst>
              <a:gd name="adj" fmla="val 4552"/>
            </a:avLst>
          </a:prstGeom>
          <a:solidFill>
            <a:srgbClr val="D6DF8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72964" y="3194643"/>
            <a:ext cx="273248" cy="273248"/>
          </a:xfrm>
          <a:prstGeom prst="roundRect">
            <a:avLst>
              <a:gd name="adj" fmla="val 20912975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8122" y="3269727"/>
            <a:ext cx="122932" cy="1229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2211" y="3136672"/>
            <a:ext cx="1614636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Compressez les gros fichiers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352212" y="3405798"/>
            <a:ext cx="4151825" cy="36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Réduisez la taille des images avant envoi. Des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outils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gratuits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ligne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font cela en quelques secondes.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77121" y="4333866"/>
            <a:ext cx="4722763" cy="860975"/>
          </a:xfrm>
          <a:prstGeom prst="roundRect">
            <a:avLst>
              <a:gd name="adj" fmla="val 3957"/>
            </a:avLst>
          </a:prstGeom>
          <a:solidFill>
            <a:srgbClr val="A8DEE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72964" y="4429712"/>
            <a:ext cx="273248" cy="273248"/>
          </a:xfrm>
          <a:prstGeom prst="roundRect">
            <a:avLst>
              <a:gd name="adj" fmla="val 20912975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122" y="4498031"/>
            <a:ext cx="122932" cy="1229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42055" y="4419111"/>
            <a:ext cx="1138684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Préférez le PDF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342056" y="4675448"/>
            <a:ext cx="3782035" cy="487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Pour les documents officiels, convertissez-les en PDF.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mise en page est préservée sur tous les appareils.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877121" y="5464896"/>
            <a:ext cx="4722763" cy="832387"/>
          </a:xfrm>
          <a:prstGeom prst="roundRect">
            <a:avLst>
              <a:gd name="adj" fmla="val 4552"/>
            </a:avLst>
          </a:prstGeom>
          <a:solidFill>
            <a:srgbClr val="D6DF8E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72964" y="5560739"/>
            <a:ext cx="273248" cy="273248"/>
          </a:xfrm>
          <a:prstGeom prst="roundRect">
            <a:avLst>
              <a:gd name="adj" fmla="val 20912975"/>
            </a:avLst>
          </a:prstGeom>
          <a:solidFill>
            <a:srgbClr val="4950B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122" y="5627052"/>
            <a:ext cx="122932" cy="1229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1370" y="5547586"/>
            <a:ext cx="1476970" cy="20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Méfiez-vous des inconnus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1321371" y="5807115"/>
            <a:ext cx="4531072" cy="567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N'ouvrez jamais une pièce jointe d'un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expéditeur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inconnu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avoir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vérifié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son identité au préalable.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19" y="425945"/>
            <a:ext cx="8326710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📏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Les limites de taille — et comment les contourner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1" y="1241561"/>
            <a:ext cx="8151763" cy="60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Chaque messagerie impose une 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limite de taille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 les pièces jointes. Lorsque votre fichier est trop lourd, voici les alternatives à connaître.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7823" y="2577928"/>
            <a:ext cx="4491543" cy="2252864"/>
          </a:xfrm>
          <a:prstGeom prst="roundRect">
            <a:avLst>
              <a:gd name="adj" fmla="val 4646"/>
            </a:avLst>
          </a:prstGeom>
          <a:solidFill>
            <a:srgbClr val="94B7DD"/>
          </a:solidFill>
          <a:ln/>
        </p:spPr>
      </p:sp>
      <p:sp>
        <p:nvSpPr>
          <p:cNvPr id="5" name="Text 3"/>
          <p:cNvSpPr/>
          <p:nvPr/>
        </p:nvSpPr>
        <p:spPr>
          <a:xfrm>
            <a:off x="911796" y="2701902"/>
            <a:ext cx="262711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🔗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Partager un lien à la place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1796" y="3024487"/>
            <a:ext cx="428993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Déposez votre fichier sur un service cloud, puis partagez le lien dans votre e-mail :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1796" y="3533033"/>
            <a:ext cx="4289932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Google Drive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intégré à Gmail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OneDrive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intégré à Outlook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Proton Drive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intégré à Proton Mail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WeTransfer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idéal pour les envois ponctuels jusqu'à 2 Go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19598" y="2701902"/>
            <a:ext cx="259615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📉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Réduire la taille du fichier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19597" y="3024485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Avant d'envoyer, vous pouvez 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19597" y="3334571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Compresser les images (outils : TinyPNG, Squoosh)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Réduire la résolution d'une photo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Créer une archive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.zip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si vous avez plusieurs fichiers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39" indent="-193039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Compresser un PDF avec Smallpdf ou ILovePDF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1796" y="5430261"/>
            <a:ext cx="8151763" cy="682079"/>
          </a:xfrm>
          <a:prstGeom prst="roundRect">
            <a:avLst>
              <a:gd name="adj" fmla="val 7638"/>
            </a:avLst>
          </a:prstGeom>
          <a:solidFill>
            <a:srgbClr val="D6E088">
              <a:alpha val="80000"/>
            </a:srgb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92" y="5604197"/>
            <a:ext cx="155004" cy="1239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072" y="5566991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WeTransfer est particulièrement apprécié des débutants : sans inscription, glissez votre fichier et recevez un lien à partager en quelques secondes.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2307" y="428547"/>
            <a:ext cx="3319142" cy="3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🎓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Ce qu'il faut retenir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307" y="1458962"/>
            <a:ext cx="8021389" cy="4539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0311" y="2028418"/>
            <a:ext cx="1846874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Identifier les fichiers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60313" y="2322898"/>
            <a:ext cx="2812343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7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Reconnaître types par extension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11427" y="2923960"/>
            <a:ext cx="183413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 et envoyer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33221" y="3218439"/>
            <a:ext cx="2812343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7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Utiliser Gmail, Outlook ou Proton Mail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0313" y="3821796"/>
            <a:ext cx="183413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Vérifier l'expéditeur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60313" y="4116275"/>
            <a:ext cx="2812343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7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Contrôler avant d'ouvrir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12701" y="4718485"/>
            <a:ext cx="183413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Utiliser un lien cloud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34495" y="5012964"/>
            <a:ext cx="2812343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7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Partager fichiers volumineux via cloud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2082FAC-2DE1-8C1A-A044-5AF1A679843F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CAA1245-F10C-3C30-236D-961E6C03BE1D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F804EE-A5C9-FB2E-3DCC-C5A3E4345A2E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9F5BFF3-05EB-1484-7567-F2EC27753167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FE8C832-E4FB-1C9F-B3ED-208F3DDB7661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C989895-3BE7-6D97-B8A3-0AC8E9BD903E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4EAC938-5F94-4C29-E3C1-2B57E8299E15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5D92F86-19C5-528F-46DB-36E4A77D3C2D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D723E809-75B7-0831-D580-DACEC4A58F20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2956DCD-F298-652E-6ED7-EAAF00B75679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436FFB80-FD51-5B68-1B15-0719EEEE72EA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7C4BEDD5-B59B-A069-66B7-9A10E13B97D0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B9447AE-4EF7-AF72-63F3-6290FFBB3E6C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22A6156-DE6F-B329-73CA-89CB7253563E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0B81B2BB-8267-01CE-06BC-E3B63FBE2D30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8BC21A4-B899-EABD-7D3E-FFDD7E38797F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85730A4-066D-47C3-72AA-86B00ED47FA5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22458A60-7925-AFDD-9AE2-86C8462A862B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17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3DC6AAC-61B1-6FD4-FED8-C521B46931F3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EF9082C-4179-BE7D-E881-D2C9AEE129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649CEAD-6098-E0F5-1282-608F082B59EA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B91C5D1-2AEB-D808-0183-671FD048BB3A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8F3196E-A600-910F-C5D0-570638218C64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FF4EC78-4E05-6903-6176-7C4F3FD1B13F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B478015B-4FF2-749F-6E07-A4D25B23FD26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5170FB17-A22D-E7E5-09C8-4B1F75D45C25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4">
            <a:extLst>
              <a:ext uri="{FF2B5EF4-FFF2-40B4-BE49-F238E27FC236}">
                <a16:creationId xmlns:a16="http://schemas.microsoft.com/office/drawing/2014/main" id="{B4ACC676-1C37-CE12-C710-BFE617BF4F99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29D70F47-0FB8-BF62-E250-DD386A614BBE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28">
            <a:extLst>
              <a:ext uri="{FF2B5EF4-FFF2-40B4-BE49-F238E27FC236}">
                <a16:creationId xmlns:a16="http://schemas.microsoft.com/office/drawing/2014/main" id="{3307B69F-EA65-9765-5932-E0084C15F756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2626C102-838E-258A-D3D9-5BC00E4042E1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4925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</TotalTime>
  <Words>1781</Words>
  <Application>Microsoft Office PowerPoint</Application>
  <PresentationFormat>Format A4 (210 x 297 mm)</PresentationFormat>
  <Paragraphs>203</Paragraphs>
  <Slides>17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Calibri Light</vt:lpstr>
      <vt:lpstr>Arial</vt:lpstr>
      <vt:lpstr>Calibri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Aswad Michel</cp:lastModifiedBy>
  <cp:revision>9</cp:revision>
  <dcterms:created xsi:type="dcterms:W3CDTF">2026-06-23T22:07:53Z</dcterms:created>
  <dcterms:modified xsi:type="dcterms:W3CDTF">2026-07-03T08:32:26Z</dcterms:modified>
</cp:coreProperties>
</file>