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906000" cy="6858000" type="A4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81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872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4489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04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547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22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82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124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414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842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7755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490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69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7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conseiller-numerique@lotetgaronne.fr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20" y="2369791"/>
            <a:ext cx="4911205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et gérer votre Espace Personnel sur Mon Espace Santé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1429" y="3520009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guide pratique et accessible pour prendre en main votre espace santé numérique — étape par étape, sans stress.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77119" y="4254922"/>
            <a:ext cx="1522512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951533" y="4292129"/>
            <a:ext cx="183088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ATELIER NUMÉRIQUE SANTÉ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0" y="1529582"/>
            <a:ext cx="2713509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🗺️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Au programme aujourd'hui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0" y="1777752"/>
            <a:ext cx="65162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nous allons apprendre ensemble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119" y="247967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5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77120" y="2700188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877119" y="2887003"/>
            <a:ext cx="26378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Qu'est-ce que Mon Espace Santé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120" y="3155264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Comprendre à quoi sert ce service et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pourquoi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il</a:t>
            </a:r>
            <a:b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</a:b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est utile.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14987" y="247967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5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14988" y="2700188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014987" y="288700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votre compte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14988" y="3155264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S'inscrire pas à pas depuis le site ou l'application Ameli.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119" y="385947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5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7120" y="4039885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877118" y="4148586"/>
            <a:ext cx="20647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Personnaliser votre espace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7118" y="4416849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Renseigner vos informations, ajouter vos documents et gérer vos accès.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14987" y="385947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50" dirty="0">
                <a:solidFill>
                  <a:srgbClr val="272525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14988" y="4039885"/>
            <a:ext cx="4013895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5014985" y="414858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Utiliser au quotidien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14986" y="4416849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Consulter vos remboursements, partager avec votre médecin, sécuriser vos données.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77118" y="5046317"/>
            <a:ext cx="8151763" cy="793028"/>
          </a:xfrm>
          <a:prstGeom prst="roundRect">
            <a:avLst>
              <a:gd name="adj" fmla="val 7638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090" y="5226101"/>
            <a:ext cx="155004" cy="1239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80070" y="5188895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Pas d'inquiétude si vous n'êtes pas à l'aise avec le numérique — nous avançons à votre rythme, et toutes les questions sont les bienvenues !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999" y="857249"/>
            <a:ext cx="3633399" cy="54500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877807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🏥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Introduction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16" y="1381918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Espace Santé : c'est quoi exactement 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7" y="2381417"/>
            <a:ext cx="4722763" cy="996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Espace Santé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est le service numérique officiel de l'Assurance Maladie. Il vous permet de centraliser toutes vos informations de santé en un seul endroit sécurisé, accessible depuis votre ordinateur, tablette ou smartphone.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306120" y="3620039"/>
            <a:ext cx="2299395" cy="1442411"/>
          </a:xfrm>
          <a:prstGeom prst="roundRect">
            <a:avLst>
              <a:gd name="adj" fmla="val 3934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34855" y="3748775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📋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Vos documents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434855" y="4021800"/>
            <a:ext cx="20419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Ordonnances, résultats d'analyses, comptes-rendus médicaux — tout au même endroit.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729488" y="3620039"/>
            <a:ext cx="2299395" cy="1442411"/>
          </a:xfrm>
          <a:prstGeom prst="roundRect">
            <a:avLst>
              <a:gd name="adj" fmla="val 3934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223" y="3748775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💊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Votre traitement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223" y="4021800"/>
            <a:ext cx="20419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 historique de vos médicaments et vaccinations pour ne rien oublier.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06119" y="5310438"/>
            <a:ext cx="4722763" cy="996911"/>
          </a:xfrm>
          <a:prstGeom prst="roundRect">
            <a:avLst>
              <a:gd name="adj" fmla="val 7147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34855" y="5439177"/>
            <a:ext cx="185201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🔄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Vos remboursements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34854" y="5712201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Consultez en temps réel ce que l'Assurance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Maladie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endParaRPr lang="en-US" sz="12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remboursé.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0" y="611741"/>
            <a:ext cx="224060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Pourquoi s'inscrire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0" y="1092667"/>
            <a:ext cx="593653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Les bénéfices concrets au quotidien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913" y="1832291"/>
            <a:ext cx="1442270" cy="1442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7121" y="1983474"/>
            <a:ext cx="295656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Finies les recherches de papiers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07120" y="2287637"/>
            <a:ext cx="2914415" cy="118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 ordonnances, résultats et comptes-rendus sont stockés numériquement. Plus besoin de fouiller dans vos tiroirs avant un rendez-vous médical.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9204" y="4201634"/>
            <a:ext cx="1351268" cy="13512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03513" y="4359581"/>
            <a:ext cx="237989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 meilleur suivi médical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003512" y="4663744"/>
            <a:ext cx="2950539" cy="118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 professionnels de santé peuvent accéder à votre historique avec votre accord, pour un soin plus personnalisé et mieux coordonné.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3978" y="1825528"/>
            <a:ext cx="1449034" cy="14490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54052" y="1990238"/>
            <a:ext cx="248089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 démarches simplifiées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954052" y="2294402"/>
            <a:ext cx="2480893" cy="98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Demander un arrêt de travail, vérifier un remboursement ou envoyer un document — tout se fait en ligne, depuis chez vous.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3628" y="485623"/>
            <a:ext cx="229500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🔐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Avant de commencer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3628" y="937020"/>
            <a:ext cx="713749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dont vous avez besoin pour vous inscrire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28" y="1733820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46" y="1730025"/>
            <a:ext cx="25169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Votre numéro de Sécurité Sociale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80146" y="2047847"/>
            <a:ext cx="39442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numéro à 15 chiffres figurant sur votre carte Vitale ou votre attestation d'Assurance Maladie.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28" y="2696589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45" y="2692794"/>
            <a:ext cx="195359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Une adresse e-mail valide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280146" y="3010616"/>
            <a:ext cx="39442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Elle servira à valider votre compte et recevoir vos notifications. Assurez-vous d'y avoir accès.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628" y="3659358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46" y="3655563"/>
            <a:ext cx="23986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 numéro de téléphone mobile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280146" y="3973385"/>
            <a:ext cx="39442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Pour recevoir le code de confirmation par SMS lors de la création et des connexions futures.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566396" y="3212798"/>
            <a:ext cx="3680445" cy="2489733"/>
          </a:xfrm>
          <a:prstGeom prst="roundRect">
            <a:avLst>
              <a:gd name="adj" fmla="val 3059"/>
            </a:avLst>
          </a:prstGeom>
          <a:solidFill>
            <a:srgbClr val="4950BC">
              <a:alpha val="8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5615552" y="3336773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💡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Bon à savoir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690370" y="3659358"/>
            <a:ext cx="3432497" cy="217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ct val="133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 vous n'avez pas encore de compte Ameli, vous pouvez en créer un gratuitement sur 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ameli.fr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c'est la première étape avant d'accéder à Mon Espace Santé.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 création du compte est entièrement 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gratuite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ne prend que quelques minutes.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9">
            <a:extLst>
              <a:ext uri="{FF2B5EF4-FFF2-40B4-BE49-F238E27FC236}">
                <a16:creationId xmlns:a16="http://schemas.microsoft.com/office/drawing/2014/main" id="{9EBC3BA0-79FE-EC8D-97C6-876BD1BB8C0E}"/>
              </a:ext>
            </a:extLst>
          </p:cNvPr>
          <p:cNvSpPr/>
          <p:nvPr/>
        </p:nvSpPr>
        <p:spPr>
          <a:xfrm>
            <a:off x="596761" y="5079569"/>
            <a:ext cx="8495481" cy="996911"/>
          </a:xfrm>
          <a:prstGeom prst="roundRect">
            <a:avLst>
              <a:gd name="adj" fmla="val 7147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77120" y="445405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🖥️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Étape par étape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0" y="824966"/>
            <a:ext cx="5051301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votre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compte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5 étapes simples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120" y="1361018"/>
            <a:ext cx="8151763" cy="3521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22330" y="3592499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Créer mon compte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68385" y="4096105"/>
            <a:ext cx="1529541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Cliquer sur « Créer mon compte 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30317" y="3968612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Confirmer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93971" y="4251769"/>
            <a:ext cx="1454727" cy="31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Valider par SMS et e‑mail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72194" y="1678742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Accéder au site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55469" y="2182348"/>
            <a:ext cx="1411873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Aller sur monespacesante.fr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34280" y="1678742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Définir mot de passe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38660" y="2182348"/>
            <a:ext cx="1411871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Choisir et enregistrer votre mot de passe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95613" y="1678742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Entrer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NIR*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97926" y="1961898"/>
            <a:ext cx="1529541" cy="466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Saisir votre numéro de Sécurité Sociale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8713" y="5231766"/>
            <a:ext cx="8413529" cy="87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 dirty="0"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* </a:t>
            </a:r>
            <a:r>
              <a:rPr lang="fr-FR" sz="1200" b="1" i="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NIR (Numéro d'inscription au Répertoire)</a:t>
            </a:r>
            <a:endParaRPr lang="en-US" sz="1200" b="1" dirty="0">
              <a:latin typeface="Arial" panose="020B0604020202020204" pitchFamily="34" charset="0"/>
              <a:ea typeface="Inter" panose="020B0604020202020204" charset="0"/>
              <a:cs typeface="Arial" panose="020B0604020202020204" pitchFamily="34" charset="0"/>
            </a:endParaRPr>
          </a:p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processus complet prend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moins de 10 minutes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 Une fois votre compte créé, vous recevez un e-mail de confirmation et vous pouvez vous connecter immédiatement. Pas de rendez-vous, pas de papiers à envoyer — tout se fait en ligne, 24h/24.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6295" y="535435"/>
            <a:ext cx="2197373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🔑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Connexion sécurisée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6294" y="963810"/>
            <a:ext cx="5179963" cy="479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Se connecter à Mon Espace Santé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6293" y="1427036"/>
            <a:ext cx="5179963" cy="479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Une fois votre compte créé, vous pouvez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connecter</a:t>
            </a:r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 deux façons 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36295" y="2074959"/>
            <a:ext cx="4722763" cy="1150379"/>
          </a:xfrm>
          <a:prstGeom prst="roundRect">
            <a:avLst>
              <a:gd name="adj" fmla="val 56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8751" y="2207415"/>
            <a:ext cx="167535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Via votre compte Ameli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8752" y="2459679"/>
            <a:ext cx="4457849" cy="669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Utilisez vos identifiants habituels Ameli (numéro de Sécurité Sociale + mot de passe). C'est la méthode la plus courante si vous utilisez déjà le site ameli.fr.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36293" y="3387886"/>
            <a:ext cx="4722763" cy="1144880"/>
          </a:xfrm>
          <a:prstGeom prst="roundRect">
            <a:avLst>
              <a:gd name="adj" fmla="val 560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8750" y="3520342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Via France Connect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8750" y="3772607"/>
            <a:ext cx="4457849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Connectez-vous avec vos identifiants d'un autre service public (impots.gouv.fr, La Poste…). Pratique si vous avez déjà un compte sur ces plateformes.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36295" y="4783186"/>
            <a:ext cx="4722763" cy="952595"/>
          </a:xfrm>
          <a:prstGeom prst="roundRect">
            <a:avLst>
              <a:gd name="adj" fmla="val 7867"/>
            </a:avLst>
          </a:prstGeom>
          <a:solidFill>
            <a:srgbClr val="FCF2B5">
              <a:alpha val="8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524" y="4918035"/>
            <a:ext cx="265956" cy="212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0419" y="4914082"/>
            <a:ext cx="422046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Attention : ne communiquez jamais votre mot de passe à quelqu'un d'autre, même à un professionnel de santé. Vos accès sont strictement personnels.²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19" y="560705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👤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Personnalisation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19" y="1116566"/>
            <a:ext cx="514722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Compléter votre profil de santé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121" y="1831245"/>
            <a:ext cx="4013895" cy="14439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2531" y="1969507"/>
            <a:ext cx="198655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Informations personnelles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2531" y="223777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Vérifiez que vos coordonnées sont à jour : adresse, téléphone, médecin traitant déclaré. Ces informations sont essentielles pour que les professionnels de santé puissent vous contacter.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4989" y="1831245"/>
            <a:ext cx="4013895" cy="144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400" y="1969507"/>
            <a:ext cx="17517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Antécédents médicaux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10399" y="223777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Renseignez vos allergies, maladies chroniques et interventions chirurgicales passées. Ces données sont visibles uniquement par vous et les professionnels que vous autorisez.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119" y="4233938"/>
            <a:ext cx="4013895" cy="144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2530" y="4372200"/>
            <a:ext cx="160295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Traitements en cours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72529" y="4640463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Ajoutez vos médicaments et leur posologie. Cela facilite la coordination entre vos différents médecins et évite les interactions médicamenteuses.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4987" y="4233938"/>
            <a:ext cx="4013895" cy="144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7" y="4372200"/>
            <a:ext cx="16606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Carnet de vaccination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210397" y="4640463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Enregistrez vos vaccins passés et à venir. Mon Espace Santé vous rappelle automatiquement les rappels à effectuer selon votre profil.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1" y="359420"/>
            <a:ext cx="1862361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📁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Vos documents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0" y="820278"/>
            <a:ext cx="6600006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Ajouter et organiser vos documents de santé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77119" y="1696871"/>
            <a:ext cx="229031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Quels documents ajouter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7119" y="1974360"/>
            <a:ext cx="3938736" cy="120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Ordonnances médicales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2720" indent="-172720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Résultats d'analyses sanguines ou urinaires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2720" indent="-172720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Comptes-rendus d'imagerie (radio, scanner, IRM)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2720" indent="-172720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Comptes-rendus d'hospitalisation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2720" indent="-172720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Lettres de médecins spécialistes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2720" indent="-172720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Certificats médicaux importants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94908" y="2299770"/>
            <a:ext cx="1989460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Comment les ajouter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94909" y="2589985"/>
            <a:ext cx="252933" cy="25293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7026" y="2611044"/>
            <a:ext cx="168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49714" y="2628605"/>
            <a:ext cx="1606004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Numériser le document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49714" y="2906094"/>
            <a:ext cx="35839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Utilisez votre scanner ou l'appareil photo de votre téléphone (app gratuite type CamScanner).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94909" y="3452741"/>
            <a:ext cx="252933" cy="25293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7026" y="3473800"/>
            <a:ext cx="168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9714" y="3491362"/>
            <a:ext cx="197859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Aller dans "Mes documents"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9714" y="3768851"/>
            <a:ext cx="35839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Depuis votre espace, cliquez sur l'onglet dédié puis sur "Ajouter un document".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94909" y="4315498"/>
            <a:ext cx="252933" cy="252933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7026" y="4336557"/>
            <a:ext cx="168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49714" y="4354119"/>
            <a:ext cx="1793974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Choisir le fichier et valider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49714" y="4631608"/>
            <a:ext cx="35839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Sélectionnez le fichier (PDF ou image), nommez-le et confirmez l'ajout.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4754" y="5408637"/>
            <a:ext cx="8151763" cy="696962"/>
          </a:xfrm>
          <a:prstGeom prst="roundRect">
            <a:avLst>
              <a:gd name="adj" fmla="val 8108"/>
            </a:avLst>
          </a:prstGeom>
          <a:solidFill>
            <a:srgbClr val="B6FCB8">
              <a:alpha val="80000"/>
            </a:srgbClr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754" y="5475116"/>
            <a:ext cx="252858" cy="2022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29978" y="5528369"/>
            <a:ext cx="76741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Bonne nouvelle : vos médecins peuvent également ajouter directement des documents dans votre espace après une consultation — avec votre consentement.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7120" y="658639"/>
            <a:ext cx="257502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🤝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Partage &amp; Confidentialité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77118" y="1010243"/>
            <a:ext cx="555693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Gérer les accès à votre espace santé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5381" y="1702540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restez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maître de vos données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à tout moment. Mon Espace Santé vous offre un contrôle total sur qui peut consulter vos informations.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77120" y="2740414"/>
            <a:ext cx="2299395" cy="1943670"/>
          </a:xfrm>
          <a:prstGeom prst="roundRect">
            <a:avLst>
              <a:gd name="adj" fmla="val 3421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55" y="2869150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🔓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Accès ouvert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05855" y="3142175"/>
            <a:ext cx="20419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Autorisez vos médecins et pharmaciens à consulter votre dossier lors d'une visite ou d'une dispensation de médicaments.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00488" y="2740414"/>
            <a:ext cx="2299395" cy="1943670"/>
          </a:xfrm>
          <a:prstGeom prst="roundRect">
            <a:avLst>
              <a:gd name="adj" fmla="val 3421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223" y="2869150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🔒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Accès restreint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29223" y="3142174"/>
            <a:ext cx="204192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Masquez certains documents sensibles (psychiatrie, VIH, IVG…) même aux professionnels autorisés. Vous seul pouvez les rendre visibles.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77120" y="5251722"/>
            <a:ext cx="4722763" cy="1190641"/>
          </a:xfrm>
          <a:prstGeom prst="roundRect">
            <a:avLst>
              <a:gd name="adj" fmla="val 5618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55" y="5380460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👨‍👩‍👧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Accès délégué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5855" y="5653486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Désignez un proche de confiance (conjoint, parent âgé) pour gérer votre espace en cas de besoin — avec des droits limités que vous définissez.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0">
            <a:extLst>
              <a:ext uri="{FF2B5EF4-FFF2-40B4-BE49-F238E27FC236}">
                <a16:creationId xmlns:a16="http://schemas.microsoft.com/office/drawing/2014/main" id="{BCE7887B-0903-C300-0772-40714FE69316}"/>
              </a:ext>
            </a:extLst>
          </p:cNvPr>
          <p:cNvSpPr/>
          <p:nvPr/>
        </p:nvSpPr>
        <p:spPr>
          <a:xfrm>
            <a:off x="109962" y="1382282"/>
            <a:ext cx="5419639" cy="497604"/>
          </a:xfrm>
          <a:prstGeom prst="roundRect">
            <a:avLst>
              <a:gd name="adj" fmla="val 8934"/>
            </a:avLst>
          </a:prstGeom>
          <a:solidFill>
            <a:srgbClr val="DADBF1">
              <a:alpha val="80000"/>
            </a:srgbClr>
          </a:solidFill>
          <a:ln/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3600" y="488953"/>
            <a:ext cx="3115501" cy="4673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720" y="142045"/>
            <a:ext cx="1933575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Comprendre la différence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0720" y="439543"/>
            <a:ext cx="5218881" cy="593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Ameli et Mon Espace Santé : deux services complémentaires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0720" y="1369092"/>
            <a:ext cx="5083105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Deux services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complémentaires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les démarches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administratives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d'un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côté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dossier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médical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l'autre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38247" y="2340323"/>
            <a:ext cx="2514025" cy="296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Ameli.fr : Vos démarches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69" y="3036110"/>
            <a:ext cx="2518787" cy="1965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 site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ameli.fr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la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plateforme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officielle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remboursements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droits.</a:t>
            </a:r>
          </a:p>
          <a:p>
            <a:pPr>
              <a:lnSpc>
                <a:spcPct val="118000"/>
              </a:lnSpc>
            </a:pPr>
            <a:endParaRPr lang="en-US" sz="12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remboursements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Attestations de droits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Changement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situation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Carte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européenne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(CEAM)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8000"/>
              </a:lnSpc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65399" y="2333945"/>
            <a:ext cx="2944703" cy="64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Espace Santé :</a:t>
            </a:r>
          </a:p>
          <a:p>
            <a:pPr algn="ctr">
              <a:lnSpc>
                <a:spcPct val="104000"/>
              </a:lnSpc>
            </a:pP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Votre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dossier médical personnel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54364" y="3029733"/>
            <a:ext cx="2655738" cy="233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Espace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Santé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: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carnet de santé numérique,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centraliser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et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partager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infos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médicales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8000"/>
              </a:lnSpc>
            </a:pPr>
            <a:endParaRPr lang="en-US" sz="12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Ordonnances et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résultats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d'analyses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Historique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traitements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Partage avec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professionnels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2240" indent="-142240">
              <a:lnSpc>
                <a:spcPct val="118000"/>
              </a:lnSpc>
              <a:buSzPct val="100000"/>
              <a:buChar char="•"/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Profil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médical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(allergies,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antécédents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8000"/>
              </a:lnSpc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10720" y="5367287"/>
            <a:ext cx="6913040" cy="53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pouvez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connecter à Mon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Espace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Santé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directement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avec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identifiants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Ameli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733329" y="5871443"/>
            <a:ext cx="6213638" cy="497604"/>
          </a:xfrm>
          <a:prstGeom prst="roundRect">
            <a:avLst>
              <a:gd name="adj" fmla="val 8934"/>
            </a:avLst>
          </a:prstGeom>
          <a:solidFill>
            <a:srgbClr val="DADBF1">
              <a:alpha val="80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2023" y="5993843"/>
            <a:ext cx="234054" cy="1673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91802" y="5993843"/>
            <a:ext cx="5921667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 résumé :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Ameli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pour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l'administratif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Mon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Espace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Santé pour le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médical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0" y="377133"/>
            <a:ext cx="2024955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💰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Remboursements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19" y="625303"/>
            <a:ext cx="68307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Suivre vos remboursements en temps réel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3219" y="1438462"/>
            <a:ext cx="3680445" cy="2308399"/>
          </a:xfrm>
          <a:prstGeom prst="roundRect">
            <a:avLst>
              <a:gd name="adj" fmla="val 386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47192" y="1562436"/>
            <a:ext cx="27446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vous pouvez consulter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7193" y="1880258"/>
            <a:ext cx="3432497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Historique des remboursements sur 24 mois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Détail de chaque acte médical remboursé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 prise en charge par l'Assurance Maladie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 restant à votre charge (ticket modérateur)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Remboursements de votre mutuelle complémentaire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86301" y="2852254"/>
            <a:ext cx="252405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Comment lire votre relevé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86300" y="3170075"/>
            <a:ext cx="4347270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  <a:spcAft>
                <a:spcPts val="850"/>
              </a:spcAft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Chaque ligne correspond à un acte ou un médicament. Vous y trouvez la date, le professionnel concerné, le montant total et le montant remboursé.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 cas de désaccord ou d'oubli de remboursement, vous pouvez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contacter directement votre CPAM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depuis l'interface, sans téléphoner.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39876" y="5327246"/>
            <a:ext cx="4347270" cy="945653"/>
          </a:xfrm>
          <a:prstGeom prst="roundRect">
            <a:avLst>
              <a:gd name="adj" fmla="val 7638"/>
            </a:avLst>
          </a:prstGeom>
          <a:solidFill>
            <a:srgbClr val="B6D6FC">
              <a:alpha val="8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0143" y="5465600"/>
            <a:ext cx="218711" cy="174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42828" y="5469823"/>
            <a:ext cx="38203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Votre relevé de remboursements peut être téléchargé en PDF pour votre mutuelle ou pour vos déclarations fiscales.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20" y="863477"/>
            <a:ext cx="1870993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📱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Application mobile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1166818"/>
            <a:ext cx="5177135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Espace Santé dans votre poche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20" y="1642761"/>
            <a:ext cx="4722763" cy="475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L'application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Espace Santé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est disponible gratuitement sur iOS (iPhone) et Android. Elle offre les mêmes fonctionnalités que la version web, optimisées pour une utilisation sur mobile.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6119" y="2574950"/>
            <a:ext cx="213196" cy="2131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06119" y="2902596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Télécharger l'app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306120" y="3124052"/>
            <a:ext cx="4722763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Recherchez "Mon Espace Santé" sur l'App Store ou Google Play. L'application officielle est éditée par l'Assurance Maladie.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6116" y="3743649"/>
            <a:ext cx="213196" cy="2131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06117" y="4013104"/>
            <a:ext cx="1520949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Connexion biométrique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306117" y="4234561"/>
            <a:ext cx="5070639" cy="65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Activez la reconnaissance d'empreinte ou faciale pour vous connecter rapidement tout en maintenant un niveau de sécurité élevé.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06114" y="4939891"/>
            <a:ext cx="213196" cy="2131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06115" y="5185058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Notifications utiles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4306116" y="5406514"/>
            <a:ext cx="4722763" cy="3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Recevez des alertes pour vos remboursements, rappels de vaccins ou nouveaux documents ajoutés par vos médecins.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7">
            <a:extLst>
              <a:ext uri="{FF2B5EF4-FFF2-40B4-BE49-F238E27FC236}">
                <a16:creationId xmlns:a16="http://schemas.microsoft.com/office/drawing/2014/main" id="{75D736B8-7F3A-0240-0176-C6DC42D0D73D}"/>
              </a:ext>
            </a:extLst>
          </p:cNvPr>
          <p:cNvSpPr/>
          <p:nvPr/>
        </p:nvSpPr>
        <p:spPr>
          <a:xfrm>
            <a:off x="711322" y="6035040"/>
            <a:ext cx="8774759" cy="710685"/>
          </a:xfrm>
          <a:prstGeom prst="roundRect">
            <a:avLst>
              <a:gd name="adj" fmla="val 7638"/>
            </a:avLst>
          </a:prstGeom>
          <a:solidFill>
            <a:srgbClr val="B6D6FC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877119" y="408654"/>
            <a:ext cx="1536948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🛡️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Sécurité &amp; Confidentialité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0" y="740740"/>
            <a:ext cx="32425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Vos données sont-elles en sécurité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50" y="934589"/>
            <a:ext cx="8952800" cy="5035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7119" y="6117260"/>
            <a:ext cx="8608963" cy="55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Mon Espace Santé est soumis aux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réglementations les plus strictes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en matière de protection des données de santé.</a:t>
            </a:r>
          </a:p>
          <a:p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 informations ne sont ni vendues ni partagées à des fins commerciales. Seuls vous et les professionnels que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endParaRPr lang="en-US" sz="1200" dirty="0">
              <a:solidFill>
                <a:srgbClr val="272525"/>
              </a:solidFill>
              <a:latin typeface="Arial" panose="020B0604020202020204" pitchFamily="34" charset="0"/>
              <a:ea typeface="Inter" pitchFamily="34" charset="-122"/>
              <a:cs typeface="Arial" panose="020B0604020202020204" pitchFamily="34" charset="0"/>
            </a:endParaRPr>
          </a:p>
          <a:p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autorisez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explicitement peuvent y accéder.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120" y="417760"/>
            <a:ext cx="2327672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❓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Questions fréquentes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7120" y="674490"/>
            <a:ext cx="797495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Ce que nos participants nous demandent souvent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702" y="1575865"/>
            <a:ext cx="4013895" cy="1458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6112" y="1714128"/>
            <a:ext cx="304651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J'ai perdu mon mot de passe, que faire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46112" y="198239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Cliquez sur "Mot de passe oublié" sur la page de connexion. Vous recevrez un lien de réinitialisation sur votre adresse e-mail enregistrée en quelques minutes.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8570" y="1575865"/>
            <a:ext cx="4421437" cy="1458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3981" y="1714128"/>
            <a:ext cx="35861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Puis-je gérer l'espace de santé de mon enfant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183980" y="198239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Oui. Vous pouvez créer un espace pour vos enfants mineurs et le gérer depuis votre propre compte, via la fonction "Représentant légal".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120" y="3705672"/>
            <a:ext cx="4013895" cy="18804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2530" y="3843934"/>
            <a:ext cx="36802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Que se passe-t-il si je n'utilise pas mon compte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72530" y="4306045"/>
            <a:ext cx="36802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Votre compte reste actif. Certaines données médicales peuvent être ajoutées automatiquement (remboursements, vaccinations). Vous pouvez clôturer votre compte à tout moment.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4988" y="3705672"/>
            <a:ext cx="4395019" cy="18804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0398" y="3843934"/>
            <a:ext cx="36802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 médecin peut-il refuser d'utiliser Mon Espace Santé ?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210398" y="4306045"/>
            <a:ext cx="36802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Non, les professionnels de santé sont progressivement équipés pour y accéder. Toutefois, vous pouvez parfaitement utiliser votre espace même si votre médecin ne l'utilise pas encore.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 cstate="screen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3"/>
          <p:cNvSpPr/>
          <p:nvPr/>
        </p:nvSpPr>
        <p:spPr>
          <a:xfrm>
            <a:off x="877120" y="2462156"/>
            <a:ext cx="8151763" cy="1720081"/>
          </a:xfrm>
          <a:prstGeom prst="roundRect">
            <a:avLst>
              <a:gd name="adj" fmla="val 4627"/>
            </a:avLst>
          </a:prstGeom>
          <a:solidFill>
            <a:srgbClr val="DADBF1">
              <a:alpha val="80000"/>
            </a:srgbClr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52808" y="359728"/>
            <a:ext cx="20077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🎯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En résumé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7221" y="715560"/>
            <a:ext cx="53188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Vous êtes prêt(e) à vous lancer 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1881" y="117752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Mon Espace Santé est un outil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gratuit, sécurisé et facile à utiliser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qui vous permet de centraliser et maîtriser toutes vos informations de santé. Que vous soyez technophile ou non, ce service est conçu pour tout le monde.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143" y="2569462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📌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Étape 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143" y="2842487"/>
            <a:ext cx="24660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Rendez-vous sur 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monespacesante.fr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ou l'app mobile et créez votre compte avec votre numéro de Sécurité Sociale.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95910" y="2468826"/>
            <a:ext cx="45719" cy="1713409"/>
          </a:xfrm>
          <a:prstGeom prst="roundRect">
            <a:avLst>
              <a:gd name="adj" fmla="val 364638"/>
            </a:avLst>
          </a:prstGeom>
          <a:solidFill>
            <a:srgbClr val="C0C1D7"/>
          </a:solidFill>
          <a:ln/>
        </p:spPr>
      </p:sp>
      <p:sp>
        <p:nvSpPr>
          <p:cNvPr id="11" name="Text 9"/>
          <p:cNvSpPr/>
          <p:nvPr/>
        </p:nvSpPr>
        <p:spPr>
          <a:xfrm>
            <a:off x="3734173" y="2569462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📌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Étape 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34173" y="2842487"/>
            <a:ext cx="246615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Complétez votre profil en ajoutant vos antécédents, traitements et premiers documents médicaux.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 flipH="1">
            <a:off x="6355733" y="2468827"/>
            <a:ext cx="45719" cy="1713410"/>
          </a:xfrm>
          <a:prstGeom prst="roundRect">
            <a:avLst>
              <a:gd name="adj" fmla="val 364638"/>
            </a:avLst>
          </a:prstGeom>
          <a:solidFill>
            <a:srgbClr val="C0C1D7"/>
          </a:solidFill>
          <a:ln/>
        </p:spPr>
      </p:sp>
      <p:sp>
        <p:nvSpPr>
          <p:cNvPr id="15" name="Text 13"/>
          <p:cNvSpPr/>
          <p:nvPr/>
        </p:nvSpPr>
        <p:spPr>
          <a:xfrm>
            <a:off x="6448277" y="2569462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📌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Étape 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48277" y="2842487"/>
            <a:ext cx="246615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Explorez les fonctionnalités : remboursements, partage avec vos médecins, carnet de vaccination.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88F0E12-F1CD-8753-5961-6821BF86E294}"/>
              </a:ext>
            </a:extLst>
          </p:cNvPr>
          <p:cNvSpPr/>
          <p:nvPr/>
        </p:nvSpPr>
        <p:spPr>
          <a:xfrm>
            <a:off x="918233" y="1257886"/>
            <a:ext cx="8002795" cy="681337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E2B5258B-3C02-5BE2-F1E1-EA348F108253}"/>
              </a:ext>
            </a:extLst>
          </p:cNvPr>
          <p:cNvSpPr/>
          <p:nvPr/>
        </p:nvSpPr>
        <p:spPr>
          <a:xfrm>
            <a:off x="1539171" y="514782"/>
            <a:ext cx="8333873" cy="380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Offre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départementale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d’Inclusion</a:t>
            </a: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Numérique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8DD7243-A308-6793-094F-47C48F02E0E4}"/>
              </a:ext>
            </a:extLst>
          </p:cNvPr>
          <p:cNvSpPr/>
          <p:nvPr/>
        </p:nvSpPr>
        <p:spPr>
          <a:xfrm>
            <a:off x="2069873" y="1282825"/>
            <a:ext cx="5906208" cy="565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Voici les 5 offres et services dispensés par l’équipe départementale</a:t>
            </a:r>
          </a:p>
          <a:p>
            <a:pPr algn="ctr">
              <a:lnSpc>
                <a:spcPct val="127000"/>
              </a:lnSpc>
            </a:pPr>
            <a:r>
              <a:rPr lang="fr-FR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Conseiller.es numériques :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AE24EAD1-7A32-72FE-67A0-A31BFF7F5D27}"/>
              </a:ext>
            </a:extLst>
          </p:cNvPr>
          <p:cNvSpPr/>
          <p:nvPr/>
        </p:nvSpPr>
        <p:spPr>
          <a:xfrm>
            <a:off x="918233" y="2349802"/>
            <a:ext cx="2593972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5933B403-09B3-5277-B4D8-12F0A7451AF5}"/>
              </a:ext>
            </a:extLst>
          </p:cNvPr>
          <p:cNvSpPr/>
          <p:nvPr/>
        </p:nvSpPr>
        <p:spPr>
          <a:xfrm>
            <a:off x="3622563" y="2349801"/>
            <a:ext cx="2594053" cy="1994477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B19D1D5-D434-5A81-0517-2FA6E606A60F}"/>
              </a:ext>
            </a:extLst>
          </p:cNvPr>
          <p:cNvSpPr/>
          <p:nvPr/>
        </p:nvSpPr>
        <p:spPr>
          <a:xfrm>
            <a:off x="6326975" y="2349802"/>
            <a:ext cx="2594053" cy="1994478"/>
          </a:xfrm>
          <a:prstGeom prst="roundRect">
            <a:avLst>
              <a:gd name="adj" fmla="val 386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0903CFE9-D0DD-9F85-A5A9-17CFE4D24071}"/>
              </a:ext>
            </a:extLst>
          </p:cNvPr>
          <p:cNvSpPr/>
          <p:nvPr/>
        </p:nvSpPr>
        <p:spPr>
          <a:xfrm>
            <a:off x="6453861" y="2476692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Le Pass Numérique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1E758AE-3E75-251C-1F6A-8687BD6F0490}"/>
              </a:ext>
            </a:extLst>
          </p:cNvPr>
          <p:cNvSpPr/>
          <p:nvPr/>
        </p:nvSpPr>
        <p:spPr>
          <a:xfrm>
            <a:off x="6453862" y="2738287"/>
            <a:ext cx="2340282" cy="109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Dispositif qui finance des formations aux compétences numériques de par des formateurs agréés.</a:t>
            </a: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E7E7CD5-007A-2717-E330-A8D5DD93A56F}"/>
              </a:ext>
            </a:extLst>
          </p:cNvPr>
          <p:cNvSpPr/>
          <p:nvPr/>
        </p:nvSpPr>
        <p:spPr>
          <a:xfrm>
            <a:off x="918233" y="4533301"/>
            <a:ext cx="3946178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68F01A84-F828-6939-5EFA-57F740876C7E}"/>
              </a:ext>
            </a:extLst>
          </p:cNvPr>
          <p:cNvSpPr/>
          <p:nvPr/>
        </p:nvSpPr>
        <p:spPr>
          <a:xfrm>
            <a:off x="1045117" y="4660189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Ordi</a:t>
            </a: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anose="020B0604020202020204" charset="0"/>
                <a:cs typeface="Arial" panose="020B0604020202020204" pitchFamily="34" charset="0"/>
              </a:rPr>
              <a:t>Solidaire</a:t>
            </a:r>
            <a:endParaRPr lang="en-US" sz="1200" dirty="0">
              <a:latin typeface="Arial" panose="020B0604020202020204" pitchFamily="34" charset="0"/>
              <a:ea typeface="Inter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C06BD13-905D-A5B8-8791-FDDD10166A2A}"/>
              </a:ext>
            </a:extLst>
          </p:cNvPr>
          <p:cNvSpPr/>
          <p:nvPr/>
        </p:nvSpPr>
        <p:spPr>
          <a:xfrm>
            <a:off x="1045117" y="4921786"/>
            <a:ext cx="369240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Reconditionnement de matériel informatique revendu à prix solidaires, dans le cadre d'un chantier d'insertion.</a:t>
            </a: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6B68EB4A-EF10-79FF-0E7E-AD83DC7C11A1}"/>
              </a:ext>
            </a:extLst>
          </p:cNvPr>
          <p:cNvSpPr/>
          <p:nvPr/>
        </p:nvSpPr>
        <p:spPr>
          <a:xfrm>
            <a:off x="4974769" y="4533301"/>
            <a:ext cx="3946259" cy="1448459"/>
          </a:xfrm>
          <a:prstGeom prst="roundRect">
            <a:avLst>
              <a:gd name="adj" fmla="val 4492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310EC288-1BC1-7229-5094-FF54D71172EB}"/>
              </a:ext>
            </a:extLst>
          </p:cNvPr>
          <p:cNvSpPr/>
          <p:nvPr/>
        </p:nvSpPr>
        <p:spPr>
          <a:xfrm>
            <a:off x="5101655" y="4921786"/>
            <a:ext cx="3692488" cy="62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1200" kern="100" dirty="0">
                <a:effectLst/>
                <a:latin typeface="Arial" panose="020B0604020202020204" pitchFamily="34" charset="0"/>
                <a:ea typeface="Inter" panose="020B0604020202020204" charset="0"/>
                <a:cs typeface="Arial" panose="020B0604020202020204" pitchFamily="34" charset="0"/>
              </a:rPr>
              <a:t>Après une formation, les parents des collégiens reçoivent gratuitement un ordinateur reconditionné, l'ensemble du dispositif étant intégralement pris en charge. 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C85BD7D4-A014-8698-3592-6CEC908E19F7}"/>
              </a:ext>
            </a:extLst>
          </p:cNvPr>
          <p:cNvSpPr/>
          <p:nvPr/>
        </p:nvSpPr>
        <p:spPr>
          <a:xfrm>
            <a:off x="1230851" y="2462745"/>
            <a:ext cx="2222426" cy="3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Accompagnement</a:t>
            </a: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individuel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A3F1C244-19C6-4E14-6685-2E70100F42D9}"/>
              </a:ext>
            </a:extLst>
          </p:cNvPr>
          <p:cNvSpPr/>
          <p:nvPr/>
        </p:nvSpPr>
        <p:spPr>
          <a:xfrm>
            <a:off x="1230851" y="2736696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 rencontrez un problème spécifique ? Nos conseiller.es vous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reçoivent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sur rendez-vous pour un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suivi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personnalisé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CMS.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A672AA9B-8E97-CD6C-BF13-6C7E6403B5B2}"/>
              </a:ext>
            </a:extLst>
          </p:cNvPr>
          <p:cNvSpPr/>
          <p:nvPr/>
        </p:nvSpPr>
        <p:spPr>
          <a:xfrm>
            <a:off x="3878016" y="2493018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Ateliers 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collectifs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14C3B585-5E00-760F-61A5-B89E38222DD2}"/>
              </a:ext>
            </a:extLst>
          </p:cNvPr>
          <p:cNvSpPr/>
          <p:nvPr/>
        </p:nvSpPr>
        <p:spPr>
          <a:xfrm>
            <a:off x="3878016" y="2755097"/>
            <a:ext cx="2222426" cy="76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 sessions en présentiel animées par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conseiller.es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numériques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dans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plusieurs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communes du Lot-et-Garonne, pour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être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au plus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proche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chez </a:t>
            </a:r>
            <a:r>
              <a:rPr lang="en-US" sz="1200" dirty="0" err="1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vous</a:t>
            </a: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55F4E1EE-0BAC-35DC-AAA0-D7DA7A734089}"/>
              </a:ext>
            </a:extLst>
          </p:cNvPr>
          <p:cNvSpPr/>
          <p:nvPr/>
        </p:nvSpPr>
        <p:spPr>
          <a:xfrm>
            <a:off x="5098155" y="4654769"/>
            <a:ext cx="1570346" cy="19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Parents-</a:t>
            </a:r>
            <a:r>
              <a:rPr lang="en-US" sz="1200" b="1" dirty="0" err="1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Connectés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271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FC2C929-B938-BDF4-60FC-BF65EFAFD7CA}"/>
              </a:ext>
            </a:extLst>
          </p:cNvPr>
          <p:cNvSpPr/>
          <p:nvPr/>
        </p:nvSpPr>
        <p:spPr>
          <a:xfrm>
            <a:off x="3904785" y="1010653"/>
            <a:ext cx="5527971" cy="1016882"/>
          </a:xfrm>
          <a:prstGeom prst="roundRect">
            <a:avLst/>
          </a:prstGeom>
          <a:solidFill>
            <a:srgbClr val="D6DF8E">
              <a:alpha val="9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A8D4F7BE-A003-4871-02A7-28788524E9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137" y="1010653"/>
            <a:ext cx="3112090" cy="4668252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98126384-C62C-5E0E-9E6C-C8881652E37C}"/>
              </a:ext>
            </a:extLst>
          </p:cNvPr>
          <p:cNvSpPr/>
          <p:nvPr/>
        </p:nvSpPr>
        <p:spPr>
          <a:xfrm>
            <a:off x="3891159" y="1081161"/>
            <a:ext cx="5527971" cy="830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Besoin d'aide ? Nous sommes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là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!</a:t>
            </a:r>
          </a:p>
          <a:p>
            <a:pPr algn="ctr">
              <a:lnSpc>
                <a:spcPct val="104000"/>
              </a:lnSpc>
            </a:pP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Pour nous </a:t>
            </a:r>
            <a:r>
              <a:rPr lang="en-US" sz="2438" b="1" dirty="0" err="1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joindre</a:t>
            </a:r>
            <a:r>
              <a:rPr lang="en-US" sz="2438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…</a:t>
            </a:r>
            <a:endParaRPr lang="en-US" sz="243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D244A76-FB06-6E68-33E3-33A6913FF803}"/>
              </a:ext>
            </a:extLst>
          </p:cNvPr>
          <p:cNvSpPr/>
          <p:nvPr/>
        </p:nvSpPr>
        <p:spPr>
          <a:xfrm>
            <a:off x="3891159" y="2339485"/>
            <a:ext cx="25010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C5DB6334-CDA8-D8A8-32D5-16DD72426A65}"/>
              </a:ext>
            </a:extLst>
          </p:cNvPr>
          <p:cNvSpPr/>
          <p:nvPr/>
        </p:nvSpPr>
        <p:spPr>
          <a:xfrm>
            <a:off x="6506332" y="2339485"/>
            <a:ext cx="2926425" cy="1496219"/>
          </a:xfrm>
          <a:prstGeom prst="roundRect">
            <a:avLst>
              <a:gd name="adj" fmla="val 3477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7EC2BCBC-C48A-2C03-4DA3-99F8F63BBC0F}"/>
              </a:ext>
            </a:extLst>
          </p:cNvPr>
          <p:cNvSpPr/>
          <p:nvPr/>
        </p:nvSpPr>
        <p:spPr>
          <a:xfrm>
            <a:off x="3891158" y="3949855"/>
            <a:ext cx="5541599" cy="921674"/>
          </a:xfrm>
          <a:prstGeom prst="roundRect">
            <a:avLst>
              <a:gd name="adj" fmla="val 5645"/>
            </a:avLst>
          </a:prstGeom>
          <a:solidFill>
            <a:srgbClr val="A8DEEE">
              <a:alpha val="60000"/>
            </a:srgbClr>
          </a:solidFill>
          <a:ln w="6350">
            <a:solidFill>
              <a:schemeClr val="bg1">
                <a:lumMod val="65000"/>
              </a:schemeClr>
            </a:solidFill>
            <a:prstDash val="solid"/>
          </a:ln>
        </p:spPr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E542964E-559D-1232-F3B1-47FBB9C3FF0D}"/>
              </a:ext>
            </a:extLst>
          </p:cNvPr>
          <p:cNvSpPr/>
          <p:nvPr/>
        </p:nvSpPr>
        <p:spPr>
          <a:xfrm>
            <a:off x="5312899" y="4112245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📧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Email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1CB4AD23-360D-7BE7-9BC5-75643C1829D1}"/>
              </a:ext>
            </a:extLst>
          </p:cNvPr>
          <p:cNvSpPr/>
          <p:nvPr/>
        </p:nvSpPr>
        <p:spPr>
          <a:xfrm>
            <a:off x="5312899" y="4373841"/>
            <a:ext cx="24206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b="1" u="sng" dirty="0">
                <a:solidFill>
                  <a:srgbClr val="4950BC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conseiller-numerique@lotetgaronne.fr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82C4A2F6-A86A-5BB2-9A6E-C4C868348F3A}"/>
              </a:ext>
            </a:extLst>
          </p:cNvPr>
          <p:cNvSpPr/>
          <p:nvPr/>
        </p:nvSpPr>
        <p:spPr>
          <a:xfrm>
            <a:off x="4417484" y="2852601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📞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Téléphone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20B17361-7048-6ED2-B354-D4C7D3CDF269}"/>
              </a:ext>
            </a:extLst>
          </p:cNvPr>
          <p:cNvSpPr/>
          <p:nvPr/>
        </p:nvSpPr>
        <p:spPr>
          <a:xfrm>
            <a:off x="4592053" y="3114197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05 53 47 31 32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7DA4A1A1-7A08-52D9-59CB-07DB9B651338}"/>
              </a:ext>
            </a:extLst>
          </p:cNvPr>
          <p:cNvSpPr/>
          <p:nvPr/>
        </p:nvSpPr>
        <p:spPr>
          <a:xfrm>
            <a:off x="6673940" y="2823660"/>
            <a:ext cx="1522220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🌐</a:t>
            </a: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Site web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230F804E-39DC-F997-BDFA-1F176AAC6DA4}"/>
              </a:ext>
            </a:extLst>
          </p:cNvPr>
          <p:cNvSpPr/>
          <p:nvPr/>
        </p:nvSpPr>
        <p:spPr>
          <a:xfrm>
            <a:off x="6673941" y="3085256"/>
            <a:ext cx="24207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lotetgaronne.fr/inclusion-numerique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7990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</TotalTime>
  <Words>1894</Words>
  <Application>Microsoft Office PowerPoint</Application>
  <PresentationFormat>Format A4 (210 x 297 mm)</PresentationFormat>
  <Paragraphs>211</Paragraphs>
  <Slides>18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Calibri Light</vt:lpstr>
      <vt:lpstr>Arial</vt:lpstr>
      <vt:lpstr>Calibri</vt:lpstr>
      <vt:lpstr>Thème Office 2013 –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Aswad Michel</cp:lastModifiedBy>
  <cp:revision>20</cp:revision>
  <dcterms:created xsi:type="dcterms:W3CDTF">2026-06-23T21:19:13Z</dcterms:created>
  <dcterms:modified xsi:type="dcterms:W3CDTF">2026-07-02T13:29:56Z</dcterms:modified>
</cp:coreProperties>
</file>