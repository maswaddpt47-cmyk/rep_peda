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906000" cy="6858000" type="A4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31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Soulignez l'importance de respecter scrupuleusement ces dates pour ne rater aucune opportunité.
Mentionnez que les dates exactes sont publiées chaque année sur le site officiel de Parcoursup.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797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391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18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96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565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146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627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8400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693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062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2564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61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5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conseiller-numerique@lotetgaronne.f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191" y="390289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70876" y="1084415"/>
            <a:ext cx="5405904" cy="503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Les Outils Numériques de Scolarité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04557" y="2688351"/>
            <a:ext cx="5116199" cy="772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3000"/>
              </a:lnSpc>
              <a:spcAft>
                <a:spcPts val="1178"/>
              </a:spcAft>
            </a:pPr>
            <a:r>
              <a:rPr lang="en-US" sz="1400" b="1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Pronote · Educonnect · Parcoursup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Guide pratique — Parents &amp; Jeunes du Lot-et-Garonne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04557" y="5232384"/>
            <a:ext cx="3912748" cy="252649"/>
          </a:xfrm>
          <a:prstGeom prst="roundRect">
            <a:avLst>
              <a:gd name="adj" fmla="val 17871"/>
            </a:avLst>
          </a:prstGeom>
          <a:solidFill>
            <a:srgbClr val="DADBF1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252105" y="5232384"/>
            <a:ext cx="3140691" cy="172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CONSEILLERS NUMÉRIQUES DU LOT-ET-GARONNE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25886" y="4189443"/>
            <a:ext cx="1509321" cy="252649"/>
          </a:xfrm>
          <a:prstGeom prst="roundRect">
            <a:avLst>
              <a:gd name="adj" fmla="val 17871"/>
            </a:avLst>
          </a:prstGeom>
          <a:noFill/>
          <a:ln/>
          <a:effectLst>
            <a:outerShdw blurRad="101600" dist="50800" dir="16200000" algn="bl" rotWithShape="0">
              <a:srgbClr val="4950BC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386" y="756610"/>
            <a:ext cx="8175470" cy="39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Qu'est-ce que les outils numériques de scolarité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386" y="1363503"/>
            <a:ext cx="8278736" cy="3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Ces plateformes officielles et gratuites vous permettent de suivre la scolarité de votre enfant, de gérer l'orientation et de communiquer avec l'école — directement depuis chez vous, sur ordinateur ou smartphone.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386" y="2006624"/>
            <a:ext cx="314875" cy="3148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386" y="2469114"/>
            <a:ext cx="1574699" cy="19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Pronote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3386" y="2736757"/>
            <a:ext cx="2661123" cy="3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Consulter les notes, absences, emploi du temps et cahier de textes en temps réel.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2113" y="2006624"/>
            <a:ext cx="314875" cy="3148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22112" y="2469114"/>
            <a:ext cx="1574699" cy="19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Educonnect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22113" y="2736758"/>
            <a:ext cx="2661203" cy="5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Portail de connexion sécurisée qui donne accès à tous les services scolaires numériques.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919" y="2006624"/>
            <a:ext cx="314875" cy="3148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0918" y="2469114"/>
            <a:ext cx="1574699" cy="19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Parcoursup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430918" y="2736758"/>
            <a:ext cx="2661123" cy="5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plateforme nationale pour choisir et candidater à une formation après le lycée (Terminale).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468" y="3755492"/>
            <a:ext cx="314875" cy="3148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3468" y="4217982"/>
            <a:ext cx="1574699" cy="19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Messagerie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13468" y="4485624"/>
            <a:ext cx="2661123" cy="5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Communiquer directement avec les enseignants et le personnel de l'établissement.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2195" y="3755492"/>
            <a:ext cx="314875" cy="31488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22195" y="4217982"/>
            <a:ext cx="1614118" cy="196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Applications mobiles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3622195" y="4485624"/>
            <a:ext cx="2661203" cy="5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Pronote et Educonnect disposent d'applications iOS &amp; Android pour un suivi instantané.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813386" y="5675124"/>
            <a:ext cx="8648105" cy="470632"/>
          </a:xfrm>
          <a:prstGeom prst="roundRect">
            <a:avLst>
              <a:gd name="adj" fmla="val 11243"/>
            </a:avLst>
          </a:prstGeom>
          <a:solidFill>
            <a:srgbClr val="B6FCB8">
              <a:alpha val="80000"/>
            </a:srgbClr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305" y="5851268"/>
            <a:ext cx="210354" cy="16824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22660" y="5812815"/>
            <a:ext cx="8238832" cy="1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✅ Tous ces services sont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gratuits et officiels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Méfiez-vous des faux sites payants qui imitent ces plateformes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1095" y="642938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48" y="677722"/>
            <a:ext cx="6129359" cy="83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Pourquoi utiliser ces outils numériques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47" y="1646717"/>
            <a:ext cx="550590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Ces plateformes offrent des avantages significatifs qui simplifient le quotidien des familles et améliorent le suivi scolaire.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8939" y="2555030"/>
            <a:ext cx="67151" cy="67152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740390" y="2483645"/>
            <a:ext cx="192818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Gain de temps précieux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0390" y="2774263"/>
            <a:ext cx="491474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Accédez à toutes les informations nécessaires sans vous déplacer, depuis le confort de votre foyer.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8939" y="3616573"/>
            <a:ext cx="67151" cy="67152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740391" y="3545187"/>
            <a:ext cx="167973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Suivi en temps réel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0390" y="3835805"/>
            <a:ext cx="491474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Soyez informé instantanément des notes, absences, retards, et du contenu des cours de votre enfant.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38939" y="4715963"/>
            <a:ext cx="67151" cy="67152"/>
          </a:xfrm>
          <a:prstGeom prst="roundRect">
            <a:avLst>
              <a:gd name="adj" fmla="val 460985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740391" y="4644579"/>
            <a:ext cx="267805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Moins de déplacements à l'école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0390" y="4935197"/>
            <a:ext cx="491474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Réduisez les visites physiques grâce à une communication directe et efficace avec l'établissement.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959" y="461357"/>
            <a:ext cx="5205357" cy="321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Étape 1 — Se connecter à Educonnect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7958" y="929409"/>
            <a:ext cx="7256238" cy="447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Educonnect est la porte d'entrée unique vers tous les outils scolaires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8000"/>
              </a:lnSpc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comment vous connecter en quelques minutes.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58" y="1751720"/>
            <a:ext cx="7929089" cy="6172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4276" y="1963898"/>
            <a:ext cx="154294" cy="192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08445" y="1864904"/>
            <a:ext cx="1286023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Ouvrir le navigateur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08445" y="2072810"/>
            <a:ext cx="6147161" cy="1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Rendez-vous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educonnect.education.gouv.fr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depuis votre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ordinateur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tablette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smartphone.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59" y="2447751"/>
            <a:ext cx="7929088" cy="6172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4276" y="2659931"/>
            <a:ext cx="154294" cy="192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208445" y="2560936"/>
            <a:ext cx="1782600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Cliquer sur « Se connecter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08445" y="2768842"/>
            <a:ext cx="6147161" cy="1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Repérez le bouton de connexion sur la page d'accueil du portail officiel.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58" y="3143783"/>
            <a:ext cx="7929087" cy="6172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4276" y="3355963"/>
            <a:ext cx="154294" cy="192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208445" y="3256967"/>
            <a:ext cx="1286023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Choisir votre profil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208445" y="3464873"/>
            <a:ext cx="6147161" cy="1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Sélectionnez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Représentant légal »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si vous êtes parent, ou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Élève »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si vous êtes le jeune.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59" y="3839815"/>
            <a:ext cx="7929088" cy="6172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4276" y="4051995"/>
            <a:ext cx="154294" cy="192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208445" y="3953000"/>
            <a:ext cx="1310852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Saisir les identifiants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208445" y="4160905"/>
            <a:ext cx="6147161" cy="1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Entrez l'identifiant et le mot de passe reçus par courrier ou remis par le secrétariat de l'établissement.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59" y="4535847"/>
            <a:ext cx="7929088" cy="61727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4276" y="4748026"/>
            <a:ext cx="154294" cy="192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208445" y="4649032"/>
            <a:ext cx="1286023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Valider et accéder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208445" y="4856938"/>
            <a:ext cx="6147161" cy="1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Cliquez sur « Valider » — vous accédez désormais à l'ensemble du portail scolaire.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84661" y="5907792"/>
            <a:ext cx="8736677" cy="617271"/>
          </a:xfrm>
          <a:prstGeom prst="roundRect">
            <a:avLst>
              <a:gd name="adj" fmla="val 8839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502" y="5969687"/>
            <a:ext cx="227213" cy="1817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5716" y="5966973"/>
            <a:ext cx="8021781" cy="392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💡 L'identifiant est fourni par le secrétariat de l'école. En cas de perte ou d'oubli, contactez directement l'établissement — ne cherchez pas sur Google.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825" y="229288"/>
            <a:ext cx="9077499" cy="11785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565" y="1600480"/>
            <a:ext cx="5254128" cy="321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Mot de passe oublié sur Educonnect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7563" y="2129683"/>
            <a:ext cx="6760950" cy="2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Pas de panique ! Voici les étapes simples pour récupérer vos identifiants et retrouver l'accès à votre compte Educonnect en quelques minutes.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7563" y="2769912"/>
            <a:ext cx="205725" cy="128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7563" y="3006518"/>
            <a:ext cx="1995499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Accéder à la page de connexion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7562" y="3521334"/>
            <a:ext cx="2201144" cy="2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Rendez-vous sur le site officiel d'Educonnect et repérez le lien pour vous connecter.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77151" y="2744633"/>
            <a:ext cx="205725" cy="128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9380" y="2973039"/>
            <a:ext cx="3257202" cy="321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Cliquer sur</a:t>
            </a:r>
          </a:p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Mot de passe oublié ?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73043" y="3506003"/>
            <a:ext cx="3016133" cy="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 lien se trouve généralement sous les champs de saisie de l'identifiant et du mot de passe.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89586" y="2769912"/>
            <a:ext cx="205725" cy="128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89586" y="2934448"/>
            <a:ext cx="2201144" cy="103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6989586" y="3006518"/>
            <a:ext cx="2201144" cy="321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Saisir vos informations de récupération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92448" y="3511050"/>
            <a:ext cx="2201144" cy="4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Entrez l'adresse e-mail ou le numéro de téléphone portable associé à votre compte Educonnect.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7565" y="4678976"/>
            <a:ext cx="205725" cy="128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7565" y="4870163"/>
            <a:ext cx="3341095" cy="103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647564" y="4915582"/>
            <a:ext cx="1802270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Vérifier votre boîte mail/SMS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7565" y="5123488"/>
            <a:ext cx="3341095" cy="2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message contenant les instructions pour réinitialiser votre mot de passe vous sera envoyé.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115095" y="4683284"/>
            <a:ext cx="205725" cy="1285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115096" y="4874471"/>
            <a:ext cx="3341095" cy="103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5115096" y="4919890"/>
            <a:ext cx="1985826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un nouveau mot de passe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115096" y="5127796"/>
            <a:ext cx="3341095" cy="2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Suivez le lien dans le message et définissez un nouveau mot de passe sécurisé et facile à retenir.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56953" y="5971587"/>
            <a:ext cx="8819803" cy="562217"/>
          </a:xfrm>
          <a:prstGeom prst="roundRect">
            <a:avLst>
              <a:gd name="adj" fmla="val 8839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563" y="6079460"/>
            <a:ext cx="233585" cy="18687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71758" y="6068163"/>
            <a:ext cx="8286679" cy="295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 vous n'avez pas associé d'e-mail ou de numéro de téléphone à votre compte, vous devrez contacter le secrétariat de l'établissement scolaire de votre enfant pour une réinitialisation manuelle.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7535F4E6-DF9A-475A-BD88-FDCF2063730B}"/>
              </a:ext>
            </a:extLst>
          </p:cNvPr>
          <p:cNvSpPr/>
          <p:nvPr/>
        </p:nvSpPr>
        <p:spPr>
          <a:xfrm>
            <a:off x="4177151" y="2903628"/>
            <a:ext cx="2201144" cy="103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44AE30EC-7426-0AEC-2034-BEEA7305F780}"/>
              </a:ext>
            </a:extLst>
          </p:cNvPr>
          <p:cNvSpPr/>
          <p:nvPr/>
        </p:nvSpPr>
        <p:spPr>
          <a:xfrm>
            <a:off x="647562" y="2911793"/>
            <a:ext cx="3341095" cy="10319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967" y="600181"/>
            <a:ext cx="8540084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Étape 2 — Consulter les informations sur Pronote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530" y="1203279"/>
            <a:ext cx="8830694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Une fois connecté via Educonnect, Pronote centralise toute la vie scolaire de votre enfant : notes, absences, devoirs et communication avec l'équipe pédagogique.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0794" y="2562306"/>
            <a:ext cx="4444932" cy="1956612"/>
          </a:xfrm>
          <a:prstGeom prst="roundRect">
            <a:avLst>
              <a:gd name="adj" fmla="val 4945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575095" y="2696611"/>
            <a:ext cx="2175025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Accéder à Pronote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5095" y="3040919"/>
            <a:ext cx="4176329" cy="64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Depuis Educonnect, cliquez sur l'icône Pronote — ou accédez directement via le lien fourni par votre école. L'application mobile (iOS &amp; Android) est également disponible gratuitement.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1922" y="2562306"/>
            <a:ext cx="297325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vous pouvez consulter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21922" y="2906613"/>
            <a:ext cx="4251461" cy="2063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4630" indent="-21463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Onglet « Notes »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dernières évaluations et moyennes par matière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630" indent="-21463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Onglet « Absences »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vérifier, justifier et suivre les absences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630" indent="-21463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Onglet « Cahier de textes »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devoirs à rendre et leçons à préparer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630" indent="-21463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Messagerie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lire et envoyer des messages aux enseignants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5662" y="5606916"/>
            <a:ext cx="8830694" cy="744079"/>
          </a:xfrm>
          <a:prstGeom prst="roundRect">
            <a:avLst>
              <a:gd name="adj" fmla="val 7585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963" y="5801682"/>
            <a:ext cx="167917" cy="1343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2181" y="5761375"/>
            <a:ext cx="8259872" cy="4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📱 L'application Pronote envoie des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notifications push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à chaque nouvelle note ou absence enregistrée — idéal pour réagir rapidement.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7433" y="642938"/>
            <a:ext cx="3358319" cy="5037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49" y="330896"/>
            <a:ext cx="4902654" cy="33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Justifier une absence sur Pronote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49" y="799108"/>
            <a:ext cx="5855038" cy="81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 guide pas à pas vous montrera comment signaler et justifier une absence de votre enfant directement depuis l'application Pronote ou la version web.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449" y="1634627"/>
            <a:ext cx="214108" cy="1338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37448" y="1801097"/>
            <a:ext cx="2515455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537449" y="1885582"/>
            <a:ext cx="2412673" cy="16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Ouvrir l'application ou le site Pronote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7448" y="2104049"/>
            <a:ext cx="2515455" cy="46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Lancez l'application mobile Pronote sur votre smartphone ou rendez-vous sur le site web depuis votre navigateur.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27655" y="1634627"/>
            <a:ext cx="214108" cy="1338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27655" y="1801097"/>
            <a:ext cx="2515455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027655" y="1885582"/>
            <a:ext cx="2146730" cy="16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Accéder à la section "Absences"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7655" y="2104049"/>
            <a:ext cx="2515455" cy="46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Dans le menu principal, recherchez et cliquez sur l'onglet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"Absences"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"Retards"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afficher l'historique des présences.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0100" y="3343052"/>
            <a:ext cx="214108" cy="1338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10099" y="3509523"/>
            <a:ext cx="2515455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510099" y="3594007"/>
            <a:ext cx="2147698" cy="16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Sélectionner l'absence à justifier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0099" y="3812474"/>
            <a:ext cx="2515455" cy="46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Repérez l'absence non justifiée que vous souhaitez régulariser dans la liste et cliquez dessus.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088675" y="3370128"/>
            <a:ext cx="214108" cy="1338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088675" y="3536599"/>
            <a:ext cx="2515455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4088675" y="3621083"/>
            <a:ext cx="2431375" cy="16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Saisir le motif et joindre un justificatif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088675" y="3839550"/>
            <a:ext cx="2515455" cy="615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Indiquez clairement la raison de l'absence (maladie, rendez-vous...). Vous pouvez également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 un document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(certificat médical, etc.) si nécessaire.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7449" y="4965243"/>
            <a:ext cx="214108" cy="1338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7448" y="5131713"/>
            <a:ext cx="5116199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537448" y="5216198"/>
            <a:ext cx="2139636" cy="16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Valider et envoyer la justification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37448" y="5434665"/>
            <a:ext cx="5116199" cy="30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Cliquez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"Envoyer"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"Valider"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transmettre votre justification à l'établissement. Le statut de l'absence sera mis à jour.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5300" y="6048995"/>
            <a:ext cx="8437384" cy="602414"/>
          </a:xfrm>
          <a:prstGeom prst="roundRect">
            <a:avLst>
              <a:gd name="adj" fmla="val 8650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354" y="6192329"/>
            <a:ext cx="168665" cy="13493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3227" y="6152505"/>
            <a:ext cx="8089457" cy="31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N'oubliez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pas que chaque établissement a ses propres délais pour la justification des absences. Respectez-les pour éviter des rappels.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46" y="472988"/>
            <a:ext cx="6687592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Étape</a:t>
            </a:r>
            <a:r>
              <a:rPr lang="en-US" sz="2641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3 — S'orienter avec Parcoursup</a:t>
            </a:r>
            <a:endParaRPr lang="en-US" sz="264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530" y="1149154"/>
            <a:ext cx="8830694" cy="59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Réservé aux élèves de Terminale, BTS et BUT.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Parcoursup est la plateforme nationale d'orientation vers l'enseignement supérieur. Les délais sont stricts — anticipez !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528" y="2224816"/>
            <a:ext cx="268684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528" y="2437641"/>
            <a:ext cx="2854031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537529" y="2535750"/>
            <a:ext cx="167973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un compte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529" y="2826367"/>
            <a:ext cx="2854031" cy="64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Aller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parcoursup.gouv.fr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créer un compte, ou se connecter directement avec ses identifiants Educonnect.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25860" y="2224816"/>
            <a:ext cx="268684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25860" y="2437641"/>
            <a:ext cx="2854031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525860" y="2535750"/>
            <a:ext cx="190069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Explorer les formations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5860" y="2826367"/>
            <a:ext cx="2854031" cy="64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Utiliser le moteur de recherche pour filtrer par ville, type de diplôme ou secteur d'activité et découvrir les établissements.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14192" y="2224816"/>
            <a:ext cx="268684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14192" y="2437641"/>
            <a:ext cx="2854031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4192" y="2535750"/>
            <a:ext cx="167973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Formuler ses vœux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14192" y="2826367"/>
            <a:ext cx="2854031" cy="64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Sélectionner jusqu'à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10 vœux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rédiger avec soin la lettre de motivation pour chaque formation souhaitée.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7529" y="4088830"/>
            <a:ext cx="268684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7529" y="4301654"/>
            <a:ext cx="4348196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537529" y="4399763"/>
            <a:ext cx="1692152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Soumettre le dossier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7529" y="4690381"/>
            <a:ext cx="434819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Valider et soumettre son dossier avant la date limite —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généralement début avril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Aucune prolongation n'est accordée.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0027" y="4088830"/>
            <a:ext cx="268684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0027" y="4301654"/>
            <a:ext cx="4348196" cy="1547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0028" y="4399763"/>
            <a:ext cx="1891509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Consulter les réponses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0027" y="4690381"/>
            <a:ext cx="434819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À partir de mai, suivre les réponses des établissements et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accepter une proposition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les délais impartis.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6604" y="610803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803" y="433651"/>
            <a:ext cx="5333290" cy="35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Les dates clés de Parcoursup 2025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48" y="976153"/>
            <a:ext cx="5523678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Anticipez chaque étape de l'orientation post-bac avec ce calendrier officiel des moments cruciaux.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2415" y="1996387"/>
            <a:ext cx="15478" cy="3805200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606937" y="2116181"/>
            <a:ext cx="226765" cy="15478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7" name="Shape 4"/>
          <p:cNvSpPr/>
          <p:nvPr/>
        </p:nvSpPr>
        <p:spPr>
          <a:xfrm>
            <a:off x="579932" y="2081436"/>
            <a:ext cx="84966" cy="84969"/>
          </a:xfrm>
          <a:prstGeom prst="roundRect">
            <a:avLst>
              <a:gd name="adj" fmla="val 364326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75945" y="2035324"/>
            <a:ext cx="2277162" cy="17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Inscription et création du dossier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75946" y="2269834"/>
            <a:ext cx="4910364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Mi-janvier à début mars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Création de votre dossier et saisie des informations personnelles.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6937" y="2915481"/>
            <a:ext cx="226765" cy="15478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579932" y="2880736"/>
            <a:ext cx="84966" cy="84969"/>
          </a:xfrm>
          <a:prstGeom prst="roundRect">
            <a:avLst>
              <a:gd name="adj" fmla="val 364326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1075945" y="2834624"/>
            <a:ext cx="1541567" cy="17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Formulation des vœux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5946" y="3069133"/>
            <a:ext cx="4910364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 janvier à mi-mars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Vous avez jusqu'à cette date pour ajouter et modifier vos vœux de formations.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6937" y="3714781"/>
            <a:ext cx="226765" cy="15478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15" name="Shape 12"/>
          <p:cNvSpPr/>
          <p:nvPr/>
        </p:nvSpPr>
        <p:spPr>
          <a:xfrm>
            <a:off x="579932" y="3680036"/>
            <a:ext cx="84966" cy="84969"/>
          </a:xfrm>
          <a:prstGeom prst="roundRect">
            <a:avLst>
              <a:gd name="adj" fmla="val 364326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1075945" y="3633924"/>
            <a:ext cx="1624920" cy="17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Confirmation des vœux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75946" y="3868434"/>
            <a:ext cx="4985180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 mars à début avril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Finalisation de votre dossier et confirmation de tous vos vœux. Ne manquez pas cette échéance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6937" y="4514081"/>
            <a:ext cx="226765" cy="15478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19" name="Shape 16"/>
          <p:cNvSpPr/>
          <p:nvPr/>
        </p:nvSpPr>
        <p:spPr>
          <a:xfrm>
            <a:off x="579932" y="4479336"/>
            <a:ext cx="84966" cy="84969"/>
          </a:xfrm>
          <a:prstGeom prst="roundRect">
            <a:avLst>
              <a:gd name="adj" fmla="val 364326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1075945" y="4433224"/>
            <a:ext cx="2034194" cy="17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Phase d'admission principale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75946" y="4667734"/>
            <a:ext cx="4985180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 mai à mi-juillet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Réception des premières propositions d'admission et réponses aux établissements.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6937" y="5313381"/>
            <a:ext cx="226765" cy="15478"/>
          </a:xfrm>
          <a:prstGeom prst="roundRect">
            <a:avLst>
              <a:gd name="adj" fmla="val 307667"/>
            </a:avLst>
          </a:prstGeom>
          <a:solidFill>
            <a:srgbClr val="C0C1D7"/>
          </a:solidFill>
          <a:ln/>
        </p:spPr>
      </p:sp>
      <p:sp>
        <p:nvSpPr>
          <p:cNvPr id="23" name="Shape 20"/>
          <p:cNvSpPr/>
          <p:nvPr/>
        </p:nvSpPr>
        <p:spPr>
          <a:xfrm>
            <a:off x="579932" y="5278636"/>
            <a:ext cx="84966" cy="84969"/>
          </a:xfrm>
          <a:prstGeom prst="roundRect">
            <a:avLst>
              <a:gd name="adj" fmla="val 364326"/>
            </a:avLst>
          </a:prstGeom>
          <a:solidFill>
            <a:srgbClr val="4950BC"/>
          </a:solidFill>
          <a:ln/>
        </p:spPr>
      </p:sp>
      <p:sp>
        <p:nvSpPr>
          <p:cNvPr id="24" name="Text 21"/>
          <p:cNvSpPr/>
          <p:nvPr/>
        </p:nvSpPr>
        <p:spPr>
          <a:xfrm>
            <a:off x="1075945" y="5232524"/>
            <a:ext cx="1585420" cy="17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Phase complémentaire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75946" y="5467034"/>
            <a:ext cx="4910364" cy="3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Mi-juin à mi-septembre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Pour les candidats n'ayant pas reçu de proposition ou souhaitant changer d'orientation.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529" y="404255"/>
            <a:ext cx="4082495" cy="43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41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⚠</a:t>
            </a:r>
            <a:r>
              <a:rPr lang="en-US" sz="2641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Points</a:t>
            </a:r>
            <a:r>
              <a:rPr lang="en-US" sz="2641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de vigilance</a:t>
            </a:r>
            <a:endParaRPr lang="en-US" sz="264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2688" y="1081914"/>
            <a:ext cx="8830694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Quelques erreurs courantes peuvent compliquer votre expérience sur ces plateformes. Voici les réflexes essentiels à adopter dès maintenant.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7530" y="2348917"/>
            <a:ext cx="8830694" cy="2393708"/>
          </a:xfrm>
          <a:prstGeom prst="roundRect">
            <a:avLst>
              <a:gd name="adj" fmla="val 235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688" y="2354077"/>
            <a:ext cx="4410188" cy="38913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676989" y="2406599"/>
            <a:ext cx="4636873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✕ À ÉVITER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52877" y="2354077"/>
            <a:ext cx="4410188" cy="38913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5087178" y="2406599"/>
            <a:ext cx="4636873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✓ BON RÉFLEXE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6989" y="2885143"/>
            <a:ext cx="3943035" cy="16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Partager ses identifiants Educonnect avec quelqu'un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87178" y="2831561"/>
            <a:ext cx="414158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Noter ses identifiants dans un endroit sûr (pas un post-it visible !)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989" y="3216444"/>
            <a:ext cx="3943035" cy="31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Utiliser des sites non officiels (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arnaques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Parcoursup</a:t>
            </a:r>
            <a:endParaRPr lang="en-US" sz="12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fréquentes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87178" y="3349917"/>
            <a:ext cx="4636873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Vérifier Pronote au moins une fois par semaine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1831" y="3829646"/>
            <a:ext cx="3943035" cy="28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Négliger les notifications Pronote (absences non justifiées)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87177" y="3639313"/>
            <a:ext cx="4636873" cy="28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Renseigner une adresse mail valide et accessible sur</a:t>
            </a:r>
          </a:p>
          <a:p>
            <a:pPr>
              <a:lnSpc>
                <a:spcPct val="133000"/>
              </a:lnSpc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Parcoursup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990" y="4211302"/>
            <a:ext cx="3521859" cy="322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Confondre identifiant Educonnect et identifiant Pronote (ce sont deux choses distinctes)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87178" y="4221690"/>
            <a:ext cx="4141585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cas de problème technique : contacter le secrétariat de l'école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7530" y="4893779"/>
            <a:ext cx="8830694" cy="744079"/>
          </a:xfrm>
          <a:prstGeom prst="roundRect">
            <a:avLst>
              <a:gd name="adj" fmla="val 7585"/>
            </a:avLst>
          </a:prstGeom>
          <a:solidFill>
            <a:srgbClr val="FFB3B4">
              <a:alpha val="80000"/>
            </a:srgbClr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831" y="5088545"/>
            <a:ext cx="167917" cy="1343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4049" y="5048238"/>
            <a:ext cx="8259872" cy="4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cas de doute sur un site, vérifiez toujours l'URL : elle doit se terminer par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.gouv.fr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.education.fr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Tout autre domaine est suspect.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37" y="642562"/>
            <a:ext cx="3191703" cy="47876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7595" y="159496"/>
            <a:ext cx="4938285" cy="282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Arnaques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numériques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: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restez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vigilants 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47304" y="833896"/>
            <a:ext cx="5231183" cy="69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Les escrocs ciblent de plus en plus les plateformes scolaires comme Pronote, Educonnect et Parcoursup. Apprenez à identifier les tentatives de fraude pour protéger vos données et celles de votre enfant.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6418" y="1472838"/>
            <a:ext cx="5231183" cy="1033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224" y="1557181"/>
            <a:ext cx="108344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547024" y="1833995"/>
            <a:ext cx="1128585" cy="141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Vérifiez l'URL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547023" y="2011428"/>
            <a:ext cx="4914988" cy="1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Les sites officiels se terminent toujours par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.gouv.fr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.education.fr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1000"/>
              </a:lnSpc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Toute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autre adresse est un signal d'alarme.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6418" y="2635302"/>
            <a:ext cx="5231183" cy="12216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08537" y="2727959"/>
            <a:ext cx="108344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547024" y="2996459"/>
            <a:ext cx="2038708" cy="141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Attention aux faux e-mails (phishing)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547023" y="3173893"/>
            <a:ext cx="4914988" cy="2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Méfiez-vous des messages inattendus demandant vos identifiants ou des informations personnelles. Ne cliquez pas sur les liens suspects.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7304" y="3934141"/>
            <a:ext cx="5231183" cy="10338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17735" y="4018484"/>
            <a:ext cx="110779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547910" y="4295298"/>
            <a:ext cx="2246080" cy="141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Fautes d'orthographe et design suspect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547909" y="4472732"/>
            <a:ext cx="5025450" cy="2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Les sites frauduleux présentent souvent des erreurs de langage ou un design de mauvaise qualité. Soyez attentifs à ces détails.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2124" y="5012751"/>
            <a:ext cx="5231183" cy="98789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95930" y="5088781"/>
            <a:ext cx="108344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542730" y="5373907"/>
            <a:ext cx="2161643" cy="141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Demandes d'informations inhabituelles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3542729" y="5551342"/>
            <a:ext cx="4914988" cy="2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 un site demande votre numéro de carte bancaire, votre RIB ou des données non pertinentes pour la scolarité, c'est une arnaque.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203807" y="6098270"/>
            <a:ext cx="9164497" cy="549861"/>
          </a:xfrm>
          <a:prstGeom prst="roundRect">
            <a:avLst>
              <a:gd name="adj" fmla="val 9457"/>
            </a:avLst>
          </a:prstGeom>
          <a:solidFill>
            <a:srgbClr val="FFB3B4">
              <a:alpha val="80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497240" y="6175420"/>
            <a:ext cx="8693150" cy="246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 cas de doute sur l'authenticité d'un site ou d'un message, contactez directement l'établissement scolaire ou le support officiel via les coordonnées connues.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42" y="925718"/>
            <a:ext cx="4803500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 résumé — Les étapes clés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383" y="1470478"/>
            <a:ext cx="80027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outils et réflexes essentiels pour maîtriser le numérique scolaire en Lot-et-Garonne. Chaque outil a son rôle précis dans le parcours de votre enfant.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0384" y="2225278"/>
            <a:ext cx="2593972" cy="1481950"/>
          </a:xfrm>
          <a:prstGeom prst="roundRect">
            <a:avLst>
              <a:gd name="adj" fmla="val 3862"/>
            </a:avLst>
          </a:prstGeom>
          <a:solidFill>
            <a:srgbClr val="DADBF1">
              <a:alpha val="80000"/>
            </a:srgbClr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268" y="2352167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Educonnect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7268" y="2613763"/>
            <a:ext cx="2340202" cy="80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  <a:spcAft>
                <a:spcPts val="488"/>
              </a:spcAft>
            </a:pPr>
            <a:r>
              <a:rPr lang="en-US" sz="1200" i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Connexion sécurisée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porte d'entrée unique pour tous les services. Un seul identifiant, tous les accès.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94714" y="2225277"/>
            <a:ext cx="2594053" cy="1481949"/>
          </a:xfrm>
          <a:prstGeom prst="roundRect">
            <a:avLst>
              <a:gd name="adj" fmla="val 3862"/>
            </a:avLst>
          </a:prstGeom>
          <a:solidFill>
            <a:srgbClr val="DADBF1">
              <a:alpha val="80000"/>
            </a:srgbClr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600" y="2352167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📋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Pronote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21600" y="2613763"/>
            <a:ext cx="2340282" cy="80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  <a:spcAft>
                <a:spcPts val="488"/>
              </a:spcAft>
            </a:pPr>
            <a:r>
              <a:rPr lang="en-US" sz="1200" i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Notes &amp; Absences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tableau de bord de la scolarité au quotidien : notes, devoirs, emploi du temps.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9126" y="2225278"/>
            <a:ext cx="2594053" cy="1481950"/>
          </a:xfrm>
          <a:prstGeom prst="roundRect">
            <a:avLst>
              <a:gd name="adj" fmla="val 3862"/>
            </a:avLst>
          </a:prstGeom>
          <a:solidFill>
            <a:srgbClr val="DADBF1">
              <a:alpha val="80000"/>
            </a:srgbClr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6012" y="2352167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🎓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Parcoursup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26013" y="2613763"/>
            <a:ext cx="2340282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  <a:spcAft>
                <a:spcPts val="488"/>
              </a:spcAft>
            </a:pPr>
            <a:r>
              <a:rPr lang="en-US" sz="1200" i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Orientation Terminale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plateforme nationale pour construire son projet d'études supérieures.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0384" y="4152143"/>
            <a:ext cx="3946178" cy="1296331"/>
          </a:xfrm>
          <a:prstGeom prst="roundRect">
            <a:avLst>
              <a:gd name="adj" fmla="val 4492"/>
            </a:avLst>
          </a:prstGeom>
          <a:solidFill>
            <a:srgbClr val="DADBF1">
              <a:alpha val="80000"/>
            </a:srgbClr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268" y="427903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✉️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Messagerie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7268" y="4540628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  <a:spcAft>
                <a:spcPts val="488"/>
              </a:spcAft>
            </a:pPr>
            <a:r>
              <a:rPr lang="en-US" sz="1200" i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Contact avec l'école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Échangez directement avec les enseignants et le personnel via Pronote.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920" y="4152143"/>
            <a:ext cx="3946259" cy="1296331"/>
          </a:xfrm>
          <a:prstGeom prst="roundRect">
            <a:avLst>
              <a:gd name="adj" fmla="val 4492"/>
            </a:avLst>
          </a:prstGeom>
          <a:solidFill>
            <a:srgbClr val="DADBF1">
              <a:alpha val="80000"/>
            </a:srgbClr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3806" y="4279031"/>
            <a:ext cx="1615489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📱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Application mobile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73806" y="4540628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  <a:spcAft>
                <a:spcPts val="488"/>
              </a:spcAft>
            </a:pPr>
            <a:r>
              <a:rPr lang="en-US" sz="1200" i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 en temps réel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Recevez les notifications Pronote instantanément sur votre smartphone.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A041B54-96AD-BD32-DE81-C3B1D08C33D3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D59B8512-A36D-170E-E860-7C816EB49132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F62879EB-DC10-E004-5DAD-DC52472E8953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3242269-58A2-5F2E-07DE-74E10CDBFA5C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3A04F2AF-CC25-FBD6-6FF7-E7A555E214C2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4D6DC85-AF6E-8B22-B161-4BC08B1E9C9A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D9AEA6B-6AAE-C60A-0F94-F928177C4608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5F13BFA-4293-A426-7503-11EFB782068D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C0BCC899-E518-4BB5-51A2-A1E864273E86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2F594FDC-6E03-5BC9-0340-781E9C7EB3E2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318A4DE-A110-AF94-8FEC-2B978635B838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E50C835B-684D-BF47-91F7-4D724ECE4C6D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C93B90A-F14B-3783-98FD-264AF7094882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7046A3D-0A64-4F71-0631-6695A3B2B71B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63EAECCD-DAF3-AD70-1CAE-774DAF9FE2FD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A190759-CE17-E0B5-F079-3CFBCC3D6761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B630557F-16E8-D899-C87D-7A5C4263A8CE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5142EB21-366D-D0DC-372F-5F427A7CAB43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06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3E5567B-76C1-A8AA-C93D-3F33E5634B6C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960DE42E-76D0-5ADF-9B77-903F6B3193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445CFDE4-B09A-87D9-015F-F6F501F6FA3B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83A92D5-FFB2-8D71-620A-6D359F4FFB2F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F906DB50-1251-E99F-9721-E4F446269CAE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AEE704C3-C9C9-A1D0-E082-CF0AAF0A3F8C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5C0B3381-77F8-F5C1-BF71-8278459FCA26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D4064A07-CE65-81D4-3D3F-5771933C69CD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873228C5-D621-E885-C025-8A5CE234EBC6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6FF04052-5E00-FE5F-C978-3C9C511ED27E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B387B77-1DBE-6A68-5220-425FD2D20E15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E6396503-B44F-C7E7-9953-DA018EAE07E1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0626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</TotalTime>
  <Words>1844</Words>
  <Application>Microsoft Office PowerPoint</Application>
  <PresentationFormat>Format A4 (210 x 297 mm)</PresentationFormat>
  <Paragraphs>202</Paragraphs>
  <Slides>14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Aswad Michel</dc:creator>
  <cp:lastModifiedBy>Aswad Michel</cp:lastModifiedBy>
  <cp:revision>14</cp:revision>
  <dcterms:created xsi:type="dcterms:W3CDTF">2026-06-23T20:45:49Z</dcterms:created>
  <dcterms:modified xsi:type="dcterms:W3CDTF">2026-07-02T13:29:07Z</dcterms:modified>
</cp:coreProperties>
</file>