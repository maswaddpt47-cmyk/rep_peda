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906000" cy="6858000" type="A4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3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62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58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50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333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1117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7219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3777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5450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363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3569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8743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742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6378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190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6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96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Relationship Id="rId14" Type="http://schemas.openxmlformats.org/officeDocument/2006/relationships/image" Target="../media/image5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conseiller-numerique@lotetgaronne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9189" y="642938"/>
            <a:ext cx="3714657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195" y="520191"/>
            <a:ext cx="5056706" cy="95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Sécuriser ses achats en ligne et éviter les arnaques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7195" y="2301006"/>
            <a:ext cx="5551994" cy="25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Guide pratique — Tout public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276" y="630443"/>
            <a:ext cx="4934658" cy="40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Au programme de cet atelier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276" y="1808634"/>
            <a:ext cx="275455" cy="172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Light" pitchFamily="34" charset="-122"/>
                <a:cs typeface="Arial" panose="020B0604020202020204" pitchFamily="34" charset="0"/>
              </a:rPr>
              <a:t>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7275" y="2027262"/>
            <a:ext cx="4327076" cy="15478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5" name="Text 3"/>
          <p:cNvSpPr/>
          <p:nvPr/>
        </p:nvSpPr>
        <p:spPr>
          <a:xfrm>
            <a:off x="567276" y="2127064"/>
            <a:ext cx="3160119" cy="202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Les achats en ligne : avantages et risques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11402" y="1808636"/>
            <a:ext cx="275455" cy="172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Light" pitchFamily="34" charset="-122"/>
                <a:cs typeface="Arial" panose="020B0604020202020204" pitchFamily="34" charset="0"/>
              </a:rPr>
              <a:t>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11402" y="2027262"/>
            <a:ext cx="4327076" cy="15478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9" name="Text 7"/>
          <p:cNvSpPr/>
          <p:nvPr/>
        </p:nvSpPr>
        <p:spPr>
          <a:xfrm>
            <a:off x="5011404" y="2127066"/>
            <a:ext cx="2534076" cy="202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Les arnaques les plus fréquentes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7276" y="2824064"/>
            <a:ext cx="275455" cy="172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Light" pitchFamily="34" charset="-122"/>
                <a:cs typeface="Arial" panose="020B0604020202020204" pitchFamily="34" charset="0"/>
              </a:rPr>
              <a:t>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7275" y="3042692"/>
            <a:ext cx="4327076" cy="15478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3" name="Text 11"/>
          <p:cNvSpPr/>
          <p:nvPr/>
        </p:nvSpPr>
        <p:spPr>
          <a:xfrm>
            <a:off x="567275" y="3142494"/>
            <a:ext cx="2346409" cy="202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Vérifier qu'un site est sécurisé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11402" y="2824066"/>
            <a:ext cx="275455" cy="172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Light" pitchFamily="34" charset="-122"/>
                <a:cs typeface="Arial" panose="020B0604020202020204" pitchFamily="34" charset="0"/>
              </a:rPr>
              <a:t>04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11402" y="3042692"/>
            <a:ext cx="4327076" cy="15478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7" name="Text 15"/>
          <p:cNvSpPr/>
          <p:nvPr/>
        </p:nvSpPr>
        <p:spPr>
          <a:xfrm>
            <a:off x="5011404" y="3142496"/>
            <a:ext cx="1801544" cy="202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Identifier un site fiable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7276" y="3839493"/>
            <a:ext cx="275455" cy="172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Light" pitchFamily="34" charset="-122"/>
                <a:cs typeface="Arial" panose="020B0604020202020204" pitchFamily="34" charset="0"/>
              </a:rPr>
              <a:t>05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7275" y="4058121"/>
            <a:ext cx="4327076" cy="15478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1" name="Text 19"/>
          <p:cNvSpPr/>
          <p:nvPr/>
        </p:nvSpPr>
        <p:spPr>
          <a:xfrm>
            <a:off x="567275" y="4157924"/>
            <a:ext cx="1785986" cy="202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Payer en toute sécurité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11402" y="3839495"/>
            <a:ext cx="275455" cy="172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Light" pitchFamily="34" charset="-122"/>
                <a:cs typeface="Arial" panose="020B0604020202020204" pitchFamily="34" charset="0"/>
              </a:rPr>
              <a:t>06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11402" y="4058121"/>
            <a:ext cx="4327076" cy="15478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5" name="Text 23"/>
          <p:cNvSpPr/>
          <p:nvPr/>
        </p:nvSpPr>
        <p:spPr>
          <a:xfrm>
            <a:off x="5011404" y="4157925"/>
            <a:ext cx="3264835" cy="202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Mes droits et que faire en cas de problème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67276" y="4869594"/>
            <a:ext cx="8771202" cy="483450"/>
          </a:xfrm>
          <a:prstGeom prst="roundRect">
            <a:avLst>
              <a:gd name="adj" fmla="val 11968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962" y="5060491"/>
            <a:ext cx="172190" cy="13769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14840" y="5009381"/>
            <a:ext cx="8681238" cy="203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Chaque étape sera illustrée par une démonstration en direct — n'hésitez pas à poser vos questions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4755" y="642938"/>
            <a:ext cx="3714657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8793" y="431564"/>
            <a:ext cx="5865962" cy="762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397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Les achats en ligne : qu'est-ce que c'est ?</a:t>
            </a:r>
            <a:endParaRPr lang="en-US" sz="239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89516" y="998692"/>
            <a:ext cx="5056706" cy="502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i="1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Acheter sur internet, c'est commander un produit ou service via un site web et le recevoir chez soi — souvent en quelques jours.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195" y="2513937"/>
            <a:ext cx="324146" cy="3241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966" y="2513936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Disponible 24h/24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020967" y="2766828"/>
            <a:ext cx="4602934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Commandez à n'importe quelle heure, sans vous déplacer.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195" y="3160874"/>
            <a:ext cx="324146" cy="3241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0966" y="3160873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Livraison à domicile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020967" y="3413766"/>
            <a:ext cx="4602934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Réception chez vous ou en point relais à proximité.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7195" y="3807812"/>
            <a:ext cx="324146" cy="32415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0966" y="3807811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Prix compétitifs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020967" y="4060703"/>
            <a:ext cx="4602934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La concurrence en ligne favorise souvent des tarifs plus bas.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7195" y="4454748"/>
            <a:ext cx="324146" cy="32415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20968" y="4454748"/>
            <a:ext cx="205249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14 jours pour changer d'avis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020967" y="4707641"/>
            <a:ext cx="4602934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Droit de rétractation garanti par la loi française.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567195" y="5010913"/>
            <a:ext cx="5056706" cy="624768"/>
          </a:xfrm>
          <a:prstGeom prst="roundRect">
            <a:avLst>
              <a:gd name="adj" fmla="val 8716"/>
            </a:avLst>
          </a:prstGeom>
          <a:solidFill>
            <a:srgbClr val="E8BEF4">
              <a:alpha val="80000"/>
            </a:srgbClr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821" y="5188508"/>
            <a:ext cx="162033" cy="12963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88479" y="5136675"/>
            <a:ext cx="4505795" cy="373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Sites les plus connus en France : Amazon, Fnac, Cdiscount, Leboncoin, Vinted, La Redoute…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276" y="559768"/>
            <a:ext cx="6458489" cy="476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Les arnaques les plus fréquentes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7276" y="2056365"/>
            <a:ext cx="4304584" cy="1193750"/>
          </a:xfrm>
          <a:prstGeom prst="roundRect">
            <a:avLst>
              <a:gd name="adj" fmla="val 5702"/>
            </a:avLst>
          </a:prstGeom>
          <a:solidFill>
            <a:srgbClr val="F0D4F7">
              <a:alpha val="80000"/>
            </a:srgbClr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4467" y="2223561"/>
            <a:ext cx="2570917" cy="24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🎣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Phishing / Hameçonnage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4467" y="2477980"/>
            <a:ext cx="3970201" cy="51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Faux email ou SMS imitant votre banque, La Poste, Ameli… pour voler vos identifiants ou numéro de carte bancaire.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33893" y="2056366"/>
            <a:ext cx="4304584" cy="1193750"/>
          </a:xfrm>
          <a:prstGeom prst="roundRect">
            <a:avLst>
              <a:gd name="adj" fmla="val 5702"/>
            </a:avLst>
          </a:prstGeom>
          <a:solidFill>
            <a:srgbClr val="F0D4F7">
              <a:alpha val="80000"/>
            </a:srgbClr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01086" y="2223563"/>
            <a:ext cx="2085867" cy="24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🛒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Faux site marchand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01086" y="2477982"/>
            <a:ext cx="3970201" cy="51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Copie d'un vrai site (ex : "amaz0n.fr") conçue pour prendre votre commande et votre argent sans rien livrer.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7276" y="3412152"/>
            <a:ext cx="4304584" cy="1193750"/>
          </a:xfrm>
          <a:prstGeom prst="roundRect">
            <a:avLst>
              <a:gd name="adj" fmla="val 5702"/>
            </a:avLst>
          </a:prstGeom>
          <a:solidFill>
            <a:srgbClr val="F0D4F7">
              <a:alpha val="80000"/>
            </a:srgbClr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4467" y="3579348"/>
            <a:ext cx="1906744" cy="24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📦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Arnaque colis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4467" y="3920028"/>
            <a:ext cx="3970201" cy="51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SMS "votre colis est bloqué, payez 1 €" — un prétexte pour dérober votre numéro de carte bancaire.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33893" y="3412153"/>
            <a:ext cx="4304584" cy="1193750"/>
          </a:xfrm>
          <a:prstGeom prst="roundRect">
            <a:avLst>
              <a:gd name="adj" fmla="val 5702"/>
            </a:avLst>
          </a:prstGeom>
          <a:solidFill>
            <a:srgbClr val="F0D4F7">
              <a:alpha val="80000"/>
            </a:srgbClr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1086" y="3579350"/>
            <a:ext cx="2178895" cy="24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💰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Fausse bonne affaire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01086" y="3920029"/>
            <a:ext cx="3970201" cy="51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iPhone neuf à 50 €, billets introuvables à prix cassé — la marchandise n'existe pas et l'argent disparaît.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7276" y="5420116"/>
            <a:ext cx="8771202" cy="631943"/>
          </a:xfrm>
          <a:prstGeom prst="roundRect">
            <a:avLst>
              <a:gd name="adj" fmla="val 10772"/>
            </a:avLst>
          </a:prstGeom>
          <a:solidFill>
            <a:srgbClr val="FCF2B5">
              <a:alpha val="80000"/>
            </a:srgbClr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308" y="5656238"/>
            <a:ext cx="202581" cy="16203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3924" y="5606420"/>
            <a:ext cx="8577810" cy="25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Règle d'or : si une offre semble trop belle pour être vraie, c'est qu'elle ne l'est probablement pas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275" y="354594"/>
            <a:ext cx="1365041" cy="325266"/>
          </a:xfrm>
          <a:prstGeom prst="roundRect">
            <a:avLst>
              <a:gd name="adj" fmla="val 19910"/>
            </a:avLst>
          </a:prstGeom>
          <a:solidFill>
            <a:srgbClr val="F0D4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312" y="404979"/>
            <a:ext cx="90690" cy="906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1308" y="414492"/>
            <a:ext cx="1039588" cy="12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ÉTAPE 1 SUR 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7275" y="974634"/>
            <a:ext cx="4404464" cy="333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Vérifier que le site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est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sécurisé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!!!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275" y="2655416"/>
            <a:ext cx="3923043" cy="22230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43285" y="1975956"/>
            <a:ext cx="255222" cy="255228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390845" y="2003483"/>
            <a:ext cx="160098" cy="20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59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1</a:t>
            </a:r>
            <a:endParaRPr lang="en-US" sz="12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677911" y="2014892"/>
            <a:ext cx="1738182" cy="16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Tapez l'adresse vous-même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677908" y="2261172"/>
            <a:ext cx="3466092" cy="154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Ne cliquez jamais sur un lien reçu par email ou SMS.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343285" y="2719253"/>
            <a:ext cx="255222" cy="255228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90845" y="2746780"/>
            <a:ext cx="160098" cy="20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59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2</a:t>
            </a:r>
            <a:endParaRPr lang="en-US" sz="12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677909" y="2758190"/>
            <a:ext cx="1334713" cy="16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Vérifiez le </a:t>
            </a:r>
            <a:r>
              <a:rPr lang="en-US" sz="1400" dirty="0">
                <a:solidFill>
                  <a:srgbClr val="BE49DF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https://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677908" y="3004470"/>
            <a:ext cx="3466092" cy="30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Le "s" signifie que vos données sont chiffrées pendant la transmission.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343285" y="3678524"/>
            <a:ext cx="255222" cy="255228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90845" y="3706051"/>
            <a:ext cx="160098" cy="20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59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3</a:t>
            </a:r>
            <a:endParaRPr lang="en-US" sz="12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677908" y="3717460"/>
            <a:ext cx="1500696" cy="16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Cherchez le cadenas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🔒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677908" y="3963740"/>
            <a:ext cx="3466092" cy="30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Cliquez dessus pour consulter le certificat de sécurité du site.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343285" y="4531997"/>
            <a:ext cx="255222" cy="255228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90845" y="4559525"/>
            <a:ext cx="160098" cy="20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59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4</a:t>
            </a:r>
            <a:endParaRPr lang="en-US" sz="12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677910" y="4570934"/>
            <a:ext cx="1531409" cy="16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Contrôlez l'orthographe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677908" y="4817214"/>
            <a:ext cx="3466092" cy="30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"arnazon.fr" au lieu d'"amazon.fr" — une seule lettre suffit à vous piéger.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1063138" y="5781415"/>
            <a:ext cx="7665992" cy="662093"/>
          </a:xfrm>
          <a:prstGeom prst="roundRect">
            <a:avLst>
              <a:gd name="adj" fmla="val 7197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6562" y="6052932"/>
            <a:ext cx="141798" cy="11342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31782" y="6001900"/>
            <a:ext cx="7725003" cy="462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Le https chiffre vos données, mais ne garantit pas que le site est honnête. C'est nécessaire, pas suffisant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276" y="396127"/>
            <a:ext cx="5100801" cy="38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97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Comment repérer un faux site ?</a:t>
            </a:r>
            <a:endParaRPr lang="en-US" sz="239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276" y="1035477"/>
            <a:ext cx="2020651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🚩</a:t>
            </a:r>
            <a:r>
              <a:rPr lang="en-US" sz="1400" b="1" dirty="0">
                <a:solidFill>
                  <a:srgbClr val="BE49DF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Signaux d'alerte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797" y="1578966"/>
            <a:ext cx="2077322" cy="11444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813" y="1724073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Adresse suspecte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8813" y="2018400"/>
            <a:ext cx="1725203" cy="559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"amaz-on-fr.shop" ou "fnac-promo99.net" — méfiance absolue.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7313" y="1578967"/>
            <a:ext cx="2077402" cy="13350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24327" y="1724073"/>
            <a:ext cx="1556561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Fautes d'orthographe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924327" y="2018400"/>
            <a:ext cx="1725284" cy="559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Des erreurs dans les textes et menus trahissent une conception bâclée.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797" y="3584159"/>
            <a:ext cx="2077322" cy="11484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8813" y="3729267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Aucun contact réel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58813" y="4002090"/>
            <a:ext cx="1813398" cy="373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Pas de téléphone ni d'adresse physique — fuyez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7313" y="3584158"/>
            <a:ext cx="2077402" cy="13591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836133" y="3729269"/>
            <a:ext cx="1873890" cy="64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Paiement par virement uniquement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2836133" y="4211121"/>
            <a:ext cx="1725284" cy="373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Ou carte prépayée — méthodes favorites des escrocs.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5116201" y="1035477"/>
            <a:ext cx="2078611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BE49DF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✓ Signes de confiance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0721" y="1578966"/>
            <a:ext cx="2077322" cy="13350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7738" y="1724076"/>
            <a:ext cx="1725203" cy="381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Adresse claire et cohérente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307738" y="2209055"/>
            <a:ext cx="1725203" cy="559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Le nom de domaine correspond exactement à la marque connue.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6236" y="1578966"/>
            <a:ext cx="2205568" cy="133506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73250" y="1724073"/>
            <a:ext cx="1610894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Certifications visibles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473251" y="1996897"/>
            <a:ext cx="1725284" cy="559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Logos Trustedshops, Visa Secure, ou Mastercard Identity Check.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0721" y="3774814"/>
            <a:ext cx="2077322" cy="133506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07738" y="3919924"/>
            <a:ext cx="1725203" cy="381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CGV et mentions légales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5307738" y="4383400"/>
            <a:ext cx="1725203" cy="559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Accessibles en bas de page, rédigées en français et complètes.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6236" y="3774814"/>
            <a:ext cx="2283206" cy="1335069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73250" y="3919921"/>
            <a:ext cx="17145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Avis vérifiés abondants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7473251" y="4192745"/>
            <a:ext cx="1725284" cy="559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Plusieurs centaines d'avis sur Trustpilot ou Google, avec des dates variées.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567276" y="5658276"/>
            <a:ext cx="8771202" cy="438144"/>
          </a:xfrm>
          <a:prstGeom prst="roundRect">
            <a:avLst>
              <a:gd name="adj" fmla="val 12429"/>
            </a:avLst>
          </a:prstGeom>
          <a:solidFill>
            <a:srgbClr val="E8BEF4">
              <a:alpha val="80000"/>
            </a:srgbClr>
          </a:solidFill>
          <a:ln/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866" y="5835872"/>
            <a:ext cx="162033" cy="12963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566524" y="5784038"/>
            <a:ext cx="8715579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Astuce : faites une recherche Google "nom du site + arnaque" avant votre premier achat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67276" y="812149"/>
            <a:ext cx="3250405" cy="30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Identifier un site fiable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275" y="2468228"/>
            <a:ext cx="3647345" cy="20668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36240" y="1410104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80419" y="1435657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141684" y="1446300"/>
            <a:ext cx="1791387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Cherchez les mentions légales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141684" y="1669604"/>
            <a:ext cx="2597358" cy="2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Nom ou raison sociale de l'entreprise obligatoires — en bas de page d'accueil.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40754" y="2307216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84933" y="2332769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38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2</a:t>
            </a:r>
            <a:endParaRPr lang="en-US" sz="11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746200" y="2343412"/>
            <a:ext cx="1498358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Vérifiez le numéro SIRET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746198" y="2566716"/>
            <a:ext cx="2597358" cy="2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Toute entreprise française doit en avoir un. Contrôlez-le sur societe.com.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836240" y="3102912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80419" y="3128465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141684" y="3139108"/>
            <a:ext cx="1440881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Adresse postale et email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141684" y="3362413"/>
            <a:ext cx="2597358" cy="2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Un contact physique et un email de service client doivent être visibles.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440754" y="4089213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84933" y="4114766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746200" y="4125409"/>
            <a:ext cx="1239348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Lisez les CGV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746198" y="4348713"/>
            <a:ext cx="2597358" cy="2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Délai de livraison, politique de retour, conditions de remboursement.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836240" y="5059040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80419" y="5084594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141684" y="5095237"/>
            <a:ext cx="1899973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Consultez les avis indépendants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141684" y="5318541"/>
            <a:ext cx="2597358" cy="2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Trustpilot, Avis Vérifiés — jamais uniquement les avis du site lui-même.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567276" y="6035587"/>
            <a:ext cx="8771202" cy="314802"/>
          </a:xfrm>
          <a:prstGeom prst="roundRect">
            <a:avLst>
              <a:gd name="adj" fmla="val 14055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104" y="6167876"/>
            <a:ext cx="131641" cy="1052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20026" y="6123457"/>
            <a:ext cx="8819005" cy="139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Vérifiez le SIRET sur societe.com — si le site ne donne aucune info sur son identité, passez votre chemin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EF577DE1-512F-D0AF-771C-F119D1435711}"/>
              </a:ext>
            </a:extLst>
          </p:cNvPr>
          <p:cNvSpPr/>
          <p:nvPr/>
        </p:nvSpPr>
        <p:spPr>
          <a:xfrm>
            <a:off x="567275" y="354594"/>
            <a:ext cx="1365041" cy="325266"/>
          </a:xfrm>
          <a:prstGeom prst="roundRect">
            <a:avLst>
              <a:gd name="adj" fmla="val 19910"/>
            </a:avLst>
          </a:prstGeom>
          <a:solidFill>
            <a:srgbClr val="F0D4F7"/>
          </a:solidFill>
          <a:ln/>
        </p:spPr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7BFE4941-C514-CFF1-FC3C-45F70025B1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312" y="404979"/>
            <a:ext cx="90690" cy="90692"/>
          </a:xfrm>
          <a:prstGeom prst="rect">
            <a:avLst/>
          </a:prstGeom>
        </p:spPr>
      </p:pic>
      <p:sp>
        <p:nvSpPr>
          <p:cNvPr id="32" name="Text 1">
            <a:extLst>
              <a:ext uri="{FF2B5EF4-FFF2-40B4-BE49-F238E27FC236}">
                <a16:creationId xmlns:a16="http://schemas.microsoft.com/office/drawing/2014/main" id="{03FD2916-D47E-883F-7F7E-8B1E6F4A0CB2}"/>
              </a:ext>
            </a:extLst>
          </p:cNvPr>
          <p:cNvSpPr/>
          <p:nvPr/>
        </p:nvSpPr>
        <p:spPr>
          <a:xfrm>
            <a:off x="771308" y="414492"/>
            <a:ext cx="1039588" cy="12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ÉTAPE 2 SUR 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275" y="392628"/>
            <a:ext cx="4992780" cy="333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Comment bien lire les avis clients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276" y="1004901"/>
            <a:ext cx="9266489" cy="154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400" i="1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Les avis clients sont précieux — mais certains sont faux. Voici comment les décrypter 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275" y="2419294"/>
            <a:ext cx="3923043" cy="22230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677877"/>
            <a:ext cx="170175" cy="1701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79161" y="1674410"/>
            <a:ext cx="2330528" cy="16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Cherchez sur des sites indépendants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279163" y="1920690"/>
            <a:ext cx="2521339" cy="30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Trustpilot, Google ou Avis Vérifiés — jamais uniquement sur le site marchand lui-même.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975" y="2900166"/>
            <a:ext cx="170175" cy="1701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96136" y="2896700"/>
            <a:ext cx="1731088" cy="16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Lisez aussi les avis négatifs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496138" y="3142979"/>
            <a:ext cx="2521339" cy="30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Une note parfaite de 5/5 avec seulement 3 avis est un signal d'alerte.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4013109"/>
            <a:ext cx="170175" cy="17017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79163" y="4009643"/>
            <a:ext cx="2090784" cy="16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Vérifiez les réponses du vendeur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5279163" y="4255923"/>
            <a:ext cx="2521339" cy="30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Une entreprise sérieuse répond aux critiques et propose des solutions.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973" y="4993539"/>
            <a:ext cx="170175" cy="17017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96136" y="4990072"/>
            <a:ext cx="2195662" cy="16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Méfiez-vous des avis trop élogieux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6496136" y="5236352"/>
            <a:ext cx="2521339" cy="30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Sans détail précis, sans date récente, ou tous postés le même jour en masse.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567276" y="6158590"/>
            <a:ext cx="8771202" cy="353659"/>
          </a:xfrm>
          <a:prstGeom prst="roundRect">
            <a:avLst>
              <a:gd name="adj" fmla="val 13474"/>
            </a:avLst>
          </a:prstGeom>
          <a:solidFill>
            <a:srgbClr val="E8BEF4">
              <a:alpha val="80000"/>
            </a:srgbClr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698" y="6304181"/>
            <a:ext cx="141798" cy="11342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35921" y="6258312"/>
            <a:ext cx="8784423" cy="154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Faites une recherche Google : "nom du site avis" ou "nom du site arnaque" — les forums regorgent d'informations utiles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67276" y="821313"/>
            <a:ext cx="3226624" cy="30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Payer en toute sécurité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275" y="2468308"/>
            <a:ext cx="3647345" cy="20668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24015" y="1565284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68194" y="1590837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29461" y="1601480"/>
            <a:ext cx="2251689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Carte bancaire ou PayPal uniquement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29459" y="1824784"/>
            <a:ext cx="2597358" cy="2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Jamais de virement bancaire ni de mandat cash — argent irrécupérable en cas de fraude.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612619" y="2696370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56798" y="2721924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18065" y="2732566"/>
            <a:ext cx="2358178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https + cadenas sur la page de paiement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918063" y="2955870"/>
            <a:ext cx="2597358" cy="2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Vérifiez-les à nouveau sur la page où vous saisissez vos coordonnées bancaires.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724015" y="3664866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68194" y="3690419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029459" y="3701062"/>
            <a:ext cx="1698843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N'enregistrez pas votre carte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029459" y="3924367"/>
            <a:ext cx="2597358" cy="2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Évitez de sauvegarder vos données bancaires sur un site inconnu.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612619" y="4470608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56798" y="4496161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918065" y="4506804"/>
            <a:ext cx="2175751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Validez avec le code SMS (3D Secure)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918063" y="4730108"/>
            <a:ext cx="2597358" cy="2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Ce système Verified by Visa ou Mastercard protège contre les achats frauduleux.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768196" y="5443305"/>
            <a:ext cx="237003" cy="237009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12375" y="5468858"/>
            <a:ext cx="148651" cy="185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073642" y="5479501"/>
            <a:ext cx="2455317" cy="15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Conservez la confirmation de commande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073640" y="5702804"/>
            <a:ext cx="2597358" cy="139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Email ou PDF — c'est votre preuve en cas de litige.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567276" y="6161981"/>
            <a:ext cx="8771202" cy="314802"/>
          </a:xfrm>
          <a:prstGeom prst="roundRect">
            <a:avLst>
              <a:gd name="adj" fmla="val 14055"/>
            </a:avLst>
          </a:prstGeom>
          <a:solidFill>
            <a:srgbClr val="B6FCB8">
              <a:alpha val="80000"/>
            </a:srgbClr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3708" y="6294270"/>
            <a:ext cx="131641" cy="1052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090630" y="6249852"/>
            <a:ext cx="8819005" cy="139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En cas de fraude, votre banque peut rembourser via le chargeback — appelez-la dans les 13 mois maximum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BF8DD251-1534-D9D1-0128-5A4878632B98}"/>
              </a:ext>
            </a:extLst>
          </p:cNvPr>
          <p:cNvSpPr/>
          <p:nvPr/>
        </p:nvSpPr>
        <p:spPr>
          <a:xfrm>
            <a:off x="567275" y="354594"/>
            <a:ext cx="1365041" cy="325266"/>
          </a:xfrm>
          <a:prstGeom prst="roundRect">
            <a:avLst>
              <a:gd name="adj" fmla="val 19910"/>
            </a:avLst>
          </a:prstGeom>
          <a:solidFill>
            <a:srgbClr val="F0D4F7"/>
          </a:solidFill>
          <a:ln/>
        </p:spPr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FEF3C764-973B-C7FC-02DE-8A6BA6A96C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312" y="404979"/>
            <a:ext cx="90690" cy="90692"/>
          </a:xfrm>
          <a:prstGeom prst="rect">
            <a:avLst/>
          </a:prstGeom>
        </p:spPr>
      </p:pic>
      <p:sp>
        <p:nvSpPr>
          <p:cNvPr id="32" name="Text 1">
            <a:extLst>
              <a:ext uri="{FF2B5EF4-FFF2-40B4-BE49-F238E27FC236}">
                <a16:creationId xmlns:a16="http://schemas.microsoft.com/office/drawing/2014/main" id="{4A99928E-FECC-F699-26D3-F011DB286C5A}"/>
              </a:ext>
            </a:extLst>
          </p:cNvPr>
          <p:cNvSpPr/>
          <p:nvPr/>
        </p:nvSpPr>
        <p:spPr>
          <a:xfrm>
            <a:off x="771308" y="414492"/>
            <a:ext cx="1039588" cy="12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ÉTAPE 3 SUR 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275" y="547019"/>
            <a:ext cx="6065339" cy="429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68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Quel moyen de paiement choisir ?</a:t>
            </a:r>
            <a:endParaRPr lang="en-US" sz="268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7276" y="2010011"/>
            <a:ext cx="8771202" cy="3529496"/>
          </a:xfrm>
          <a:prstGeom prst="roundRect">
            <a:avLst>
              <a:gd name="adj" fmla="val 173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2595" y="2015171"/>
            <a:ext cx="2628233" cy="392032"/>
          </a:xfrm>
          <a:prstGeom prst="rect">
            <a:avLst/>
          </a:prstGeom>
          <a:solidFill>
            <a:srgbClr val="BE49D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8424" y="2099090"/>
            <a:ext cx="2831862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Moyen de paiement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828" y="2015172"/>
            <a:ext cx="1314076" cy="392032"/>
          </a:xfrm>
          <a:prstGeom prst="rect">
            <a:avLst/>
          </a:prstGeom>
          <a:solidFill>
            <a:srgbClr val="BE49D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346660" y="2099090"/>
            <a:ext cx="1517705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Sécurité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14905" y="2015172"/>
            <a:ext cx="2628233" cy="392032"/>
          </a:xfrm>
          <a:prstGeom prst="rect">
            <a:avLst/>
          </a:prstGeom>
          <a:solidFill>
            <a:srgbClr val="BE49D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660734" y="2099090"/>
            <a:ext cx="2831862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Avantage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43139" y="2015172"/>
            <a:ext cx="2190181" cy="392032"/>
          </a:xfrm>
          <a:prstGeom prst="rect">
            <a:avLst/>
          </a:prstGeom>
          <a:solidFill>
            <a:srgbClr val="BE49D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288969" y="2099090"/>
            <a:ext cx="2393809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Point de vigilance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8424" y="2493702"/>
            <a:ext cx="2831862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💳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Carte bancaire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31389" y="2493704"/>
            <a:ext cx="1237686" cy="4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🟢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Recommandé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0734" y="2493704"/>
            <a:ext cx="2336575" cy="4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Remboursement possible (chargeback), 3D Secure activé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88967" y="2493704"/>
            <a:ext cx="1898522" cy="66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Saisissez vos données uniquement sur un site en https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8424" y="3331537"/>
            <a:ext cx="2831862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🅿️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PayPal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31389" y="3331539"/>
            <a:ext cx="1237686" cy="4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🟢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Recommandé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60734" y="3331539"/>
            <a:ext cx="2336575" cy="4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Ne communique pas votre CB au vendeur, protection acheteur incluse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88967" y="3331539"/>
            <a:ext cx="1898522" cy="4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Vérifiez l'adresse email PayPal — évitez les faux formulaires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8424" y="4206263"/>
            <a:ext cx="2831862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🏦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Virement bancaire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131390" y="4206263"/>
            <a:ext cx="1732976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🔴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À éviter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60734" y="4206263"/>
            <a:ext cx="2831862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138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—</a:t>
            </a:r>
            <a:endParaRPr lang="en-US" sz="11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88967" y="4206265"/>
            <a:ext cx="1898522" cy="66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Irrécupérable si arnaque — jamais de virement à un inconnu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8424" y="5044097"/>
            <a:ext cx="2831862" cy="52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💰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Mandat cash / </a:t>
            </a:r>
            <a:b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     carte prépayée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31390" y="5044097"/>
            <a:ext cx="1732976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🔴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Jamais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60734" y="5044097"/>
            <a:ext cx="2831862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138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—</a:t>
            </a:r>
            <a:endParaRPr lang="en-US" sz="11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288967" y="5044099"/>
            <a:ext cx="1898522" cy="66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Méthode préférée des arnaqueurs — argent perdu définitivement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276" y="415285"/>
            <a:ext cx="5755462" cy="429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68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Mes droits après l'achat en ligne</a:t>
            </a:r>
            <a:endParaRPr lang="en-US" sz="268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7275" y="1848861"/>
            <a:ext cx="2836215" cy="2284152"/>
          </a:xfrm>
          <a:prstGeom prst="roundRect">
            <a:avLst>
              <a:gd name="adj" fmla="val 2682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8264" y="1999853"/>
            <a:ext cx="1951243" cy="21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↩️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Droit de rétractation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104" y="2293132"/>
            <a:ext cx="2534238" cy="14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14 jours pour changer d'avis sans justification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Retour aux frais du vendeur si prévu dans les CGV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Remboursement sous 14 jours après retour du produit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534728" y="1848861"/>
            <a:ext cx="2836215" cy="2284152"/>
          </a:xfrm>
          <a:prstGeom prst="roundRect">
            <a:avLst>
              <a:gd name="adj" fmla="val 2682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717" y="1999855"/>
            <a:ext cx="1716094" cy="21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🛡️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Garantie légale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80557" y="2293133"/>
            <a:ext cx="2534238" cy="14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2 ans de garantie légale de conformité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Produit défectueux : réparation, remplacement ou remboursement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Valable même si la garantie commerciale est expirée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02182" y="1848861"/>
            <a:ext cx="2836215" cy="2284152"/>
          </a:xfrm>
          <a:prstGeom prst="roundRect">
            <a:avLst>
              <a:gd name="adj" fmla="val 2682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3170" y="1999855"/>
            <a:ext cx="2373576" cy="21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⚖️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Que faire en cas de litige ?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48010" y="2293134"/>
            <a:ext cx="2534238" cy="1688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8606" indent="-278606">
              <a:lnSpc>
                <a:spcPct val="127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Contacter le vendeur par écrit (email tracé)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Envoyer une lettre recommandée si pas de réponse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Saisir la Médiation de la consommation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Signaler sur signal.conso.gouv.fr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7276" y="5264005"/>
            <a:ext cx="8771202" cy="530690"/>
          </a:xfrm>
          <a:prstGeom prst="roundRect">
            <a:avLst>
              <a:gd name="adj" fmla="val 11544"/>
            </a:avLst>
          </a:prstGeom>
          <a:solidFill>
            <a:srgbClr val="FCF2B5">
              <a:alpha val="80000"/>
            </a:srgbClr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104" y="5463125"/>
            <a:ext cx="182267" cy="14583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41202" y="5418545"/>
            <a:ext cx="8646735" cy="221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Conservez TOUJOURS l'email de confirmation de commande : c'est votre preuve indispensable en cas de litige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276" y="610091"/>
            <a:ext cx="7963054" cy="35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Vous pensez être victime d'une arnaque ? Agissez vite 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76" y="1693354"/>
            <a:ext cx="8771202" cy="729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2129" y="1944068"/>
            <a:ext cx="182267" cy="2278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60024" y="1830319"/>
            <a:ext cx="1490619" cy="17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Appelez votre banque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60024" y="2063702"/>
            <a:ext cx="8041491" cy="17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Numéro au dos de votre carte — bloquez la carte si nécessaire.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Urgent.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76" y="2513776"/>
            <a:ext cx="8771202" cy="7293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2129" y="2764489"/>
            <a:ext cx="182267" cy="2278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60026" y="2650740"/>
            <a:ext cx="1520929" cy="17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Conservez les preuves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60024" y="2884123"/>
            <a:ext cx="8041491" cy="17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Captures d'écran, emails, SMS, numéro de commande — ne supprimez rien.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76" y="3334197"/>
            <a:ext cx="8771202" cy="7293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2129" y="3584910"/>
            <a:ext cx="182267" cy="2278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60026" y="3471161"/>
            <a:ext cx="1430079" cy="17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Signalez en ligne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160024" y="3704545"/>
            <a:ext cx="8041491" cy="17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signal.conso.gouv.fr (DGCCRF) ou cybermalveillance.gouv.fr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76" y="4154618"/>
            <a:ext cx="8771202" cy="7293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2129" y="4405331"/>
            <a:ext cx="182267" cy="2278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160026" y="4291583"/>
            <a:ext cx="1430079" cy="17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Portez plainte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160024" y="4524966"/>
            <a:ext cx="8041491" cy="17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Au commissariat ou en ligne sur masecurite.fr si vous avez perdu de l'argent.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76" y="4975039"/>
            <a:ext cx="8771202" cy="72932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2129" y="5225752"/>
            <a:ext cx="182267" cy="2278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1160024" y="5112004"/>
            <a:ext cx="1619036" cy="17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Appelez le </a:t>
            </a:r>
            <a:r>
              <a:rPr lang="en-US" sz="1400" b="1" dirty="0">
                <a:solidFill>
                  <a:srgbClr val="BE49DF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0 805 805 817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1160024" y="5345387"/>
            <a:ext cx="8041491" cy="17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Assistance Cybermalveillance, gratuite, disponible 24h/24.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0628" y="1968091"/>
            <a:ext cx="4421232" cy="2645066"/>
          </a:xfrm>
          <a:prstGeom prst="roundRect">
            <a:avLst>
              <a:gd name="adj" fmla="val 4412"/>
            </a:avLst>
          </a:prstGeom>
          <a:solidFill>
            <a:srgbClr val="BE49DF">
              <a:alpha val="8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67276" y="468918"/>
            <a:ext cx="5843088" cy="476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Points de vigilance essentiels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61" y="2130127"/>
            <a:ext cx="2513843" cy="2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✕ À éviter absolument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023" y="2530060"/>
            <a:ext cx="1967930" cy="819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5967" y="2550697"/>
            <a:ext cx="1743987" cy="77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Cliquer sur un lien dans un SMS ou email non sollicité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898" y="2530060"/>
            <a:ext cx="1967930" cy="819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65843" y="2550697"/>
            <a:ext cx="1743987" cy="77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Payer par virement, mandat cash ou carte prépayée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023" y="3632230"/>
            <a:ext cx="1967930" cy="8192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5967" y="3652868"/>
            <a:ext cx="1743987" cy="77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Communiquer son code PIN ou son CVV au téléphone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898" y="3632230"/>
            <a:ext cx="1967930" cy="8192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65843" y="3652868"/>
            <a:ext cx="1743987" cy="77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Commander sur un site sans mentions légales lisibles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5155701" y="2130129"/>
            <a:ext cx="2793571" cy="2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✓ Bons réflexes à adopter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35062" y="2530060"/>
            <a:ext cx="2013315" cy="81929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59008" y="2550697"/>
            <a:ext cx="1789371" cy="77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Taper l'adresse du site directement dans le navigateur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0321" y="2530060"/>
            <a:ext cx="2013315" cy="81929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554266" y="2550697"/>
            <a:ext cx="1789371" cy="77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Vérifier ses relevés bancaires au moins une fois par mois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35062" y="3632230"/>
            <a:ext cx="2013315" cy="81929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359008" y="3652868"/>
            <a:ext cx="1789371" cy="77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Activer les alertes SMS de votre banque pour chaque transaction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0321" y="3632230"/>
            <a:ext cx="2013315" cy="81929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554266" y="3652868"/>
            <a:ext cx="1789371" cy="77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Contacter sa banque immédiatement en cas de doute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567276" y="5565678"/>
            <a:ext cx="8771202" cy="631943"/>
          </a:xfrm>
          <a:prstGeom prst="roundRect">
            <a:avLst>
              <a:gd name="adj" fmla="val 10772"/>
            </a:avLst>
          </a:prstGeom>
          <a:solidFill>
            <a:srgbClr val="FFB3B4">
              <a:alpha val="80000"/>
            </a:srgbClr>
          </a:solidFill>
          <a:ln/>
        </p:spPr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308" y="5801801"/>
            <a:ext cx="202581" cy="162037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93924" y="5751982"/>
            <a:ext cx="8577810" cy="25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En cas de doute, ne commandez pas ! Signalez : cybermalveillance.gouv.fr ·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0 805 805 817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(gratuit)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275" y="448656"/>
            <a:ext cx="4601483" cy="38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97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En résumé — Les étapes clés</a:t>
            </a:r>
            <a:endParaRPr lang="en-US" sz="239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76" y="1773889"/>
            <a:ext cx="324146" cy="324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7275" y="2227672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🔒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Vérifier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7276" y="2480562"/>
            <a:ext cx="4320788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https + cadenas avant toute saisie de données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7691" y="1773891"/>
            <a:ext cx="324146" cy="3241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17689" y="2227672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📋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Contrôler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017691" y="2480563"/>
            <a:ext cx="4320788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Mentions légales, SIRET et coordonnées du vendeur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7276" y="2874610"/>
            <a:ext cx="324146" cy="3241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7275" y="3328392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Lire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67276" y="3581282"/>
            <a:ext cx="4320788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Les avis clients sur des plateformes indépendantes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7691" y="2874611"/>
            <a:ext cx="324146" cy="3241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17689" y="3328392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💳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Payer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017691" y="3581284"/>
            <a:ext cx="4320788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Par carte bancaire ou PayPal — jamais par virement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7276" y="3975330"/>
            <a:ext cx="324146" cy="3241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7275" y="4429113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Conserver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67276" y="4682003"/>
            <a:ext cx="4320788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La confirmation de commande comme preuve en cas de litige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17691" y="3975331"/>
            <a:ext cx="324146" cy="3241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17689" y="4429113"/>
            <a:ext cx="1525363" cy="19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🚨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Source Serif 4 SemiBold" pitchFamily="34" charset="-122"/>
                <a:cs typeface="Arial" panose="020B0604020202020204" pitchFamily="34" charset="0"/>
              </a:rPr>
              <a:t> Signaler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017691" y="4682005"/>
            <a:ext cx="4320788" cy="18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Tout problème sur signal.conso.gouv.fr ou cybermalveillance.gouv.fr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9CB77A94-7DF3-FC71-00EF-6F4CA0E6A97C}"/>
              </a:ext>
            </a:extLst>
          </p:cNvPr>
          <p:cNvSpPr/>
          <p:nvPr/>
        </p:nvSpPr>
        <p:spPr>
          <a:xfrm>
            <a:off x="918233" y="1257886"/>
            <a:ext cx="8002795" cy="681337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AC157D9-3A19-ECDB-B7A5-D88FBAD673CB}"/>
              </a:ext>
            </a:extLst>
          </p:cNvPr>
          <p:cNvSpPr/>
          <p:nvPr/>
        </p:nvSpPr>
        <p:spPr>
          <a:xfrm>
            <a:off x="1539171" y="514782"/>
            <a:ext cx="8333873" cy="380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Offre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départementale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d’Inclusion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Numérique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DB8C3AF-21DA-3E7F-85DE-A5B17B605D5C}"/>
              </a:ext>
            </a:extLst>
          </p:cNvPr>
          <p:cNvSpPr/>
          <p:nvPr/>
        </p:nvSpPr>
        <p:spPr>
          <a:xfrm>
            <a:off x="2069873" y="1282825"/>
            <a:ext cx="5906208" cy="565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Voici les 5 offres et services dispensés par l’équipe départementale</a:t>
            </a:r>
          </a:p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Conseiller.es numériques 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260A1A2-D1B0-2D3B-E0DC-9A25833FFCFA}"/>
              </a:ext>
            </a:extLst>
          </p:cNvPr>
          <p:cNvSpPr/>
          <p:nvPr/>
        </p:nvSpPr>
        <p:spPr>
          <a:xfrm>
            <a:off x="918233" y="2349802"/>
            <a:ext cx="2593972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C475F27-764F-16D2-0D33-D5C4AFE32478}"/>
              </a:ext>
            </a:extLst>
          </p:cNvPr>
          <p:cNvSpPr/>
          <p:nvPr/>
        </p:nvSpPr>
        <p:spPr>
          <a:xfrm>
            <a:off x="3622563" y="2349801"/>
            <a:ext cx="2594053" cy="1994477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A9D002BC-AE7E-1D8D-A87C-F8717A817DCC}"/>
              </a:ext>
            </a:extLst>
          </p:cNvPr>
          <p:cNvSpPr/>
          <p:nvPr/>
        </p:nvSpPr>
        <p:spPr>
          <a:xfrm>
            <a:off x="6326975" y="2349802"/>
            <a:ext cx="2594053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990A04FB-4F99-8050-7135-AF6CEDC13592}"/>
              </a:ext>
            </a:extLst>
          </p:cNvPr>
          <p:cNvSpPr/>
          <p:nvPr/>
        </p:nvSpPr>
        <p:spPr>
          <a:xfrm>
            <a:off x="6453861" y="2476692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 Pass Numérique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DC2DFB0F-D613-249F-0635-FB593428EB5D}"/>
              </a:ext>
            </a:extLst>
          </p:cNvPr>
          <p:cNvSpPr/>
          <p:nvPr/>
        </p:nvSpPr>
        <p:spPr>
          <a:xfrm>
            <a:off x="6453862" y="2738287"/>
            <a:ext cx="2340282" cy="109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Dispositif qui finance des formations aux compétences numériques de par des formateurs agréés.</a:t>
            </a: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50A29B0A-AABA-52FF-7EBB-489F9F91D376}"/>
              </a:ext>
            </a:extLst>
          </p:cNvPr>
          <p:cNvSpPr/>
          <p:nvPr/>
        </p:nvSpPr>
        <p:spPr>
          <a:xfrm>
            <a:off x="918233" y="4533301"/>
            <a:ext cx="3946178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13A58588-036D-8B38-DBD5-B5892A6B9DA5}"/>
              </a:ext>
            </a:extLst>
          </p:cNvPr>
          <p:cNvSpPr/>
          <p:nvPr/>
        </p:nvSpPr>
        <p:spPr>
          <a:xfrm>
            <a:off x="1045117" y="4660189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Ordi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Solidaire</a:t>
            </a:r>
            <a:endParaRPr lang="en-US" sz="1200" dirty="0">
              <a:latin typeface="Arial" panose="020B0604020202020204" pitchFamily="34" charset="0"/>
              <a:ea typeface="Inter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A326D585-686F-648E-5050-D9DB0EEA2091}"/>
              </a:ext>
            </a:extLst>
          </p:cNvPr>
          <p:cNvSpPr/>
          <p:nvPr/>
        </p:nvSpPr>
        <p:spPr>
          <a:xfrm>
            <a:off x="1045117" y="4921786"/>
            <a:ext cx="369240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Reconditionnement de matériel informatique revendu à prix solidaires, dans le cadre d'un chantier d'insertion.</a:t>
            </a: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F4598741-90F8-C89C-4D76-1E9FA5819EED}"/>
              </a:ext>
            </a:extLst>
          </p:cNvPr>
          <p:cNvSpPr/>
          <p:nvPr/>
        </p:nvSpPr>
        <p:spPr>
          <a:xfrm>
            <a:off x="4974769" y="4533301"/>
            <a:ext cx="3946259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97F297DE-34E5-2FDF-C535-6A3A9C9741CC}"/>
              </a:ext>
            </a:extLst>
          </p:cNvPr>
          <p:cNvSpPr/>
          <p:nvPr/>
        </p:nvSpPr>
        <p:spPr>
          <a:xfrm>
            <a:off x="5101655" y="4921786"/>
            <a:ext cx="369248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Après une formation, les parents des collégiens reçoivent gratuitement un ordinateur reconditionné, l'ensemble du dispositif étant intégralement pris en charge. 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53B688D-6084-49A8-B15D-9F7EA14527DF}"/>
              </a:ext>
            </a:extLst>
          </p:cNvPr>
          <p:cNvSpPr/>
          <p:nvPr/>
        </p:nvSpPr>
        <p:spPr>
          <a:xfrm>
            <a:off x="1230851" y="2462745"/>
            <a:ext cx="2222426" cy="3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Accompagnement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individuel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0CAF7F43-80C6-5A36-FA1E-50129DD6DACD}"/>
              </a:ext>
            </a:extLst>
          </p:cNvPr>
          <p:cNvSpPr/>
          <p:nvPr/>
        </p:nvSpPr>
        <p:spPr>
          <a:xfrm>
            <a:off x="1230851" y="2736696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rencontrez un problème spécifique ? Nos conseiller.es vous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reçoivent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sur rendez-vous pour un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personnalisé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CMS.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5D72476-F05D-E4C1-FB0E-EEE85FA13FD5}"/>
              </a:ext>
            </a:extLst>
          </p:cNvPr>
          <p:cNvSpPr/>
          <p:nvPr/>
        </p:nvSpPr>
        <p:spPr>
          <a:xfrm>
            <a:off x="3878016" y="2493018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Ateliers 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collectifs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D9DA838-232D-4F28-3FFF-CCA09363081C}"/>
              </a:ext>
            </a:extLst>
          </p:cNvPr>
          <p:cNvSpPr/>
          <p:nvPr/>
        </p:nvSpPr>
        <p:spPr>
          <a:xfrm>
            <a:off x="3878016" y="2755097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sessions en présentiel animées par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conseiller.es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numériques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dans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plusieurs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communes du Lot-et-Garonne, pour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être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au plus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proche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chez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467200C3-BF38-0A90-E962-F804B5B16380}"/>
              </a:ext>
            </a:extLst>
          </p:cNvPr>
          <p:cNvSpPr/>
          <p:nvPr/>
        </p:nvSpPr>
        <p:spPr>
          <a:xfrm>
            <a:off x="5098155" y="4654769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Parents-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Connectés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33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F7FF226-6B0D-D909-BED7-B05E79DDE29A}"/>
              </a:ext>
            </a:extLst>
          </p:cNvPr>
          <p:cNvSpPr/>
          <p:nvPr/>
        </p:nvSpPr>
        <p:spPr>
          <a:xfrm>
            <a:off x="3904785" y="1010653"/>
            <a:ext cx="5527971" cy="1016882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3A4E2D7-A227-39A1-6F0E-45BE33E0541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137" y="1010653"/>
            <a:ext cx="3112090" cy="466825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93F43D8-7C9A-023A-9484-8E83027FE59C}"/>
              </a:ext>
            </a:extLst>
          </p:cNvPr>
          <p:cNvSpPr/>
          <p:nvPr/>
        </p:nvSpPr>
        <p:spPr>
          <a:xfrm>
            <a:off x="3891159" y="1081161"/>
            <a:ext cx="5527971" cy="830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Besoin d'aide ? Nous sommes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là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!</a:t>
            </a:r>
          </a:p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Pour nous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…</a:t>
            </a:r>
            <a:endParaRPr lang="en-US" sz="24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47AE6BB-4490-3B45-CABF-3BE845925B78}"/>
              </a:ext>
            </a:extLst>
          </p:cNvPr>
          <p:cNvSpPr/>
          <p:nvPr/>
        </p:nvSpPr>
        <p:spPr>
          <a:xfrm>
            <a:off x="3891159" y="2339485"/>
            <a:ext cx="25010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2924EF2-9212-A028-BD89-685AD54A3E05}"/>
              </a:ext>
            </a:extLst>
          </p:cNvPr>
          <p:cNvSpPr/>
          <p:nvPr/>
        </p:nvSpPr>
        <p:spPr>
          <a:xfrm>
            <a:off x="6506332" y="2339485"/>
            <a:ext cx="29264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F6C080E5-AC7D-9B6F-3AFA-680D866CC5A3}"/>
              </a:ext>
            </a:extLst>
          </p:cNvPr>
          <p:cNvSpPr/>
          <p:nvPr/>
        </p:nvSpPr>
        <p:spPr>
          <a:xfrm>
            <a:off x="3891158" y="3949855"/>
            <a:ext cx="5541599" cy="921674"/>
          </a:xfrm>
          <a:prstGeom prst="roundRect">
            <a:avLst>
              <a:gd name="adj" fmla="val 5645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FD7BA050-EEAF-094C-59CA-7374748014CD}"/>
              </a:ext>
            </a:extLst>
          </p:cNvPr>
          <p:cNvSpPr/>
          <p:nvPr/>
        </p:nvSpPr>
        <p:spPr>
          <a:xfrm>
            <a:off x="5312899" y="4112245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Email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C03DF5D7-8274-2C0B-9CAA-2612D6BCBEB7}"/>
              </a:ext>
            </a:extLst>
          </p:cNvPr>
          <p:cNvSpPr/>
          <p:nvPr/>
        </p:nvSpPr>
        <p:spPr>
          <a:xfrm>
            <a:off x="5312899" y="4373841"/>
            <a:ext cx="24206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b="1" u="sng" dirty="0">
                <a:solidFill>
                  <a:srgbClr val="4950BC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conseiller-numerique@lotetgaronne.fr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4">
            <a:extLst>
              <a:ext uri="{FF2B5EF4-FFF2-40B4-BE49-F238E27FC236}">
                <a16:creationId xmlns:a16="http://schemas.microsoft.com/office/drawing/2014/main" id="{8B8878B8-F75C-E14D-D4AC-19DF8346745E}"/>
              </a:ext>
            </a:extLst>
          </p:cNvPr>
          <p:cNvSpPr/>
          <p:nvPr/>
        </p:nvSpPr>
        <p:spPr>
          <a:xfrm>
            <a:off x="4417484" y="2852601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📞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Téléphone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53DD4B51-E79F-4EAE-D87F-AB45A4A027EB}"/>
              </a:ext>
            </a:extLst>
          </p:cNvPr>
          <p:cNvSpPr/>
          <p:nvPr/>
        </p:nvSpPr>
        <p:spPr>
          <a:xfrm>
            <a:off x="4592053" y="3114197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05 53 47 31 32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28">
            <a:extLst>
              <a:ext uri="{FF2B5EF4-FFF2-40B4-BE49-F238E27FC236}">
                <a16:creationId xmlns:a16="http://schemas.microsoft.com/office/drawing/2014/main" id="{C1CE93BF-9FB6-40CF-C657-D81DECF3FC4D}"/>
              </a:ext>
            </a:extLst>
          </p:cNvPr>
          <p:cNvSpPr/>
          <p:nvPr/>
        </p:nvSpPr>
        <p:spPr>
          <a:xfrm>
            <a:off x="6673940" y="2823660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Site web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29">
            <a:extLst>
              <a:ext uri="{FF2B5EF4-FFF2-40B4-BE49-F238E27FC236}">
                <a16:creationId xmlns:a16="http://schemas.microsoft.com/office/drawing/2014/main" id="{E490BF1C-CD76-1214-6CC0-8BB9B3C914B2}"/>
              </a:ext>
            </a:extLst>
          </p:cNvPr>
          <p:cNvSpPr/>
          <p:nvPr/>
        </p:nvSpPr>
        <p:spPr>
          <a:xfrm>
            <a:off x="6673941" y="3085256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lotetgaronne.fr/inclusion-numerique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8425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</TotalTime>
  <Words>1630</Words>
  <Application>Microsoft Office PowerPoint</Application>
  <PresentationFormat>Format A4 (210 x 297 mm)</PresentationFormat>
  <Paragraphs>233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Calibri Light</vt:lpstr>
      <vt:lpstr>Arial</vt:lpstr>
      <vt:lpstr>Calibri</vt:lpstr>
      <vt:lpstr>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Aswad Michel</cp:lastModifiedBy>
  <cp:revision>13</cp:revision>
  <dcterms:created xsi:type="dcterms:W3CDTF">2026-06-21T15:46:15Z</dcterms:created>
  <dcterms:modified xsi:type="dcterms:W3CDTF">2026-07-02T13:27:29Z</dcterms:modified>
</cp:coreProperties>
</file>