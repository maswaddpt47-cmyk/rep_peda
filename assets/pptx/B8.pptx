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906000" cy="6858000" type="A4"/>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13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1229833"/>
      </p:ext>
    </p:extLst>
  </p:cSld>
  <p:clrMap bg1="lt1" tx1="dk1" bg2="lt2" tx2="dk2" accent1="accent1" accent2="accent2" accent3="accent3" accent4="accent4" accent5="accent5" accent6="accent6" hlink="hlink" folHlink="folHlink"/>
  <p:notesStyle>
    <a:lvl1pPr marL="0" algn="l" defTabSz="1072866" rtl="0" eaLnBrk="1" latinLnBrk="0" hangingPunct="1">
      <a:defRPr sz="1408" kern="1200">
        <a:solidFill>
          <a:schemeClr val="tx1"/>
        </a:solidFill>
        <a:latin typeface="+mn-lt"/>
        <a:ea typeface="+mn-ea"/>
        <a:cs typeface="+mn-cs"/>
      </a:defRPr>
    </a:lvl1pPr>
    <a:lvl2pPr marL="536433" algn="l" defTabSz="1072866" rtl="0" eaLnBrk="1" latinLnBrk="0" hangingPunct="1">
      <a:defRPr sz="1408" kern="1200">
        <a:solidFill>
          <a:schemeClr val="tx1"/>
        </a:solidFill>
        <a:latin typeface="+mn-lt"/>
        <a:ea typeface="+mn-ea"/>
        <a:cs typeface="+mn-cs"/>
      </a:defRPr>
    </a:lvl2pPr>
    <a:lvl3pPr marL="1072866" algn="l" defTabSz="1072866" rtl="0" eaLnBrk="1" latinLnBrk="0" hangingPunct="1">
      <a:defRPr sz="1408" kern="1200">
        <a:solidFill>
          <a:schemeClr val="tx1"/>
        </a:solidFill>
        <a:latin typeface="+mn-lt"/>
        <a:ea typeface="+mn-ea"/>
        <a:cs typeface="+mn-cs"/>
      </a:defRPr>
    </a:lvl3pPr>
    <a:lvl4pPr marL="1609298" algn="l" defTabSz="1072866" rtl="0" eaLnBrk="1" latinLnBrk="0" hangingPunct="1">
      <a:defRPr sz="1408" kern="1200">
        <a:solidFill>
          <a:schemeClr val="tx1"/>
        </a:solidFill>
        <a:latin typeface="+mn-lt"/>
        <a:ea typeface="+mn-ea"/>
        <a:cs typeface="+mn-cs"/>
      </a:defRPr>
    </a:lvl4pPr>
    <a:lvl5pPr marL="2145731" algn="l" defTabSz="1072866" rtl="0" eaLnBrk="1" latinLnBrk="0" hangingPunct="1">
      <a:defRPr sz="1408" kern="1200">
        <a:solidFill>
          <a:schemeClr val="tx1"/>
        </a:solidFill>
        <a:latin typeface="+mn-lt"/>
        <a:ea typeface="+mn-ea"/>
        <a:cs typeface="+mn-cs"/>
      </a:defRPr>
    </a:lvl5pPr>
    <a:lvl6pPr marL="2682164" algn="l" defTabSz="1072866" rtl="0" eaLnBrk="1" latinLnBrk="0" hangingPunct="1">
      <a:defRPr sz="1408" kern="1200">
        <a:solidFill>
          <a:schemeClr val="tx1"/>
        </a:solidFill>
        <a:latin typeface="+mn-lt"/>
        <a:ea typeface="+mn-ea"/>
        <a:cs typeface="+mn-cs"/>
      </a:defRPr>
    </a:lvl6pPr>
    <a:lvl7pPr marL="3218597" algn="l" defTabSz="1072866" rtl="0" eaLnBrk="1" latinLnBrk="0" hangingPunct="1">
      <a:defRPr sz="1408" kern="1200">
        <a:solidFill>
          <a:schemeClr val="tx1"/>
        </a:solidFill>
        <a:latin typeface="+mn-lt"/>
        <a:ea typeface="+mn-ea"/>
        <a:cs typeface="+mn-cs"/>
      </a:defRPr>
    </a:lvl7pPr>
    <a:lvl8pPr marL="3755029" algn="l" defTabSz="1072866" rtl="0" eaLnBrk="1" latinLnBrk="0" hangingPunct="1">
      <a:defRPr sz="1408" kern="1200">
        <a:solidFill>
          <a:schemeClr val="tx1"/>
        </a:solidFill>
        <a:latin typeface="+mn-lt"/>
        <a:ea typeface="+mn-ea"/>
        <a:cs typeface="+mn-cs"/>
      </a:defRPr>
    </a:lvl8pPr>
    <a:lvl9pPr marL="4291462" algn="l" defTabSz="1072866" rtl="0" eaLnBrk="1" latinLnBrk="0" hangingPunct="1">
      <a:defRPr sz="140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92510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23515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00706140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427479740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2371928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72865315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2329" y="2505075"/>
            <a:ext cx="4190702"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14913" y="2505075"/>
            <a:ext cx="4211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7663763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81833774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558120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dirty="0"/>
              <a:t>Modifiez le style du titre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7050302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dirty="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1820824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37349873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8351622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702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7/2/2026</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a:t>
            </a:fld>
            <a:endParaRPr lang="en-US" dirty="0"/>
          </a:p>
        </p:txBody>
      </p:sp>
    </p:spTree>
    <p:extLst>
      <p:ext uri="{BB962C8B-B14F-4D97-AF65-F5344CB8AC3E}">
        <p14:creationId xmlns:p14="http://schemas.microsoft.com/office/powerpoint/2010/main" val="117433484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mailto:conseiller-numerique@lotetgaronne.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4891" y="642938"/>
            <a:ext cx="3714750" cy="5572125"/>
          </a:xfrm>
          <a:prstGeom prst="rect">
            <a:avLst/>
          </a:prstGeom>
        </p:spPr>
      </p:pic>
      <p:sp>
        <p:nvSpPr>
          <p:cNvPr id="3" name="Text 0"/>
          <p:cNvSpPr/>
          <p:nvPr/>
        </p:nvSpPr>
        <p:spPr>
          <a:xfrm>
            <a:off x="3743053" y="1511952"/>
            <a:ext cx="5816237" cy="850007"/>
          </a:xfrm>
          <a:prstGeom prst="rect">
            <a:avLst/>
          </a:prstGeom>
          <a:noFill/>
          <a:ln/>
        </p:spPr>
        <p:txBody>
          <a:bodyPr wrap="square" lIns="0" tIns="0" rIns="0" bIns="0" rtlCol="0" anchor="t">
            <a:normAutofit/>
          </a:bodyPr>
          <a:lstStyle/>
          <a:p>
            <a:pPr>
              <a:lnSpc>
                <a:spcPct val="104000"/>
              </a:lnSpc>
            </a:pPr>
            <a:r>
              <a:rPr lang="en-US" sz="2383" b="1" dirty="0">
                <a:solidFill>
                  <a:srgbClr val="000000"/>
                </a:solidFill>
                <a:latin typeface="Arial" panose="020B0604020202020204" pitchFamily="34" charset="0"/>
                <a:ea typeface="Twemoji Mozilla" pitchFamily="34" charset="-122"/>
                <a:cs typeface="Arial" panose="020B0604020202020204" pitchFamily="34" charset="0"/>
              </a:rPr>
              <a:t>💰</a:t>
            </a:r>
            <a:r>
              <a:rPr lang="en-US" sz="2383" b="1" dirty="0">
                <a:solidFill>
                  <a:srgbClr val="000000"/>
                </a:solidFill>
                <a:latin typeface="Arial" panose="020B0604020202020204" pitchFamily="34" charset="0"/>
                <a:ea typeface="Inter Bold" pitchFamily="34" charset="-122"/>
                <a:cs typeface="Arial" panose="020B0604020202020204" pitchFamily="34" charset="0"/>
              </a:rPr>
              <a:t> Gérer son budget à l'ère numérique</a:t>
            </a:r>
            <a:endParaRPr lang="en-US" sz="2383" dirty="0">
              <a:latin typeface="Arial" panose="020B0604020202020204" pitchFamily="34" charset="0"/>
              <a:cs typeface="Arial" panose="020B0604020202020204" pitchFamily="34" charset="0"/>
            </a:endParaRPr>
          </a:p>
        </p:txBody>
      </p:sp>
      <p:sp>
        <p:nvSpPr>
          <p:cNvPr id="4" name="Text 1"/>
          <p:cNvSpPr/>
          <p:nvPr/>
        </p:nvSpPr>
        <p:spPr>
          <a:xfrm>
            <a:off x="4063043" y="2353995"/>
            <a:ext cx="5305498" cy="2142047"/>
          </a:xfrm>
          <a:prstGeom prst="rect">
            <a:avLst/>
          </a:prstGeom>
          <a:noFill/>
          <a:ln/>
        </p:spPr>
        <p:txBody>
          <a:bodyPr wrap="square" lIns="0" tIns="0" rIns="0" bIns="0" rtlCol="0" anchor="t">
            <a:noAutofit/>
          </a:bodyPr>
          <a:lstStyle/>
          <a:p>
            <a:pPr>
              <a:lnSpc>
                <a:spcPct val="133000"/>
              </a:lnSpc>
            </a:pPr>
            <a:r>
              <a:rPr lang="en-US" sz="1400" dirty="0" err="1">
                <a:solidFill>
                  <a:srgbClr val="272525"/>
                </a:solidFill>
                <a:latin typeface="Arial" panose="020B0604020202020204" pitchFamily="34" charset="0"/>
                <a:ea typeface="Inter" pitchFamily="34" charset="-122"/>
                <a:cs typeface="Arial" panose="020B0604020202020204" pitchFamily="34" charset="0"/>
              </a:rPr>
              <a:t>Bienvenue</a:t>
            </a:r>
            <a:r>
              <a:rPr lang="en-US" sz="1400" dirty="0">
                <a:solidFill>
                  <a:srgbClr val="272525"/>
                </a:solidFill>
                <a:latin typeface="Arial" panose="020B0604020202020204" pitchFamily="34" charset="0"/>
                <a:ea typeface="Inter" pitchFamily="34" charset="-122"/>
                <a:cs typeface="Arial" panose="020B0604020202020204" pitchFamily="34" charset="0"/>
              </a:rPr>
              <a:t> dans </a:t>
            </a:r>
            <a:r>
              <a:rPr lang="en-US" sz="1400" dirty="0" err="1">
                <a:solidFill>
                  <a:srgbClr val="272525"/>
                </a:solidFill>
                <a:latin typeface="Arial" panose="020B0604020202020204" pitchFamily="34" charset="0"/>
                <a:ea typeface="Inter" pitchFamily="34" charset="-122"/>
                <a:cs typeface="Arial" panose="020B0604020202020204" pitchFamily="34" charset="0"/>
              </a:rPr>
              <a:t>cet</a:t>
            </a:r>
            <a:r>
              <a:rPr lang="en-US" sz="1400" dirty="0">
                <a:solidFill>
                  <a:srgbClr val="272525"/>
                </a:solidFill>
                <a:latin typeface="Arial" panose="020B0604020202020204" pitchFamily="34" charset="0"/>
                <a:ea typeface="Inter" pitchFamily="34" charset="-122"/>
                <a:cs typeface="Arial" panose="020B0604020202020204" pitchFamily="34" charset="0"/>
              </a:rPr>
              <a:t> atelier pratique ! </a:t>
            </a:r>
            <a:r>
              <a:rPr lang="en-US" sz="1400" dirty="0" err="1">
                <a:solidFill>
                  <a:srgbClr val="272525"/>
                </a:solidFill>
                <a:latin typeface="Arial" panose="020B0604020202020204" pitchFamily="34" charset="0"/>
                <a:ea typeface="Inter" pitchFamily="34" charset="-122"/>
                <a:cs typeface="Arial" panose="020B0604020202020204" pitchFamily="34" charset="0"/>
              </a:rPr>
              <a:t>Aujourd'hui</a:t>
            </a:r>
            <a:r>
              <a:rPr lang="en-US" sz="1400" dirty="0">
                <a:solidFill>
                  <a:srgbClr val="272525"/>
                </a:solidFill>
                <a:latin typeface="Arial" panose="020B0604020202020204" pitchFamily="34" charset="0"/>
                <a:ea typeface="Inter" pitchFamily="34" charset="-122"/>
                <a:cs typeface="Arial" panose="020B0604020202020204" pitchFamily="34" charset="0"/>
              </a:rPr>
              <a:t>, nous </a:t>
            </a:r>
            <a:r>
              <a:rPr lang="en-US" sz="1400" dirty="0" err="1">
                <a:solidFill>
                  <a:srgbClr val="272525"/>
                </a:solidFill>
                <a:latin typeface="Arial" panose="020B0604020202020204" pitchFamily="34" charset="0"/>
                <a:ea typeface="Inter" pitchFamily="34" charset="-122"/>
                <a:cs typeface="Arial" panose="020B0604020202020204" pitchFamily="34" charset="0"/>
              </a:rPr>
              <a:t>explorons</a:t>
            </a:r>
            <a:r>
              <a:rPr lang="en-US" sz="1400" dirty="0">
                <a:solidFill>
                  <a:srgbClr val="272525"/>
                </a:solidFill>
                <a:latin typeface="Arial" panose="020B0604020202020204" pitchFamily="34" charset="0"/>
                <a:ea typeface="Inter" pitchFamily="34" charset="-122"/>
                <a:cs typeface="Arial" panose="020B0604020202020204" pitchFamily="34" charset="0"/>
              </a:rPr>
              <a:t> ensemble les </a:t>
            </a:r>
            <a:r>
              <a:rPr lang="en-US" sz="1400" dirty="0" err="1">
                <a:solidFill>
                  <a:srgbClr val="272525"/>
                </a:solidFill>
                <a:latin typeface="Arial" panose="020B0604020202020204" pitchFamily="34" charset="0"/>
                <a:ea typeface="Inter" pitchFamily="34" charset="-122"/>
                <a:cs typeface="Arial" panose="020B0604020202020204" pitchFamily="34" charset="0"/>
              </a:rPr>
              <a:t>outils</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numériques</a:t>
            </a:r>
            <a:r>
              <a:rPr lang="en-US" sz="1400" dirty="0">
                <a:solidFill>
                  <a:srgbClr val="272525"/>
                </a:solidFill>
                <a:latin typeface="Arial" panose="020B0604020202020204" pitchFamily="34" charset="0"/>
                <a:ea typeface="Inter" pitchFamily="34" charset="-122"/>
                <a:cs typeface="Arial" panose="020B0604020202020204" pitchFamily="34" charset="0"/>
              </a:rPr>
              <a:t> qui </a:t>
            </a:r>
            <a:r>
              <a:rPr lang="en-US" sz="1400" dirty="0" err="1">
                <a:solidFill>
                  <a:srgbClr val="272525"/>
                </a:solidFill>
                <a:latin typeface="Arial" panose="020B0604020202020204" pitchFamily="34" charset="0"/>
                <a:ea typeface="Inter" pitchFamily="34" charset="-122"/>
                <a:cs typeface="Arial" panose="020B0604020202020204" pitchFamily="34" charset="0"/>
              </a:rPr>
              <a:t>rendent</a:t>
            </a:r>
            <a:r>
              <a:rPr lang="en-US" sz="1400" dirty="0">
                <a:solidFill>
                  <a:srgbClr val="272525"/>
                </a:solidFill>
                <a:latin typeface="Arial" panose="020B0604020202020204" pitchFamily="34" charset="0"/>
                <a:ea typeface="Inter" pitchFamily="34" charset="-122"/>
                <a:cs typeface="Arial" panose="020B0604020202020204" pitchFamily="34" charset="0"/>
              </a:rPr>
              <a:t> la gestion de budget simple, accessible et </a:t>
            </a:r>
            <a:r>
              <a:rPr lang="en-US" sz="1400" dirty="0" err="1">
                <a:solidFill>
                  <a:srgbClr val="272525"/>
                </a:solidFill>
                <a:latin typeface="Arial" panose="020B0604020202020204" pitchFamily="34" charset="0"/>
                <a:ea typeface="Inter" pitchFamily="34" charset="-122"/>
                <a:cs typeface="Arial" panose="020B0604020202020204" pitchFamily="34" charset="0"/>
              </a:rPr>
              <a:t>même</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agréable</a:t>
            </a:r>
            <a:r>
              <a:rPr lang="en-US" sz="1400" dirty="0">
                <a:solidFill>
                  <a:srgbClr val="272525"/>
                </a:solidFill>
                <a:latin typeface="Arial" panose="020B0604020202020204" pitchFamily="34" charset="0"/>
                <a:ea typeface="Inter" pitchFamily="34" charset="-122"/>
                <a:cs typeface="Arial" panose="020B0604020202020204" pitchFamily="34" charset="0"/>
              </a:rPr>
              <a:t>. Que </a:t>
            </a:r>
            <a:r>
              <a:rPr lang="en-US" sz="1400" dirty="0" err="1">
                <a:solidFill>
                  <a:srgbClr val="272525"/>
                </a:solidFill>
                <a:latin typeface="Arial" panose="020B0604020202020204" pitchFamily="34" charset="0"/>
                <a:ea typeface="Inter" pitchFamily="34" charset="-122"/>
                <a:cs typeface="Arial" panose="020B0604020202020204" pitchFamily="34" charset="0"/>
              </a:rPr>
              <a:t>vous</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soyez</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débutant</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ou</a:t>
            </a:r>
            <a:r>
              <a:rPr lang="en-US" sz="1400" dirty="0">
                <a:solidFill>
                  <a:srgbClr val="272525"/>
                </a:solidFill>
                <a:latin typeface="Arial" panose="020B0604020202020204" pitchFamily="34" charset="0"/>
                <a:ea typeface="Inter" pitchFamily="34" charset="-122"/>
                <a:cs typeface="Arial" panose="020B0604020202020204" pitchFamily="34" charset="0"/>
              </a:rPr>
              <a:t> déjà </a:t>
            </a:r>
            <a:r>
              <a:rPr lang="en-US" sz="1400" dirty="0" err="1">
                <a:solidFill>
                  <a:srgbClr val="272525"/>
                </a:solidFill>
                <a:latin typeface="Arial" panose="020B0604020202020204" pitchFamily="34" charset="0"/>
                <a:ea typeface="Inter" pitchFamily="34" charset="-122"/>
                <a:cs typeface="Arial" panose="020B0604020202020204" pitchFamily="34" charset="0"/>
              </a:rPr>
              <a:t>familier</a:t>
            </a:r>
            <a:r>
              <a:rPr lang="en-US" sz="1400" dirty="0">
                <a:solidFill>
                  <a:srgbClr val="272525"/>
                </a:solidFill>
                <a:latin typeface="Arial" panose="020B0604020202020204" pitchFamily="34" charset="0"/>
                <a:ea typeface="Inter" pitchFamily="34" charset="-122"/>
                <a:cs typeface="Arial" panose="020B0604020202020204" pitchFamily="34" charset="0"/>
              </a:rPr>
              <a:t> avec les applications, </a:t>
            </a:r>
            <a:r>
              <a:rPr lang="en-US" sz="1400" dirty="0" err="1">
                <a:solidFill>
                  <a:srgbClr val="272525"/>
                </a:solidFill>
                <a:latin typeface="Arial" panose="020B0604020202020204" pitchFamily="34" charset="0"/>
                <a:ea typeface="Inter" pitchFamily="34" charset="-122"/>
                <a:cs typeface="Arial" panose="020B0604020202020204" pitchFamily="34" charset="0"/>
              </a:rPr>
              <a:t>vous</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repartirez</a:t>
            </a:r>
            <a:r>
              <a:rPr lang="en-US" sz="1400" dirty="0">
                <a:solidFill>
                  <a:srgbClr val="272525"/>
                </a:solidFill>
                <a:latin typeface="Arial" panose="020B0604020202020204" pitchFamily="34" charset="0"/>
                <a:ea typeface="Inter" pitchFamily="34" charset="-122"/>
                <a:cs typeface="Arial" panose="020B0604020202020204" pitchFamily="34" charset="0"/>
              </a:rPr>
              <a:t> avec des </a:t>
            </a:r>
            <a:r>
              <a:rPr lang="en-US" sz="1400" dirty="0" err="1">
                <a:solidFill>
                  <a:srgbClr val="272525"/>
                </a:solidFill>
                <a:latin typeface="Arial" panose="020B0604020202020204" pitchFamily="34" charset="0"/>
                <a:ea typeface="Inter" pitchFamily="34" charset="-122"/>
                <a:cs typeface="Arial" panose="020B0604020202020204" pitchFamily="34" charset="0"/>
              </a:rPr>
              <a:t>astuces</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concrètes</a:t>
            </a:r>
            <a:r>
              <a:rPr lang="en-US" sz="1400" dirty="0">
                <a:solidFill>
                  <a:srgbClr val="272525"/>
                </a:solidFill>
                <a:latin typeface="Arial" panose="020B0604020202020204" pitchFamily="34" charset="0"/>
                <a:ea typeface="Inter" pitchFamily="34" charset="-122"/>
                <a:cs typeface="Arial" panose="020B0604020202020204" pitchFamily="34" charset="0"/>
              </a:rPr>
              <a:t> pour </a:t>
            </a:r>
            <a:r>
              <a:rPr lang="en-US" sz="1400" dirty="0" err="1">
                <a:solidFill>
                  <a:srgbClr val="272525"/>
                </a:solidFill>
                <a:latin typeface="Arial" panose="020B0604020202020204" pitchFamily="34" charset="0"/>
                <a:ea typeface="Inter" pitchFamily="34" charset="-122"/>
                <a:cs typeface="Arial" panose="020B0604020202020204" pitchFamily="34" charset="0"/>
              </a:rPr>
              <a:t>mieux</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maîtriser</a:t>
            </a:r>
            <a:r>
              <a:rPr lang="en-US" sz="1400" dirty="0">
                <a:solidFill>
                  <a:srgbClr val="272525"/>
                </a:solidFill>
                <a:latin typeface="Arial" panose="020B0604020202020204" pitchFamily="34" charset="0"/>
                <a:ea typeface="Inter" pitchFamily="34" charset="-122"/>
                <a:cs typeface="Arial" panose="020B0604020202020204" pitchFamily="34" charset="0"/>
              </a:rPr>
              <a:t> </a:t>
            </a:r>
            <a:r>
              <a:rPr lang="en-US" sz="1400" dirty="0" err="1">
                <a:solidFill>
                  <a:srgbClr val="272525"/>
                </a:solidFill>
                <a:latin typeface="Arial" panose="020B0604020202020204" pitchFamily="34" charset="0"/>
                <a:ea typeface="Inter" pitchFamily="34" charset="-122"/>
                <a:cs typeface="Arial" panose="020B0604020202020204" pitchFamily="34" charset="0"/>
              </a:rPr>
              <a:t>vos</a:t>
            </a:r>
            <a:r>
              <a:rPr lang="en-US" sz="1400" dirty="0">
                <a:solidFill>
                  <a:srgbClr val="272525"/>
                </a:solidFill>
                <a:latin typeface="Arial" panose="020B0604020202020204" pitchFamily="34" charset="0"/>
                <a:ea typeface="Inter" pitchFamily="34" charset="-122"/>
                <a:cs typeface="Arial" panose="020B0604020202020204" pitchFamily="34" charset="0"/>
              </a:rPr>
              <a:t> finances au </a:t>
            </a:r>
            <a:r>
              <a:rPr lang="en-US" sz="1400" dirty="0" err="1">
                <a:solidFill>
                  <a:srgbClr val="272525"/>
                </a:solidFill>
                <a:latin typeface="Arial" panose="020B0604020202020204" pitchFamily="34" charset="0"/>
                <a:ea typeface="Inter" pitchFamily="34" charset="-122"/>
                <a:cs typeface="Arial" panose="020B0604020202020204" pitchFamily="34" charset="0"/>
              </a:rPr>
              <a:t>quotidien</a:t>
            </a:r>
            <a:r>
              <a:rPr lang="en-US" sz="1400" dirty="0">
                <a:solidFill>
                  <a:srgbClr val="272525"/>
                </a:solidFill>
                <a:latin typeface="Arial" panose="020B0604020202020204" pitchFamily="34" charset="0"/>
                <a:ea typeface="Inter" pitchFamily="34" charset="-122"/>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7463" y="1804523"/>
            <a:ext cx="5636940" cy="430162"/>
          </a:xfrm>
          <a:prstGeom prst="rect">
            <a:avLst/>
          </a:prstGeom>
          <a:noFill/>
          <a:ln/>
        </p:spPr>
        <p:txBody>
          <a:bodyPr wrap="none" lIns="0" tIns="0" rIns="0" bIns="0" rtlCol="0" anchor="t"/>
          <a:lstStyle/>
          <a:p>
            <a:pPr>
              <a:lnSpc>
                <a:spcPct val="104000"/>
              </a:lnSpc>
            </a:pPr>
            <a:r>
              <a:rPr lang="en-US" sz="2400" b="1" dirty="0">
                <a:solidFill>
                  <a:srgbClr val="000000"/>
                </a:solidFill>
                <a:latin typeface="Arial" panose="020B0604020202020204" pitchFamily="34" charset="0"/>
                <a:ea typeface="Twemoji Mozilla" pitchFamily="34" charset="-122"/>
                <a:cs typeface="Arial" panose="020B0604020202020204" pitchFamily="34" charset="0"/>
              </a:rPr>
              <a:t>📋</a:t>
            </a:r>
            <a:r>
              <a:rPr lang="en-US" sz="2400" b="1" dirty="0">
                <a:solidFill>
                  <a:srgbClr val="000000"/>
                </a:solidFill>
                <a:latin typeface="Arial" panose="020B0604020202020204" pitchFamily="34" charset="0"/>
                <a:ea typeface="Inter Bold" pitchFamily="34" charset="-122"/>
                <a:cs typeface="Arial" panose="020B0604020202020204" pitchFamily="34" charset="0"/>
              </a:rPr>
              <a:t> Au programme de cet atelier</a:t>
            </a:r>
            <a:endParaRPr lang="en-US" sz="2400" dirty="0">
              <a:latin typeface="Arial" panose="020B0604020202020204" pitchFamily="34" charset="0"/>
              <a:cs typeface="Arial" panose="020B0604020202020204" pitchFamily="34" charset="0"/>
            </a:endParaRPr>
          </a:p>
        </p:txBody>
      </p:sp>
      <p:sp>
        <p:nvSpPr>
          <p:cNvPr id="3" name="Text 1"/>
          <p:cNvSpPr/>
          <p:nvPr/>
        </p:nvSpPr>
        <p:spPr>
          <a:xfrm>
            <a:off x="537463" y="2503376"/>
            <a:ext cx="9326377" cy="215001"/>
          </a:xfrm>
          <a:prstGeom prst="rect">
            <a:avLst/>
          </a:prstGeom>
          <a:noFill/>
          <a:ln/>
        </p:spPr>
        <p:txBody>
          <a:bodyPr wrap="none" lIns="0" tIns="0" rIns="0" bIns="0" rtlCol="0" anchor="t"/>
          <a:lstStyle/>
          <a:p>
            <a:pPr>
              <a:lnSpc>
                <a:spcPct val="133000"/>
              </a:lnSpc>
            </a:pPr>
            <a:r>
              <a:rPr lang="en-US" sz="1400" dirty="0">
                <a:solidFill>
                  <a:srgbClr val="272525"/>
                </a:solidFill>
                <a:latin typeface="Arial" panose="020B0604020202020204" pitchFamily="34" charset="0"/>
                <a:ea typeface="Inter" pitchFamily="34" charset="-122"/>
                <a:cs typeface="Arial" panose="020B0604020202020204" pitchFamily="34" charset="0"/>
              </a:rPr>
              <a:t>Un parcours en 8 étapes pour tout comprendre, de zéro à expert :</a:t>
            </a:r>
            <a:endParaRPr lang="en-US" sz="1400" dirty="0">
              <a:latin typeface="Arial" panose="020B0604020202020204" pitchFamily="34" charset="0"/>
              <a:cs typeface="Arial" panose="020B0604020202020204" pitchFamily="34" charset="0"/>
            </a:endParaRPr>
          </a:p>
        </p:txBody>
      </p:sp>
      <p:sp>
        <p:nvSpPr>
          <p:cNvPr id="4" name="Text 2"/>
          <p:cNvSpPr/>
          <p:nvPr/>
        </p:nvSpPr>
        <p:spPr>
          <a:xfrm>
            <a:off x="537462" y="2869530"/>
            <a:ext cx="268691" cy="167921"/>
          </a:xfrm>
          <a:prstGeom prst="rect">
            <a:avLst/>
          </a:prstGeom>
          <a:noFill/>
          <a:ln/>
        </p:spPr>
        <p:txBody>
          <a:bodyPr wrap="none" lIns="0" tIns="0" rIns="0" bIns="0" rtlCol="0" anchor="ctr"/>
          <a:lstStyle/>
          <a:p>
            <a:r>
              <a:rPr lang="en-US" sz="1200" dirty="0">
                <a:solidFill>
                  <a:srgbClr val="272525"/>
                </a:solidFill>
                <a:latin typeface="Arial" panose="020B0604020202020204" pitchFamily="34" charset="0"/>
                <a:ea typeface="Inter Light" pitchFamily="34" charset="-122"/>
                <a:cs typeface="Arial" panose="020B0604020202020204" pitchFamily="34" charset="0"/>
              </a:rPr>
              <a:t>01</a:t>
            </a:r>
            <a:endParaRPr lang="en-US" sz="1200" dirty="0">
              <a:latin typeface="Arial" panose="020B0604020202020204" pitchFamily="34" charset="0"/>
              <a:cs typeface="Arial" panose="020B0604020202020204" pitchFamily="34" charset="0"/>
            </a:endParaRPr>
          </a:p>
        </p:txBody>
      </p:sp>
      <p:sp>
        <p:nvSpPr>
          <p:cNvPr id="5" name="Shape 3"/>
          <p:cNvSpPr/>
          <p:nvPr/>
        </p:nvSpPr>
        <p:spPr>
          <a:xfrm>
            <a:off x="537463" y="3082355"/>
            <a:ext cx="2854101" cy="15479"/>
          </a:xfrm>
          <a:prstGeom prst="rect">
            <a:avLst/>
          </a:prstGeom>
          <a:solidFill>
            <a:srgbClr val="4950BC"/>
          </a:solidFill>
          <a:ln/>
        </p:spPr>
      </p:sp>
      <p:sp>
        <p:nvSpPr>
          <p:cNvPr id="6" name="Text 4"/>
          <p:cNvSpPr/>
          <p:nvPr/>
        </p:nvSpPr>
        <p:spPr>
          <a:xfrm>
            <a:off x="537463" y="3180463"/>
            <a:ext cx="2315431" cy="210003"/>
          </a:xfrm>
          <a:prstGeom prst="rect">
            <a:avLst/>
          </a:prstGeom>
          <a:noFill/>
          <a:ln/>
        </p:spPr>
        <p:txBody>
          <a:bodyPr wrap="none" lIns="0" tIns="0" rIns="0" bIns="0" rtlCol="0" anchor="t"/>
          <a:lstStyle/>
          <a:p>
            <a:pPr>
              <a:lnSpc>
                <a:spcPct val="104000"/>
              </a:lnSpc>
            </a:pPr>
            <a:r>
              <a:rPr lang="en-US" sz="1400" b="1" dirty="0">
                <a:solidFill>
                  <a:srgbClr val="272525"/>
                </a:solidFill>
                <a:latin typeface="Arial" panose="020B0604020202020204" pitchFamily="34" charset="0"/>
                <a:ea typeface="Inter Bold" pitchFamily="34" charset="-122"/>
                <a:cs typeface="Arial" panose="020B0604020202020204" pitchFamily="34" charset="0"/>
              </a:rPr>
              <a:t>Pourquoi gérer son budget ?</a:t>
            </a:r>
            <a:endParaRPr lang="en-US" sz="1400" dirty="0">
              <a:latin typeface="Arial" panose="020B0604020202020204" pitchFamily="34" charset="0"/>
              <a:cs typeface="Arial" panose="020B0604020202020204" pitchFamily="34" charset="0"/>
            </a:endParaRPr>
          </a:p>
        </p:txBody>
      </p:sp>
      <p:sp>
        <p:nvSpPr>
          <p:cNvPr id="7" name="Text 5"/>
          <p:cNvSpPr/>
          <p:nvPr/>
        </p:nvSpPr>
        <p:spPr>
          <a:xfrm>
            <a:off x="537463" y="3471081"/>
            <a:ext cx="2854101" cy="215001"/>
          </a:xfrm>
          <a:prstGeom prst="rect">
            <a:avLst/>
          </a:prstGeom>
          <a:noFill/>
          <a:ln/>
        </p:spPr>
        <p:txBody>
          <a:bodyPr wrap="none" lIns="0" tIns="0" rIns="0" bIns="0" rtlCol="0" anchor="t"/>
          <a:lstStyle/>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Les bénéfices concrets d'un </a:t>
            </a:r>
            <a:r>
              <a:rPr lang="en-US" sz="1200" dirty="0" err="1">
                <a:solidFill>
                  <a:srgbClr val="272525"/>
                </a:solidFill>
                <a:latin typeface="Arial" panose="020B0604020202020204" pitchFamily="34" charset="0"/>
                <a:ea typeface="Inter" pitchFamily="34" charset="-122"/>
                <a:cs typeface="Arial" panose="020B0604020202020204" pitchFamily="34" charset="0"/>
              </a:rPr>
              <a:t>suivi</a:t>
            </a:r>
            <a:endParaRPr lang="en-US" sz="1200" dirty="0">
              <a:solidFill>
                <a:srgbClr val="272525"/>
              </a:solidFill>
              <a:latin typeface="Arial" panose="020B0604020202020204" pitchFamily="34" charset="0"/>
              <a:ea typeface="Inter" pitchFamily="34" charset="-122"/>
              <a:cs typeface="Arial" panose="020B0604020202020204" pitchFamily="34" charset="0"/>
            </a:endParaRPr>
          </a:p>
          <a:p>
            <a:pPr>
              <a:lnSpc>
                <a:spcPct val="133000"/>
              </a:lnSpc>
            </a:pPr>
            <a:r>
              <a:rPr lang="en-US" sz="1200" dirty="0" err="1">
                <a:solidFill>
                  <a:srgbClr val="272525"/>
                </a:solidFill>
                <a:latin typeface="Arial" panose="020B0604020202020204" pitchFamily="34" charset="0"/>
                <a:ea typeface="Inter" pitchFamily="34" charset="-122"/>
                <a:cs typeface="Arial" panose="020B0604020202020204" pitchFamily="34" charset="0"/>
              </a:rPr>
              <a:t>régulier</a:t>
            </a:r>
            <a:r>
              <a:rPr lang="en-US" sz="1200" dirty="0">
                <a:solidFill>
                  <a:srgbClr val="272525"/>
                </a:solidFill>
                <a:latin typeface="Arial" panose="020B0604020202020204" pitchFamily="34" charset="0"/>
                <a:ea typeface="Inter"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8" name="Text 6"/>
          <p:cNvSpPr/>
          <p:nvPr/>
        </p:nvSpPr>
        <p:spPr>
          <a:xfrm>
            <a:off x="3525868" y="2869530"/>
            <a:ext cx="268691" cy="167921"/>
          </a:xfrm>
          <a:prstGeom prst="rect">
            <a:avLst/>
          </a:prstGeom>
          <a:noFill/>
          <a:ln/>
        </p:spPr>
        <p:txBody>
          <a:bodyPr wrap="none" lIns="0" tIns="0" rIns="0" bIns="0" rtlCol="0" anchor="ctr"/>
          <a:lstStyle/>
          <a:p>
            <a:r>
              <a:rPr lang="en-US" sz="1200" dirty="0">
                <a:solidFill>
                  <a:srgbClr val="272525"/>
                </a:solidFill>
                <a:latin typeface="Arial" panose="020B0604020202020204" pitchFamily="34" charset="0"/>
                <a:ea typeface="Inter Light" pitchFamily="34" charset="-122"/>
                <a:cs typeface="Arial" panose="020B0604020202020204" pitchFamily="34" charset="0"/>
              </a:rPr>
              <a:t>02</a:t>
            </a:r>
            <a:endParaRPr lang="en-US" sz="1200" dirty="0">
              <a:latin typeface="Arial" panose="020B0604020202020204" pitchFamily="34" charset="0"/>
              <a:cs typeface="Arial" panose="020B0604020202020204" pitchFamily="34" charset="0"/>
            </a:endParaRPr>
          </a:p>
        </p:txBody>
      </p:sp>
      <p:sp>
        <p:nvSpPr>
          <p:cNvPr id="9" name="Shape 7"/>
          <p:cNvSpPr/>
          <p:nvPr/>
        </p:nvSpPr>
        <p:spPr>
          <a:xfrm>
            <a:off x="3525868" y="3082355"/>
            <a:ext cx="2854183" cy="15479"/>
          </a:xfrm>
          <a:prstGeom prst="rect">
            <a:avLst/>
          </a:prstGeom>
          <a:solidFill>
            <a:srgbClr val="4950BC"/>
          </a:solidFill>
          <a:ln/>
        </p:spPr>
      </p:sp>
      <p:sp>
        <p:nvSpPr>
          <p:cNvPr id="10" name="Text 8"/>
          <p:cNvSpPr/>
          <p:nvPr/>
        </p:nvSpPr>
        <p:spPr>
          <a:xfrm>
            <a:off x="3525869" y="3180463"/>
            <a:ext cx="1804169" cy="210003"/>
          </a:xfrm>
          <a:prstGeom prst="rect">
            <a:avLst/>
          </a:prstGeom>
          <a:noFill/>
          <a:ln/>
        </p:spPr>
        <p:txBody>
          <a:bodyPr wrap="none" lIns="0" tIns="0" rIns="0" bIns="0" rtlCol="0" anchor="t"/>
          <a:lstStyle/>
          <a:p>
            <a:pPr>
              <a:lnSpc>
                <a:spcPct val="104000"/>
              </a:lnSpc>
            </a:pPr>
            <a:r>
              <a:rPr lang="en-US" sz="1400" b="1" dirty="0">
                <a:solidFill>
                  <a:srgbClr val="272525"/>
                </a:solidFill>
                <a:latin typeface="Arial" panose="020B0604020202020204" pitchFamily="34" charset="0"/>
                <a:ea typeface="Inter Bold" pitchFamily="34" charset="-122"/>
                <a:cs typeface="Arial" panose="020B0604020202020204" pitchFamily="34" charset="0"/>
              </a:rPr>
              <a:t>Les outils numériques</a:t>
            </a:r>
            <a:endParaRPr lang="en-US" sz="1400" dirty="0">
              <a:latin typeface="Arial" panose="020B0604020202020204" pitchFamily="34" charset="0"/>
              <a:cs typeface="Arial" panose="020B0604020202020204" pitchFamily="34" charset="0"/>
            </a:endParaRPr>
          </a:p>
        </p:txBody>
      </p:sp>
      <p:sp>
        <p:nvSpPr>
          <p:cNvPr id="11" name="Text 9"/>
          <p:cNvSpPr/>
          <p:nvPr/>
        </p:nvSpPr>
        <p:spPr>
          <a:xfrm>
            <a:off x="3525868" y="3471081"/>
            <a:ext cx="2854183" cy="215001"/>
          </a:xfrm>
          <a:prstGeom prst="rect">
            <a:avLst/>
          </a:prstGeom>
          <a:noFill/>
          <a:ln/>
        </p:spPr>
        <p:txBody>
          <a:bodyPr wrap="none" lIns="0" tIns="0" rIns="0" bIns="0" rtlCol="0" anchor="t"/>
          <a:lstStyle/>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Tour d'horizon des applications</a:t>
            </a:r>
          </a:p>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Phares.</a:t>
            </a:r>
            <a:endParaRPr lang="en-US" sz="1200" dirty="0">
              <a:latin typeface="Arial" panose="020B0604020202020204" pitchFamily="34" charset="0"/>
              <a:cs typeface="Arial" panose="020B0604020202020204" pitchFamily="34" charset="0"/>
            </a:endParaRPr>
          </a:p>
        </p:txBody>
      </p:sp>
      <p:sp>
        <p:nvSpPr>
          <p:cNvPr id="12" name="Text 10"/>
          <p:cNvSpPr/>
          <p:nvPr/>
        </p:nvSpPr>
        <p:spPr>
          <a:xfrm>
            <a:off x="6514356" y="2869530"/>
            <a:ext cx="268691" cy="167921"/>
          </a:xfrm>
          <a:prstGeom prst="rect">
            <a:avLst/>
          </a:prstGeom>
          <a:noFill/>
          <a:ln/>
        </p:spPr>
        <p:txBody>
          <a:bodyPr wrap="none" lIns="0" tIns="0" rIns="0" bIns="0" rtlCol="0" anchor="ctr"/>
          <a:lstStyle/>
          <a:p>
            <a:r>
              <a:rPr lang="en-US" sz="1200" dirty="0">
                <a:solidFill>
                  <a:srgbClr val="272525"/>
                </a:solidFill>
                <a:latin typeface="Arial" panose="020B0604020202020204" pitchFamily="34" charset="0"/>
                <a:ea typeface="Inter Light" pitchFamily="34" charset="-122"/>
                <a:cs typeface="Arial" panose="020B0604020202020204" pitchFamily="34" charset="0"/>
              </a:rPr>
              <a:t>03</a:t>
            </a:r>
            <a:endParaRPr lang="en-US" sz="1200" dirty="0">
              <a:latin typeface="Arial" panose="020B0604020202020204" pitchFamily="34" charset="0"/>
              <a:cs typeface="Arial" panose="020B0604020202020204" pitchFamily="34" charset="0"/>
            </a:endParaRPr>
          </a:p>
        </p:txBody>
      </p:sp>
      <p:sp>
        <p:nvSpPr>
          <p:cNvPr id="13" name="Shape 11"/>
          <p:cNvSpPr/>
          <p:nvPr/>
        </p:nvSpPr>
        <p:spPr>
          <a:xfrm>
            <a:off x="6514357" y="3082355"/>
            <a:ext cx="2854101" cy="15479"/>
          </a:xfrm>
          <a:prstGeom prst="rect">
            <a:avLst/>
          </a:prstGeom>
          <a:solidFill>
            <a:srgbClr val="4950BC"/>
          </a:solidFill>
          <a:ln/>
        </p:spPr>
      </p:sp>
      <p:sp>
        <p:nvSpPr>
          <p:cNvPr id="14" name="Text 12"/>
          <p:cNvSpPr/>
          <p:nvPr/>
        </p:nvSpPr>
        <p:spPr>
          <a:xfrm>
            <a:off x="6514357" y="3180463"/>
            <a:ext cx="1717347" cy="210003"/>
          </a:xfrm>
          <a:prstGeom prst="rect">
            <a:avLst/>
          </a:prstGeom>
          <a:noFill/>
          <a:ln/>
        </p:spPr>
        <p:txBody>
          <a:bodyPr wrap="none" lIns="0" tIns="0" rIns="0" bIns="0" rtlCol="0" anchor="t"/>
          <a:lstStyle/>
          <a:p>
            <a:pPr>
              <a:lnSpc>
                <a:spcPct val="104000"/>
              </a:lnSpc>
            </a:pPr>
            <a:r>
              <a:rPr lang="en-US" sz="1400" b="1" dirty="0">
                <a:solidFill>
                  <a:srgbClr val="272525"/>
                </a:solidFill>
                <a:latin typeface="Arial" panose="020B0604020202020204" pitchFamily="34" charset="0"/>
                <a:ea typeface="Inter Bold" pitchFamily="34" charset="-122"/>
                <a:cs typeface="Arial" panose="020B0604020202020204" pitchFamily="34" charset="0"/>
              </a:rPr>
              <a:t>Méthodes et astuces</a:t>
            </a:r>
            <a:endParaRPr lang="en-US" sz="1400" dirty="0">
              <a:latin typeface="Arial" panose="020B0604020202020204" pitchFamily="34" charset="0"/>
              <a:cs typeface="Arial" panose="020B0604020202020204" pitchFamily="34" charset="0"/>
            </a:endParaRPr>
          </a:p>
        </p:txBody>
      </p:sp>
      <p:sp>
        <p:nvSpPr>
          <p:cNvPr id="15" name="Text 13"/>
          <p:cNvSpPr/>
          <p:nvPr/>
        </p:nvSpPr>
        <p:spPr>
          <a:xfrm>
            <a:off x="6514357" y="3471082"/>
            <a:ext cx="2854101" cy="430002"/>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Comment bien démarrer et tenir dans le temps.</a:t>
            </a:r>
            <a:endParaRPr lang="en-US" sz="1200" dirty="0">
              <a:latin typeface="Arial" panose="020B0604020202020204" pitchFamily="34" charset="0"/>
              <a:cs typeface="Arial" panose="020B0604020202020204" pitchFamily="34" charset="0"/>
            </a:endParaRPr>
          </a:p>
        </p:txBody>
      </p:sp>
      <p:sp>
        <p:nvSpPr>
          <p:cNvPr id="16" name="Text 14"/>
          <p:cNvSpPr/>
          <p:nvPr/>
        </p:nvSpPr>
        <p:spPr>
          <a:xfrm>
            <a:off x="537462" y="4136157"/>
            <a:ext cx="268691" cy="167921"/>
          </a:xfrm>
          <a:prstGeom prst="rect">
            <a:avLst/>
          </a:prstGeom>
          <a:noFill/>
          <a:ln/>
        </p:spPr>
        <p:txBody>
          <a:bodyPr wrap="none" lIns="0" tIns="0" rIns="0" bIns="0" rtlCol="0" anchor="ctr"/>
          <a:lstStyle/>
          <a:p>
            <a:r>
              <a:rPr lang="en-US" sz="1200" dirty="0">
                <a:solidFill>
                  <a:srgbClr val="272525"/>
                </a:solidFill>
                <a:latin typeface="Arial" panose="020B0604020202020204" pitchFamily="34" charset="0"/>
                <a:ea typeface="Inter Light" pitchFamily="34" charset="-122"/>
                <a:cs typeface="Arial" panose="020B0604020202020204" pitchFamily="34" charset="0"/>
              </a:rPr>
              <a:t>04</a:t>
            </a:r>
            <a:endParaRPr lang="en-US" sz="1200" dirty="0">
              <a:latin typeface="Arial" panose="020B0604020202020204" pitchFamily="34" charset="0"/>
              <a:cs typeface="Arial" panose="020B0604020202020204" pitchFamily="34" charset="0"/>
            </a:endParaRPr>
          </a:p>
        </p:txBody>
      </p:sp>
      <p:sp>
        <p:nvSpPr>
          <p:cNvPr id="17" name="Shape 15"/>
          <p:cNvSpPr/>
          <p:nvPr/>
        </p:nvSpPr>
        <p:spPr>
          <a:xfrm>
            <a:off x="537462" y="4348981"/>
            <a:ext cx="4348305" cy="15479"/>
          </a:xfrm>
          <a:prstGeom prst="rect">
            <a:avLst/>
          </a:prstGeom>
          <a:solidFill>
            <a:srgbClr val="4950BC"/>
          </a:solidFill>
          <a:ln/>
        </p:spPr>
      </p:sp>
      <p:sp>
        <p:nvSpPr>
          <p:cNvPr id="18" name="Text 16"/>
          <p:cNvSpPr/>
          <p:nvPr/>
        </p:nvSpPr>
        <p:spPr>
          <a:xfrm>
            <a:off x="537462" y="4447090"/>
            <a:ext cx="1994421" cy="210003"/>
          </a:xfrm>
          <a:prstGeom prst="rect">
            <a:avLst/>
          </a:prstGeom>
          <a:noFill/>
          <a:ln/>
        </p:spPr>
        <p:txBody>
          <a:bodyPr wrap="none" lIns="0" tIns="0" rIns="0" bIns="0" rtlCol="0" anchor="t"/>
          <a:lstStyle/>
          <a:p>
            <a:pPr>
              <a:lnSpc>
                <a:spcPct val="104000"/>
              </a:lnSpc>
            </a:pPr>
            <a:r>
              <a:rPr lang="en-US" sz="1400" b="1" dirty="0">
                <a:solidFill>
                  <a:srgbClr val="272525"/>
                </a:solidFill>
                <a:latin typeface="Arial" panose="020B0604020202020204" pitchFamily="34" charset="0"/>
                <a:ea typeface="Inter Bold" pitchFamily="34" charset="-122"/>
                <a:cs typeface="Arial" panose="020B0604020202020204" pitchFamily="34" charset="0"/>
              </a:rPr>
              <a:t>Bons plans &amp; économies</a:t>
            </a:r>
            <a:endParaRPr lang="en-US" sz="1400" dirty="0">
              <a:latin typeface="Arial" panose="020B0604020202020204" pitchFamily="34" charset="0"/>
              <a:cs typeface="Arial" panose="020B0604020202020204" pitchFamily="34" charset="0"/>
            </a:endParaRPr>
          </a:p>
        </p:txBody>
      </p:sp>
      <p:sp>
        <p:nvSpPr>
          <p:cNvPr id="19" name="Text 17"/>
          <p:cNvSpPr/>
          <p:nvPr/>
        </p:nvSpPr>
        <p:spPr>
          <a:xfrm>
            <a:off x="537463" y="4737708"/>
            <a:ext cx="4207066" cy="215001"/>
          </a:xfrm>
          <a:prstGeom prst="rect">
            <a:avLst/>
          </a:prstGeom>
          <a:noFill/>
          <a:ln/>
        </p:spPr>
        <p:txBody>
          <a:bodyPr wrap="none" lIns="0" tIns="0" rIns="0" bIns="0" rtlCol="0" anchor="t"/>
          <a:lstStyle/>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Les outils pour </a:t>
            </a:r>
            <a:r>
              <a:rPr lang="en-US" sz="1200" dirty="0" err="1">
                <a:solidFill>
                  <a:srgbClr val="272525"/>
                </a:solidFill>
                <a:latin typeface="Arial" panose="020B0604020202020204" pitchFamily="34" charset="0"/>
                <a:ea typeface="Inter" pitchFamily="34" charset="-122"/>
                <a:cs typeface="Arial" panose="020B0604020202020204" pitchFamily="34" charset="0"/>
              </a:rPr>
              <a:t>dépenser</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moins</a:t>
            </a:r>
            <a:r>
              <a:rPr lang="en-US" sz="1200" dirty="0">
                <a:solidFill>
                  <a:srgbClr val="272525"/>
                </a:solidFill>
                <a:latin typeface="Arial" panose="020B0604020202020204" pitchFamily="34" charset="0"/>
                <a:ea typeface="Inter" pitchFamily="34" charset="-122"/>
                <a:cs typeface="Arial" panose="020B0604020202020204" pitchFamily="34" charset="0"/>
              </a:rPr>
              <a:t> au </a:t>
            </a:r>
            <a:r>
              <a:rPr lang="en-US" sz="1200" dirty="0" err="1">
                <a:solidFill>
                  <a:srgbClr val="272525"/>
                </a:solidFill>
                <a:latin typeface="Arial" panose="020B0604020202020204" pitchFamily="34" charset="0"/>
                <a:ea typeface="Inter" pitchFamily="34" charset="-122"/>
                <a:cs typeface="Arial" panose="020B0604020202020204" pitchFamily="34" charset="0"/>
              </a:rPr>
              <a:t>quotidien</a:t>
            </a:r>
            <a:r>
              <a:rPr lang="en-US" sz="1200" dirty="0">
                <a:solidFill>
                  <a:srgbClr val="272525"/>
                </a:solidFill>
                <a:latin typeface="Arial" panose="020B0604020202020204" pitchFamily="34" charset="0"/>
                <a:ea typeface="Inter"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0" name="Text 18"/>
          <p:cNvSpPr/>
          <p:nvPr/>
        </p:nvSpPr>
        <p:spPr>
          <a:xfrm>
            <a:off x="5020072" y="4136157"/>
            <a:ext cx="268691" cy="167921"/>
          </a:xfrm>
          <a:prstGeom prst="rect">
            <a:avLst/>
          </a:prstGeom>
          <a:noFill/>
          <a:ln/>
        </p:spPr>
        <p:txBody>
          <a:bodyPr wrap="none" lIns="0" tIns="0" rIns="0" bIns="0" rtlCol="0" anchor="ctr"/>
          <a:lstStyle/>
          <a:p>
            <a:r>
              <a:rPr lang="en-US" sz="1200" dirty="0">
                <a:solidFill>
                  <a:srgbClr val="272525"/>
                </a:solidFill>
                <a:latin typeface="Arial" panose="020B0604020202020204" pitchFamily="34" charset="0"/>
                <a:ea typeface="Inter Light" pitchFamily="34" charset="-122"/>
                <a:cs typeface="Arial" panose="020B0604020202020204" pitchFamily="34" charset="0"/>
              </a:rPr>
              <a:t>05</a:t>
            </a:r>
            <a:endParaRPr lang="en-US" sz="1200" dirty="0">
              <a:latin typeface="Arial" panose="020B0604020202020204" pitchFamily="34" charset="0"/>
              <a:cs typeface="Arial" panose="020B0604020202020204" pitchFamily="34" charset="0"/>
            </a:endParaRPr>
          </a:p>
        </p:txBody>
      </p:sp>
      <p:sp>
        <p:nvSpPr>
          <p:cNvPr id="21" name="Shape 19"/>
          <p:cNvSpPr/>
          <p:nvPr/>
        </p:nvSpPr>
        <p:spPr>
          <a:xfrm>
            <a:off x="5020073" y="4348981"/>
            <a:ext cx="4348386" cy="15479"/>
          </a:xfrm>
          <a:prstGeom prst="rect">
            <a:avLst/>
          </a:prstGeom>
          <a:solidFill>
            <a:srgbClr val="4950BC"/>
          </a:solidFill>
          <a:ln/>
        </p:spPr>
      </p:sp>
      <p:sp>
        <p:nvSpPr>
          <p:cNvPr id="22" name="Text 20"/>
          <p:cNvSpPr/>
          <p:nvPr/>
        </p:nvSpPr>
        <p:spPr>
          <a:xfrm>
            <a:off x="5020072" y="4447090"/>
            <a:ext cx="2066088" cy="210003"/>
          </a:xfrm>
          <a:prstGeom prst="rect">
            <a:avLst/>
          </a:prstGeom>
          <a:noFill/>
          <a:ln/>
        </p:spPr>
        <p:txBody>
          <a:bodyPr wrap="none" lIns="0" tIns="0" rIns="0" bIns="0" rtlCol="0" anchor="t"/>
          <a:lstStyle/>
          <a:p>
            <a:pPr>
              <a:lnSpc>
                <a:spcPct val="104000"/>
              </a:lnSpc>
            </a:pPr>
            <a:r>
              <a:rPr lang="en-US" sz="1400" b="1" dirty="0">
                <a:solidFill>
                  <a:srgbClr val="272525"/>
                </a:solidFill>
                <a:latin typeface="Arial" panose="020B0604020202020204" pitchFamily="34" charset="0"/>
                <a:ea typeface="Inter Bold" pitchFamily="34" charset="-122"/>
                <a:cs typeface="Arial" panose="020B0604020202020204" pitchFamily="34" charset="0"/>
              </a:rPr>
              <a:t>Sécurité &amp; confidentialité</a:t>
            </a:r>
            <a:endParaRPr lang="en-US" sz="1400" dirty="0">
              <a:latin typeface="Arial" panose="020B0604020202020204" pitchFamily="34" charset="0"/>
              <a:cs typeface="Arial" panose="020B0604020202020204" pitchFamily="34" charset="0"/>
            </a:endParaRPr>
          </a:p>
        </p:txBody>
      </p:sp>
      <p:sp>
        <p:nvSpPr>
          <p:cNvPr id="23" name="Text 21"/>
          <p:cNvSpPr/>
          <p:nvPr/>
        </p:nvSpPr>
        <p:spPr>
          <a:xfrm>
            <a:off x="5020073" y="4737708"/>
            <a:ext cx="4348386" cy="215001"/>
          </a:xfrm>
          <a:prstGeom prst="rect">
            <a:avLst/>
          </a:prstGeom>
          <a:noFill/>
          <a:ln/>
        </p:spPr>
        <p:txBody>
          <a:bodyPr wrap="none" lIns="0" tIns="0" rIns="0" bIns="0" rtlCol="0" anchor="t"/>
          <a:lstStyle/>
          <a:p>
            <a:pPr>
              <a:lnSpc>
                <a:spcPct val="133000"/>
              </a:lnSpc>
            </a:pPr>
            <a:r>
              <a:rPr lang="en-US" sz="1200" dirty="0">
                <a:solidFill>
                  <a:srgbClr val="272525"/>
                </a:solidFill>
                <a:latin typeface="Arial" panose="020B0604020202020204" pitchFamily="34" charset="0"/>
                <a:ea typeface="Inter" pitchFamily="34" charset="-122"/>
                <a:cs typeface="Arial" panose="020B0604020202020204" pitchFamily="34" charset="0"/>
              </a:rPr>
              <a:t>Ce qu'il faut savoir avant de se lancer.</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18721" y="642938"/>
            <a:ext cx="3714750" cy="5572125"/>
          </a:xfrm>
          <a:prstGeom prst="rect">
            <a:avLst/>
          </a:prstGeom>
        </p:spPr>
      </p:pic>
      <p:sp>
        <p:nvSpPr>
          <p:cNvPr id="3" name="Text 0"/>
          <p:cNvSpPr/>
          <p:nvPr/>
        </p:nvSpPr>
        <p:spPr>
          <a:xfrm>
            <a:off x="537463" y="1145896"/>
            <a:ext cx="5601227" cy="411944"/>
          </a:xfrm>
          <a:prstGeom prst="rect">
            <a:avLst/>
          </a:prstGeom>
          <a:noFill/>
          <a:ln/>
        </p:spPr>
        <p:txBody>
          <a:bodyPr wrap="none" lIns="0" tIns="0" rIns="0" bIns="0" rtlCol="0" anchor="t"/>
          <a:lstStyle/>
          <a:p>
            <a:pPr>
              <a:lnSpc>
                <a:spcPct val="104000"/>
              </a:lnSpc>
            </a:pPr>
            <a:r>
              <a:rPr lang="en-US" sz="2400" b="1" dirty="0">
                <a:solidFill>
                  <a:srgbClr val="000000"/>
                </a:solidFill>
                <a:latin typeface="Arial" panose="020B0604020202020204" pitchFamily="34" charset="0"/>
                <a:ea typeface="Twemoji Mozilla" pitchFamily="34" charset="-122"/>
                <a:cs typeface="Arial" panose="020B0604020202020204" pitchFamily="34" charset="0"/>
              </a:rPr>
              <a:t>🤔</a:t>
            </a:r>
            <a:r>
              <a:rPr lang="en-US" sz="2400" b="1" dirty="0">
                <a:solidFill>
                  <a:srgbClr val="000000"/>
                </a:solidFill>
                <a:latin typeface="Arial" panose="020B0604020202020204" pitchFamily="34" charset="0"/>
                <a:ea typeface="Inter Bold" pitchFamily="34" charset="-122"/>
                <a:cs typeface="Arial" panose="020B0604020202020204" pitchFamily="34" charset="0"/>
              </a:rPr>
              <a:t> Pourquoi suivre son budget ?</a:t>
            </a:r>
            <a:endParaRPr lang="en-US" sz="2400" dirty="0">
              <a:latin typeface="Arial" panose="020B0604020202020204" pitchFamily="34" charset="0"/>
              <a:cs typeface="Arial" panose="020B0604020202020204" pitchFamily="34" charset="0"/>
            </a:endParaRPr>
          </a:p>
        </p:txBody>
      </p:sp>
      <p:sp>
        <p:nvSpPr>
          <p:cNvPr id="4" name="Text 1"/>
          <p:cNvSpPr/>
          <p:nvPr/>
        </p:nvSpPr>
        <p:spPr>
          <a:xfrm>
            <a:off x="537463" y="1746964"/>
            <a:ext cx="5116327" cy="615014"/>
          </a:xfrm>
          <a:prstGeom prst="rect">
            <a:avLst/>
          </a:prstGeom>
          <a:noFill/>
          <a:ln/>
        </p:spPr>
        <p:txBody>
          <a:bodyPr wrap="square" lIns="0" tIns="0" rIns="0" bIns="0" rtlCol="0" anchor="t">
            <a:noAutofit/>
          </a:bodyPr>
          <a:lstStyle/>
          <a:p>
            <a:pPr>
              <a:lnSpc>
                <a:spcPct val="131000"/>
              </a:lnSpc>
            </a:pPr>
            <a:r>
              <a:rPr lang="en-US" sz="1400" dirty="0">
                <a:solidFill>
                  <a:srgbClr val="272525"/>
                </a:solidFill>
                <a:latin typeface="Arial" panose="020B0604020202020204" pitchFamily="34" charset="0"/>
                <a:ea typeface="Inter" pitchFamily="34" charset="-122"/>
                <a:cs typeface="Arial" panose="020B0604020202020204" pitchFamily="34" charset="0"/>
              </a:rPr>
              <a:t>Beaucoup d'entre nous finissent le mois en se demandant où est passé l'argent. Sans suivi, les petites dépenses s'accumulent silencieusement. Un budget bien tenu, c'est la liberté de faire des choix éclairés.</a:t>
            </a:r>
            <a:endParaRPr lang="en-US" sz="1400"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1984" y="2933539"/>
            <a:ext cx="5131804" cy="985360"/>
          </a:xfrm>
          <a:prstGeom prst="rect">
            <a:avLst/>
          </a:prstGeom>
        </p:spPr>
      </p:pic>
      <p:sp>
        <p:nvSpPr>
          <p:cNvPr id="6" name="Text 2"/>
          <p:cNvSpPr/>
          <p:nvPr/>
        </p:nvSpPr>
        <p:spPr>
          <a:xfrm>
            <a:off x="729488" y="3079130"/>
            <a:ext cx="1945085" cy="20855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Reprendre le contrôle</a:t>
            </a:r>
            <a:endParaRPr lang="en-US" sz="1400" dirty="0">
              <a:latin typeface="Arial" panose="020B0604020202020204" pitchFamily="34" charset="0"/>
              <a:cs typeface="Arial" panose="020B0604020202020204" pitchFamily="34" charset="0"/>
            </a:endParaRPr>
          </a:p>
        </p:txBody>
      </p:sp>
      <p:sp>
        <p:nvSpPr>
          <p:cNvPr id="7" name="Text 3"/>
          <p:cNvSpPr/>
          <p:nvPr/>
        </p:nvSpPr>
        <p:spPr>
          <a:xfrm>
            <a:off x="729488" y="3363298"/>
            <a:ext cx="4778710" cy="410009"/>
          </a:xfrm>
          <a:prstGeom prst="rect">
            <a:avLst/>
          </a:prstGeom>
          <a:noFill/>
          <a:ln/>
        </p:spPr>
        <p:txBody>
          <a:bodyPr wrap="square" lIns="0" tIns="0" rIns="0" bIns="0" rtlCol="0" anchor="t">
            <a:noAutofit/>
          </a:bodyPr>
          <a:lstStyle/>
          <a:p>
            <a:pPr>
              <a:lnSpc>
                <a:spcPct val="131000"/>
              </a:lnSpc>
            </a:pPr>
            <a:r>
              <a:rPr lang="en-US" sz="1200" dirty="0">
                <a:solidFill>
                  <a:srgbClr val="272525"/>
                </a:solidFill>
                <a:latin typeface="Arial" panose="020B0604020202020204" pitchFamily="34" charset="0"/>
                <a:ea typeface="Inter" pitchFamily="34" charset="-122"/>
                <a:cs typeface="Arial" panose="020B0604020202020204" pitchFamily="34" charset="0"/>
              </a:rPr>
              <a:t>Savoir exactement ce que l'on gagne, ce que l'on dépense, et ce qui reste. Fini les mauvaises surprises à la fin du mois.</a:t>
            </a:r>
            <a:endParaRPr lang="en-US" sz="1200" dirty="0">
              <a:latin typeface="Arial" panose="020B0604020202020204" pitchFamily="34" charset="0"/>
              <a:cs typeface="Arial" panose="020B0604020202020204" pitchFamily="34" charset="0"/>
            </a:endParaRPr>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1984" y="4044980"/>
            <a:ext cx="5131804" cy="985360"/>
          </a:xfrm>
          <a:prstGeom prst="rect">
            <a:avLst/>
          </a:prstGeom>
        </p:spPr>
      </p:pic>
      <p:sp>
        <p:nvSpPr>
          <p:cNvPr id="9" name="Text 4"/>
          <p:cNvSpPr/>
          <p:nvPr/>
        </p:nvSpPr>
        <p:spPr>
          <a:xfrm>
            <a:off x="729488" y="4190572"/>
            <a:ext cx="2023523" cy="20855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Anticiper les imprévus</a:t>
            </a:r>
            <a:endParaRPr lang="en-US" sz="1400" dirty="0">
              <a:latin typeface="Arial" panose="020B0604020202020204" pitchFamily="34" charset="0"/>
              <a:cs typeface="Arial" panose="020B0604020202020204" pitchFamily="34" charset="0"/>
            </a:endParaRPr>
          </a:p>
        </p:txBody>
      </p:sp>
      <p:sp>
        <p:nvSpPr>
          <p:cNvPr id="10" name="Text 5"/>
          <p:cNvSpPr/>
          <p:nvPr/>
        </p:nvSpPr>
        <p:spPr>
          <a:xfrm>
            <a:off x="729488" y="4474740"/>
            <a:ext cx="4778710" cy="410009"/>
          </a:xfrm>
          <a:prstGeom prst="rect">
            <a:avLst/>
          </a:prstGeom>
          <a:noFill/>
          <a:ln/>
        </p:spPr>
        <p:txBody>
          <a:bodyPr wrap="square" lIns="0" tIns="0" rIns="0" bIns="0" rtlCol="0" anchor="t">
            <a:noAutofit/>
          </a:bodyPr>
          <a:lstStyle/>
          <a:p>
            <a:pPr>
              <a:lnSpc>
                <a:spcPct val="131000"/>
              </a:lnSpc>
            </a:pPr>
            <a:r>
              <a:rPr lang="en-US" sz="1200" dirty="0">
                <a:solidFill>
                  <a:srgbClr val="272525"/>
                </a:solidFill>
                <a:latin typeface="Arial" panose="020B0604020202020204" pitchFamily="34" charset="0"/>
                <a:ea typeface="Inter" pitchFamily="34" charset="-122"/>
                <a:cs typeface="Arial" panose="020B0604020202020204" pitchFamily="34" charset="0"/>
              </a:rPr>
              <a:t>Constituer une épargne de précaution pour faire face aux coups durs : panne de voiture, frais médicaux, réparations…</a:t>
            </a:r>
            <a:endParaRPr lang="en-US" sz="1200" dirty="0">
              <a:latin typeface="Arial" panose="020B0604020202020204" pitchFamily="34" charset="0"/>
              <a:cs typeface="Arial" panose="020B0604020202020204" pitchFamily="34" charset="0"/>
            </a:endParaRPr>
          </a:p>
        </p:txBody>
      </p:sp>
      <p:pic>
        <p:nvPicPr>
          <p:cNvPr id="11"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1984" y="5156423"/>
            <a:ext cx="5131804" cy="985360"/>
          </a:xfrm>
          <a:prstGeom prst="rect">
            <a:avLst/>
          </a:prstGeom>
        </p:spPr>
      </p:pic>
      <p:sp>
        <p:nvSpPr>
          <p:cNvPr id="12" name="Text 6"/>
          <p:cNvSpPr/>
          <p:nvPr/>
        </p:nvSpPr>
        <p:spPr>
          <a:xfrm>
            <a:off x="729487" y="5302014"/>
            <a:ext cx="1792642" cy="20855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Réaliser ses projets</a:t>
            </a:r>
            <a:endParaRPr lang="en-US" sz="1400" dirty="0">
              <a:latin typeface="Arial" panose="020B0604020202020204" pitchFamily="34" charset="0"/>
              <a:cs typeface="Arial" panose="020B0604020202020204" pitchFamily="34" charset="0"/>
            </a:endParaRPr>
          </a:p>
        </p:txBody>
      </p:sp>
      <p:sp>
        <p:nvSpPr>
          <p:cNvPr id="13" name="Text 7"/>
          <p:cNvSpPr/>
          <p:nvPr/>
        </p:nvSpPr>
        <p:spPr>
          <a:xfrm>
            <a:off x="729488" y="5586183"/>
            <a:ext cx="4778710" cy="410009"/>
          </a:xfrm>
          <a:prstGeom prst="rect">
            <a:avLst/>
          </a:prstGeom>
          <a:noFill/>
          <a:ln/>
        </p:spPr>
        <p:txBody>
          <a:bodyPr wrap="square" lIns="0" tIns="0" rIns="0" bIns="0" rtlCol="0" anchor="t">
            <a:noAutofit/>
          </a:bodyPr>
          <a:lstStyle/>
          <a:p>
            <a:pPr>
              <a:lnSpc>
                <a:spcPct val="131000"/>
              </a:lnSpc>
            </a:pPr>
            <a:r>
              <a:rPr lang="en-US" sz="1200" dirty="0">
                <a:solidFill>
                  <a:srgbClr val="272525"/>
                </a:solidFill>
                <a:latin typeface="Arial" panose="020B0604020202020204" pitchFamily="34" charset="0"/>
                <a:ea typeface="Inter" pitchFamily="34" charset="-122"/>
                <a:cs typeface="Arial" panose="020B0604020202020204" pitchFamily="34" charset="0"/>
              </a:rPr>
              <a:t>Partir en vacances, acheter un équipement, aider ses enfants… Un budget maîtrisé transforme les rêves en projets concrets.</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7462" y="491057"/>
            <a:ext cx="7905533" cy="43016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Tour d'horizon des applications de budget</a:t>
            </a:r>
            <a:endParaRPr lang="en-US" sz="2400" dirty="0">
              <a:latin typeface="+mj-lt"/>
            </a:endParaRPr>
          </a:p>
        </p:txBody>
      </p:sp>
      <p:sp>
        <p:nvSpPr>
          <p:cNvPr id="3" name="Text 1"/>
          <p:cNvSpPr/>
          <p:nvPr/>
        </p:nvSpPr>
        <p:spPr>
          <a:xfrm>
            <a:off x="553665" y="1244257"/>
            <a:ext cx="9326377" cy="660697"/>
          </a:xfrm>
          <a:prstGeom prst="rect">
            <a:avLst/>
          </a:prstGeom>
          <a:noFill/>
          <a:ln/>
        </p:spPr>
        <p:txBody>
          <a:bodyPr wrap="none" lIns="0" tIns="0" rIns="0" bIns="0" rtlCol="0" anchor="t"/>
          <a:lstStyle/>
          <a:p>
            <a:pPr>
              <a:lnSpc>
                <a:spcPct val="133000"/>
              </a:lnSpc>
            </a:pPr>
            <a:r>
              <a:rPr lang="en-US" sz="1400" dirty="0">
                <a:solidFill>
                  <a:srgbClr val="272525"/>
                </a:solidFill>
                <a:latin typeface="+mj-lt"/>
                <a:ea typeface="Inter" pitchFamily="34" charset="-122"/>
                <a:cs typeface="Inter" pitchFamily="34" charset="-120"/>
              </a:rPr>
              <a:t>Il existe aujourd'hui des dizaines d'applications pour gérer ses finances. Voici les plus </a:t>
            </a:r>
            <a:r>
              <a:rPr lang="en-US" sz="1400" dirty="0" err="1">
                <a:solidFill>
                  <a:srgbClr val="272525"/>
                </a:solidFill>
                <a:latin typeface="+mj-lt"/>
                <a:ea typeface="Inter" pitchFamily="34" charset="-122"/>
                <a:cs typeface="Inter" pitchFamily="34" charset="-120"/>
              </a:rPr>
              <a:t>populaires</a:t>
            </a:r>
            <a:endParaRPr lang="en-US" sz="1400" dirty="0">
              <a:solidFill>
                <a:srgbClr val="272525"/>
              </a:solidFill>
              <a:latin typeface="+mj-lt"/>
              <a:ea typeface="Inter" pitchFamily="34" charset="-122"/>
              <a:cs typeface="Inter" pitchFamily="34" charset="-120"/>
            </a:endParaRPr>
          </a:p>
          <a:p>
            <a:pPr>
              <a:lnSpc>
                <a:spcPct val="133000"/>
              </a:lnSpc>
            </a:pPr>
            <a:r>
              <a:rPr lang="en-US" sz="1400" dirty="0" err="1">
                <a:solidFill>
                  <a:srgbClr val="272525"/>
                </a:solidFill>
                <a:latin typeface="+mj-lt"/>
                <a:ea typeface="Inter" pitchFamily="34" charset="-122"/>
                <a:cs typeface="Inter" pitchFamily="34" charset="-120"/>
              </a:rPr>
              <a:t>en</a:t>
            </a:r>
            <a:r>
              <a:rPr lang="en-US" sz="1400" dirty="0">
                <a:solidFill>
                  <a:srgbClr val="272525"/>
                </a:solidFill>
                <a:latin typeface="+mj-lt"/>
                <a:ea typeface="Inter" pitchFamily="34" charset="-122"/>
                <a:cs typeface="Inter" pitchFamily="34" charset="-120"/>
              </a:rPr>
              <a:t> France, pour tous les profils :</a:t>
            </a:r>
            <a:endParaRPr lang="en-US" sz="1400" dirty="0">
              <a:latin typeface="+mj-lt"/>
            </a:endParaRPr>
          </a:p>
        </p:txBody>
      </p:sp>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7462" y="2163987"/>
            <a:ext cx="1642375" cy="1015026"/>
          </a:xfrm>
          <a:prstGeom prst="rect">
            <a:avLst/>
          </a:prstGeom>
        </p:spPr>
      </p:pic>
      <p:sp>
        <p:nvSpPr>
          <p:cNvPr id="5" name="Text 2"/>
          <p:cNvSpPr/>
          <p:nvPr/>
        </p:nvSpPr>
        <p:spPr>
          <a:xfrm>
            <a:off x="537462" y="334693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Linxo</a:t>
            </a:r>
            <a:endParaRPr lang="en-US" sz="1400" dirty="0">
              <a:latin typeface="+mj-lt"/>
            </a:endParaRPr>
          </a:p>
        </p:txBody>
      </p:sp>
      <p:sp>
        <p:nvSpPr>
          <p:cNvPr id="6" name="Text 3"/>
          <p:cNvSpPr/>
          <p:nvPr/>
        </p:nvSpPr>
        <p:spPr>
          <a:xfrm>
            <a:off x="537462" y="3642711"/>
            <a:ext cx="2831690" cy="1075005"/>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L'application française de référence. Elle se connecte à vos comptes bancaires et catégorise automatiquement vos dépenses. Idéale pour avoir une vue d'ensemble instantanée.</a:t>
            </a:r>
            <a:endParaRPr lang="en-US" sz="1200" dirty="0">
              <a:latin typeface="+mj-lt"/>
            </a:endParaRPr>
          </a:p>
        </p:txBody>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37073" y="2163987"/>
            <a:ext cx="1642375" cy="1015026"/>
          </a:xfrm>
          <a:prstGeom prst="rect">
            <a:avLst/>
          </a:prstGeom>
        </p:spPr>
      </p:pic>
      <p:sp>
        <p:nvSpPr>
          <p:cNvPr id="8" name="Text 4"/>
          <p:cNvSpPr/>
          <p:nvPr/>
        </p:nvSpPr>
        <p:spPr>
          <a:xfrm>
            <a:off x="3537074" y="334693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Bankin'</a:t>
            </a:r>
            <a:endParaRPr lang="en-US" sz="1400" dirty="0">
              <a:latin typeface="+mj-lt"/>
            </a:endParaRPr>
          </a:p>
        </p:txBody>
      </p:sp>
      <p:sp>
        <p:nvSpPr>
          <p:cNvPr id="9" name="Text 5"/>
          <p:cNvSpPr/>
          <p:nvPr/>
        </p:nvSpPr>
        <p:spPr>
          <a:xfrm>
            <a:off x="3537074" y="3642712"/>
            <a:ext cx="2831772" cy="860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Très populaire et intuitive, Bankin' agrège tous vos comptes en un seul endroit. Son coach financier virtuel vous alerte sur vos habitudes de dépenses.</a:t>
            </a:r>
            <a:endParaRPr lang="en-US" sz="1200" dirty="0">
              <a:latin typeface="+mj-lt"/>
            </a:endParaRPr>
          </a:p>
        </p:txBody>
      </p:sp>
      <p:pic>
        <p:nvPicPr>
          <p:cNvPr id="10"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36767" y="2163987"/>
            <a:ext cx="1642375" cy="1015026"/>
          </a:xfrm>
          <a:prstGeom prst="rect">
            <a:avLst/>
          </a:prstGeom>
        </p:spPr>
      </p:pic>
      <p:sp>
        <p:nvSpPr>
          <p:cNvPr id="11" name="Text 6"/>
          <p:cNvSpPr/>
          <p:nvPr/>
        </p:nvSpPr>
        <p:spPr>
          <a:xfrm>
            <a:off x="6536767" y="334693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Budgea</a:t>
            </a:r>
            <a:endParaRPr lang="en-US" sz="1400" dirty="0">
              <a:latin typeface="+mj-lt"/>
            </a:endParaRPr>
          </a:p>
        </p:txBody>
      </p:sp>
      <p:sp>
        <p:nvSpPr>
          <p:cNvPr id="12" name="Text 7"/>
          <p:cNvSpPr/>
          <p:nvPr/>
        </p:nvSpPr>
        <p:spPr>
          <a:xfrm>
            <a:off x="6536768" y="3642712"/>
            <a:ext cx="2831772" cy="860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Solution complète avec tableaux de bord personnalisables. Parfaite pour ceux qui aiment analyser leurs finances en détail et définir des budgets par catégorie.</a:t>
            </a:r>
            <a:endParaRPr lang="en-US" sz="1200" dirty="0">
              <a:latin typeface="+mj-lt"/>
            </a:endParaRPr>
          </a:p>
        </p:txBody>
      </p:sp>
      <p:sp>
        <p:nvSpPr>
          <p:cNvPr id="13" name="Shape 8"/>
          <p:cNvSpPr/>
          <p:nvPr/>
        </p:nvSpPr>
        <p:spPr>
          <a:xfrm>
            <a:off x="537421" y="5505708"/>
            <a:ext cx="8831077" cy="738919"/>
          </a:xfrm>
          <a:prstGeom prst="roundRect">
            <a:avLst>
              <a:gd name="adj" fmla="val 7638"/>
            </a:avLst>
          </a:prstGeom>
          <a:solidFill>
            <a:srgbClr val="B6D6FC">
              <a:alpha val="80000"/>
            </a:srgbClr>
          </a:solidFill>
          <a:ln/>
        </p:spPr>
      </p:sp>
      <p:pic>
        <p:nvPicPr>
          <p:cNvPr id="14"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1724" y="5700473"/>
            <a:ext cx="167921" cy="134305"/>
          </a:xfrm>
          <a:prstGeom prst="rect">
            <a:avLst/>
          </a:prstGeom>
        </p:spPr>
      </p:pic>
      <p:sp>
        <p:nvSpPr>
          <p:cNvPr id="15" name="Text 9"/>
          <p:cNvSpPr/>
          <p:nvPr/>
        </p:nvSpPr>
        <p:spPr>
          <a:xfrm>
            <a:off x="973952" y="5660166"/>
            <a:ext cx="8260240" cy="430002"/>
          </a:xfrm>
          <a:prstGeom prst="rect">
            <a:avLst/>
          </a:prstGeom>
          <a:noFill/>
          <a:ln/>
        </p:spPr>
        <p:txBody>
          <a:bodyPr wrap="square" lIns="0" tIns="0" rIns="0" bIns="0" rtlCol="0" anchor="t">
            <a:noAutofit/>
          </a:bodyPr>
          <a:lstStyle/>
          <a:p>
            <a:pPr>
              <a:lnSpc>
                <a:spcPct val="133000"/>
              </a:lnSpc>
            </a:pPr>
            <a:r>
              <a:rPr lang="en-US" sz="1200" dirty="0">
                <a:solidFill>
                  <a:srgbClr val="000000"/>
                </a:solidFill>
                <a:latin typeface="+mj-lt"/>
                <a:ea typeface="Inter" pitchFamily="34" charset="-122"/>
                <a:cs typeface="Inter" pitchFamily="34" charset="-120"/>
              </a:rPr>
              <a:t>Ces applications utilisent une connexion sécurisée dite DSP2 (norme européenne). Elles peuvent </a:t>
            </a:r>
            <a:r>
              <a:rPr lang="en-US" sz="1200" b="1" dirty="0">
                <a:solidFill>
                  <a:srgbClr val="000000"/>
                </a:solidFill>
                <a:latin typeface="+mj-lt"/>
                <a:ea typeface="Inter Bold" pitchFamily="34" charset="-122"/>
                <a:cs typeface="Inter Bold" pitchFamily="34" charset="-120"/>
              </a:rPr>
              <a:t>lire</a:t>
            </a:r>
            <a:r>
              <a:rPr lang="en-US" sz="1200" dirty="0">
                <a:solidFill>
                  <a:srgbClr val="000000"/>
                </a:solidFill>
                <a:latin typeface="+mj-lt"/>
                <a:ea typeface="Inter" pitchFamily="34" charset="-122"/>
                <a:cs typeface="Inter" pitchFamily="34" charset="-120"/>
              </a:rPr>
              <a:t> vos données bancaires mais ne peuvent jamais effectuer d'opérations à votre place.</a:t>
            </a:r>
            <a:endParaRPr lang="en-US" sz="12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45068" y="715992"/>
            <a:ext cx="3658308" cy="5487462"/>
          </a:xfrm>
          <a:prstGeom prst="rect">
            <a:avLst/>
          </a:prstGeom>
        </p:spPr>
      </p:pic>
      <p:sp>
        <p:nvSpPr>
          <p:cNvPr id="3" name="Text 0"/>
          <p:cNvSpPr/>
          <p:nvPr/>
        </p:nvSpPr>
        <p:spPr>
          <a:xfrm>
            <a:off x="352840" y="257039"/>
            <a:ext cx="6004828" cy="850007"/>
          </a:xfrm>
          <a:prstGeom prst="rect">
            <a:avLst/>
          </a:prstGeom>
          <a:noFill/>
          <a:ln/>
        </p:spPr>
        <p:txBody>
          <a:bodyPr wrap="square" lIns="0" tIns="0" rIns="0" bIns="0" rtlCol="0" anchor="t">
            <a:normAutofit/>
          </a:bodyPr>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Applications gratuites vs. payantes</a:t>
            </a:r>
            <a:endParaRPr lang="en-US" sz="2400" dirty="0">
              <a:latin typeface="+mj-lt"/>
            </a:endParaRPr>
          </a:p>
        </p:txBody>
      </p:sp>
      <p:sp>
        <p:nvSpPr>
          <p:cNvPr id="4" name="Text 1"/>
          <p:cNvSpPr/>
          <p:nvPr/>
        </p:nvSpPr>
        <p:spPr>
          <a:xfrm>
            <a:off x="440724" y="847377"/>
            <a:ext cx="5116327" cy="430002"/>
          </a:xfrm>
          <a:prstGeom prst="rect">
            <a:avLst/>
          </a:prstGeom>
          <a:noFill/>
          <a:ln/>
        </p:spPr>
        <p:txBody>
          <a:bodyPr wrap="square" lIns="0" tIns="0" rIns="0" bIns="0" rtlCol="0" anchor="t">
            <a:noAutofit/>
          </a:bodyPr>
          <a:lstStyle/>
          <a:p>
            <a:pPr>
              <a:lnSpc>
                <a:spcPct val="133000"/>
              </a:lnSpc>
            </a:pPr>
            <a:r>
              <a:rPr lang="en-US" sz="1400" dirty="0">
                <a:solidFill>
                  <a:srgbClr val="272525"/>
                </a:solidFill>
                <a:latin typeface="+mj-lt"/>
                <a:ea typeface="Inter" pitchFamily="34" charset="-122"/>
                <a:cs typeface="Inter" pitchFamily="34" charset="-120"/>
              </a:rPr>
              <a:t>Pas besoin de dépenser de l'argent pour gérer… son argent ! La plupart des outils proposent une version gratuite très complète. Voici comment choisir :</a:t>
            </a:r>
            <a:endParaRPr lang="en-US" sz="1400" dirty="0">
              <a:latin typeface="+mj-lt"/>
            </a:endParaRPr>
          </a:p>
        </p:txBody>
      </p:sp>
      <p:sp>
        <p:nvSpPr>
          <p:cNvPr id="5" name="Shape 2"/>
          <p:cNvSpPr/>
          <p:nvPr/>
        </p:nvSpPr>
        <p:spPr>
          <a:xfrm>
            <a:off x="440724" y="2863081"/>
            <a:ext cx="2587749" cy="2675077"/>
          </a:xfrm>
          <a:prstGeom prst="roundRect">
            <a:avLst>
              <a:gd name="adj" fmla="val 3739"/>
            </a:avLst>
          </a:prstGeom>
          <a:solidFill>
            <a:srgbClr val="4950BC"/>
          </a:solidFill>
          <a:ln/>
        </p:spPr>
      </p:sp>
      <p:sp>
        <p:nvSpPr>
          <p:cNvPr id="6" name="Text 3"/>
          <p:cNvSpPr/>
          <p:nvPr/>
        </p:nvSpPr>
        <p:spPr>
          <a:xfrm>
            <a:off x="575029" y="2997387"/>
            <a:ext cx="2175080" cy="210003"/>
          </a:xfrm>
          <a:prstGeom prst="rect">
            <a:avLst/>
          </a:prstGeom>
          <a:noFill/>
          <a:ln/>
        </p:spPr>
        <p:txBody>
          <a:bodyPr wrap="none" lIns="0" tIns="0" rIns="0" bIns="0" rtlCol="0" anchor="t"/>
          <a:lstStyle/>
          <a:p>
            <a:pPr algn="ctr">
              <a:lnSpc>
                <a:spcPct val="104000"/>
              </a:lnSpc>
            </a:pPr>
            <a:r>
              <a:rPr lang="en-US" sz="1400" b="1" dirty="0">
                <a:solidFill>
                  <a:srgbClr val="FFFFFF"/>
                </a:solidFill>
                <a:latin typeface="+mj-lt"/>
                <a:ea typeface="Inter Bold" pitchFamily="34" charset="-122"/>
                <a:cs typeface="Inter Bold" pitchFamily="34" charset="-120"/>
              </a:rPr>
              <a:t>Version gratuite</a:t>
            </a:r>
            <a:endParaRPr lang="en-US" sz="1400" dirty="0">
              <a:latin typeface="+mj-lt"/>
            </a:endParaRPr>
          </a:p>
        </p:txBody>
      </p:sp>
      <p:sp>
        <p:nvSpPr>
          <p:cNvPr id="7" name="Text 4"/>
          <p:cNvSpPr/>
          <p:nvPr/>
        </p:nvSpPr>
        <p:spPr>
          <a:xfrm>
            <a:off x="575029" y="3341695"/>
            <a:ext cx="2319139" cy="430002"/>
          </a:xfrm>
          <a:prstGeom prst="rect">
            <a:avLst/>
          </a:prstGeom>
          <a:noFill/>
          <a:ln/>
        </p:spPr>
        <p:txBody>
          <a:bodyPr wrap="square" lIns="0" tIns="0" rIns="0" bIns="0" rtlCol="0" anchor="t">
            <a:noAutofit/>
          </a:bodyPr>
          <a:lstStyle/>
          <a:p>
            <a:pPr>
              <a:lnSpc>
                <a:spcPct val="133000"/>
              </a:lnSpc>
            </a:pPr>
            <a:r>
              <a:rPr lang="en-US" sz="1200" dirty="0">
                <a:solidFill>
                  <a:srgbClr val="FFFFFF"/>
                </a:solidFill>
                <a:latin typeface="+mj-lt"/>
                <a:ea typeface="Inter" pitchFamily="34" charset="-122"/>
                <a:cs typeface="Inter" pitchFamily="34" charset="-120"/>
              </a:rPr>
              <a:t>Suffisante pour la grande majorité des utilisateurs</a:t>
            </a:r>
            <a:endParaRPr lang="en-US" sz="1200" dirty="0">
              <a:latin typeface="+mj-lt"/>
            </a:endParaRPr>
          </a:p>
        </p:txBody>
      </p:sp>
      <p:sp>
        <p:nvSpPr>
          <p:cNvPr id="8" name="Text 5"/>
          <p:cNvSpPr/>
          <p:nvPr/>
        </p:nvSpPr>
        <p:spPr>
          <a:xfrm>
            <a:off x="575029" y="3892618"/>
            <a:ext cx="2319139" cy="1735001"/>
          </a:xfrm>
          <a:prstGeom prst="rect">
            <a:avLst/>
          </a:prstGeom>
          <a:noFill/>
          <a:ln/>
        </p:spPr>
        <p:txBody>
          <a:bodyPr wrap="square" lIns="0" tIns="0" rIns="0" bIns="0" rtlCol="0" anchor="t">
            <a:noAutofit/>
          </a:bodyPr>
          <a:lstStyle/>
          <a:p>
            <a:pPr marL="209120" indent="-209120">
              <a:lnSpc>
                <a:spcPct val="133000"/>
              </a:lnSpc>
              <a:buSzPct val="100000"/>
              <a:buChar char="•"/>
            </a:pPr>
            <a:r>
              <a:rPr lang="en-US" sz="1200" dirty="0">
                <a:solidFill>
                  <a:srgbClr val="FFFFFF"/>
                </a:solidFill>
                <a:latin typeface="+mj-lt"/>
                <a:ea typeface="Inter" pitchFamily="34" charset="-122"/>
                <a:cs typeface="Inter" pitchFamily="34" charset="-120"/>
              </a:rPr>
              <a:t>Connexion à 1 ou 2 banques</a:t>
            </a:r>
            <a:endParaRPr lang="en-US" sz="1200" dirty="0">
              <a:latin typeface="+mj-lt"/>
            </a:endParaRPr>
          </a:p>
          <a:p>
            <a:pPr marL="209120" indent="-209120">
              <a:lnSpc>
                <a:spcPct val="133000"/>
              </a:lnSpc>
              <a:buSzPct val="100000"/>
              <a:buChar char="•"/>
            </a:pPr>
            <a:r>
              <a:rPr lang="en-US" sz="1200" dirty="0">
                <a:solidFill>
                  <a:srgbClr val="FFFFFF"/>
                </a:solidFill>
                <a:latin typeface="+mj-lt"/>
                <a:ea typeface="Inter" pitchFamily="34" charset="-122"/>
                <a:cs typeface="Inter" pitchFamily="34" charset="-120"/>
              </a:rPr>
              <a:t>Catégorisation automatique</a:t>
            </a:r>
            <a:endParaRPr lang="en-US" sz="1200" dirty="0">
              <a:latin typeface="+mj-lt"/>
            </a:endParaRPr>
          </a:p>
          <a:p>
            <a:pPr marL="209120" indent="-209120">
              <a:lnSpc>
                <a:spcPct val="133000"/>
              </a:lnSpc>
              <a:buSzPct val="100000"/>
              <a:buChar char="•"/>
            </a:pPr>
            <a:r>
              <a:rPr lang="en-US" sz="1200" dirty="0">
                <a:solidFill>
                  <a:srgbClr val="FFFFFF"/>
                </a:solidFill>
                <a:latin typeface="+mj-lt"/>
                <a:ea typeface="Inter" pitchFamily="34" charset="-122"/>
                <a:cs typeface="Inter" pitchFamily="34" charset="-120"/>
              </a:rPr>
              <a:t>Tableaux de dépenses basiques</a:t>
            </a:r>
            <a:endParaRPr lang="en-US" sz="1200" dirty="0">
              <a:latin typeface="+mj-lt"/>
            </a:endParaRPr>
          </a:p>
          <a:p>
            <a:pPr marL="209120" indent="-209120">
              <a:lnSpc>
                <a:spcPct val="133000"/>
              </a:lnSpc>
              <a:buSzPct val="100000"/>
              <a:buChar char="•"/>
            </a:pPr>
            <a:r>
              <a:rPr lang="en-US" sz="1200" dirty="0">
                <a:solidFill>
                  <a:srgbClr val="FFFFFF"/>
                </a:solidFill>
                <a:latin typeface="+mj-lt"/>
                <a:ea typeface="Inter" pitchFamily="34" charset="-122"/>
                <a:cs typeface="Inter" pitchFamily="34" charset="-120"/>
              </a:rPr>
              <a:t>Alertes de solde</a:t>
            </a:r>
            <a:endParaRPr lang="en-US" sz="1200" dirty="0">
              <a:latin typeface="+mj-lt"/>
            </a:endParaRPr>
          </a:p>
          <a:p>
            <a:pPr marL="209120" indent="-209120">
              <a:lnSpc>
                <a:spcPct val="133000"/>
              </a:lnSpc>
              <a:buSzPct val="100000"/>
              <a:buChar char="•"/>
            </a:pPr>
            <a:r>
              <a:rPr lang="en-US" sz="1200" dirty="0">
                <a:solidFill>
                  <a:srgbClr val="FFFFFF"/>
                </a:solidFill>
                <a:latin typeface="+mj-lt"/>
                <a:ea typeface="Inter" pitchFamily="34" charset="-122"/>
                <a:cs typeface="Inter" pitchFamily="34" charset="-120"/>
              </a:rPr>
              <a:t>Historique sur 3 mois</a:t>
            </a:r>
            <a:endParaRPr lang="en-US" sz="1200" dirty="0">
              <a:latin typeface="+mj-lt"/>
            </a:endParaRPr>
          </a:p>
        </p:txBody>
      </p:sp>
      <p:sp>
        <p:nvSpPr>
          <p:cNvPr id="9" name="Text 6"/>
          <p:cNvSpPr/>
          <p:nvPr/>
        </p:nvSpPr>
        <p:spPr>
          <a:xfrm>
            <a:off x="3264675" y="2997387"/>
            <a:ext cx="2394273" cy="420005"/>
          </a:xfrm>
          <a:prstGeom prst="rect">
            <a:avLst/>
          </a:prstGeom>
          <a:noFill/>
          <a:ln/>
        </p:spPr>
        <p:txBody>
          <a:bodyPr wrap="square" lIns="0" tIns="0" rIns="0" bIns="0" rtlCol="0" anchor="t">
            <a:noAutofit/>
          </a:bodyPr>
          <a:lstStyle/>
          <a:p>
            <a:pPr algn="ctr">
              <a:lnSpc>
                <a:spcPct val="104000"/>
              </a:lnSpc>
            </a:pPr>
            <a:r>
              <a:rPr lang="en-US" sz="1400" b="1" dirty="0">
                <a:solidFill>
                  <a:srgbClr val="000000"/>
                </a:solidFill>
                <a:latin typeface="+mj-lt"/>
                <a:ea typeface="Inter Bold" pitchFamily="34" charset="-122"/>
                <a:cs typeface="Inter Bold" pitchFamily="34" charset="-120"/>
              </a:rPr>
              <a:t>Version premium</a:t>
            </a:r>
          </a:p>
          <a:p>
            <a:pPr algn="ctr">
              <a:lnSpc>
                <a:spcPct val="104000"/>
              </a:lnSpc>
            </a:pPr>
            <a:r>
              <a:rPr lang="en-US" sz="1400" b="1" dirty="0">
                <a:solidFill>
                  <a:srgbClr val="000000"/>
                </a:solidFill>
                <a:latin typeface="+mj-lt"/>
                <a:ea typeface="Inter Bold" pitchFamily="34" charset="-122"/>
                <a:cs typeface="Inter Bold" pitchFamily="34" charset="-120"/>
              </a:rPr>
              <a:t>(~3–5 €/mois)</a:t>
            </a:r>
            <a:endParaRPr lang="en-US" sz="1400" dirty="0">
              <a:latin typeface="+mj-lt"/>
            </a:endParaRPr>
          </a:p>
        </p:txBody>
      </p:sp>
      <p:sp>
        <p:nvSpPr>
          <p:cNvPr id="10" name="Text 7"/>
          <p:cNvSpPr/>
          <p:nvPr/>
        </p:nvSpPr>
        <p:spPr>
          <a:xfrm>
            <a:off x="3264675" y="3551696"/>
            <a:ext cx="2889573" cy="215001"/>
          </a:xfrm>
          <a:prstGeom prst="rect">
            <a:avLst/>
          </a:prstGeom>
          <a:noFill/>
          <a:ln/>
        </p:spPr>
        <p:txBody>
          <a:bodyPr wrap="none" lIns="0" tIns="0" rIns="0" bIns="0" rtlCol="0" anchor="t"/>
          <a:lstStyle/>
          <a:p>
            <a:pPr>
              <a:lnSpc>
                <a:spcPct val="133000"/>
              </a:lnSpc>
            </a:pPr>
            <a:r>
              <a:rPr lang="en-US" sz="1200" dirty="0">
                <a:solidFill>
                  <a:srgbClr val="272525"/>
                </a:solidFill>
                <a:latin typeface="+mj-lt"/>
                <a:ea typeface="Inter" pitchFamily="34" charset="-122"/>
                <a:cs typeface="Inter" pitchFamily="34" charset="-120"/>
              </a:rPr>
              <a:t>Pour aller plus loin dans l'analyse</a:t>
            </a:r>
            <a:endParaRPr lang="en-US" sz="1200" dirty="0">
              <a:latin typeface="+mj-lt"/>
            </a:endParaRPr>
          </a:p>
        </p:txBody>
      </p:sp>
      <p:sp>
        <p:nvSpPr>
          <p:cNvPr id="11" name="Text 8"/>
          <p:cNvSpPr/>
          <p:nvPr/>
        </p:nvSpPr>
        <p:spPr>
          <a:xfrm>
            <a:off x="3264675" y="3887620"/>
            <a:ext cx="2587749" cy="1974422"/>
          </a:xfrm>
          <a:prstGeom prst="rect">
            <a:avLst/>
          </a:prstGeom>
          <a:noFill/>
          <a:ln/>
        </p:spPr>
        <p:txBody>
          <a:bodyPr wrap="square" lIns="0" tIns="0" rIns="0" bIns="0" rtlCol="0" anchor="t">
            <a:noAutofit/>
          </a:bodyPr>
          <a:lstStyle/>
          <a:p>
            <a:pPr marL="209120" indent="-209120">
              <a:lnSpc>
                <a:spcPct val="133000"/>
              </a:lnSpc>
              <a:buSzPct val="100000"/>
              <a:buChar char="•"/>
            </a:pPr>
            <a:r>
              <a:rPr lang="en-US" sz="1200" dirty="0">
                <a:solidFill>
                  <a:srgbClr val="272525"/>
                </a:solidFill>
                <a:latin typeface="+mj-lt"/>
                <a:ea typeface="Inter" pitchFamily="34" charset="-122"/>
                <a:cs typeface="Inter" pitchFamily="34" charset="-120"/>
              </a:rPr>
              <a:t>Connexion illimitée à toutes les banques</a:t>
            </a:r>
            <a:endParaRPr lang="en-US" sz="1200" dirty="0">
              <a:latin typeface="+mj-lt"/>
            </a:endParaRPr>
          </a:p>
          <a:p>
            <a:pPr marL="209120" indent="-209120">
              <a:lnSpc>
                <a:spcPct val="133000"/>
              </a:lnSpc>
              <a:buSzPct val="100000"/>
              <a:buChar char="•"/>
            </a:pPr>
            <a:r>
              <a:rPr lang="en-US" sz="1200" dirty="0">
                <a:solidFill>
                  <a:srgbClr val="272525"/>
                </a:solidFill>
                <a:latin typeface="+mj-lt"/>
                <a:ea typeface="Inter" pitchFamily="34" charset="-122"/>
                <a:cs typeface="Inter" pitchFamily="34" charset="-120"/>
              </a:rPr>
              <a:t>Prévisions et simulations</a:t>
            </a:r>
            <a:endParaRPr lang="en-US" sz="1200" dirty="0">
              <a:latin typeface="+mj-lt"/>
            </a:endParaRPr>
          </a:p>
          <a:p>
            <a:pPr marL="209120" indent="-209120">
              <a:lnSpc>
                <a:spcPct val="133000"/>
              </a:lnSpc>
              <a:buSzPct val="100000"/>
              <a:buChar char="•"/>
            </a:pPr>
            <a:r>
              <a:rPr lang="en-US" sz="1200" dirty="0">
                <a:solidFill>
                  <a:srgbClr val="272525"/>
                </a:solidFill>
                <a:latin typeface="+mj-lt"/>
                <a:ea typeface="Inter" pitchFamily="34" charset="-122"/>
                <a:cs typeface="Inter" pitchFamily="34" charset="-120"/>
              </a:rPr>
              <a:t>Catégories personnalisées avancées</a:t>
            </a:r>
            <a:endParaRPr lang="en-US" sz="1200" dirty="0">
              <a:latin typeface="+mj-lt"/>
            </a:endParaRPr>
          </a:p>
          <a:p>
            <a:pPr marL="209120" indent="-209120">
              <a:lnSpc>
                <a:spcPct val="133000"/>
              </a:lnSpc>
              <a:buSzPct val="100000"/>
              <a:buChar char="•"/>
            </a:pPr>
            <a:r>
              <a:rPr lang="en-US" sz="1200" dirty="0">
                <a:solidFill>
                  <a:srgbClr val="272525"/>
                </a:solidFill>
                <a:latin typeface="+mj-lt"/>
                <a:ea typeface="Inter" pitchFamily="34" charset="-122"/>
                <a:cs typeface="Inter" pitchFamily="34" charset="-120"/>
              </a:rPr>
              <a:t>Export des données (Excel, PDF)</a:t>
            </a:r>
            <a:endParaRPr lang="en-US" sz="1200" dirty="0">
              <a:latin typeface="+mj-lt"/>
            </a:endParaRPr>
          </a:p>
          <a:p>
            <a:pPr marL="209120" indent="-209120">
              <a:lnSpc>
                <a:spcPct val="133000"/>
              </a:lnSpc>
              <a:buSzPct val="100000"/>
              <a:buChar char="•"/>
            </a:pPr>
            <a:r>
              <a:rPr lang="en-US" sz="1200" dirty="0">
                <a:solidFill>
                  <a:srgbClr val="272525"/>
                </a:solidFill>
                <a:latin typeface="+mj-lt"/>
                <a:ea typeface="Inter" pitchFamily="34" charset="-122"/>
                <a:cs typeface="Inter" pitchFamily="34" charset="-120"/>
              </a:rPr>
              <a:t>Historique illimité</a:t>
            </a:r>
            <a:endParaRPr lang="en-US" sz="1200"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8" name="Shape 11">
            <a:extLst>
              <a:ext uri="{FF2B5EF4-FFF2-40B4-BE49-F238E27FC236}">
                <a16:creationId xmlns:a16="http://schemas.microsoft.com/office/drawing/2014/main" id="{492C5A10-9219-D5E6-52F1-7E10104E330F}"/>
              </a:ext>
            </a:extLst>
          </p:cNvPr>
          <p:cNvSpPr/>
          <p:nvPr/>
        </p:nvSpPr>
        <p:spPr>
          <a:xfrm>
            <a:off x="456337" y="823038"/>
            <a:ext cx="8831077" cy="539960"/>
          </a:xfrm>
          <a:prstGeom prst="roundRect">
            <a:avLst>
              <a:gd name="adj" fmla="val 14980"/>
            </a:avLst>
          </a:prstGeom>
          <a:solidFill>
            <a:schemeClr val="accent1">
              <a:lumMod val="40000"/>
              <a:lumOff val="60000"/>
              <a:alpha val="80000"/>
            </a:schemeClr>
          </a:solidFill>
          <a:ln/>
        </p:spPr>
      </p:sp>
      <p:sp>
        <p:nvSpPr>
          <p:cNvPr id="17" name="Shape 11">
            <a:extLst>
              <a:ext uri="{FF2B5EF4-FFF2-40B4-BE49-F238E27FC236}">
                <a16:creationId xmlns:a16="http://schemas.microsoft.com/office/drawing/2014/main" id="{6F3EF0F0-816E-8DA1-9EC1-A31A275E28B9}"/>
              </a:ext>
            </a:extLst>
          </p:cNvPr>
          <p:cNvSpPr/>
          <p:nvPr/>
        </p:nvSpPr>
        <p:spPr>
          <a:xfrm>
            <a:off x="492086" y="5480664"/>
            <a:ext cx="8831077" cy="539960"/>
          </a:xfrm>
          <a:prstGeom prst="roundRect">
            <a:avLst>
              <a:gd name="adj" fmla="val 14980"/>
            </a:avLst>
          </a:prstGeom>
          <a:solidFill>
            <a:schemeClr val="accent1">
              <a:lumMod val="40000"/>
              <a:lumOff val="60000"/>
              <a:alpha val="80000"/>
            </a:schemeClr>
          </a:solidFill>
          <a:ln/>
        </p:spPr>
      </p:sp>
      <p:sp>
        <p:nvSpPr>
          <p:cNvPr id="2" name="Text 0"/>
          <p:cNvSpPr/>
          <p:nvPr/>
        </p:nvSpPr>
        <p:spPr>
          <a:xfrm>
            <a:off x="537463" y="383963"/>
            <a:ext cx="4835141" cy="22822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Comment bien démarrer : les premières étapes</a:t>
            </a:r>
            <a:endParaRPr lang="en-US" sz="2400" dirty="0">
              <a:latin typeface="+mj-lt"/>
            </a:endParaRPr>
          </a:p>
        </p:txBody>
      </p:sp>
      <p:sp>
        <p:nvSpPr>
          <p:cNvPr id="3" name="Text 1"/>
          <p:cNvSpPr/>
          <p:nvPr/>
        </p:nvSpPr>
        <p:spPr>
          <a:xfrm>
            <a:off x="756991" y="910719"/>
            <a:ext cx="9326377" cy="368139"/>
          </a:xfrm>
          <a:prstGeom prst="rect">
            <a:avLst/>
          </a:prstGeom>
          <a:noFill/>
          <a:ln/>
        </p:spPr>
        <p:txBody>
          <a:bodyPr wrap="none" lIns="0" tIns="0" rIns="0" bIns="0" rtlCol="0" anchor="t"/>
          <a:lstStyle/>
          <a:p>
            <a:pPr>
              <a:lnSpc>
                <a:spcPct val="102000"/>
              </a:lnSpc>
            </a:pPr>
            <a:r>
              <a:rPr lang="en-US" sz="1200" dirty="0">
                <a:solidFill>
                  <a:srgbClr val="272525"/>
                </a:solidFill>
                <a:latin typeface="+mj-lt"/>
                <a:ea typeface="Inter" pitchFamily="34" charset="-122"/>
                <a:cs typeface="Inter" pitchFamily="34" charset="-120"/>
              </a:rPr>
              <a:t>Se lancer dans la gestion budgétaire numérique ne prend que quelques minutes. Suivez ces étapes simples</a:t>
            </a:r>
            <a:br>
              <a:rPr lang="en-US" sz="1200" dirty="0">
                <a:solidFill>
                  <a:srgbClr val="272525"/>
                </a:solidFill>
                <a:latin typeface="+mj-lt"/>
                <a:ea typeface="Inter" pitchFamily="34" charset="-122"/>
                <a:cs typeface="Inter" pitchFamily="34" charset="-120"/>
              </a:rPr>
            </a:br>
            <a:r>
              <a:rPr lang="en-US" sz="1200" dirty="0">
                <a:solidFill>
                  <a:srgbClr val="272525"/>
                </a:solidFill>
                <a:latin typeface="+mj-lt"/>
                <a:ea typeface="Inter" pitchFamily="34" charset="-122"/>
                <a:cs typeface="Inter" pitchFamily="34" charset="-120"/>
              </a:rPr>
              <a:t>pour démarrer sur de bonnes bases :</a:t>
            </a:r>
            <a:endParaRPr lang="en-US" sz="1200" dirty="0">
              <a:latin typeface="+mj-lt"/>
            </a:endParaRPr>
          </a:p>
        </p:txBody>
      </p:sp>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7463" y="1451267"/>
            <a:ext cx="8831077" cy="3973928"/>
          </a:xfrm>
          <a:prstGeom prst="rect">
            <a:avLst/>
          </a:prstGeom>
        </p:spPr>
      </p:pic>
      <p:sp>
        <p:nvSpPr>
          <p:cNvPr id="5" name="Text 2"/>
          <p:cNvSpPr/>
          <p:nvPr/>
        </p:nvSpPr>
        <p:spPr>
          <a:xfrm>
            <a:off x="1867739" y="1661161"/>
            <a:ext cx="1545416" cy="238818"/>
          </a:xfrm>
          <a:prstGeom prst="rect">
            <a:avLst/>
          </a:prstGeom>
          <a:noFill/>
          <a:ln/>
        </p:spPr>
        <p:txBody>
          <a:bodyPr wrap="none" lIns="0" tIns="0" rIns="0" bIns="0" rtlCol="0" anchor="t"/>
          <a:lstStyle/>
          <a:p>
            <a:pPr algn="ctr">
              <a:lnSpc>
                <a:spcPct val="104000"/>
              </a:lnSpc>
            </a:pPr>
            <a:r>
              <a:rPr lang="en-US" sz="1400" b="1" dirty="0">
                <a:solidFill>
                  <a:srgbClr val="272525"/>
                </a:solidFill>
                <a:latin typeface="+mj-lt"/>
                <a:ea typeface="Inter Bold" pitchFamily="34" charset="-122"/>
                <a:cs typeface="Inter Bold" pitchFamily="34" charset="-120"/>
              </a:rPr>
              <a:t>Choisir app</a:t>
            </a:r>
            <a:endParaRPr lang="en-US" sz="1400" dirty="0">
              <a:latin typeface="+mj-lt"/>
            </a:endParaRPr>
          </a:p>
        </p:txBody>
      </p:sp>
      <p:sp>
        <p:nvSpPr>
          <p:cNvPr id="6" name="Text 3"/>
          <p:cNvSpPr/>
          <p:nvPr/>
        </p:nvSpPr>
        <p:spPr>
          <a:xfrm>
            <a:off x="1867739" y="1967910"/>
            <a:ext cx="1545416" cy="292419"/>
          </a:xfrm>
          <a:prstGeom prst="rect">
            <a:avLst/>
          </a:prstGeom>
          <a:noFill/>
          <a:ln/>
        </p:spPr>
        <p:txBody>
          <a:bodyPr wrap="square" lIns="0" tIns="0" rIns="0" bIns="0" rtlCol="0" anchor="t">
            <a:noAutofit/>
          </a:bodyPr>
          <a:lstStyle/>
          <a:p>
            <a:pPr algn="ctr">
              <a:lnSpc>
                <a:spcPct val="80000"/>
              </a:lnSpc>
            </a:pPr>
            <a:r>
              <a:rPr lang="en-US" sz="1200" dirty="0">
                <a:solidFill>
                  <a:srgbClr val="272525"/>
                </a:solidFill>
                <a:latin typeface="+mj-lt"/>
                <a:ea typeface="Inter" pitchFamily="34" charset="-122"/>
                <a:cs typeface="Inter" pitchFamily="34" charset="-120"/>
              </a:rPr>
              <a:t>Sélectionnez une application adaptée</a:t>
            </a:r>
            <a:endParaRPr lang="en-US" sz="1200" dirty="0">
              <a:latin typeface="+mj-lt"/>
            </a:endParaRPr>
          </a:p>
        </p:txBody>
      </p:sp>
      <p:sp>
        <p:nvSpPr>
          <p:cNvPr id="7" name="Text 4"/>
          <p:cNvSpPr/>
          <p:nvPr/>
        </p:nvSpPr>
        <p:spPr>
          <a:xfrm>
            <a:off x="3396173" y="4449094"/>
            <a:ext cx="1553907" cy="477635"/>
          </a:xfrm>
          <a:prstGeom prst="rect">
            <a:avLst/>
          </a:prstGeom>
          <a:noFill/>
          <a:ln/>
        </p:spPr>
        <p:txBody>
          <a:bodyPr wrap="square" lIns="0" tIns="0" rIns="0" bIns="0" rtlCol="0" anchor="t">
            <a:normAutofit/>
          </a:bodyPr>
          <a:lstStyle/>
          <a:p>
            <a:pPr algn="ctr">
              <a:lnSpc>
                <a:spcPct val="104000"/>
              </a:lnSpc>
            </a:pPr>
            <a:r>
              <a:rPr lang="en-US" sz="1400" b="1" dirty="0">
                <a:solidFill>
                  <a:srgbClr val="272525"/>
                </a:solidFill>
                <a:latin typeface="+mj-lt"/>
                <a:ea typeface="Inter Bold" pitchFamily="34" charset="-122"/>
                <a:cs typeface="Inter Bold" pitchFamily="34" charset="-120"/>
              </a:rPr>
              <a:t>Connecter comptes</a:t>
            </a:r>
            <a:endParaRPr lang="en-US" sz="1400" dirty="0">
              <a:latin typeface="+mj-lt"/>
            </a:endParaRPr>
          </a:p>
        </p:txBody>
      </p:sp>
      <p:sp>
        <p:nvSpPr>
          <p:cNvPr id="8" name="Text 5"/>
          <p:cNvSpPr/>
          <p:nvPr/>
        </p:nvSpPr>
        <p:spPr>
          <a:xfrm>
            <a:off x="3396173" y="4994659"/>
            <a:ext cx="1553907" cy="438629"/>
          </a:xfrm>
          <a:prstGeom prst="rect">
            <a:avLst/>
          </a:prstGeom>
          <a:noFill/>
          <a:ln/>
        </p:spPr>
        <p:txBody>
          <a:bodyPr wrap="square" lIns="0" tIns="0" rIns="0" bIns="0" rtlCol="0" anchor="t">
            <a:normAutofit/>
          </a:bodyPr>
          <a:lstStyle/>
          <a:p>
            <a:pPr algn="ctr">
              <a:lnSpc>
                <a:spcPct val="80000"/>
              </a:lnSpc>
            </a:pPr>
            <a:r>
              <a:rPr lang="en-US" sz="1200" dirty="0">
                <a:solidFill>
                  <a:srgbClr val="272525"/>
                </a:solidFill>
                <a:latin typeface="+mj-lt"/>
                <a:ea typeface="Inter" pitchFamily="34" charset="-122"/>
                <a:cs typeface="Inter" pitchFamily="34" charset="-120"/>
              </a:rPr>
              <a:t>Reliez vos comptes bancaires en sécurité</a:t>
            </a:r>
            <a:endParaRPr lang="en-US" sz="1200" dirty="0">
              <a:latin typeface="+mj-lt"/>
            </a:endParaRPr>
          </a:p>
        </p:txBody>
      </p:sp>
      <p:sp>
        <p:nvSpPr>
          <p:cNvPr id="9" name="Text 6"/>
          <p:cNvSpPr/>
          <p:nvPr/>
        </p:nvSpPr>
        <p:spPr>
          <a:xfrm>
            <a:off x="4907625" y="1438928"/>
            <a:ext cx="1545416" cy="477635"/>
          </a:xfrm>
          <a:prstGeom prst="rect">
            <a:avLst/>
          </a:prstGeom>
          <a:noFill/>
          <a:ln/>
        </p:spPr>
        <p:txBody>
          <a:bodyPr wrap="square" lIns="0" tIns="0" rIns="0" bIns="0" rtlCol="0" anchor="t">
            <a:normAutofit/>
          </a:bodyPr>
          <a:lstStyle/>
          <a:p>
            <a:pPr algn="ctr">
              <a:lnSpc>
                <a:spcPct val="104000"/>
              </a:lnSpc>
            </a:pPr>
            <a:r>
              <a:rPr lang="en-US" sz="1400" b="1" dirty="0">
                <a:solidFill>
                  <a:srgbClr val="272525"/>
                </a:solidFill>
                <a:latin typeface="+mj-lt"/>
                <a:ea typeface="Inter Bold" pitchFamily="34" charset="-122"/>
                <a:cs typeface="Inter Bold" pitchFamily="34" charset="-120"/>
              </a:rPr>
              <a:t>Vérifier catégories</a:t>
            </a:r>
            <a:endParaRPr lang="en-US" sz="1400" dirty="0">
              <a:latin typeface="+mj-lt"/>
            </a:endParaRPr>
          </a:p>
        </p:txBody>
      </p:sp>
      <p:sp>
        <p:nvSpPr>
          <p:cNvPr id="10" name="Text 7"/>
          <p:cNvSpPr/>
          <p:nvPr/>
        </p:nvSpPr>
        <p:spPr>
          <a:xfrm>
            <a:off x="4907625" y="1984493"/>
            <a:ext cx="1545416" cy="438629"/>
          </a:xfrm>
          <a:prstGeom prst="rect">
            <a:avLst/>
          </a:prstGeom>
          <a:noFill/>
          <a:ln/>
        </p:spPr>
        <p:txBody>
          <a:bodyPr wrap="square" lIns="0" tIns="0" rIns="0" bIns="0" rtlCol="0" anchor="t">
            <a:noAutofit/>
          </a:bodyPr>
          <a:lstStyle/>
          <a:p>
            <a:pPr algn="ctr">
              <a:lnSpc>
                <a:spcPct val="80000"/>
              </a:lnSpc>
            </a:pPr>
            <a:r>
              <a:rPr lang="en-US" sz="1200" dirty="0">
                <a:solidFill>
                  <a:srgbClr val="272525"/>
                </a:solidFill>
                <a:latin typeface="+mj-lt"/>
                <a:ea typeface="Inter" pitchFamily="34" charset="-122"/>
                <a:cs typeface="Inter" pitchFamily="34" charset="-120"/>
              </a:rPr>
              <a:t>Ajustez les catégories de dépenses</a:t>
            </a:r>
            <a:endParaRPr lang="en-US" sz="1200" dirty="0">
              <a:latin typeface="+mj-lt"/>
            </a:endParaRPr>
          </a:p>
        </p:txBody>
      </p:sp>
      <p:sp>
        <p:nvSpPr>
          <p:cNvPr id="11" name="Text 8"/>
          <p:cNvSpPr/>
          <p:nvPr/>
        </p:nvSpPr>
        <p:spPr>
          <a:xfrm>
            <a:off x="6436059" y="4641607"/>
            <a:ext cx="1545417" cy="238818"/>
          </a:xfrm>
          <a:prstGeom prst="rect">
            <a:avLst/>
          </a:prstGeom>
          <a:noFill/>
          <a:ln/>
        </p:spPr>
        <p:txBody>
          <a:bodyPr wrap="none" lIns="0" tIns="0" rIns="0" bIns="0" rtlCol="0" anchor="t"/>
          <a:lstStyle/>
          <a:p>
            <a:pPr algn="ctr">
              <a:lnSpc>
                <a:spcPct val="104000"/>
              </a:lnSpc>
            </a:pPr>
            <a:r>
              <a:rPr lang="en-US" sz="1400" b="1" dirty="0">
                <a:solidFill>
                  <a:srgbClr val="272525"/>
                </a:solidFill>
                <a:latin typeface="+mj-lt"/>
                <a:ea typeface="Inter Bold" pitchFamily="34" charset="-122"/>
                <a:cs typeface="Inter Bold" pitchFamily="34" charset="-120"/>
              </a:rPr>
              <a:t>Définir objectifs</a:t>
            </a:r>
            <a:endParaRPr lang="en-US" sz="1400" dirty="0">
              <a:latin typeface="+mj-lt"/>
            </a:endParaRPr>
          </a:p>
        </p:txBody>
      </p:sp>
      <p:sp>
        <p:nvSpPr>
          <p:cNvPr id="12" name="Text 9"/>
          <p:cNvSpPr/>
          <p:nvPr/>
        </p:nvSpPr>
        <p:spPr>
          <a:xfrm>
            <a:off x="6436059" y="4948356"/>
            <a:ext cx="1545417" cy="292419"/>
          </a:xfrm>
          <a:prstGeom prst="rect">
            <a:avLst/>
          </a:prstGeom>
          <a:noFill/>
          <a:ln/>
        </p:spPr>
        <p:txBody>
          <a:bodyPr wrap="square" lIns="0" tIns="0" rIns="0" bIns="0" rtlCol="0" anchor="t">
            <a:noAutofit/>
          </a:bodyPr>
          <a:lstStyle/>
          <a:p>
            <a:pPr algn="ctr">
              <a:lnSpc>
                <a:spcPct val="80000"/>
              </a:lnSpc>
            </a:pPr>
            <a:r>
              <a:rPr lang="en-US" sz="1200" dirty="0">
                <a:solidFill>
                  <a:srgbClr val="272525"/>
                </a:solidFill>
                <a:latin typeface="+mj-lt"/>
                <a:ea typeface="Inter" pitchFamily="34" charset="-122"/>
                <a:cs typeface="Inter" pitchFamily="34" charset="-120"/>
              </a:rPr>
              <a:t>Fixez vos cibles d'épargne claires</a:t>
            </a:r>
            <a:endParaRPr lang="en-US" sz="1200" dirty="0">
              <a:latin typeface="+mj-lt"/>
            </a:endParaRPr>
          </a:p>
        </p:txBody>
      </p:sp>
      <p:sp>
        <p:nvSpPr>
          <p:cNvPr id="13" name="Text 10"/>
          <p:cNvSpPr/>
          <p:nvPr/>
        </p:nvSpPr>
        <p:spPr>
          <a:xfrm>
            <a:off x="694852" y="5571064"/>
            <a:ext cx="8628311" cy="400575"/>
          </a:xfrm>
          <a:prstGeom prst="rect">
            <a:avLst/>
          </a:prstGeom>
          <a:noFill/>
          <a:ln/>
        </p:spPr>
        <p:txBody>
          <a:bodyPr wrap="none" lIns="0" tIns="0" rIns="0" bIns="0" rtlCol="0" anchor="t"/>
          <a:lstStyle/>
          <a:p>
            <a:pPr>
              <a:lnSpc>
                <a:spcPct val="102000"/>
              </a:lnSpc>
            </a:pPr>
            <a:r>
              <a:rPr lang="en-US" sz="1200" dirty="0">
                <a:solidFill>
                  <a:srgbClr val="272525"/>
                </a:solidFill>
                <a:latin typeface="+mj-lt"/>
                <a:ea typeface="Inter" pitchFamily="34" charset="-122"/>
                <a:cs typeface="Inter" pitchFamily="34" charset="-120"/>
              </a:rPr>
              <a:t>La clé du succès : ne pas chercher la perfection dès le départ. Commencez par observer vos </a:t>
            </a:r>
            <a:r>
              <a:rPr lang="en-US" sz="1200" dirty="0" err="1">
                <a:solidFill>
                  <a:srgbClr val="272525"/>
                </a:solidFill>
                <a:latin typeface="+mj-lt"/>
                <a:ea typeface="Inter" pitchFamily="34" charset="-122"/>
                <a:cs typeface="Inter" pitchFamily="34" charset="-120"/>
              </a:rPr>
              <a:t>dépenses</a:t>
            </a:r>
            <a:r>
              <a:rPr lang="en-US" sz="1200" dirty="0">
                <a:solidFill>
                  <a:srgbClr val="272525"/>
                </a:solidFill>
                <a:latin typeface="+mj-lt"/>
                <a:ea typeface="Inter" pitchFamily="34" charset="-122"/>
                <a:cs typeface="Inter" pitchFamily="34" charset="-120"/>
              </a:rPr>
              <a:t> pendant</a:t>
            </a:r>
            <a:br>
              <a:rPr lang="en-US" sz="1200" dirty="0">
                <a:solidFill>
                  <a:srgbClr val="272525"/>
                </a:solidFill>
                <a:latin typeface="+mj-lt"/>
                <a:ea typeface="Inter" pitchFamily="34" charset="-122"/>
                <a:cs typeface="Inter" pitchFamily="34" charset="-120"/>
              </a:rPr>
            </a:br>
            <a:r>
              <a:rPr lang="en-US" sz="1200" dirty="0">
                <a:solidFill>
                  <a:srgbClr val="272525"/>
                </a:solidFill>
                <a:latin typeface="+mj-lt"/>
                <a:ea typeface="Inter" pitchFamily="34" charset="-122"/>
                <a:cs typeface="Inter" pitchFamily="34" charset="-120"/>
              </a:rPr>
              <a:t>un mois sans rien changer. Cette photographie de vos habitudes est la base de tout changement durable.</a:t>
            </a:r>
            <a:endParaRPr lang="en-US" sz="1200" dirty="0">
              <a:latin typeface="+mj-lt"/>
            </a:endParaRPr>
          </a:p>
        </p:txBody>
      </p:sp>
      <p:sp>
        <p:nvSpPr>
          <p:cNvPr id="14" name="Shape 11"/>
          <p:cNvSpPr/>
          <p:nvPr/>
        </p:nvSpPr>
        <p:spPr>
          <a:xfrm>
            <a:off x="492086" y="6109415"/>
            <a:ext cx="8831077" cy="539960"/>
          </a:xfrm>
          <a:prstGeom prst="roundRect">
            <a:avLst>
              <a:gd name="adj" fmla="val 14980"/>
            </a:avLst>
          </a:prstGeom>
          <a:solidFill>
            <a:srgbClr val="B6FCB8">
              <a:alpha val="80000"/>
            </a:srgbClr>
          </a:solidFill>
          <a:ln/>
        </p:spPr>
      </p:sp>
      <p:pic>
        <p:nvPicPr>
          <p:cNvPr id="15"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7917" y="6163063"/>
            <a:ext cx="185272" cy="148249"/>
          </a:xfrm>
          <a:prstGeom prst="rect">
            <a:avLst/>
          </a:prstGeom>
        </p:spPr>
      </p:pic>
      <p:sp>
        <p:nvSpPr>
          <p:cNvPr id="16" name="Text 12"/>
          <p:cNvSpPr/>
          <p:nvPr/>
        </p:nvSpPr>
        <p:spPr>
          <a:xfrm>
            <a:off x="1061285" y="6205044"/>
            <a:ext cx="9023183" cy="400575"/>
          </a:xfrm>
          <a:prstGeom prst="rect">
            <a:avLst/>
          </a:prstGeom>
          <a:noFill/>
          <a:ln/>
        </p:spPr>
        <p:txBody>
          <a:bodyPr wrap="none" lIns="0" tIns="0" rIns="0" bIns="0" rtlCol="0" anchor="t"/>
          <a:lstStyle/>
          <a:p>
            <a:pPr>
              <a:lnSpc>
                <a:spcPct val="102000"/>
              </a:lnSpc>
            </a:pPr>
            <a:r>
              <a:rPr lang="en-US" sz="1200" dirty="0">
                <a:solidFill>
                  <a:srgbClr val="000000"/>
                </a:solidFill>
                <a:latin typeface="+mj-lt"/>
                <a:ea typeface="Inter" pitchFamily="34" charset="-122"/>
                <a:cs typeface="Inter" pitchFamily="34" charset="-120"/>
              </a:rPr>
              <a:t>Consacrer </a:t>
            </a:r>
            <a:r>
              <a:rPr lang="en-US" sz="1200" b="1" dirty="0">
                <a:solidFill>
                  <a:srgbClr val="000000"/>
                </a:solidFill>
                <a:latin typeface="+mj-lt"/>
                <a:ea typeface="Inter Bold" pitchFamily="34" charset="-122"/>
                <a:cs typeface="Inter Bold" pitchFamily="34" charset="-120"/>
              </a:rPr>
              <a:t>10 minutes par semaine</a:t>
            </a:r>
            <a:r>
              <a:rPr lang="en-US" sz="1200" dirty="0">
                <a:solidFill>
                  <a:srgbClr val="000000"/>
                </a:solidFill>
                <a:latin typeface="+mj-lt"/>
                <a:ea typeface="Inter" pitchFamily="34" charset="-122"/>
                <a:cs typeface="Inter" pitchFamily="34" charset="-120"/>
              </a:rPr>
              <a:t> à vérifier son application suffit pour maintenir un suivi </a:t>
            </a:r>
            <a:r>
              <a:rPr lang="en-US" sz="1200" dirty="0" err="1">
                <a:solidFill>
                  <a:srgbClr val="000000"/>
                </a:solidFill>
                <a:latin typeface="+mj-lt"/>
                <a:ea typeface="Inter" pitchFamily="34" charset="-122"/>
                <a:cs typeface="Inter" pitchFamily="34" charset="-120"/>
              </a:rPr>
              <a:t>efficace</a:t>
            </a:r>
            <a:r>
              <a:rPr lang="en-US" sz="1200" dirty="0">
                <a:solidFill>
                  <a:srgbClr val="000000"/>
                </a:solidFill>
                <a:latin typeface="+mj-lt"/>
                <a:ea typeface="Inter" pitchFamily="34" charset="-122"/>
                <a:cs typeface="Inter" pitchFamily="34" charset="-120"/>
              </a:rPr>
              <a:t>.</a:t>
            </a:r>
            <a:br>
              <a:rPr lang="en-US" sz="1200" dirty="0">
                <a:solidFill>
                  <a:srgbClr val="000000"/>
                </a:solidFill>
                <a:latin typeface="+mj-lt"/>
                <a:ea typeface="Inter" pitchFamily="34" charset="-122"/>
                <a:cs typeface="Inter" pitchFamily="34" charset="-120"/>
              </a:rPr>
            </a:br>
            <a:r>
              <a:rPr lang="en-US" sz="1200" dirty="0" err="1">
                <a:solidFill>
                  <a:srgbClr val="000000"/>
                </a:solidFill>
                <a:latin typeface="+mj-lt"/>
                <a:ea typeface="Inter" pitchFamily="34" charset="-122"/>
                <a:cs typeface="Inter" pitchFamily="34" charset="-120"/>
              </a:rPr>
              <a:t>Choisissez</a:t>
            </a:r>
            <a:r>
              <a:rPr lang="en-US" sz="1200" dirty="0">
                <a:solidFill>
                  <a:srgbClr val="000000"/>
                </a:solidFill>
                <a:latin typeface="+mj-lt"/>
                <a:ea typeface="Inter" pitchFamily="34" charset="-122"/>
                <a:cs typeface="Inter" pitchFamily="34" charset="-120"/>
              </a:rPr>
              <a:t> un moment régulier : le dimanche soir, par exemple !</a:t>
            </a:r>
            <a:endParaRPr lang="en-US" sz="1200"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6" name="Shape 11">
            <a:extLst>
              <a:ext uri="{FF2B5EF4-FFF2-40B4-BE49-F238E27FC236}">
                <a16:creationId xmlns:a16="http://schemas.microsoft.com/office/drawing/2014/main" id="{961BA55E-FFE2-A045-52FB-7E09A662DD0F}"/>
              </a:ext>
            </a:extLst>
          </p:cNvPr>
          <p:cNvSpPr/>
          <p:nvPr/>
        </p:nvSpPr>
        <p:spPr>
          <a:xfrm>
            <a:off x="397997" y="1609673"/>
            <a:ext cx="8831077" cy="650447"/>
          </a:xfrm>
          <a:prstGeom prst="roundRect">
            <a:avLst>
              <a:gd name="adj" fmla="val 14980"/>
            </a:avLst>
          </a:prstGeom>
          <a:solidFill>
            <a:schemeClr val="accent1">
              <a:lumMod val="40000"/>
              <a:lumOff val="60000"/>
              <a:alpha val="80000"/>
            </a:schemeClr>
          </a:solidFill>
          <a:ln/>
        </p:spPr>
      </p:sp>
      <p:sp>
        <p:nvSpPr>
          <p:cNvPr id="2" name="Text 0"/>
          <p:cNvSpPr/>
          <p:nvPr/>
        </p:nvSpPr>
        <p:spPr>
          <a:xfrm>
            <a:off x="537463" y="798204"/>
            <a:ext cx="6754106" cy="43016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Astuces pour optimiser son budget</a:t>
            </a:r>
            <a:endParaRPr lang="en-US" sz="2400" dirty="0">
              <a:latin typeface="+mj-lt"/>
            </a:endParaRPr>
          </a:p>
        </p:txBody>
      </p:sp>
      <p:sp>
        <p:nvSpPr>
          <p:cNvPr id="3" name="Text 1"/>
          <p:cNvSpPr/>
          <p:nvPr/>
        </p:nvSpPr>
        <p:spPr>
          <a:xfrm>
            <a:off x="579623" y="1609674"/>
            <a:ext cx="9326377" cy="425004"/>
          </a:xfrm>
          <a:prstGeom prst="rect">
            <a:avLst/>
          </a:prstGeom>
          <a:noFill/>
          <a:ln/>
        </p:spPr>
        <p:txBody>
          <a:bodyPr wrap="none" lIns="0" tIns="0" rIns="0" bIns="0" rtlCol="0" anchor="t"/>
          <a:lstStyle/>
          <a:p>
            <a:pPr>
              <a:lnSpc>
                <a:spcPct val="133000"/>
              </a:lnSpc>
            </a:pPr>
            <a:r>
              <a:rPr lang="en-US" sz="1400" dirty="0">
                <a:solidFill>
                  <a:srgbClr val="272525"/>
                </a:solidFill>
                <a:latin typeface="+mj-lt"/>
                <a:ea typeface="Inter" pitchFamily="34" charset="-122"/>
                <a:cs typeface="Inter" pitchFamily="34" charset="-120"/>
              </a:rPr>
              <a:t>Au-delà des applications, quelques méthodes éprouvées permettent de transformer </a:t>
            </a:r>
            <a:r>
              <a:rPr lang="en-US" sz="1400" dirty="0" err="1">
                <a:solidFill>
                  <a:srgbClr val="272525"/>
                </a:solidFill>
                <a:latin typeface="+mj-lt"/>
                <a:ea typeface="Inter" pitchFamily="34" charset="-122"/>
                <a:cs typeface="Inter" pitchFamily="34" charset="-120"/>
              </a:rPr>
              <a:t>ses</a:t>
            </a:r>
            <a:r>
              <a:rPr lang="en-US" sz="1400" dirty="0">
                <a:solidFill>
                  <a:srgbClr val="272525"/>
                </a:solidFill>
                <a:latin typeface="+mj-lt"/>
                <a:ea typeface="Inter" pitchFamily="34" charset="-122"/>
                <a:cs typeface="Inter" pitchFamily="34" charset="-120"/>
              </a:rPr>
              <a:t> habitudes</a:t>
            </a:r>
            <a:br>
              <a:rPr lang="en-US" sz="1400" dirty="0">
                <a:solidFill>
                  <a:srgbClr val="272525"/>
                </a:solidFill>
                <a:latin typeface="+mj-lt"/>
                <a:ea typeface="Inter" pitchFamily="34" charset="-122"/>
                <a:cs typeface="Inter" pitchFamily="34" charset="-120"/>
              </a:rPr>
            </a:br>
            <a:r>
              <a:rPr lang="en-US" sz="1400" dirty="0" err="1">
                <a:solidFill>
                  <a:srgbClr val="272525"/>
                </a:solidFill>
                <a:latin typeface="+mj-lt"/>
                <a:ea typeface="Inter" pitchFamily="34" charset="-122"/>
                <a:cs typeface="Inter" pitchFamily="34" charset="-120"/>
              </a:rPr>
              <a:t>financières</a:t>
            </a:r>
            <a:r>
              <a:rPr lang="en-US" sz="1400" dirty="0">
                <a:solidFill>
                  <a:srgbClr val="272525"/>
                </a:solidFill>
                <a:latin typeface="+mj-lt"/>
                <a:ea typeface="Inter" pitchFamily="34" charset="-122"/>
                <a:cs typeface="Inter" pitchFamily="34" charset="-120"/>
              </a:rPr>
              <a:t> en profondeur :</a:t>
            </a:r>
            <a:endParaRPr lang="en-US" sz="1400" dirty="0">
              <a:latin typeface="+mj-lt"/>
            </a:endParaRPr>
          </a:p>
        </p:txBody>
      </p:sp>
      <p:sp>
        <p:nvSpPr>
          <p:cNvPr id="4" name="Shape 2"/>
          <p:cNvSpPr/>
          <p:nvPr/>
        </p:nvSpPr>
        <p:spPr>
          <a:xfrm>
            <a:off x="537463" y="2674603"/>
            <a:ext cx="4348386" cy="1219709"/>
          </a:xfrm>
          <a:prstGeom prst="roundRect">
            <a:avLst>
              <a:gd name="adj" fmla="val 4627"/>
            </a:avLst>
          </a:prstGeom>
          <a:solidFill>
            <a:srgbClr val="DADBF1">
              <a:alpha val="80000"/>
            </a:srgbClr>
          </a:solidFill>
          <a:ln w="4763">
            <a:solidFill>
              <a:srgbClr val="C0C1D7"/>
            </a:solidFill>
            <a:prstDash val="solid"/>
          </a:ln>
        </p:spPr>
      </p:sp>
      <p:sp>
        <p:nvSpPr>
          <p:cNvPr id="5" name="Text 3"/>
          <p:cNvSpPr/>
          <p:nvPr/>
        </p:nvSpPr>
        <p:spPr>
          <a:xfrm>
            <a:off x="676927" y="2814068"/>
            <a:ext cx="1725569"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La règle 50/30/20</a:t>
            </a:r>
            <a:endParaRPr lang="en-US" sz="1400" dirty="0">
              <a:latin typeface="+mj-lt"/>
            </a:endParaRPr>
          </a:p>
        </p:txBody>
      </p:sp>
      <p:sp>
        <p:nvSpPr>
          <p:cNvPr id="6" name="Text 4"/>
          <p:cNvSpPr/>
          <p:nvPr/>
        </p:nvSpPr>
        <p:spPr>
          <a:xfrm>
            <a:off x="676926" y="3109845"/>
            <a:ext cx="4069457" cy="645003"/>
          </a:xfrm>
          <a:prstGeom prst="rect">
            <a:avLst/>
          </a:prstGeom>
          <a:noFill/>
          <a:ln/>
        </p:spPr>
        <p:txBody>
          <a:bodyPr wrap="square" lIns="0" tIns="0" rIns="0" bIns="0" rtlCol="0" anchor="t">
            <a:noAutofit/>
          </a:bodyPr>
          <a:lstStyle/>
          <a:p>
            <a:pPr>
              <a:lnSpc>
                <a:spcPct val="133000"/>
              </a:lnSpc>
            </a:pPr>
            <a:r>
              <a:rPr lang="en-US" sz="1200" b="1" dirty="0">
                <a:solidFill>
                  <a:srgbClr val="272525"/>
                </a:solidFill>
                <a:latin typeface="+mj-lt"/>
                <a:ea typeface="Inter Bold" pitchFamily="34" charset="-122"/>
                <a:cs typeface="Inter Bold" pitchFamily="34" charset="-120"/>
              </a:rPr>
              <a:t>50 %</a:t>
            </a:r>
            <a:r>
              <a:rPr lang="en-US" sz="1200" dirty="0">
                <a:solidFill>
                  <a:srgbClr val="272525"/>
                </a:solidFill>
                <a:latin typeface="+mj-lt"/>
                <a:ea typeface="Inter" pitchFamily="34" charset="-122"/>
                <a:cs typeface="Inter" pitchFamily="34" charset="-120"/>
              </a:rPr>
              <a:t> pour les besoins essentiels (loyer, courses, factures), </a:t>
            </a:r>
            <a:r>
              <a:rPr lang="en-US" sz="1200" b="1" dirty="0">
                <a:solidFill>
                  <a:srgbClr val="272525"/>
                </a:solidFill>
                <a:latin typeface="+mj-lt"/>
                <a:ea typeface="Inter Bold" pitchFamily="34" charset="-122"/>
                <a:cs typeface="Inter Bold" pitchFamily="34" charset="-120"/>
              </a:rPr>
              <a:t>30 %</a:t>
            </a:r>
            <a:r>
              <a:rPr lang="en-US" sz="1200" dirty="0">
                <a:solidFill>
                  <a:srgbClr val="272525"/>
                </a:solidFill>
                <a:latin typeface="+mj-lt"/>
                <a:ea typeface="Inter" pitchFamily="34" charset="-122"/>
                <a:cs typeface="Inter" pitchFamily="34" charset="-120"/>
              </a:rPr>
              <a:t> pour les plaisirs, </a:t>
            </a:r>
            <a:r>
              <a:rPr lang="en-US" sz="1200" b="1" dirty="0">
                <a:solidFill>
                  <a:srgbClr val="272525"/>
                </a:solidFill>
                <a:latin typeface="+mj-lt"/>
                <a:ea typeface="Inter Bold" pitchFamily="34" charset="-122"/>
                <a:cs typeface="Inter Bold" pitchFamily="34" charset="-120"/>
              </a:rPr>
              <a:t>20 %</a:t>
            </a:r>
            <a:r>
              <a:rPr lang="en-US" sz="1200" dirty="0">
                <a:solidFill>
                  <a:srgbClr val="272525"/>
                </a:solidFill>
                <a:latin typeface="+mj-lt"/>
                <a:ea typeface="Inter" pitchFamily="34" charset="-122"/>
                <a:cs typeface="Inter" pitchFamily="34" charset="-120"/>
              </a:rPr>
              <a:t> pour l'épargne. Une répartition simple et efficace.</a:t>
            </a:r>
            <a:endParaRPr lang="en-US" sz="1200" dirty="0">
              <a:latin typeface="+mj-lt"/>
            </a:endParaRPr>
          </a:p>
        </p:txBody>
      </p:sp>
      <p:sp>
        <p:nvSpPr>
          <p:cNvPr id="7" name="Shape 5"/>
          <p:cNvSpPr/>
          <p:nvPr/>
        </p:nvSpPr>
        <p:spPr>
          <a:xfrm>
            <a:off x="5020153" y="2674603"/>
            <a:ext cx="4348386" cy="1219709"/>
          </a:xfrm>
          <a:prstGeom prst="roundRect">
            <a:avLst>
              <a:gd name="adj" fmla="val 4627"/>
            </a:avLst>
          </a:prstGeom>
          <a:solidFill>
            <a:srgbClr val="DADBF1">
              <a:alpha val="80000"/>
            </a:srgbClr>
          </a:solidFill>
          <a:ln w="4763">
            <a:solidFill>
              <a:srgbClr val="C0C1D7"/>
            </a:solidFill>
            <a:prstDash val="solid"/>
          </a:ln>
        </p:spPr>
      </p:sp>
      <p:sp>
        <p:nvSpPr>
          <p:cNvPr id="8" name="Text 6"/>
          <p:cNvSpPr/>
          <p:nvPr/>
        </p:nvSpPr>
        <p:spPr>
          <a:xfrm>
            <a:off x="5159617" y="2814068"/>
            <a:ext cx="2542847"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La méthode des enveloppes</a:t>
            </a:r>
            <a:endParaRPr lang="en-US" sz="1400" dirty="0">
              <a:latin typeface="+mj-lt"/>
            </a:endParaRPr>
          </a:p>
        </p:txBody>
      </p:sp>
      <p:sp>
        <p:nvSpPr>
          <p:cNvPr id="9" name="Text 7"/>
          <p:cNvSpPr/>
          <p:nvPr/>
        </p:nvSpPr>
        <p:spPr>
          <a:xfrm>
            <a:off x="5159617" y="3109845"/>
            <a:ext cx="4069457" cy="645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Numérisée dans les apps, elle consiste à allouer un budget fixe à chaque catégorie. Quand l'enveloppe est vide, on s'arrête. Discipline garantie !</a:t>
            </a:r>
            <a:endParaRPr lang="en-US" sz="1200" dirty="0">
              <a:latin typeface="+mj-lt"/>
            </a:endParaRPr>
          </a:p>
        </p:txBody>
      </p:sp>
      <p:sp>
        <p:nvSpPr>
          <p:cNvPr id="10" name="Shape 8"/>
          <p:cNvSpPr/>
          <p:nvPr/>
        </p:nvSpPr>
        <p:spPr>
          <a:xfrm>
            <a:off x="537463" y="4028617"/>
            <a:ext cx="4348386" cy="1219709"/>
          </a:xfrm>
          <a:prstGeom prst="roundRect">
            <a:avLst>
              <a:gd name="adj" fmla="val 4627"/>
            </a:avLst>
          </a:prstGeom>
          <a:solidFill>
            <a:srgbClr val="DADBF1">
              <a:alpha val="80000"/>
            </a:srgbClr>
          </a:solidFill>
          <a:ln w="4763">
            <a:solidFill>
              <a:srgbClr val="C0C1D7"/>
            </a:solidFill>
            <a:prstDash val="solid"/>
          </a:ln>
        </p:spPr>
      </p:sp>
      <p:sp>
        <p:nvSpPr>
          <p:cNvPr id="11" name="Text 9"/>
          <p:cNvSpPr/>
          <p:nvPr/>
        </p:nvSpPr>
        <p:spPr>
          <a:xfrm>
            <a:off x="676927" y="4168081"/>
            <a:ext cx="2286248"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Le virement automatique</a:t>
            </a:r>
            <a:endParaRPr lang="en-US" sz="1400" dirty="0">
              <a:latin typeface="+mj-lt"/>
            </a:endParaRPr>
          </a:p>
        </p:txBody>
      </p:sp>
      <p:sp>
        <p:nvSpPr>
          <p:cNvPr id="12" name="Text 10"/>
          <p:cNvSpPr/>
          <p:nvPr/>
        </p:nvSpPr>
        <p:spPr>
          <a:xfrm>
            <a:off x="676926" y="4463858"/>
            <a:ext cx="4069457" cy="645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Programmez un virement vers votre épargne dès réception de votre salaire. Vous épargnez d'abord, vous dépensez ensuite : c'est le secret des bons épargnants.</a:t>
            </a:r>
            <a:endParaRPr lang="en-US" sz="1200" dirty="0">
              <a:latin typeface="+mj-lt"/>
            </a:endParaRPr>
          </a:p>
        </p:txBody>
      </p:sp>
      <p:sp>
        <p:nvSpPr>
          <p:cNvPr id="13" name="Shape 11"/>
          <p:cNvSpPr/>
          <p:nvPr/>
        </p:nvSpPr>
        <p:spPr>
          <a:xfrm>
            <a:off x="5020153" y="4028617"/>
            <a:ext cx="4348386" cy="1219709"/>
          </a:xfrm>
          <a:prstGeom prst="roundRect">
            <a:avLst>
              <a:gd name="adj" fmla="val 4627"/>
            </a:avLst>
          </a:prstGeom>
          <a:solidFill>
            <a:srgbClr val="DADBF1">
              <a:alpha val="80000"/>
            </a:srgbClr>
          </a:solidFill>
          <a:ln w="4763">
            <a:solidFill>
              <a:srgbClr val="C0C1D7"/>
            </a:solidFill>
            <a:prstDash val="solid"/>
          </a:ln>
        </p:spPr>
      </p:sp>
      <p:sp>
        <p:nvSpPr>
          <p:cNvPr id="14" name="Text 12"/>
          <p:cNvSpPr/>
          <p:nvPr/>
        </p:nvSpPr>
        <p:spPr>
          <a:xfrm>
            <a:off x="5159617" y="4168081"/>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Le bilan mensuel</a:t>
            </a:r>
            <a:endParaRPr lang="en-US" sz="1400" dirty="0">
              <a:latin typeface="+mj-lt"/>
            </a:endParaRPr>
          </a:p>
        </p:txBody>
      </p:sp>
      <p:sp>
        <p:nvSpPr>
          <p:cNvPr id="15" name="Text 13"/>
          <p:cNvSpPr/>
          <p:nvPr/>
        </p:nvSpPr>
        <p:spPr>
          <a:xfrm>
            <a:off x="5159617" y="4463858"/>
            <a:ext cx="4069457" cy="645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Une fois par mois, prenez 15 minutes pour analyser vos dépenses. Qu'est-ce qui a bien fonctionné ? Où avez-vous dépassé ? Ajustez pour le mois suivant.</a:t>
            </a:r>
            <a:endParaRPr lang="en-US" sz="12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6" name="Shape 11">
            <a:extLst>
              <a:ext uri="{FF2B5EF4-FFF2-40B4-BE49-F238E27FC236}">
                <a16:creationId xmlns:a16="http://schemas.microsoft.com/office/drawing/2014/main" id="{08ADC2F8-AD0C-6534-CC01-8E40D4636366}"/>
              </a:ext>
            </a:extLst>
          </p:cNvPr>
          <p:cNvSpPr/>
          <p:nvPr/>
        </p:nvSpPr>
        <p:spPr>
          <a:xfrm>
            <a:off x="372969" y="1370090"/>
            <a:ext cx="8831077" cy="736820"/>
          </a:xfrm>
          <a:prstGeom prst="roundRect">
            <a:avLst>
              <a:gd name="adj" fmla="val 14980"/>
            </a:avLst>
          </a:prstGeom>
          <a:solidFill>
            <a:schemeClr val="accent1">
              <a:lumMod val="40000"/>
              <a:lumOff val="60000"/>
              <a:alpha val="80000"/>
            </a:schemeClr>
          </a:solidFill>
          <a:ln/>
        </p:spPr>
      </p:sp>
      <p:sp>
        <p:nvSpPr>
          <p:cNvPr id="2" name="Text 0"/>
          <p:cNvSpPr/>
          <p:nvPr/>
        </p:nvSpPr>
        <p:spPr>
          <a:xfrm>
            <a:off x="537463" y="671238"/>
            <a:ext cx="7647726" cy="43016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Bons plans &amp; outils pour dépenser moins</a:t>
            </a:r>
            <a:endParaRPr lang="en-US" sz="2400" dirty="0">
              <a:latin typeface="+mj-lt"/>
            </a:endParaRPr>
          </a:p>
        </p:txBody>
      </p:sp>
      <p:sp>
        <p:nvSpPr>
          <p:cNvPr id="3" name="Text 1"/>
          <p:cNvSpPr/>
          <p:nvPr/>
        </p:nvSpPr>
        <p:spPr>
          <a:xfrm>
            <a:off x="587846" y="1415999"/>
            <a:ext cx="8831077" cy="430002"/>
          </a:xfrm>
          <a:prstGeom prst="rect">
            <a:avLst/>
          </a:prstGeom>
          <a:noFill/>
          <a:ln/>
        </p:spPr>
        <p:txBody>
          <a:bodyPr wrap="square" lIns="0" tIns="0" rIns="0" bIns="0" rtlCol="0" anchor="t">
            <a:noAutofit/>
          </a:bodyPr>
          <a:lstStyle/>
          <a:p>
            <a:pPr>
              <a:lnSpc>
                <a:spcPct val="133000"/>
              </a:lnSpc>
            </a:pPr>
            <a:r>
              <a:rPr lang="en-US" sz="1400" dirty="0">
                <a:solidFill>
                  <a:srgbClr val="272525"/>
                </a:solidFill>
                <a:latin typeface="+mj-lt"/>
                <a:ea typeface="Inter" pitchFamily="34" charset="-122"/>
                <a:cs typeface="Inter" pitchFamily="34" charset="-120"/>
              </a:rPr>
              <a:t>La gestion de budget ne se limite pas au suivi des dépenses. Il existe aussi d'excellents outils numériques pour </a:t>
            </a:r>
            <a:r>
              <a:rPr lang="en-US" sz="1400" b="1" dirty="0">
                <a:solidFill>
                  <a:srgbClr val="272525"/>
                </a:solidFill>
                <a:latin typeface="+mj-lt"/>
                <a:ea typeface="Inter Bold" pitchFamily="34" charset="-122"/>
                <a:cs typeface="Inter Bold" pitchFamily="34" charset="-120"/>
              </a:rPr>
              <a:t>payer moins cher</a:t>
            </a:r>
            <a:r>
              <a:rPr lang="en-US" sz="1400" dirty="0">
                <a:solidFill>
                  <a:srgbClr val="272525"/>
                </a:solidFill>
                <a:latin typeface="+mj-lt"/>
                <a:ea typeface="Inter" pitchFamily="34" charset="-122"/>
                <a:cs typeface="Inter" pitchFamily="34" charset="-120"/>
              </a:rPr>
              <a:t> au quotidien :</a:t>
            </a:r>
            <a:endParaRPr lang="en-US" sz="1400" dirty="0">
              <a:latin typeface="+mj-lt"/>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7846" y="2890491"/>
            <a:ext cx="201538" cy="201538"/>
          </a:xfrm>
          <a:prstGeom prst="rect">
            <a:avLst/>
          </a:prstGeom>
        </p:spPr>
      </p:pic>
      <p:sp>
        <p:nvSpPr>
          <p:cNvPr id="5" name="Text 2"/>
          <p:cNvSpPr/>
          <p:nvPr/>
        </p:nvSpPr>
        <p:spPr>
          <a:xfrm>
            <a:off x="974074" y="2886379"/>
            <a:ext cx="2366622"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Applications de cashback</a:t>
            </a:r>
            <a:endParaRPr lang="en-US" sz="1400" dirty="0">
              <a:latin typeface="+mj-lt"/>
            </a:endParaRPr>
          </a:p>
        </p:txBody>
      </p:sp>
      <p:sp>
        <p:nvSpPr>
          <p:cNvPr id="6" name="Text 3"/>
          <p:cNvSpPr/>
          <p:nvPr/>
        </p:nvSpPr>
        <p:spPr>
          <a:xfrm>
            <a:off x="974074" y="3182157"/>
            <a:ext cx="3894925" cy="860003"/>
          </a:xfrm>
          <a:prstGeom prst="rect">
            <a:avLst/>
          </a:prstGeom>
          <a:noFill/>
          <a:ln/>
        </p:spPr>
        <p:txBody>
          <a:bodyPr wrap="square" lIns="0" tIns="0" rIns="0" bIns="0" rtlCol="0" anchor="t">
            <a:noAutofit/>
          </a:bodyPr>
          <a:lstStyle/>
          <a:p>
            <a:pPr>
              <a:lnSpc>
                <a:spcPct val="133000"/>
              </a:lnSpc>
            </a:pPr>
            <a:r>
              <a:rPr lang="en-US" sz="1200" b="1" dirty="0">
                <a:solidFill>
                  <a:srgbClr val="272525"/>
                </a:solidFill>
                <a:latin typeface="+mj-lt"/>
                <a:ea typeface="Inter Bold" pitchFamily="34" charset="-122"/>
                <a:cs typeface="Inter Bold" pitchFamily="34" charset="-120"/>
              </a:rPr>
              <a:t>Lydia, Joko, iGraal</a:t>
            </a:r>
            <a:r>
              <a:rPr lang="en-US" sz="1200" dirty="0">
                <a:solidFill>
                  <a:srgbClr val="272525"/>
                </a:solidFill>
                <a:latin typeface="+mj-lt"/>
                <a:ea typeface="Inter" pitchFamily="34" charset="-122"/>
                <a:cs typeface="Inter" pitchFamily="34" charset="-120"/>
              </a:rPr>
              <a:t> — Ces apps vous remboursent un pourcentage de vos achats chez des commerçants partenaires. Jusqu'à 10 % remboursé sur certaines enseignes !</a:t>
            </a:r>
            <a:endParaRPr lang="en-US" sz="1200" dirty="0">
              <a:latin typeface="+mj-lt"/>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7306" y="2890491"/>
            <a:ext cx="201538" cy="201538"/>
          </a:xfrm>
          <a:prstGeom prst="rect">
            <a:avLst/>
          </a:prstGeom>
        </p:spPr>
      </p:pic>
      <p:sp>
        <p:nvSpPr>
          <p:cNvPr id="8" name="Text 4"/>
          <p:cNvSpPr/>
          <p:nvPr/>
        </p:nvSpPr>
        <p:spPr>
          <a:xfrm>
            <a:off x="5473534" y="2886379"/>
            <a:ext cx="2028118"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Comparateurs de prix</a:t>
            </a:r>
            <a:endParaRPr lang="en-US" sz="1400" dirty="0">
              <a:latin typeface="+mj-lt"/>
            </a:endParaRPr>
          </a:p>
        </p:txBody>
      </p:sp>
      <p:sp>
        <p:nvSpPr>
          <p:cNvPr id="9" name="Text 5"/>
          <p:cNvSpPr/>
          <p:nvPr/>
        </p:nvSpPr>
        <p:spPr>
          <a:xfrm>
            <a:off x="5473533" y="3182156"/>
            <a:ext cx="3895006" cy="645003"/>
          </a:xfrm>
          <a:prstGeom prst="rect">
            <a:avLst/>
          </a:prstGeom>
          <a:noFill/>
          <a:ln/>
        </p:spPr>
        <p:txBody>
          <a:bodyPr wrap="square" lIns="0" tIns="0" rIns="0" bIns="0" rtlCol="0" anchor="t">
            <a:noAutofit/>
          </a:bodyPr>
          <a:lstStyle/>
          <a:p>
            <a:pPr>
              <a:lnSpc>
                <a:spcPct val="133000"/>
              </a:lnSpc>
            </a:pPr>
            <a:r>
              <a:rPr lang="en-US" sz="1200" b="1" dirty="0">
                <a:solidFill>
                  <a:srgbClr val="272525"/>
                </a:solidFill>
                <a:latin typeface="+mj-lt"/>
                <a:ea typeface="Inter Bold" pitchFamily="34" charset="-122"/>
                <a:cs typeface="Inter Bold" pitchFamily="34" charset="-120"/>
              </a:rPr>
              <a:t>Idealo, LeGuide, Google Shopping</a:t>
            </a:r>
            <a:r>
              <a:rPr lang="en-US" sz="1200" dirty="0">
                <a:solidFill>
                  <a:srgbClr val="272525"/>
                </a:solidFill>
                <a:latin typeface="+mj-lt"/>
                <a:ea typeface="Inter" pitchFamily="34" charset="-122"/>
                <a:cs typeface="Inter" pitchFamily="34" charset="-120"/>
              </a:rPr>
              <a:t> — Avant tout achat important, comparez les prix en ligne. Quelques secondes suffisent pour économiser plusieurs dizaines d'euros.</a:t>
            </a:r>
            <a:endParaRPr lang="en-US" sz="1200" dirty="0">
              <a:latin typeface="+mj-lt"/>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7846" y="4314962"/>
            <a:ext cx="201538" cy="201538"/>
          </a:xfrm>
          <a:prstGeom prst="rect">
            <a:avLst/>
          </a:prstGeom>
        </p:spPr>
      </p:pic>
      <p:sp>
        <p:nvSpPr>
          <p:cNvPr id="11" name="Text 6"/>
          <p:cNvSpPr/>
          <p:nvPr/>
        </p:nvSpPr>
        <p:spPr>
          <a:xfrm>
            <a:off x="974074" y="4310850"/>
            <a:ext cx="2463682"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Anti-gaspillage alimentaire</a:t>
            </a:r>
            <a:endParaRPr lang="en-US" sz="1400" dirty="0">
              <a:latin typeface="+mj-lt"/>
            </a:endParaRPr>
          </a:p>
        </p:txBody>
      </p:sp>
      <p:sp>
        <p:nvSpPr>
          <p:cNvPr id="12" name="Text 7"/>
          <p:cNvSpPr/>
          <p:nvPr/>
        </p:nvSpPr>
        <p:spPr>
          <a:xfrm>
            <a:off x="974074" y="4606628"/>
            <a:ext cx="3894925" cy="645003"/>
          </a:xfrm>
          <a:prstGeom prst="rect">
            <a:avLst/>
          </a:prstGeom>
          <a:noFill/>
          <a:ln/>
        </p:spPr>
        <p:txBody>
          <a:bodyPr wrap="square" lIns="0" tIns="0" rIns="0" bIns="0" rtlCol="0" anchor="t">
            <a:noAutofit/>
          </a:bodyPr>
          <a:lstStyle/>
          <a:p>
            <a:pPr>
              <a:lnSpc>
                <a:spcPct val="133000"/>
              </a:lnSpc>
            </a:pPr>
            <a:r>
              <a:rPr lang="en-US" sz="1200" b="1" dirty="0">
                <a:solidFill>
                  <a:srgbClr val="272525"/>
                </a:solidFill>
                <a:latin typeface="+mj-lt"/>
                <a:ea typeface="Inter Bold" pitchFamily="34" charset="-122"/>
                <a:cs typeface="Inter Bold" pitchFamily="34" charset="-120"/>
              </a:rPr>
              <a:t>Too Good To Go, Phenix</a:t>
            </a:r>
            <a:r>
              <a:rPr lang="en-US" sz="1200" dirty="0">
                <a:solidFill>
                  <a:srgbClr val="272525"/>
                </a:solidFill>
                <a:latin typeface="+mj-lt"/>
                <a:ea typeface="Inter" pitchFamily="34" charset="-122"/>
                <a:cs typeface="Inter" pitchFamily="34" charset="-120"/>
              </a:rPr>
              <a:t> — Récupérez des paniers-repas invendus à prix réduit auprès de restaurants et supermarchés. Économies et écologie réunies !</a:t>
            </a:r>
            <a:endParaRPr lang="en-US" sz="1200" dirty="0">
              <a:latin typeface="+mj-lt"/>
            </a:endParaRPr>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7306" y="4314962"/>
            <a:ext cx="201538" cy="201538"/>
          </a:xfrm>
          <a:prstGeom prst="rect">
            <a:avLst/>
          </a:prstGeom>
        </p:spPr>
      </p:pic>
      <p:sp>
        <p:nvSpPr>
          <p:cNvPr id="14" name="Text 8"/>
          <p:cNvSpPr/>
          <p:nvPr/>
        </p:nvSpPr>
        <p:spPr>
          <a:xfrm>
            <a:off x="5473533" y="4310850"/>
            <a:ext cx="2493994"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Négocier ses abonnements</a:t>
            </a:r>
            <a:endParaRPr lang="en-US" sz="1400" dirty="0">
              <a:latin typeface="+mj-lt"/>
            </a:endParaRPr>
          </a:p>
        </p:txBody>
      </p:sp>
      <p:sp>
        <p:nvSpPr>
          <p:cNvPr id="15" name="Text 9"/>
          <p:cNvSpPr/>
          <p:nvPr/>
        </p:nvSpPr>
        <p:spPr>
          <a:xfrm>
            <a:off x="5473533" y="4606628"/>
            <a:ext cx="3895006" cy="645003"/>
          </a:xfrm>
          <a:prstGeom prst="rect">
            <a:avLst/>
          </a:prstGeom>
          <a:noFill/>
          <a:ln/>
        </p:spPr>
        <p:txBody>
          <a:bodyPr wrap="square" lIns="0" tIns="0" rIns="0" bIns="0" rtlCol="0" anchor="t">
            <a:noAutofit/>
          </a:bodyPr>
          <a:lstStyle/>
          <a:p>
            <a:pPr>
              <a:lnSpc>
                <a:spcPct val="133000"/>
              </a:lnSpc>
            </a:pPr>
            <a:r>
              <a:rPr lang="en-US" sz="1200" b="1" dirty="0">
                <a:solidFill>
                  <a:srgbClr val="272525"/>
                </a:solidFill>
                <a:latin typeface="+mj-lt"/>
                <a:ea typeface="Inter Bold" pitchFamily="34" charset="-122"/>
                <a:cs typeface="Inter Bold" pitchFamily="34" charset="-120"/>
              </a:rPr>
              <a:t>Papernest, HelloWatt</a:t>
            </a:r>
            <a:r>
              <a:rPr lang="en-US" sz="1200" dirty="0">
                <a:solidFill>
                  <a:srgbClr val="272525"/>
                </a:solidFill>
                <a:latin typeface="+mj-lt"/>
                <a:ea typeface="Inter" pitchFamily="34" charset="-122"/>
                <a:cs typeface="Inter" pitchFamily="34" charset="-120"/>
              </a:rPr>
              <a:t> — Ces services analysent vos contrats (énergie, assurances, téléphonie) et vous aident à renégocier ou à changer de fournisseur pour payer moins.</a:t>
            </a:r>
            <a:endParaRPr lang="en-US" sz="12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1" name="Shape 6"/>
          <p:cNvSpPr/>
          <p:nvPr/>
        </p:nvSpPr>
        <p:spPr>
          <a:xfrm>
            <a:off x="493444" y="6179694"/>
            <a:ext cx="8788029" cy="441566"/>
          </a:xfrm>
          <a:prstGeom prst="roundRect">
            <a:avLst>
              <a:gd name="adj" fmla="val 11064"/>
            </a:avLst>
          </a:prstGeom>
          <a:solidFill>
            <a:srgbClr val="FCF2B5">
              <a:alpha val="80000"/>
            </a:srgbClr>
          </a:solidFill>
          <a:ln/>
        </p:spPr>
      </p:sp>
      <p:sp>
        <p:nvSpPr>
          <p:cNvPr id="14" name="Shape 11">
            <a:extLst>
              <a:ext uri="{FF2B5EF4-FFF2-40B4-BE49-F238E27FC236}">
                <a16:creationId xmlns:a16="http://schemas.microsoft.com/office/drawing/2014/main" id="{6D2517A1-C616-DB2A-DE6F-F8BB0F1719F4}"/>
              </a:ext>
            </a:extLst>
          </p:cNvPr>
          <p:cNvSpPr/>
          <p:nvPr/>
        </p:nvSpPr>
        <p:spPr>
          <a:xfrm>
            <a:off x="450397" y="843823"/>
            <a:ext cx="8831077" cy="736820"/>
          </a:xfrm>
          <a:prstGeom prst="roundRect">
            <a:avLst>
              <a:gd name="adj" fmla="val 14980"/>
            </a:avLst>
          </a:prstGeom>
          <a:solidFill>
            <a:schemeClr val="accent1">
              <a:lumMod val="40000"/>
              <a:lumOff val="60000"/>
              <a:alpha val="80000"/>
            </a:schemeClr>
          </a:solidFill>
          <a:ln/>
        </p:spPr>
      </p:sp>
      <p:sp>
        <p:nvSpPr>
          <p:cNvPr id="2" name="Text 0"/>
          <p:cNvSpPr/>
          <p:nvPr/>
        </p:nvSpPr>
        <p:spPr>
          <a:xfrm>
            <a:off x="493445" y="356871"/>
            <a:ext cx="4452621" cy="21516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Sécurité &amp; confidentialité : ce qu'il faut savoir</a:t>
            </a:r>
            <a:endParaRPr lang="en-US" sz="2400" dirty="0">
              <a:latin typeface="+mj-lt"/>
            </a:endParaRPr>
          </a:p>
        </p:txBody>
      </p:sp>
      <p:sp>
        <p:nvSpPr>
          <p:cNvPr id="3" name="Text 1"/>
          <p:cNvSpPr/>
          <p:nvPr/>
        </p:nvSpPr>
        <p:spPr>
          <a:xfrm>
            <a:off x="645889" y="881638"/>
            <a:ext cx="8282451" cy="655805"/>
          </a:xfrm>
          <a:prstGeom prst="rect">
            <a:avLst/>
          </a:prstGeom>
          <a:noFill/>
          <a:ln/>
        </p:spPr>
        <p:txBody>
          <a:bodyPr wrap="none" lIns="0" tIns="0" rIns="0" bIns="0" rtlCol="0" anchor="t"/>
          <a:lstStyle/>
          <a:p>
            <a:pPr>
              <a:lnSpc>
                <a:spcPct val="150000"/>
              </a:lnSpc>
            </a:pPr>
            <a:r>
              <a:rPr lang="en-US" sz="1400" dirty="0">
                <a:solidFill>
                  <a:srgbClr val="272525"/>
                </a:solidFill>
                <a:latin typeface="+mj-lt"/>
                <a:ea typeface="Inter" pitchFamily="34" charset="-122"/>
                <a:cs typeface="Inter" pitchFamily="34" charset="-120"/>
              </a:rPr>
              <a:t>La principale réticence à utiliser ces </a:t>
            </a:r>
            <a:r>
              <a:rPr lang="en-US" sz="1400" dirty="0" err="1">
                <a:solidFill>
                  <a:srgbClr val="272525"/>
                </a:solidFill>
                <a:latin typeface="+mj-lt"/>
                <a:ea typeface="Inter" pitchFamily="34" charset="-122"/>
                <a:cs typeface="Inter" pitchFamily="34" charset="-120"/>
              </a:rPr>
              <a:t>outils</a:t>
            </a:r>
            <a:r>
              <a:rPr lang="en-US" sz="1400" dirty="0">
                <a:solidFill>
                  <a:srgbClr val="272525"/>
                </a:solidFill>
                <a:latin typeface="+mj-lt"/>
                <a:ea typeface="Inter" pitchFamily="34" charset="-122"/>
                <a:cs typeface="Inter" pitchFamily="34" charset="-120"/>
              </a:rPr>
              <a:t> </a:t>
            </a:r>
            <a:r>
              <a:rPr lang="en-US" sz="1400" dirty="0" err="1">
                <a:solidFill>
                  <a:srgbClr val="272525"/>
                </a:solidFill>
                <a:latin typeface="+mj-lt"/>
                <a:ea typeface="Inter" pitchFamily="34" charset="-122"/>
                <a:cs typeface="Inter" pitchFamily="34" charset="-120"/>
              </a:rPr>
              <a:t>est</a:t>
            </a:r>
            <a:r>
              <a:rPr lang="en-US" sz="1400" dirty="0">
                <a:solidFill>
                  <a:srgbClr val="272525"/>
                </a:solidFill>
                <a:latin typeface="+mj-lt"/>
                <a:ea typeface="Inter" pitchFamily="34" charset="-122"/>
                <a:cs typeface="Inter" pitchFamily="34" charset="-120"/>
              </a:rPr>
              <a:t> </a:t>
            </a:r>
            <a:r>
              <a:rPr lang="en-US" sz="1400" dirty="0" err="1">
                <a:solidFill>
                  <a:srgbClr val="272525"/>
                </a:solidFill>
                <a:latin typeface="+mj-lt"/>
                <a:ea typeface="Inter" pitchFamily="34" charset="-122"/>
                <a:cs typeface="Inter" pitchFamily="34" charset="-120"/>
              </a:rPr>
              <a:t>souvent</a:t>
            </a:r>
            <a:r>
              <a:rPr lang="en-US" sz="1400" dirty="0">
                <a:solidFill>
                  <a:srgbClr val="272525"/>
                </a:solidFill>
                <a:latin typeface="+mj-lt"/>
                <a:ea typeface="Inter" pitchFamily="34" charset="-122"/>
                <a:cs typeface="Inter" pitchFamily="34" charset="-120"/>
              </a:rPr>
              <a:t> la question de la sécurité. Voici les </a:t>
            </a:r>
            <a:r>
              <a:rPr lang="en-US" sz="1400" dirty="0" err="1">
                <a:solidFill>
                  <a:srgbClr val="272525"/>
                </a:solidFill>
                <a:latin typeface="+mj-lt"/>
                <a:ea typeface="Inter" pitchFamily="34" charset="-122"/>
                <a:cs typeface="Inter" pitchFamily="34" charset="-120"/>
              </a:rPr>
              <a:t>éléments</a:t>
            </a:r>
            <a:br>
              <a:rPr lang="en-US" sz="1400" dirty="0">
                <a:solidFill>
                  <a:srgbClr val="272525"/>
                </a:solidFill>
                <a:latin typeface="+mj-lt"/>
                <a:ea typeface="Inter" pitchFamily="34" charset="-122"/>
                <a:cs typeface="Inter" pitchFamily="34" charset="-120"/>
              </a:rPr>
            </a:br>
            <a:r>
              <a:rPr lang="en-US" sz="1400" dirty="0" err="1">
                <a:solidFill>
                  <a:srgbClr val="272525"/>
                </a:solidFill>
                <a:latin typeface="+mj-lt"/>
                <a:ea typeface="Inter" pitchFamily="34" charset="-122"/>
                <a:cs typeface="Inter" pitchFamily="34" charset="-120"/>
              </a:rPr>
              <a:t>essentiels</a:t>
            </a:r>
            <a:r>
              <a:rPr lang="en-US" sz="1400" dirty="0">
                <a:solidFill>
                  <a:srgbClr val="272525"/>
                </a:solidFill>
                <a:latin typeface="+mj-lt"/>
                <a:ea typeface="Inter" pitchFamily="34" charset="-122"/>
                <a:cs typeface="Inter" pitchFamily="34" charset="-120"/>
              </a:rPr>
              <a:t> pour faire des choix éclairés et serein :</a:t>
            </a:r>
            <a:endParaRPr lang="en-US" sz="1400" dirty="0">
              <a:latin typeface="+mj-lt"/>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144" y="2771111"/>
            <a:ext cx="4343952" cy="1197040"/>
          </a:xfrm>
          <a:prstGeom prst="rect">
            <a:avLst/>
          </a:prstGeom>
        </p:spPr>
      </p:pic>
      <p:sp>
        <p:nvSpPr>
          <p:cNvPr id="5" name="Text 2"/>
          <p:cNvSpPr/>
          <p:nvPr/>
        </p:nvSpPr>
        <p:spPr>
          <a:xfrm>
            <a:off x="645889" y="2848583"/>
            <a:ext cx="904665" cy="110121"/>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Ce qui est sécurisé</a:t>
            </a:r>
            <a:endParaRPr lang="en-US" sz="1400" dirty="0">
              <a:latin typeface="+mj-lt"/>
            </a:endParaRPr>
          </a:p>
        </p:txBody>
      </p:sp>
      <p:sp>
        <p:nvSpPr>
          <p:cNvPr id="6" name="Text 3"/>
          <p:cNvSpPr/>
          <p:nvPr/>
        </p:nvSpPr>
        <p:spPr>
          <a:xfrm>
            <a:off x="645889" y="3104378"/>
            <a:ext cx="4147735" cy="708492"/>
          </a:xfrm>
          <a:prstGeom prst="rect">
            <a:avLst/>
          </a:prstGeom>
          <a:noFill/>
          <a:ln/>
        </p:spPr>
        <p:txBody>
          <a:bodyPr wrap="square" lIns="0" tIns="0" rIns="0" bIns="0" rtlCol="0" anchor="t">
            <a:noAutofit/>
          </a:bodyPr>
          <a:lstStyle/>
          <a:p>
            <a:pPr marL="99057" indent="-99057">
              <a:buSzPct val="100000"/>
              <a:buChar char="•"/>
            </a:pPr>
            <a:r>
              <a:rPr lang="en-US" sz="1200" dirty="0">
                <a:solidFill>
                  <a:srgbClr val="272525"/>
                </a:solidFill>
                <a:latin typeface="+mj-lt"/>
                <a:ea typeface="Inter" pitchFamily="34" charset="-122"/>
                <a:cs typeface="Inter" pitchFamily="34" charset="-120"/>
              </a:rPr>
              <a:t>Connexion via norme DSP2 (obligation européenne)</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Chiffrement des données bancaires</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Applications agréées par l'ACPR (régulateur français)</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Authentification à deux facteurs disponible</a:t>
            </a:r>
            <a:endParaRPr lang="en-US" sz="1200" dirty="0">
              <a:latin typeface="+mj-lt"/>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144" y="4222126"/>
            <a:ext cx="4343952" cy="1331756"/>
          </a:xfrm>
          <a:prstGeom prst="rect">
            <a:avLst/>
          </a:prstGeom>
        </p:spPr>
      </p:pic>
      <p:sp>
        <p:nvSpPr>
          <p:cNvPr id="8" name="Text 4"/>
          <p:cNvSpPr/>
          <p:nvPr/>
        </p:nvSpPr>
        <p:spPr>
          <a:xfrm>
            <a:off x="645889" y="4299596"/>
            <a:ext cx="842832" cy="110121"/>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Les bons réflexes</a:t>
            </a:r>
            <a:endParaRPr lang="en-US" sz="1400" dirty="0">
              <a:latin typeface="+mj-lt"/>
            </a:endParaRPr>
          </a:p>
        </p:txBody>
      </p:sp>
      <p:sp>
        <p:nvSpPr>
          <p:cNvPr id="9" name="Text 5"/>
          <p:cNvSpPr/>
          <p:nvPr/>
        </p:nvSpPr>
        <p:spPr>
          <a:xfrm>
            <a:off x="645889" y="4555392"/>
            <a:ext cx="4147735" cy="1070562"/>
          </a:xfrm>
          <a:prstGeom prst="rect">
            <a:avLst/>
          </a:prstGeom>
          <a:noFill/>
          <a:ln/>
        </p:spPr>
        <p:txBody>
          <a:bodyPr wrap="square" lIns="0" tIns="0" rIns="0" bIns="0" rtlCol="0" anchor="t">
            <a:noAutofit/>
          </a:bodyPr>
          <a:lstStyle/>
          <a:p>
            <a:pPr marL="99057" indent="-99057">
              <a:buSzPct val="100000"/>
              <a:buChar char="•"/>
            </a:pPr>
            <a:r>
              <a:rPr lang="en-US" sz="1200" dirty="0">
                <a:solidFill>
                  <a:srgbClr val="272525"/>
                </a:solidFill>
                <a:latin typeface="+mj-lt"/>
                <a:ea typeface="Inter" pitchFamily="34" charset="-122"/>
                <a:cs typeface="Inter" pitchFamily="34" charset="-120"/>
              </a:rPr>
              <a:t>Utiliser un mot de passe fort et unique</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Activer la double authentification</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Télécharger uniquement sur App Store / Google Play officiels</a:t>
            </a:r>
            <a:endParaRPr lang="en-US" sz="1200" dirty="0">
              <a:latin typeface="+mj-lt"/>
            </a:endParaRPr>
          </a:p>
          <a:p>
            <a:pPr marL="99057" indent="-99057">
              <a:buSzPct val="100000"/>
              <a:buChar char="•"/>
            </a:pPr>
            <a:r>
              <a:rPr lang="en-US" sz="1200" dirty="0">
                <a:solidFill>
                  <a:srgbClr val="272525"/>
                </a:solidFill>
                <a:latin typeface="+mj-lt"/>
                <a:ea typeface="Inter" pitchFamily="34" charset="-122"/>
                <a:cs typeface="Inter" pitchFamily="34" charset="-120"/>
              </a:rPr>
              <a:t>Vérifier que l'app est agréée ACPR sur leur site</a:t>
            </a:r>
            <a:endParaRPr lang="en-US" sz="1200" dirty="0">
              <a:latin typeface="+mj-lt"/>
            </a:endParaRPr>
          </a:p>
        </p:txBody>
      </p:sp>
      <p:pic>
        <p:nvPicPr>
          <p:cNvPr id="10"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14993" y="1761334"/>
            <a:ext cx="4333633" cy="4333633"/>
          </a:xfrm>
          <a:prstGeom prst="rect">
            <a:avLst/>
          </a:prstGeom>
        </p:spPr>
      </p:pic>
      <p:sp>
        <p:nvSpPr>
          <p:cNvPr id="13" name="Text 7"/>
          <p:cNvSpPr/>
          <p:nvPr/>
        </p:nvSpPr>
        <p:spPr>
          <a:xfrm>
            <a:off x="874572" y="6226693"/>
            <a:ext cx="8216669" cy="394567"/>
          </a:xfrm>
          <a:prstGeom prst="rect">
            <a:avLst/>
          </a:prstGeom>
          <a:noFill/>
          <a:ln/>
        </p:spPr>
        <p:txBody>
          <a:bodyPr wrap="square" lIns="0" tIns="0" rIns="0" bIns="0" rtlCol="0" anchor="t">
            <a:noAutofit/>
          </a:bodyPr>
          <a:lstStyle/>
          <a:p>
            <a:r>
              <a:rPr lang="en-US" sz="1200" dirty="0">
                <a:solidFill>
                  <a:srgbClr val="000000"/>
                </a:solidFill>
                <a:latin typeface="+mj-lt"/>
                <a:ea typeface="Inter" pitchFamily="34" charset="-122"/>
                <a:cs typeface="Inter" pitchFamily="34" charset="-120"/>
              </a:rPr>
              <a:t>Ne communiquez </a:t>
            </a:r>
            <a:r>
              <a:rPr lang="en-US" sz="1200" b="1" dirty="0">
                <a:solidFill>
                  <a:srgbClr val="000000"/>
                </a:solidFill>
                <a:latin typeface="+mj-lt"/>
                <a:ea typeface="Inter Bold" pitchFamily="34" charset="-122"/>
                <a:cs typeface="Inter Bold" pitchFamily="34" charset="-120"/>
              </a:rPr>
              <a:t>jamais</a:t>
            </a:r>
            <a:r>
              <a:rPr lang="en-US" sz="1200" dirty="0">
                <a:solidFill>
                  <a:srgbClr val="000000"/>
                </a:solidFill>
                <a:latin typeface="+mj-lt"/>
                <a:ea typeface="Inter" pitchFamily="34" charset="-122"/>
                <a:cs typeface="Inter" pitchFamily="34" charset="-120"/>
              </a:rPr>
              <a:t> vos codes PIN bancaires ou mots de passe à une application. Les agrégateurs de comptes légaux n'en ont pas besoin et ne les demandent pas.</a:t>
            </a:r>
            <a:endParaRPr lang="en-US" sz="1200" dirty="0">
              <a:latin typeface="+mj-lt"/>
            </a:endParaRPr>
          </a:p>
        </p:txBody>
      </p:sp>
      <p:pic>
        <p:nvPicPr>
          <p:cNvPr id="15" name="Image 3" descr="preencoded.png"/>
          <p:cNvPicPr>
            <a:picLocks noChangeAspect="1"/>
          </p:cNvPicPr>
          <p:nvPr/>
        </p:nvPicPr>
        <p:blipFill>
          <a:blip r:embed="rId6"/>
          <a:stretch>
            <a:fillRect/>
          </a:stretch>
        </p:blipFill>
        <p:spPr>
          <a:xfrm>
            <a:off x="645889" y="6114548"/>
            <a:ext cx="239140" cy="2744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6" name="Shape 11">
            <a:extLst>
              <a:ext uri="{FF2B5EF4-FFF2-40B4-BE49-F238E27FC236}">
                <a16:creationId xmlns:a16="http://schemas.microsoft.com/office/drawing/2014/main" id="{0EA3EC16-F0F7-7BC9-73DC-90F7C7429A34}"/>
              </a:ext>
            </a:extLst>
          </p:cNvPr>
          <p:cNvSpPr/>
          <p:nvPr/>
        </p:nvSpPr>
        <p:spPr>
          <a:xfrm>
            <a:off x="403157" y="1044649"/>
            <a:ext cx="8831077" cy="736820"/>
          </a:xfrm>
          <a:prstGeom prst="roundRect">
            <a:avLst>
              <a:gd name="adj" fmla="val 14980"/>
            </a:avLst>
          </a:prstGeom>
          <a:solidFill>
            <a:schemeClr val="accent1">
              <a:lumMod val="40000"/>
              <a:lumOff val="60000"/>
              <a:alpha val="80000"/>
            </a:schemeClr>
          </a:solidFill>
          <a:ln/>
        </p:spPr>
      </p:sp>
      <p:sp>
        <p:nvSpPr>
          <p:cNvPr id="2" name="Text 0"/>
          <p:cNvSpPr/>
          <p:nvPr/>
        </p:nvSpPr>
        <p:spPr>
          <a:xfrm>
            <a:off x="534478" y="514527"/>
            <a:ext cx="6119342" cy="430162"/>
          </a:xfrm>
          <a:prstGeom prst="rect">
            <a:avLst/>
          </a:prstGeom>
          <a:noFill/>
          <a:ln/>
        </p:spPr>
        <p:txBody>
          <a:bodyPr wrap="none" lIns="0" tIns="0" rIns="0" bIns="0" rtlCol="0" anchor="t"/>
          <a:lstStyle/>
          <a:p>
            <a:pPr>
              <a:lnSpc>
                <a:spcPct val="104000"/>
              </a:lnSpc>
            </a:pPr>
            <a:r>
              <a:rPr lang="en-US" sz="2400" b="1" dirty="0">
                <a:solidFill>
                  <a:srgbClr val="000000"/>
                </a:solidFill>
                <a:latin typeface="+mj-lt"/>
                <a:ea typeface="Twemoji Mozilla" pitchFamily="34" charset="-122"/>
                <a:cs typeface="Twemoji Mozilla" pitchFamily="34" charset="-120"/>
              </a:rPr>
              <a:t>🎉</a:t>
            </a:r>
            <a:r>
              <a:rPr lang="en-US" sz="2400" b="1" dirty="0">
                <a:solidFill>
                  <a:srgbClr val="000000"/>
                </a:solidFill>
                <a:latin typeface="+mj-lt"/>
                <a:ea typeface="Inter Bold" pitchFamily="34" charset="-122"/>
                <a:cs typeface="Inter Bold" pitchFamily="34" charset="-120"/>
              </a:rPr>
              <a:t> </a:t>
            </a:r>
            <a:r>
              <a:rPr lang="en-US" sz="2400" b="1" dirty="0" err="1">
                <a:solidFill>
                  <a:srgbClr val="000000"/>
                </a:solidFill>
                <a:latin typeface="+mj-lt"/>
                <a:ea typeface="Inter Bold" pitchFamily="34" charset="-122"/>
                <a:cs typeface="Inter Bold" pitchFamily="34" charset="-120"/>
              </a:rPr>
              <a:t>Vous</a:t>
            </a:r>
            <a:r>
              <a:rPr lang="en-US" sz="2400" b="1" dirty="0">
                <a:solidFill>
                  <a:srgbClr val="000000"/>
                </a:solidFill>
                <a:latin typeface="+mj-lt"/>
                <a:ea typeface="Inter Bold" pitchFamily="34" charset="-122"/>
                <a:cs typeface="Inter Bold" pitchFamily="34" charset="-120"/>
              </a:rPr>
              <a:t> êtes prêt·e à vous lancer !</a:t>
            </a:r>
            <a:endParaRPr lang="en-US" sz="2400" dirty="0">
              <a:latin typeface="+mj-lt"/>
            </a:endParaRPr>
          </a:p>
        </p:txBody>
      </p:sp>
      <p:sp>
        <p:nvSpPr>
          <p:cNvPr id="3" name="Text 1"/>
          <p:cNvSpPr/>
          <p:nvPr/>
        </p:nvSpPr>
        <p:spPr>
          <a:xfrm>
            <a:off x="537463" y="1100237"/>
            <a:ext cx="8831077" cy="538782"/>
          </a:xfrm>
          <a:prstGeom prst="rect">
            <a:avLst/>
          </a:prstGeom>
          <a:noFill/>
          <a:ln/>
        </p:spPr>
        <p:txBody>
          <a:bodyPr wrap="square" lIns="0" tIns="0" rIns="0" bIns="0" rtlCol="0" anchor="t">
            <a:noAutofit/>
          </a:bodyPr>
          <a:lstStyle/>
          <a:p>
            <a:pPr>
              <a:lnSpc>
                <a:spcPct val="133000"/>
              </a:lnSpc>
            </a:pPr>
            <a:r>
              <a:rPr lang="en-US" sz="1400" dirty="0">
                <a:solidFill>
                  <a:srgbClr val="272525"/>
                </a:solidFill>
                <a:latin typeface="+mj-lt"/>
                <a:ea typeface="Inter" pitchFamily="34" charset="-122"/>
                <a:cs typeface="Inter" pitchFamily="34" charset="-120"/>
              </a:rPr>
              <a:t>La gestion de budget numérique n'est pas réservée aux experts en finance. Avec les bons outils, quelques minutes par semaine suffisent pour transformer votre relation à l'argent.</a:t>
            </a:r>
            <a:endParaRPr lang="en-US" sz="1400" dirty="0">
              <a:latin typeface="+mj-lt"/>
            </a:endParaRPr>
          </a:p>
        </p:txBody>
      </p:sp>
      <p:sp>
        <p:nvSpPr>
          <p:cNvPr id="4" name="Shape 2"/>
          <p:cNvSpPr/>
          <p:nvPr/>
        </p:nvSpPr>
        <p:spPr>
          <a:xfrm>
            <a:off x="534478" y="2465689"/>
            <a:ext cx="2854101" cy="1738737"/>
          </a:xfrm>
          <a:prstGeom prst="roundRect">
            <a:avLst>
              <a:gd name="adj" fmla="val 3934"/>
            </a:avLst>
          </a:prstGeom>
          <a:solidFill>
            <a:srgbClr val="DADBF1">
              <a:alpha val="80000"/>
            </a:srgbClr>
          </a:solidFill>
          <a:ln w="4763">
            <a:solidFill>
              <a:srgbClr val="C0C1D7"/>
            </a:solidFill>
            <a:prstDash val="solid"/>
          </a:ln>
        </p:spPr>
      </p:sp>
      <p:sp>
        <p:nvSpPr>
          <p:cNvPr id="5" name="Text 3"/>
          <p:cNvSpPr/>
          <p:nvPr/>
        </p:nvSpPr>
        <p:spPr>
          <a:xfrm>
            <a:off x="673941" y="260515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Cette semaine</a:t>
            </a:r>
            <a:endParaRPr lang="en-US" sz="1400" dirty="0">
              <a:latin typeface="+mj-lt"/>
            </a:endParaRPr>
          </a:p>
        </p:txBody>
      </p:sp>
      <p:sp>
        <p:nvSpPr>
          <p:cNvPr id="6" name="Text 4"/>
          <p:cNvSpPr/>
          <p:nvPr/>
        </p:nvSpPr>
        <p:spPr>
          <a:xfrm>
            <a:off x="673942" y="2900931"/>
            <a:ext cx="2575173" cy="860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Téléchargez </a:t>
            </a:r>
            <a:r>
              <a:rPr lang="en-US" sz="1200" b="1" dirty="0">
                <a:solidFill>
                  <a:srgbClr val="272525"/>
                </a:solidFill>
                <a:latin typeface="+mj-lt"/>
                <a:ea typeface="Inter Bold" pitchFamily="34" charset="-122"/>
                <a:cs typeface="Inter Bold" pitchFamily="34" charset="-120"/>
              </a:rPr>
              <a:t>Linxo</a:t>
            </a:r>
            <a:r>
              <a:rPr lang="en-US" sz="1200" dirty="0">
                <a:solidFill>
                  <a:srgbClr val="272525"/>
                </a:solidFill>
                <a:latin typeface="+mj-lt"/>
                <a:ea typeface="Inter" pitchFamily="34" charset="-122"/>
                <a:cs typeface="Inter" pitchFamily="34" charset="-120"/>
              </a:rPr>
              <a:t> ou </a:t>
            </a:r>
            <a:r>
              <a:rPr lang="en-US" sz="1200" b="1" dirty="0">
                <a:solidFill>
                  <a:srgbClr val="272525"/>
                </a:solidFill>
                <a:latin typeface="+mj-lt"/>
                <a:ea typeface="Inter Bold" pitchFamily="34" charset="-122"/>
                <a:cs typeface="Inter Bold" pitchFamily="34" charset="-120"/>
              </a:rPr>
              <a:t>Bankin'</a:t>
            </a:r>
            <a:r>
              <a:rPr lang="en-US" sz="1200" dirty="0">
                <a:solidFill>
                  <a:srgbClr val="272525"/>
                </a:solidFill>
                <a:latin typeface="+mj-lt"/>
                <a:ea typeface="Inter" pitchFamily="34" charset="-122"/>
                <a:cs typeface="Inter" pitchFamily="34" charset="-120"/>
              </a:rPr>
              <a:t> (gratuit) et connectez votre compte principal. Observez simplement vos catégories de dépenses.</a:t>
            </a:r>
            <a:endParaRPr lang="en-US" sz="1200" dirty="0">
              <a:latin typeface="+mj-lt"/>
            </a:endParaRPr>
          </a:p>
        </p:txBody>
      </p:sp>
      <p:sp>
        <p:nvSpPr>
          <p:cNvPr id="7" name="Shape 5"/>
          <p:cNvSpPr/>
          <p:nvPr/>
        </p:nvSpPr>
        <p:spPr>
          <a:xfrm>
            <a:off x="3522883" y="2465689"/>
            <a:ext cx="2854183" cy="1738737"/>
          </a:xfrm>
          <a:prstGeom prst="roundRect">
            <a:avLst>
              <a:gd name="adj" fmla="val 3934"/>
            </a:avLst>
          </a:prstGeom>
          <a:solidFill>
            <a:srgbClr val="DADBF1">
              <a:alpha val="80000"/>
            </a:srgbClr>
          </a:solidFill>
          <a:ln w="4763">
            <a:solidFill>
              <a:srgbClr val="C0C1D7"/>
            </a:solidFill>
            <a:prstDash val="solid"/>
          </a:ln>
        </p:spPr>
      </p:sp>
      <p:sp>
        <p:nvSpPr>
          <p:cNvPr id="8" name="Text 6"/>
          <p:cNvSpPr/>
          <p:nvPr/>
        </p:nvSpPr>
        <p:spPr>
          <a:xfrm>
            <a:off x="3662348" y="260515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Ce mois-ci</a:t>
            </a:r>
            <a:endParaRPr lang="en-US" sz="1400" dirty="0">
              <a:latin typeface="+mj-lt"/>
            </a:endParaRPr>
          </a:p>
        </p:txBody>
      </p:sp>
      <p:sp>
        <p:nvSpPr>
          <p:cNvPr id="9" name="Text 7"/>
          <p:cNvSpPr/>
          <p:nvPr/>
        </p:nvSpPr>
        <p:spPr>
          <a:xfrm>
            <a:off x="3662348" y="2900931"/>
            <a:ext cx="2575253" cy="860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Appliquez la règle </a:t>
            </a:r>
            <a:r>
              <a:rPr lang="en-US" sz="1200" b="1" dirty="0">
                <a:solidFill>
                  <a:srgbClr val="272525"/>
                </a:solidFill>
                <a:latin typeface="+mj-lt"/>
                <a:ea typeface="Inter Bold" pitchFamily="34" charset="-122"/>
                <a:cs typeface="Inter Bold" pitchFamily="34" charset="-120"/>
              </a:rPr>
              <a:t>50/30/20</a:t>
            </a:r>
            <a:r>
              <a:rPr lang="en-US" sz="1200" dirty="0">
                <a:solidFill>
                  <a:srgbClr val="272525"/>
                </a:solidFill>
                <a:latin typeface="+mj-lt"/>
                <a:ea typeface="Inter" pitchFamily="34" charset="-122"/>
                <a:cs typeface="Inter" pitchFamily="34" charset="-120"/>
              </a:rPr>
              <a:t> à votre prochain salaire. Programmez un virement automatique vers votre épargne, même modeste.</a:t>
            </a:r>
            <a:endParaRPr lang="en-US" sz="1200" dirty="0">
              <a:latin typeface="+mj-lt"/>
            </a:endParaRPr>
          </a:p>
        </p:txBody>
      </p:sp>
      <p:sp>
        <p:nvSpPr>
          <p:cNvPr id="10" name="Shape 8"/>
          <p:cNvSpPr/>
          <p:nvPr/>
        </p:nvSpPr>
        <p:spPr>
          <a:xfrm>
            <a:off x="6511372" y="2465689"/>
            <a:ext cx="2854101" cy="1738737"/>
          </a:xfrm>
          <a:prstGeom prst="roundRect">
            <a:avLst>
              <a:gd name="adj" fmla="val 3934"/>
            </a:avLst>
          </a:prstGeom>
          <a:solidFill>
            <a:srgbClr val="DADBF1">
              <a:alpha val="80000"/>
            </a:srgbClr>
          </a:solidFill>
          <a:ln w="4763">
            <a:solidFill>
              <a:srgbClr val="C0C1D7"/>
            </a:solidFill>
            <a:prstDash val="solid"/>
          </a:ln>
        </p:spPr>
      </p:sp>
      <p:sp>
        <p:nvSpPr>
          <p:cNvPr id="11" name="Text 9"/>
          <p:cNvSpPr/>
          <p:nvPr/>
        </p:nvSpPr>
        <p:spPr>
          <a:xfrm>
            <a:off x="6650835" y="2605154"/>
            <a:ext cx="1679780" cy="215162"/>
          </a:xfrm>
          <a:prstGeom prst="rect">
            <a:avLst/>
          </a:prstGeom>
          <a:noFill/>
          <a:ln/>
        </p:spPr>
        <p:txBody>
          <a:bodyPr wrap="none" lIns="0" tIns="0" rIns="0" bIns="0" rtlCol="0" anchor="t"/>
          <a:lstStyle/>
          <a:p>
            <a:pPr>
              <a:lnSpc>
                <a:spcPct val="104000"/>
              </a:lnSpc>
            </a:pPr>
            <a:r>
              <a:rPr lang="en-US" sz="1400" b="1" dirty="0">
                <a:solidFill>
                  <a:srgbClr val="000000"/>
                </a:solidFill>
                <a:latin typeface="+mj-lt"/>
                <a:ea typeface="Twemoji Mozilla" pitchFamily="34" charset="-122"/>
                <a:cs typeface="Twemoji Mozilla" pitchFamily="34" charset="-120"/>
              </a:rPr>
              <a:t>🌟</a:t>
            </a:r>
            <a:r>
              <a:rPr lang="en-US" sz="1400" b="1" dirty="0">
                <a:solidFill>
                  <a:srgbClr val="272525"/>
                </a:solidFill>
                <a:latin typeface="+mj-lt"/>
                <a:ea typeface="Inter Bold" pitchFamily="34" charset="-122"/>
                <a:cs typeface="Inter Bold" pitchFamily="34" charset="-120"/>
              </a:rPr>
              <a:t> Dans 3 mois</a:t>
            </a:r>
            <a:endParaRPr lang="en-US" sz="1400" dirty="0">
              <a:latin typeface="+mj-lt"/>
            </a:endParaRPr>
          </a:p>
        </p:txBody>
      </p:sp>
      <p:sp>
        <p:nvSpPr>
          <p:cNvPr id="12" name="Text 10"/>
          <p:cNvSpPr/>
          <p:nvPr/>
        </p:nvSpPr>
        <p:spPr>
          <a:xfrm>
            <a:off x="6650836" y="2900931"/>
            <a:ext cx="2575173" cy="860003"/>
          </a:xfrm>
          <a:prstGeom prst="rect">
            <a:avLst/>
          </a:prstGeom>
          <a:noFill/>
          <a:ln/>
        </p:spPr>
        <p:txBody>
          <a:bodyPr wrap="square" lIns="0" tIns="0" rIns="0" bIns="0" rtlCol="0" anchor="t">
            <a:noAutofit/>
          </a:bodyPr>
          <a:lstStyle/>
          <a:p>
            <a:pPr>
              <a:lnSpc>
                <a:spcPct val="133000"/>
              </a:lnSpc>
            </a:pPr>
            <a:r>
              <a:rPr lang="en-US" sz="1200" dirty="0">
                <a:solidFill>
                  <a:srgbClr val="272525"/>
                </a:solidFill>
                <a:latin typeface="+mj-lt"/>
                <a:ea typeface="Inter" pitchFamily="34" charset="-122"/>
                <a:cs typeface="Inter" pitchFamily="34" charset="-120"/>
              </a:rPr>
              <a:t>Faites votre premier bilan trimestriel. Vous serez surpris·e des progrès accomplis et des économies réalisées sans effort particulier !</a:t>
            </a:r>
            <a:endParaRPr lang="en-US" sz="1200" dirty="0">
              <a:latin typeface="+mj-lt"/>
            </a:endParaRPr>
          </a:p>
        </p:txBody>
      </p:sp>
      <p:sp>
        <p:nvSpPr>
          <p:cNvPr id="13" name="Shape 11"/>
          <p:cNvSpPr/>
          <p:nvPr/>
        </p:nvSpPr>
        <p:spPr>
          <a:xfrm>
            <a:off x="534396" y="5385723"/>
            <a:ext cx="8831077" cy="744079"/>
          </a:xfrm>
          <a:prstGeom prst="roundRect">
            <a:avLst>
              <a:gd name="adj" fmla="val 7585"/>
            </a:avLst>
          </a:prstGeom>
          <a:solidFill>
            <a:srgbClr val="B6FCB8">
              <a:alpha val="80000"/>
            </a:srgbClr>
          </a:solidFill>
          <a:ln/>
        </p:spPr>
      </p:sp>
      <p:pic>
        <p:nvPicPr>
          <p:cNvPr id="1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8699" y="5580489"/>
            <a:ext cx="167921" cy="134305"/>
          </a:xfrm>
          <a:prstGeom prst="rect">
            <a:avLst/>
          </a:prstGeom>
        </p:spPr>
      </p:pic>
      <p:sp>
        <p:nvSpPr>
          <p:cNvPr id="15" name="Text 12"/>
          <p:cNvSpPr/>
          <p:nvPr/>
        </p:nvSpPr>
        <p:spPr>
          <a:xfrm>
            <a:off x="970927" y="5540182"/>
            <a:ext cx="8260240" cy="435161"/>
          </a:xfrm>
          <a:prstGeom prst="rect">
            <a:avLst/>
          </a:prstGeom>
          <a:noFill/>
          <a:ln/>
        </p:spPr>
        <p:txBody>
          <a:bodyPr wrap="square" lIns="0" tIns="0" rIns="0" bIns="0" rtlCol="0" anchor="t">
            <a:noAutofit/>
          </a:bodyPr>
          <a:lstStyle/>
          <a:p>
            <a:pPr>
              <a:lnSpc>
                <a:spcPct val="133000"/>
              </a:lnSpc>
            </a:pPr>
            <a:r>
              <a:rPr lang="en-US" sz="1200" b="1" dirty="0">
                <a:solidFill>
                  <a:srgbClr val="000000"/>
                </a:solidFill>
                <a:latin typeface="+mj-lt"/>
                <a:ea typeface="Inter Bold" pitchFamily="34" charset="-122"/>
                <a:cs typeface="Inter Bold" pitchFamily="34" charset="-120"/>
              </a:rPr>
              <a:t>Rappel bienveillant :</a:t>
            </a:r>
            <a:r>
              <a:rPr lang="en-US" sz="1200" dirty="0">
                <a:solidFill>
                  <a:srgbClr val="000000"/>
                </a:solidFill>
                <a:latin typeface="+mj-lt"/>
                <a:ea typeface="Inter" pitchFamily="34" charset="-122"/>
                <a:cs typeface="Inter" pitchFamily="34" charset="-120"/>
              </a:rPr>
              <a:t> Il n'y a pas de bonne ou de mauvaise façon de commencer. L'important, c'est de faire le premier pas. Chaque petit geste compte et s'accumule dans le temps. 💪</a:t>
            </a:r>
            <a:endParaRPr lang="en-US" sz="12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49A5DB9A-5BBA-50B3-0BF6-454D4A2A8AC2}"/>
              </a:ext>
            </a:extLst>
          </p:cNvPr>
          <p:cNvSpPr/>
          <p:nvPr/>
        </p:nvSpPr>
        <p:spPr>
          <a:xfrm>
            <a:off x="918233" y="1257886"/>
            <a:ext cx="8002795" cy="681337"/>
          </a:xfrm>
          <a:prstGeom prst="roundRect">
            <a:avLst/>
          </a:prstGeom>
          <a:solidFill>
            <a:srgbClr val="D6DF8E">
              <a:alpha val="90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3" name="Text 0">
            <a:extLst>
              <a:ext uri="{FF2B5EF4-FFF2-40B4-BE49-F238E27FC236}">
                <a16:creationId xmlns:a16="http://schemas.microsoft.com/office/drawing/2014/main" id="{B98215F5-C5AE-C8D6-3D0D-8A8BB0112849}"/>
              </a:ext>
            </a:extLst>
          </p:cNvPr>
          <p:cNvSpPr/>
          <p:nvPr/>
        </p:nvSpPr>
        <p:spPr>
          <a:xfrm>
            <a:off x="1539171" y="514782"/>
            <a:ext cx="8333873" cy="380585"/>
          </a:xfrm>
          <a:prstGeom prst="rect">
            <a:avLst/>
          </a:prstGeom>
          <a:noFill/>
          <a:ln/>
        </p:spPr>
        <p:txBody>
          <a:bodyPr wrap="none" lIns="0" tIns="0" rIns="0" bIns="0" rtlCol="0" anchor="t"/>
          <a:lstStyle/>
          <a:p>
            <a:pPr>
              <a:lnSpc>
                <a:spcPct val="104000"/>
              </a:lnSpc>
            </a:pPr>
            <a:r>
              <a:rPr lang="en-US" sz="2400" b="1" dirty="0" err="1">
                <a:solidFill>
                  <a:srgbClr val="000000"/>
                </a:solidFill>
                <a:latin typeface="Arial" panose="020B0604020202020204" pitchFamily="34" charset="0"/>
                <a:ea typeface="Inter Bold" pitchFamily="34" charset="-122"/>
                <a:cs typeface="Arial" panose="020B0604020202020204" pitchFamily="34" charset="0"/>
              </a:rPr>
              <a:t>Offre</a:t>
            </a:r>
            <a:r>
              <a:rPr lang="en-US" sz="2400" b="1" dirty="0">
                <a:solidFill>
                  <a:srgbClr val="000000"/>
                </a:solidFill>
                <a:latin typeface="Arial" panose="020B0604020202020204" pitchFamily="34" charset="0"/>
                <a:ea typeface="Inter Bold" pitchFamily="34" charset="-122"/>
                <a:cs typeface="Arial" panose="020B0604020202020204" pitchFamily="34" charset="0"/>
              </a:rPr>
              <a:t> </a:t>
            </a:r>
            <a:r>
              <a:rPr lang="en-US" sz="2400" b="1" dirty="0" err="1">
                <a:solidFill>
                  <a:srgbClr val="000000"/>
                </a:solidFill>
                <a:latin typeface="Arial" panose="020B0604020202020204" pitchFamily="34" charset="0"/>
                <a:ea typeface="Inter Bold" pitchFamily="34" charset="-122"/>
                <a:cs typeface="Arial" panose="020B0604020202020204" pitchFamily="34" charset="0"/>
              </a:rPr>
              <a:t>départementale</a:t>
            </a:r>
            <a:r>
              <a:rPr lang="en-US" sz="2400" b="1" dirty="0">
                <a:solidFill>
                  <a:srgbClr val="000000"/>
                </a:solidFill>
                <a:latin typeface="Arial" panose="020B0604020202020204" pitchFamily="34" charset="0"/>
                <a:ea typeface="Inter Bold" pitchFamily="34" charset="-122"/>
                <a:cs typeface="Arial" panose="020B0604020202020204" pitchFamily="34" charset="0"/>
              </a:rPr>
              <a:t> </a:t>
            </a:r>
            <a:r>
              <a:rPr lang="en-US" sz="2400" b="1" dirty="0" err="1">
                <a:solidFill>
                  <a:srgbClr val="000000"/>
                </a:solidFill>
                <a:latin typeface="Arial" panose="020B0604020202020204" pitchFamily="34" charset="0"/>
                <a:ea typeface="Inter Bold" pitchFamily="34" charset="-122"/>
                <a:cs typeface="Arial" panose="020B0604020202020204" pitchFamily="34" charset="0"/>
              </a:rPr>
              <a:t>d’Inclusion</a:t>
            </a:r>
            <a:r>
              <a:rPr lang="en-US" sz="2400" b="1" dirty="0">
                <a:solidFill>
                  <a:srgbClr val="000000"/>
                </a:solidFill>
                <a:latin typeface="Arial" panose="020B0604020202020204" pitchFamily="34" charset="0"/>
                <a:ea typeface="Inter Bold" pitchFamily="34" charset="-122"/>
                <a:cs typeface="Arial" panose="020B0604020202020204" pitchFamily="34" charset="0"/>
              </a:rPr>
              <a:t> Numérique</a:t>
            </a:r>
            <a:endParaRPr lang="en-US" sz="2400" dirty="0">
              <a:latin typeface="Arial" panose="020B0604020202020204" pitchFamily="34" charset="0"/>
              <a:cs typeface="Arial" panose="020B0604020202020204" pitchFamily="34" charset="0"/>
            </a:endParaRPr>
          </a:p>
        </p:txBody>
      </p:sp>
      <p:sp>
        <p:nvSpPr>
          <p:cNvPr id="4" name="Text 1">
            <a:extLst>
              <a:ext uri="{FF2B5EF4-FFF2-40B4-BE49-F238E27FC236}">
                <a16:creationId xmlns:a16="http://schemas.microsoft.com/office/drawing/2014/main" id="{0894C879-8B10-7212-4CC4-8AAF91D32361}"/>
              </a:ext>
            </a:extLst>
          </p:cNvPr>
          <p:cNvSpPr/>
          <p:nvPr/>
        </p:nvSpPr>
        <p:spPr>
          <a:xfrm>
            <a:off x="2069873" y="1282825"/>
            <a:ext cx="5906208" cy="565774"/>
          </a:xfrm>
          <a:prstGeom prst="rect">
            <a:avLst/>
          </a:prstGeom>
          <a:noFill/>
          <a:ln/>
        </p:spPr>
        <p:txBody>
          <a:bodyPr wrap="square" lIns="0" tIns="0" rIns="0" bIns="0" rtlCol="0" anchor="t">
            <a:noAutofit/>
          </a:bodyPr>
          <a:lstStyle/>
          <a:p>
            <a:pPr algn="ctr">
              <a:lnSpc>
                <a:spcPct val="127000"/>
              </a:lnSpc>
            </a:pPr>
            <a:r>
              <a:rPr lang="fr-FR" sz="1400" b="1" dirty="0">
                <a:solidFill>
                  <a:srgbClr val="272525"/>
                </a:solidFill>
                <a:latin typeface="Arial" panose="020B0604020202020204" pitchFamily="34" charset="0"/>
                <a:ea typeface="Inter" pitchFamily="34" charset="-122"/>
                <a:cs typeface="Arial" panose="020B0604020202020204" pitchFamily="34" charset="0"/>
              </a:rPr>
              <a:t>Voici les 5 offres et services dispensés par l’équipe départementale</a:t>
            </a:r>
          </a:p>
          <a:p>
            <a:pPr algn="ctr">
              <a:lnSpc>
                <a:spcPct val="127000"/>
              </a:lnSpc>
            </a:pPr>
            <a:r>
              <a:rPr lang="fr-FR" sz="1400" b="1" dirty="0">
                <a:solidFill>
                  <a:srgbClr val="272525"/>
                </a:solidFill>
                <a:latin typeface="Arial" panose="020B0604020202020204" pitchFamily="34" charset="0"/>
                <a:ea typeface="Inter" pitchFamily="34" charset="-122"/>
                <a:cs typeface="Arial" panose="020B0604020202020204" pitchFamily="34" charset="0"/>
              </a:rPr>
              <a:t>des Conseiller.es numériques :</a:t>
            </a:r>
            <a:endParaRPr lang="en-US" sz="1400" b="1" dirty="0">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645CDCCD-CAB7-FF4E-D25E-B53927C9E5C8}"/>
              </a:ext>
            </a:extLst>
          </p:cNvPr>
          <p:cNvSpPr/>
          <p:nvPr/>
        </p:nvSpPr>
        <p:spPr>
          <a:xfrm>
            <a:off x="918233" y="2349802"/>
            <a:ext cx="2593972" cy="1994478"/>
          </a:xfrm>
          <a:prstGeom prst="roundRect">
            <a:avLst>
              <a:gd name="adj" fmla="val 3862"/>
            </a:avLst>
          </a:prstGeom>
          <a:solidFill>
            <a:srgbClr val="A8DEEE">
              <a:alpha val="60000"/>
            </a:srgbClr>
          </a:solidFill>
          <a:ln w="6350">
            <a:solidFill>
              <a:schemeClr val="bg1">
                <a:lumMod val="50000"/>
              </a:schemeClr>
            </a:solidFill>
            <a:prstDash val="solid"/>
          </a:ln>
        </p:spPr>
      </p:sp>
      <p:sp>
        <p:nvSpPr>
          <p:cNvPr id="6" name="Shape 5">
            <a:extLst>
              <a:ext uri="{FF2B5EF4-FFF2-40B4-BE49-F238E27FC236}">
                <a16:creationId xmlns:a16="http://schemas.microsoft.com/office/drawing/2014/main" id="{9F1E667A-7BBB-44B0-53FA-C1F4B126861E}"/>
              </a:ext>
            </a:extLst>
          </p:cNvPr>
          <p:cNvSpPr/>
          <p:nvPr/>
        </p:nvSpPr>
        <p:spPr>
          <a:xfrm>
            <a:off x="3622563" y="2349801"/>
            <a:ext cx="2594053" cy="1994477"/>
          </a:xfrm>
          <a:prstGeom prst="roundRect">
            <a:avLst>
              <a:gd name="adj" fmla="val 3862"/>
            </a:avLst>
          </a:prstGeom>
          <a:solidFill>
            <a:srgbClr val="A8DEEE">
              <a:alpha val="60000"/>
            </a:srgbClr>
          </a:solidFill>
          <a:ln w="6350">
            <a:solidFill>
              <a:schemeClr val="bg1">
                <a:lumMod val="50000"/>
              </a:schemeClr>
            </a:solidFill>
            <a:prstDash val="solid"/>
          </a:ln>
        </p:spPr>
      </p:sp>
      <p:sp>
        <p:nvSpPr>
          <p:cNvPr id="7" name="Shape 8">
            <a:extLst>
              <a:ext uri="{FF2B5EF4-FFF2-40B4-BE49-F238E27FC236}">
                <a16:creationId xmlns:a16="http://schemas.microsoft.com/office/drawing/2014/main" id="{C1A1DF98-D0D3-21FA-D182-725B0BC1BE5A}"/>
              </a:ext>
            </a:extLst>
          </p:cNvPr>
          <p:cNvSpPr/>
          <p:nvPr/>
        </p:nvSpPr>
        <p:spPr>
          <a:xfrm>
            <a:off x="6326975" y="2349802"/>
            <a:ext cx="2594053" cy="1994478"/>
          </a:xfrm>
          <a:prstGeom prst="roundRect">
            <a:avLst>
              <a:gd name="adj" fmla="val 3862"/>
            </a:avLst>
          </a:prstGeom>
          <a:solidFill>
            <a:srgbClr val="A8DEEE">
              <a:alpha val="60000"/>
            </a:srgbClr>
          </a:solidFill>
          <a:ln w="6350">
            <a:solidFill>
              <a:schemeClr val="bg1">
                <a:lumMod val="50000"/>
              </a:schemeClr>
            </a:solidFill>
            <a:prstDash val="solid"/>
          </a:ln>
        </p:spPr>
      </p:sp>
      <p:sp>
        <p:nvSpPr>
          <p:cNvPr id="8" name="Text 9">
            <a:extLst>
              <a:ext uri="{FF2B5EF4-FFF2-40B4-BE49-F238E27FC236}">
                <a16:creationId xmlns:a16="http://schemas.microsoft.com/office/drawing/2014/main" id="{A51355BB-C5DF-5EE7-5CC4-82E28B15E112}"/>
              </a:ext>
            </a:extLst>
          </p:cNvPr>
          <p:cNvSpPr/>
          <p:nvPr/>
        </p:nvSpPr>
        <p:spPr>
          <a:xfrm>
            <a:off x="6453861" y="2476692"/>
            <a:ext cx="1522220" cy="195411"/>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Le Pass Numérique</a:t>
            </a:r>
            <a:endParaRPr lang="en-US" sz="1200" dirty="0">
              <a:latin typeface="Arial" panose="020B0604020202020204" pitchFamily="34" charset="0"/>
              <a:cs typeface="Arial" panose="020B0604020202020204" pitchFamily="34" charset="0"/>
            </a:endParaRPr>
          </a:p>
        </p:txBody>
      </p:sp>
      <p:sp>
        <p:nvSpPr>
          <p:cNvPr id="9" name="Text 10">
            <a:extLst>
              <a:ext uri="{FF2B5EF4-FFF2-40B4-BE49-F238E27FC236}">
                <a16:creationId xmlns:a16="http://schemas.microsoft.com/office/drawing/2014/main" id="{D914FFFF-EE16-9A04-F788-0FB0F1ED698E}"/>
              </a:ext>
            </a:extLst>
          </p:cNvPr>
          <p:cNvSpPr/>
          <p:nvPr/>
        </p:nvSpPr>
        <p:spPr>
          <a:xfrm>
            <a:off x="6453862" y="2738287"/>
            <a:ext cx="2340282" cy="1093463"/>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Aptos" panose="020B0004020202020204" pitchFamily="34" charset="0"/>
                <a:cs typeface="Arial" panose="020B0604020202020204" pitchFamily="34" charset="0"/>
              </a:rPr>
              <a:t>Dispositif qui finance des formations aux compétences numériques de par des formateurs agréés.</a:t>
            </a:r>
          </a:p>
        </p:txBody>
      </p:sp>
      <p:sp>
        <p:nvSpPr>
          <p:cNvPr id="10" name="Shape 11">
            <a:extLst>
              <a:ext uri="{FF2B5EF4-FFF2-40B4-BE49-F238E27FC236}">
                <a16:creationId xmlns:a16="http://schemas.microsoft.com/office/drawing/2014/main" id="{E9D20A7F-0AA3-EFF9-8422-890CA7F0F3CA}"/>
              </a:ext>
            </a:extLst>
          </p:cNvPr>
          <p:cNvSpPr/>
          <p:nvPr/>
        </p:nvSpPr>
        <p:spPr>
          <a:xfrm>
            <a:off x="918233" y="4533301"/>
            <a:ext cx="3946178" cy="1448459"/>
          </a:xfrm>
          <a:prstGeom prst="roundRect">
            <a:avLst>
              <a:gd name="adj" fmla="val 4492"/>
            </a:avLst>
          </a:prstGeom>
          <a:solidFill>
            <a:srgbClr val="A8DEEE">
              <a:alpha val="60000"/>
            </a:srgbClr>
          </a:solidFill>
          <a:ln w="6350">
            <a:solidFill>
              <a:schemeClr val="bg1">
                <a:lumMod val="50000"/>
              </a:schemeClr>
            </a:solidFill>
            <a:prstDash val="solid"/>
          </a:ln>
        </p:spPr>
      </p:sp>
      <p:sp>
        <p:nvSpPr>
          <p:cNvPr id="11" name="Text 12">
            <a:extLst>
              <a:ext uri="{FF2B5EF4-FFF2-40B4-BE49-F238E27FC236}">
                <a16:creationId xmlns:a16="http://schemas.microsoft.com/office/drawing/2014/main" id="{25ADB477-B24B-9C58-29F6-695D9193C170}"/>
              </a:ext>
            </a:extLst>
          </p:cNvPr>
          <p:cNvSpPr/>
          <p:nvPr/>
        </p:nvSpPr>
        <p:spPr>
          <a:xfrm>
            <a:off x="1045117" y="4660189"/>
            <a:ext cx="1522220" cy="195411"/>
          </a:xfrm>
          <a:prstGeom prst="rect">
            <a:avLst/>
          </a:prstGeom>
          <a:noFill/>
          <a:ln/>
        </p:spPr>
        <p:txBody>
          <a:bodyPr wrap="none" lIns="0" tIns="0" rIns="0" bIns="0" rtlCol="0" anchor="t"/>
          <a:lstStyle/>
          <a:p>
            <a:pPr>
              <a:lnSpc>
                <a:spcPct val="104000"/>
              </a:lnSpc>
            </a:pPr>
            <a:r>
              <a:rPr lang="en-US" sz="1200" b="1" dirty="0" err="1">
                <a:solidFill>
                  <a:srgbClr val="000000"/>
                </a:solidFill>
                <a:latin typeface="Arial" panose="020B0604020202020204" pitchFamily="34" charset="0"/>
                <a:ea typeface="Inter Bold" panose="020B0604020202020204" charset="0"/>
                <a:cs typeface="Arial" panose="020B0604020202020204" pitchFamily="34" charset="0"/>
              </a:rPr>
              <a:t>Ordi</a:t>
            </a:r>
            <a:r>
              <a:rPr lang="en-US" sz="1200" b="1" dirty="0">
                <a:solidFill>
                  <a:srgbClr val="000000"/>
                </a:solidFill>
                <a:latin typeface="Arial" panose="020B0604020202020204" pitchFamily="34" charset="0"/>
                <a:ea typeface="Inter Bold" panose="020B0604020202020204" charset="0"/>
                <a:cs typeface="Arial" panose="020B0604020202020204" pitchFamily="34" charset="0"/>
              </a:rPr>
              <a:t> </a:t>
            </a:r>
            <a:r>
              <a:rPr lang="en-US" sz="1200" b="1" dirty="0" err="1">
                <a:solidFill>
                  <a:srgbClr val="000000"/>
                </a:solidFill>
                <a:latin typeface="Arial" panose="020B0604020202020204" pitchFamily="34" charset="0"/>
                <a:ea typeface="Inter Bold" panose="020B0604020202020204" charset="0"/>
                <a:cs typeface="Arial" panose="020B0604020202020204" pitchFamily="34" charset="0"/>
              </a:rPr>
              <a:t>Solidaire</a:t>
            </a:r>
            <a:endParaRPr lang="en-US" sz="1200" dirty="0">
              <a:latin typeface="Arial" panose="020B0604020202020204" pitchFamily="34" charset="0"/>
              <a:ea typeface="Inter Bold" panose="020B0604020202020204" charset="0"/>
              <a:cs typeface="Arial" panose="020B0604020202020204" pitchFamily="34" charset="0"/>
            </a:endParaRPr>
          </a:p>
        </p:txBody>
      </p:sp>
      <p:sp>
        <p:nvSpPr>
          <p:cNvPr id="12" name="Text 13">
            <a:extLst>
              <a:ext uri="{FF2B5EF4-FFF2-40B4-BE49-F238E27FC236}">
                <a16:creationId xmlns:a16="http://schemas.microsoft.com/office/drawing/2014/main" id="{52AF2187-F6A4-5A37-F5FF-A77994B7F3FE}"/>
              </a:ext>
            </a:extLst>
          </p:cNvPr>
          <p:cNvSpPr/>
          <p:nvPr/>
        </p:nvSpPr>
        <p:spPr>
          <a:xfrm>
            <a:off x="1045117" y="4921786"/>
            <a:ext cx="3692408" cy="623398"/>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Inter" panose="020B0604020202020204" charset="0"/>
                <a:cs typeface="Arial" panose="020B0604020202020204" pitchFamily="34" charset="0"/>
              </a:rPr>
              <a:t>Reconditionnement de matériel informatique revendu à prix solidaires, dans le cadre d'un chantier d'insertion.</a:t>
            </a:r>
          </a:p>
        </p:txBody>
      </p:sp>
      <p:sp>
        <p:nvSpPr>
          <p:cNvPr id="13" name="Shape 14">
            <a:extLst>
              <a:ext uri="{FF2B5EF4-FFF2-40B4-BE49-F238E27FC236}">
                <a16:creationId xmlns:a16="http://schemas.microsoft.com/office/drawing/2014/main" id="{3913B2AE-4E42-2B5D-DF76-BC6F0D69CA17}"/>
              </a:ext>
            </a:extLst>
          </p:cNvPr>
          <p:cNvSpPr/>
          <p:nvPr/>
        </p:nvSpPr>
        <p:spPr>
          <a:xfrm>
            <a:off x="4974769" y="4533301"/>
            <a:ext cx="3946259" cy="1448459"/>
          </a:xfrm>
          <a:prstGeom prst="roundRect">
            <a:avLst>
              <a:gd name="adj" fmla="val 4492"/>
            </a:avLst>
          </a:prstGeom>
          <a:solidFill>
            <a:srgbClr val="A8DEEE">
              <a:alpha val="60000"/>
            </a:srgbClr>
          </a:solidFill>
          <a:ln w="6350">
            <a:solidFill>
              <a:schemeClr val="bg1">
                <a:lumMod val="50000"/>
              </a:schemeClr>
            </a:solidFill>
            <a:prstDash val="solid"/>
          </a:ln>
        </p:spPr>
      </p:sp>
      <p:sp>
        <p:nvSpPr>
          <p:cNvPr id="14" name="Text 16">
            <a:extLst>
              <a:ext uri="{FF2B5EF4-FFF2-40B4-BE49-F238E27FC236}">
                <a16:creationId xmlns:a16="http://schemas.microsoft.com/office/drawing/2014/main" id="{C2406F28-3D1F-24E4-74B2-025962A70155}"/>
              </a:ext>
            </a:extLst>
          </p:cNvPr>
          <p:cNvSpPr/>
          <p:nvPr/>
        </p:nvSpPr>
        <p:spPr>
          <a:xfrm>
            <a:off x="5101655" y="4921786"/>
            <a:ext cx="3692488" cy="623398"/>
          </a:xfrm>
          <a:prstGeom prst="rect">
            <a:avLst/>
          </a:prstGeom>
          <a:noFill/>
          <a:ln/>
        </p:spPr>
        <p:txBody>
          <a:bodyPr wrap="square" lIns="0" tIns="0" rIns="0" bIns="0" rtlCol="0" anchor="t"/>
          <a:lstStyle/>
          <a:p>
            <a:pPr>
              <a:lnSpc>
                <a:spcPct val="115000"/>
              </a:lnSpc>
              <a:spcAft>
                <a:spcPts val="800"/>
              </a:spcAft>
            </a:pPr>
            <a:r>
              <a:rPr lang="fr-FR" sz="1200" kern="100" dirty="0">
                <a:effectLst/>
                <a:latin typeface="Arial" panose="020B0604020202020204" pitchFamily="34" charset="0"/>
                <a:ea typeface="Inter" panose="020B0604020202020204" charset="0"/>
                <a:cs typeface="Arial" panose="020B0604020202020204" pitchFamily="34" charset="0"/>
              </a:rPr>
              <a:t>Après une formation, les parents des collégiens reçoivent gratuitement un ordinateur reconditionné, l'ensemble du dispositif étant intégralement pris en charge. </a:t>
            </a:r>
          </a:p>
        </p:txBody>
      </p:sp>
      <p:sp>
        <p:nvSpPr>
          <p:cNvPr id="15" name="Text 6">
            <a:extLst>
              <a:ext uri="{FF2B5EF4-FFF2-40B4-BE49-F238E27FC236}">
                <a16:creationId xmlns:a16="http://schemas.microsoft.com/office/drawing/2014/main" id="{04DC70A3-3B46-E1BC-5AF7-E0DF6F99AB5F}"/>
              </a:ext>
            </a:extLst>
          </p:cNvPr>
          <p:cNvSpPr/>
          <p:nvPr/>
        </p:nvSpPr>
        <p:spPr>
          <a:xfrm>
            <a:off x="1230851" y="2462745"/>
            <a:ext cx="2222426" cy="387114"/>
          </a:xfrm>
          <a:prstGeom prst="rect">
            <a:avLst/>
          </a:prstGeom>
          <a:noFill/>
          <a:ln/>
        </p:spPr>
        <p:txBody>
          <a:bodyPr wrap="square" lIns="0" tIns="0" rIns="0" bIns="0" rtlCol="0" anchor="t">
            <a:noAutofit/>
          </a:bodyPr>
          <a:lstStyle/>
          <a:p>
            <a:pPr>
              <a:lnSpc>
                <a:spcPct val="104000"/>
              </a:lnSpc>
            </a:pPr>
            <a:r>
              <a:rPr lang="en-US" sz="1200" b="1" dirty="0" err="1">
                <a:solidFill>
                  <a:srgbClr val="272525"/>
                </a:solidFill>
                <a:latin typeface="Arial" panose="020B0604020202020204" pitchFamily="34" charset="0"/>
                <a:ea typeface="Inter Bold" pitchFamily="34" charset="-122"/>
                <a:cs typeface="Arial" panose="020B0604020202020204" pitchFamily="34" charset="0"/>
              </a:rPr>
              <a:t>Accompagnement</a:t>
            </a:r>
            <a:r>
              <a:rPr lang="en-US" sz="1200" b="1" dirty="0">
                <a:solidFill>
                  <a:srgbClr val="272525"/>
                </a:solidFill>
                <a:latin typeface="Arial" panose="020B0604020202020204" pitchFamily="34" charset="0"/>
                <a:ea typeface="Inter Bold" pitchFamily="34" charset="-122"/>
                <a:cs typeface="Arial" panose="020B0604020202020204" pitchFamily="34" charset="0"/>
              </a:rPr>
              <a:t> individuel</a:t>
            </a:r>
            <a:endParaRPr lang="en-US" sz="1200" dirty="0">
              <a:latin typeface="Arial" panose="020B0604020202020204" pitchFamily="34" charset="0"/>
              <a:cs typeface="Arial" panose="020B0604020202020204" pitchFamily="34" charset="0"/>
            </a:endParaRPr>
          </a:p>
        </p:txBody>
      </p:sp>
      <p:sp>
        <p:nvSpPr>
          <p:cNvPr id="16" name="Text 7">
            <a:extLst>
              <a:ext uri="{FF2B5EF4-FFF2-40B4-BE49-F238E27FC236}">
                <a16:creationId xmlns:a16="http://schemas.microsoft.com/office/drawing/2014/main" id="{69A160D1-8437-791F-9B90-5372AD406357}"/>
              </a:ext>
            </a:extLst>
          </p:cNvPr>
          <p:cNvSpPr/>
          <p:nvPr/>
        </p:nvSpPr>
        <p:spPr>
          <a:xfrm>
            <a:off x="1230851" y="2736696"/>
            <a:ext cx="2222426" cy="761976"/>
          </a:xfrm>
          <a:prstGeom prst="rect">
            <a:avLst/>
          </a:prstGeom>
          <a:noFill/>
          <a:ln/>
        </p:spPr>
        <p:txBody>
          <a:bodyPr wrap="square" lIns="0" tIns="0" rIns="0" bIns="0" rtlCol="0" anchor="t">
            <a:noAutofit/>
          </a:bodyPr>
          <a:lstStyle/>
          <a:p>
            <a:pPr>
              <a:lnSpc>
                <a:spcPct val="128000"/>
              </a:lnSpc>
            </a:pPr>
            <a:r>
              <a:rPr lang="en-US" sz="1200" dirty="0">
                <a:solidFill>
                  <a:srgbClr val="272525"/>
                </a:solidFill>
                <a:latin typeface="Arial" panose="020B0604020202020204" pitchFamily="34" charset="0"/>
                <a:ea typeface="Inter" pitchFamily="34" charset="-122"/>
                <a:cs typeface="Arial" panose="020B0604020202020204" pitchFamily="34" charset="0"/>
              </a:rPr>
              <a:t>Vous rencontrez un problème spécifique ? Nos conseiller.es vous </a:t>
            </a:r>
            <a:r>
              <a:rPr lang="en-US" sz="1200" dirty="0" err="1">
                <a:solidFill>
                  <a:srgbClr val="272525"/>
                </a:solidFill>
                <a:latin typeface="Arial" panose="020B0604020202020204" pitchFamily="34" charset="0"/>
                <a:ea typeface="Inter" pitchFamily="34" charset="-122"/>
                <a:cs typeface="Arial" panose="020B0604020202020204" pitchFamily="34" charset="0"/>
              </a:rPr>
              <a:t>reçoivent</a:t>
            </a:r>
            <a:r>
              <a:rPr lang="en-US" sz="1200" dirty="0">
                <a:solidFill>
                  <a:srgbClr val="272525"/>
                </a:solidFill>
                <a:latin typeface="Arial" panose="020B0604020202020204" pitchFamily="34" charset="0"/>
                <a:ea typeface="Inter" pitchFamily="34" charset="-122"/>
                <a:cs typeface="Arial" panose="020B0604020202020204" pitchFamily="34" charset="0"/>
              </a:rPr>
              <a:t> sur rendez-vous pour un </a:t>
            </a:r>
            <a:r>
              <a:rPr lang="en-US" sz="1200" dirty="0" err="1">
                <a:solidFill>
                  <a:srgbClr val="272525"/>
                </a:solidFill>
                <a:latin typeface="Arial" panose="020B0604020202020204" pitchFamily="34" charset="0"/>
                <a:ea typeface="Inter" pitchFamily="34" charset="-122"/>
                <a:cs typeface="Arial" panose="020B0604020202020204" pitchFamily="34" charset="0"/>
              </a:rPr>
              <a:t>suivi</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personnalisé</a:t>
            </a:r>
            <a:r>
              <a:rPr lang="en-US" sz="1200" dirty="0">
                <a:solidFill>
                  <a:srgbClr val="272525"/>
                </a:solidFill>
                <a:latin typeface="Arial" panose="020B0604020202020204" pitchFamily="34" charset="0"/>
                <a:ea typeface="Inter" pitchFamily="34" charset="-122"/>
                <a:cs typeface="Arial" panose="020B0604020202020204" pitchFamily="34" charset="0"/>
              </a:rPr>
              <a:t> </a:t>
            </a:r>
            <a:r>
              <a:rPr lang="en-US" sz="1200" dirty="0" err="1">
                <a:solidFill>
                  <a:srgbClr val="272525"/>
                </a:solidFill>
                <a:latin typeface="Arial" panose="020B0604020202020204" pitchFamily="34" charset="0"/>
                <a:ea typeface="Inter" pitchFamily="34" charset="-122"/>
                <a:cs typeface="Arial" panose="020B0604020202020204" pitchFamily="34" charset="0"/>
              </a:rPr>
              <a:t>en</a:t>
            </a:r>
            <a:r>
              <a:rPr lang="en-US" sz="1200" dirty="0">
                <a:solidFill>
                  <a:srgbClr val="272525"/>
                </a:solidFill>
                <a:latin typeface="Arial" panose="020B0604020202020204" pitchFamily="34" charset="0"/>
                <a:ea typeface="Inter" pitchFamily="34" charset="-122"/>
                <a:cs typeface="Arial" panose="020B0604020202020204" pitchFamily="34" charset="0"/>
              </a:rPr>
              <a:t> CMS.</a:t>
            </a:r>
            <a:endParaRPr lang="en-US" sz="1200" dirty="0">
              <a:latin typeface="Arial" panose="020B0604020202020204" pitchFamily="34" charset="0"/>
              <a:cs typeface="Arial" panose="020B0604020202020204" pitchFamily="34" charset="0"/>
            </a:endParaRPr>
          </a:p>
        </p:txBody>
      </p:sp>
      <p:sp>
        <p:nvSpPr>
          <p:cNvPr id="35" name="Text 3">
            <a:extLst>
              <a:ext uri="{FF2B5EF4-FFF2-40B4-BE49-F238E27FC236}">
                <a16:creationId xmlns:a16="http://schemas.microsoft.com/office/drawing/2014/main" id="{44DAA74E-FEBE-5C21-3217-A9D76CFCBA9F}"/>
              </a:ext>
            </a:extLst>
          </p:cNvPr>
          <p:cNvSpPr/>
          <p:nvPr/>
        </p:nvSpPr>
        <p:spPr>
          <a:xfrm>
            <a:off x="3878016" y="2493018"/>
            <a:ext cx="1570346" cy="193557"/>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Ateliers </a:t>
            </a:r>
            <a:r>
              <a:rPr lang="en-US" sz="1200" b="1" dirty="0" err="1">
                <a:solidFill>
                  <a:srgbClr val="272525"/>
                </a:solidFill>
                <a:latin typeface="Arial" panose="020B0604020202020204" pitchFamily="34" charset="0"/>
                <a:ea typeface="Inter Bold" pitchFamily="34" charset="-122"/>
                <a:cs typeface="Arial" panose="020B0604020202020204" pitchFamily="34" charset="0"/>
              </a:rPr>
              <a:t>collectifs</a:t>
            </a:r>
            <a:endParaRPr lang="en-US" sz="1200" dirty="0">
              <a:latin typeface="Arial" panose="020B0604020202020204" pitchFamily="34" charset="0"/>
              <a:cs typeface="Arial" panose="020B0604020202020204" pitchFamily="34" charset="0"/>
            </a:endParaRPr>
          </a:p>
        </p:txBody>
      </p:sp>
      <p:sp>
        <p:nvSpPr>
          <p:cNvPr id="36" name="Text 4">
            <a:extLst>
              <a:ext uri="{FF2B5EF4-FFF2-40B4-BE49-F238E27FC236}">
                <a16:creationId xmlns:a16="http://schemas.microsoft.com/office/drawing/2014/main" id="{A77F9A72-4E11-9CD1-D4A7-B1D1903DC2E6}"/>
              </a:ext>
            </a:extLst>
          </p:cNvPr>
          <p:cNvSpPr/>
          <p:nvPr/>
        </p:nvSpPr>
        <p:spPr>
          <a:xfrm>
            <a:off x="3878016" y="2755097"/>
            <a:ext cx="2222426" cy="761976"/>
          </a:xfrm>
          <a:prstGeom prst="rect">
            <a:avLst/>
          </a:prstGeom>
          <a:noFill/>
          <a:ln/>
        </p:spPr>
        <p:txBody>
          <a:bodyPr wrap="square" lIns="0" tIns="0" rIns="0" bIns="0" rtlCol="0" anchor="t">
            <a:noAutofit/>
          </a:bodyPr>
          <a:lstStyle/>
          <a:p>
            <a:pPr>
              <a:lnSpc>
                <a:spcPct val="128000"/>
              </a:lnSpc>
            </a:pPr>
            <a:r>
              <a:rPr lang="en-US" sz="1200" dirty="0">
                <a:solidFill>
                  <a:srgbClr val="272525"/>
                </a:solidFill>
                <a:latin typeface="Arial" panose="020B0604020202020204" pitchFamily="34" charset="0"/>
                <a:ea typeface="Inter" pitchFamily="34" charset="-122"/>
                <a:cs typeface="Arial" panose="020B0604020202020204" pitchFamily="34" charset="0"/>
              </a:rPr>
              <a:t>Des sessions en présentiel animées par </a:t>
            </a:r>
            <a:r>
              <a:rPr lang="en-US" sz="1200" dirty="0" err="1">
                <a:solidFill>
                  <a:srgbClr val="272525"/>
                </a:solidFill>
                <a:latin typeface="Arial" panose="020B0604020202020204" pitchFamily="34" charset="0"/>
                <a:ea typeface="Inter" pitchFamily="34" charset="-122"/>
                <a:cs typeface="Arial" panose="020B0604020202020204" pitchFamily="34" charset="0"/>
              </a:rPr>
              <a:t>vos</a:t>
            </a:r>
            <a:r>
              <a:rPr lang="en-US" sz="1200" dirty="0">
                <a:solidFill>
                  <a:srgbClr val="272525"/>
                </a:solidFill>
                <a:latin typeface="Arial" panose="020B0604020202020204" pitchFamily="34" charset="0"/>
                <a:ea typeface="Inter" pitchFamily="34" charset="-122"/>
                <a:cs typeface="Arial" panose="020B0604020202020204" pitchFamily="34" charset="0"/>
              </a:rPr>
              <a:t> conseiller.es </a:t>
            </a:r>
            <a:r>
              <a:rPr lang="en-US" sz="1200" dirty="0" err="1">
                <a:solidFill>
                  <a:srgbClr val="272525"/>
                </a:solidFill>
                <a:latin typeface="Arial" panose="020B0604020202020204" pitchFamily="34" charset="0"/>
                <a:ea typeface="Inter" pitchFamily="34" charset="-122"/>
                <a:cs typeface="Arial" panose="020B0604020202020204" pitchFamily="34" charset="0"/>
              </a:rPr>
              <a:t>numériques</a:t>
            </a:r>
            <a:r>
              <a:rPr lang="en-US" sz="1200" dirty="0">
                <a:solidFill>
                  <a:srgbClr val="272525"/>
                </a:solidFill>
                <a:latin typeface="Arial" panose="020B0604020202020204" pitchFamily="34" charset="0"/>
                <a:ea typeface="Inter" pitchFamily="34" charset="-122"/>
                <a:cs typeface="Arial" panose="020B0604020202020204" pitchFamily="34" charset="0"/>
              </a:rPr>
              <a:t> dans </a:t>
            </a:r>
            <a:r>
              <a:rPr lang="en-US" sz="1200" dirty="0" err="1">
                <a:solidFill>
                  <a:srgbClr val="272525"/>
                </a:solidFill>
                <a:latin typeface="Arial" panose="020B0604020202020204" pitchFamily="34" charset="0"/>
                <a:ea typeface="Inter" pitchFamily="34" charset="-122"/>
                <a:cs typeface="Arial" panose="020B0604020202020204" pitchFamily="34" charset="0"/>
              </a:rPr>
              <a:t>plusieurs</a:t>
            </a:r>
            <a:r>
              <a:rPr lang="en-US" sz="1200" dirty="0">
                <a:solidFill>
                  <a:srgbClr val="272525"/>
                </a:solidFill>
                <a:latin typeface="Arial" panose="020B0604020202020204" pitchFamily="34" charset="0"/>
                <a:ea typeface="Inter" pitchFamily="34" charset="-122"/>
                <a:cs typeface="Arial" panose="020B0604020202020204" pitchFamily="34" charset="0"/>
              </a:rPr>
              <a:t> communes du Lot-et-Garonne, pour </a:t>
            </a:r>
            <a:r>
              <a:rPr lang="en-US" sz="1200" dirty="0" err="1">
                <a:solidFill>
                  <a:srgbClr val="272525"/>
                </a:solidFill>
                <a:latin typeface="Arial" panose="020B0604020202020204" pitchFamily="34" charset="0"/>
                <a:ea typeface="Inter" pitchFamily="34" charset="-122"/>
                <a:cs typeface="Arial" panose="020B0604020202020204" pitchFamily="34" charset="0"/>
              </a:rPr>
              <a:t>être</a:t>
            </a:r>
            <a:r>
              <a:rPr lang="en-US" sz="1200" dirty="0">
                <a:solidFill>
                  <a:srgbClr val="272525"/>
                </a:solidFill>
                <a:latin typeface="Arial" panose="020B0604020202020204" pitchFamily="34" charset="0"/>
                <a:ea typeface="Inter" pitchFamily="34" charset="-122"/>
                <a:cs typeface="Arial" panose="020B0604020202020204" pitchFamily="34" charset="0"/>
              </a:rPr>
              <a:t> au plus </a:t>
            </a:r>
            <a:r>
              <a:rPr lang="en-US" sz="1200" dirty="0" err="1">
                <a:solidFill>
                  <a:srgbClr val="272525"/>
                </a:solidFill>
                <a:latin typeface="Arial" panose="020B0604020202020204" pitchFamily="34" charset="0"/>
                <a:ea typeface="Inter" pitchFamily="34" charset="-122"/>
                <a:cs typeface="Arial" panose="020B0604020202020204" pitchFamily="34" charset="0"/>
              </a:rPr>
              <a:t>proche</a:t>
            </a:r>
            <a:r>
              <a:rPr lang="en-US" sz="1200" dirty="0">
                <a:solidFill>
                  <a:srgbClr val="272525"/>
                </a:solidFill>
                <a:latin typeface="Arial" panose="020B0604020202020204" pitchFamily="34" charset="0"/>
                <a:ea typeface="Inter" pitchFamily="34" charset="-122"/>
                <a:cs typeface="Arial" panose="020B0604020202020204" pitchFamily="34" charset="0"/>
              </a:rPr>
              <a:t> de chez </a:t>
            </a:r>
            <a:r>
              <a:rPr lang="en-US" sz="1200" dirty="0" err="1">
                <a:solidFill>
                  <a:srgbClr val="272525"/>
                </a:solidFill>
                <a:latin typeface="Arial" panose="020B0604020202020204" pitchFamily="34" charset="0"/>
                <a:ea typeface="Inter" pitchFamily="34" charset="-122"/>
                <a:cs typeface="Arial" panose="020B0604020202020204" pitchFamily="34" charset="0"/>
              </a:rPr>
              <a:t>vous</a:t>
            </a:r>
            <a:r>
              <a:rPr lang="en-US" sz="1200" dirty="0">
                <a:solidFill>
                  <a:srgbClr val="272525"/>
                </a:solidFill>
                <a:latin typeface="Arial" panose="020B0604020202020204" pitchFamily="34" charset="0"/>
                <a:ea typeface="Inter"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7" name="Text 3">
            <a:extLst>
              <a:ext uri="{FF2B5EF4-FFF2-40B4-BE49-F238E27FC236}">
                <a16:creationId xmlns:a16="http://schemas.microsoft.com/office/drawing/2014/main" id="{9ADFDC24-025D-1F12-0FC4-355C40649481}"/>
              </a:ext>
            </a:extLst>
          </p:cNvPr>
          <p:cNvSpPr/>
          <p:nvPr/>
        </p:nvSpPr>
        <p:spPr>
          <a:xfrm>
            <a:off x="5098155" y="4654769"/>
            <a:ext cx="1570346" cy="193557"/>
          </a:xfrm>
          <a:prstGeom prst="rect">
            <a:avLst/>
          </a:prstGeom>
          <a:noFill/>
          <a:ln/>
        </p:spPr>
        <p:txBody>
          <a:bodyPr wrap="none" lIns="0" tIns="0" rIns="0" bIns="0" rtlCol="0" anchor="t"/>
          <a:lstStyle/>
          <a:p>
            <a:pPr>
              <a:lnSpc>
                <a:spcPct val="104000"/>
              </a:lnSpc>
            </a:pPr>
            <a:r>
              <a:rPr lang="en-US" sz="1200" b="1" dirty="0">
                <a:solidFill>
                  <a:srgbClr val="272525"/>
                </a:solidFill>
                <a:latin typeface="Arial" panose="020B0604020202020204" pitchFamily="34" charset="0"/>
                <a:ea typeface="Inter Bold" pitchFamily="34" charset="-122"/>
                <a:cs typeface="Arial" panose="020B0604020202020204" pitchFamily="34" charset="0"/>
              </a:rPr>
              <a:t>Parents-</a:t>
            </a:r>
            <a:r>
              <a:rPr lang="en-US" sz="1200" b="1" dirty="0" err="1">
                <a:solidFill>
                  <a:srgbClr val="272525"/>
                </a:solidFill>
                <a:latin typeface="Arial" panose="020B0604020202020204" pitchFamily="34" charset="0"/>
                <a:ea typeface="Inter Bold" pitchFamily="34" charset="-122"/>
                <a:cs typeface="Arial" panose="020B0604020202020204" pitchFamily="34" charset="0"/>
              </a:rPr>
              <a:t>Connectés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1248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48B2FC13-A185-5A81-61F2-C656B759C76B}"/>
              </a:ext>
            </a:extLst>
          </p:cNvPr>
          <p:cNvSpPr/>
          <p:nvPr/>
        </p:nvSpPr>
        <p:spPr>
          <a:xfrm>
            <a:off x="3904785" y="1010653"/>
            <a:ext cx="5527971" cy="1016882"/>
          </a:xfrm>
          <a:prstGeom prst="roundRect">
            <a:avLst/>
          </a:prstGeom>
          <a:solidFill>
            <a:srgbClr val="D6DF8E">
              <a:alpha val="90000"/>
            </a:srgb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3" name="Image 0" descr="preencoded.png">
            <a:extLst>
              <a:ext uri="{FF2B5EF4-FFF2-40B4-BE49-F238E27FC236}">
                <a16:creationId xmlns:a16="http://schemas.microsoft.com/office/drawing/2014/main" id="{A39263BA-4A81-E8EC-6476-17560A5153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137" y="1010653"/>
            <a:ext cx="3112090" cy="4668252"/>
          </a:xfrm>
          <a:prstGeom prst="rect">
            <a:avLst/>
          </a:prstGeom>
        </p:spPr>
      </p:pic>
      <p:sp>
        <p:nvSpPr>
          <p:cNvPr id="4" name="Text 0">
            <a:extLst>
              <a:ext uri="{FF2B5EF4-FFF2-40B4-BE49-F238E27FC236}">
                <a16:creationId xmlns:a16="http://schemas.microsoft.com/office/drawing/2014/main" id="{F172C06D-5781-773C-1917-139DB078FC70}"/>
              </a:ext>
            </a:extLst>
          </p:cNvPr>
          <p:cNvSpPr/>
          <p:nvPr/>
        </p:nvSpPr>
        <p:spPr>
          <a:xfrm>
            <a:off x="3891159" y="1081161"/>
            <a:ext cx="5527971" cy="830765"/>
          </a:xfrm>
          <a:prstGeom prst="rect">
            <a:avLst/>
          </a:prstGeom>
          <a:noFill/>
          <a:ln/>
        </p:spPr>
        <p:txBody>
          <a:bodyPr wrap="none" lIns="0" tIns="0" rIns="0" bIns="0" rtlCol="0" anchor="t"/>
          <a:lstStyle/>
          <a:p>
            <a:pPr algn="ctr">
              <a:lnSpc>
                <a:spcPct val="104000"/>
              </a:lnSpc>
            </a:pPr>
            <a:r>
              <a:rPr lang="en-US" sz="2438" b="1" dirty="0">
                <a:solidFill>
                  <a:srgbClr val="000000"/>
                </a:solidFill>
                <a:latin typeface="Arial" panose="020B0604020202020204" pitchFamily="34" charset="0"/>
                <a:ea typeface="Inter Bold" pitchFamily="34" charset="-122"/>
                <a:cs typeface="Arial" panose="020B0604020202020204" pitchFamily="34" charset="0"/>
              </a:rPr>
              <a:t>Besoin d'aide ? Nous sommes </a:t>
            </a:r>
            <a:r>
              <a:rPr lang="en-US" sz="2438" b="1" dirty="0" err="1">
                <a:solidFill>
                  <a:srgbClr val="000000"/>
                </a:solidFill>
                <a:latin typeface="Arial" panose="020B0604020202020204" pitchFamily="34" charset="0"/>
                <a:ea typeface="Inter Bold" pitchFamily="34" charset="-122"/>
                <a:cs typeface="Arial" panose="020B0604020202020204" pitchFamily="34" charset="0"/>
              </a:rPr>
              <a:t>là</a:t>
            </a:r>
            <a:r>
              <a:rPr lang="en-US" sz="2438" b="1" dirty="0">
                <a:solidFill>
                  <a:srgbClr val="000000"/>
                </a:solidFill>
                <a:latin typeface="Arial" panose="020B0604020202020204" pitchFamily="34" charset="0"/>
                <a:ea typeface="Inter Bold" pitchFamily="34" charset="-122"/>
                <a:cs typeface="Arial" panose="020B0604020202020204" pitchFamily="34" charset="0"/>
              </a:rPr>
              <a:t> !</a:t>
            </a:r>
          </a:p>
          <a:p>
            <a:pPr algn="ctr">
              <a:lnSpc>
                <a:spcPct val="104000"/>
              </a:lnSpc>
            </a:pPr>
            <a:r>
              <a:rPr lang="en-US" sz="2438" b="1" dirty="0">
                <a:solidFill>
                  <a:srgbClr val="000000"/>
                </a:solidFill>
                <a:latin typeface="Arial" panose="020B0604020202020204" pitchFamily="34" charset="0"/>
                <a:ea typeface="Inter Bold" pitchFamily="34" charset="-122"/>
                <a:cs typeface="Arial" panose="020B0604020202020204" pitchFamily="34" charset="0"/>
              </a:rPr>
              <a:t>Pour nous </a:t>
            </a:r>
            <a:r>
              <a:rPr lang="en-US" sz="2438" b="1" dirty="0" err="1">
                <a:solidFill>
                  <a:srgbClr val="000000"/>
                </a:solidFill>
                <a:latin typeface="Arial" panose="020B0604020202020204" pitchFamily="34" charset="0"/>
                <a:ea typeface="Inter Bold" pitchFamily="34" charset="-122"/>
                <a:cs typeface="Arial" panose="020B0604020202020204" pitchFamily="34" charset="0"/>
              </a:rPr>
              <a:t>joindre</a:t>
            </a:r>
            <a:r>
              <a:rPr lang="en-US" sz="2438" b="1" dirty="0">
                <a:solidFill>
                  <a:srgbClr val="000000"/>
                </a:solidFill>
                <a:latin typeface="Arial" panose="020B0604020202020204" pitchFamily="34" charset="0"/>
                <a:ea typeface="Inter Bold" pitchFamily="34" charset="-122"/>
                <a:cs typeface="Arial" panose="020B0604020202020204" pitchFamily="34" charset="0"/>
              </a:rPr>
              <a:t>…</a:t>
            </a:r>
            <a:endParaRPr lang="en-US" sz="2438" dirty="0">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089388C1-3FC6-D9C3-F211-6BB6F94AE3EC}"/>
              </a:ext>
            </a:extLst>
          </p:cNvPr>
          <p:cNvSpPr/>
          <p:nvPr/>
        </p:nvSpPr>
        <p:spPr>
          <a:xfrm>
            <a:off x="3891159" y="2339485"/>
            <a:ext cx="2501025" cy="1496219"/>
          </a:xfrm>
          <a:prstGeom prst="roundRect">
            <a:avLst>
              <a:gd name="adj" fmla="val 3477"/>
            </a:avLst>
          </a:prstGeom>
          <a:solidFill>
            <a:srgbClr val="A8DEEE">
              <a:alpha val="60000"/>
            </a:srgbClr>
          </a:solidFill>
          <a:ln w="6350">
            <a:solidFill>
              <a:schemeClr val="bg1">
                <a:lumMod val="65000"/>
              </a:schemeClr>
            </a:solidFill>
            <a:prstDash val="solid"/>
          </a:ln>
        </p:spPr>
      </p:sp>
      <p:sp>
        <p:nvSpPr>
          <p:cNvPr id="6" name="Shape 5">
            <a:extLst>
              <a:ext uri="{FF2B5EF4-FFF2-40B4-BE49-F238E27FC236}">
                <a16:creationId xmlns:a16="http://schemas.microsoft.com/office/drawing/2014/main" id="{06B692C2-6645-2E03-78BB-BCD4985CB063}"/>
              </a:ext>
            </a:extLst>
          </p:cNvPr>
          <p:cNvSpPr/>
          <p:nvPr/>
        </p:nvSpPr>
        <p:spPr>
          <a:xfrm>
            <a:off x="6506332" y="2339485"/>
            <a:ext cx="2926425" cy="1496219"/>
          </a:xfrm>
          <a:prstGeom prst="roundRect">
            <a:avLst>
              <a:gd name="adj" fmla="val 3477"/>
            </a:avLst>
          </a:prstGeom>
          <a:solidFill>
            <a:srgbClr val="A8DEEE">
              <a:alpha val="60000"/>
            </a:srgbClr>
          </a:solidFill>
          <a:ln w="6350">
            <a:solidFill>
              <a:schemeClr val="bg1">
                <a:lumMod val="65000"/>
              </a:schemeClr>
            </a:solidFill>
            <a:prstDash val="solid"/>
          </a:ln>
        </p:spPr>
      </p:sp>
      <p:sp>
        <p:nvSpPr>
          <p:cNvPr id="7" name="Shape 8">
            <a:extLst>
              <a:ext uri="{FF2B5EF4-FFF2-40B4-BE49-F238E27FC236}">
                <a16:creationId xmlns:a16="http://schemas.microsoft.com/office/drawing/2014/main" id="{9834CF92-5CB8-700E-2213-85DC610954CF}"/>
              </a:ext>
            </a:extLst>
          </p:cNvPr>
          <p:cNvSpPr/>
          <p:nvPr/>
        </p:nvSpPr>
        <p:spPr>
          <a:xfrm>
            <a:off x="3891158" y="3949855"/>
            <a:ext cx="5541599" cy="921674"/>
          </a:xfrm>
          <a:prstGeom prst="roundRect">
            <a:avLst>
              <a:gd name="adj" fmla="val 5645"/>
            </a:avLst>
          </a:prstGeom>
          <a:solidFill>
            <a:srgbClr val="A8DEEE">
              <a:alpha val="60000"/>
            </a:srgbClr>
          </a:solidFill>
          <a:ln w="6350">
            <a:solidFill>
              <a:schemeClr val="bg1">
                <a:lumMod val="65000"/>
              </a:schemeClr>
            </a:solidFill>
            <a:prstDash val="solid"/>
          </a:ln>
        </p:spPr>
      </p:sp>
      <p:sp>
        <p:nvSpPr>
          <p:cNvPr id="8" name="Text 20">
            <a:extLst>
              <a:ext uri="{FF2B5EF4-FFF2-40B4-BE49-F238E27FC236}">
                <a16:creationId xmlns:a16="http://schemas.microsoft.com/office/drawing/2014/main" id="{25FFF572-6B7E-5263-F7EC-4611FA2EACD8}"/>
              </a:ext>
            </a:extLst>
          </p:cNvPr>
          <p:cNvSpPr/>
          <p:nvPr/>
        </p:nvSpPr>
        <p:spPr>
          <a:xfrm>
            <a:off x="5312899" y="4112245"/>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Email</a:t>
            </a:r>
            <a:endParaRPr lang="en-US" sz="1400" dirty="0">
              <a:latin typeface="Arial" panose="020B0604020202020204" pitchFamily="34" charset="0"/>
              <a:cs typeface="Arial" panose="020B0604020202020204" pitchFamily="34" charset="0"/>
            </a:endParaRPr>
          </a:p>
        </p:txBody>
      </p:sp>
      <p:sp>
        <p:nvSpPr>
          <p:cNvPr id="9" name="Text 21">
            <a:extLst>
              <a:ext uri="{FF2B5EF4-FFF2-40B4-BE49-F238E27FC236}">
                <a16:creationId xmlns:a16="http://schemas.microsoft.com/office/drawing/2014/main" id="{DE25F4AC-FBDA-86DF-2C79-DBB78535A98D}"/>
              </a:ext>
            </a:extLst>
          </p:cNvPr>
          <p:cNvSpPr/>
          <p:nvPr/>
        </p:nvSpPr>
        <p:spPr>
          <a:xfrm>
            <a:off x="5312899" y="4373841"/>
            <a:ext cx="2420654" cy="185738"/>
          </a:xfrm>
          <a:prstGeom prst="rect">
            <a:avLst/>
          </a:prstGeom>
          <a:noFill/>
          <a:ln/>
        </p:spPr>
        <p:txBody>
          <a:bodyPr wrap="none" lIns="0" tIns="0" rIns="0" bIns="0" rtlCol="0" anchor="t"/>
          <a:lstStyle/>
          <a:p>
            <a:pPr>
              <a:lnSpc>
                <a:spcPct val="127000"/>
              </a:lnSpc>
            </a:pPr>
            <a:r>
              <a:rPr lang="en-US" sz="1200" b="1" u="sng" dirty="0">
                <a:solidFill>
                  <a:srgbClr val="4950BC"/>
                </a:solidFill>
                <a:latin typeface="Arial" panose="020B0604020202020204" pitchFamily="34" charset="0"/>
                <a:ea typeface="Inter Bold" pitchFamily="34" charset="-122"/>
                <a:cs typeface="Arial" panose="020B0604020202020204" pitchFamily="34" charset="0"/>
                <a:hlinkClick r:id="rId4">
                  <a:extLst>
                    <a:ext uri="{A12FA001-AC4F-418D-AE19-62706E023703}">
                      <ahyp:hlinkClr xmlns:ahyp="http://schemas.microsoft.com/office/drawing/2018/hyperlinkcolor" val="tx"/>
                    </a:ext>
                  </a:extLst>
                </a:hlinkClick>
              </a:rPr>
              <a:t>conseiller-numerique@lotetgaronne.fr</a:t>
            </a:r>
            <a:endParaRPr lang="en-US" sz="1200" dirty="0">
              <a:latin typeface="Arial" panose="020B0604020202020204" pitchFamily="34" charset="0"/>
              <a:cs typeface="Arial" panose="020B0604020202020204" pitchFamily="34" charset="0"/>
            </a:endParaRPr>
          </a:p>
        </p:txBody>
      </p:sp>
      <p:sp>
        <p:nvSpPr>
          <p:cNvPr id="10" name="Text 24">
            <a:extLst>
              <a:ext uri="{FF2B5EF4-FFF2-40B4-BE49-F238E27FC236}">
                <a16:creationId xmlns:a16="http://schemas.microsoft.com/office/drawing/2014/main" id="{9887D639-5D72-FC85-7C68-26BC93B88C7E}"/>
              </a:ext>
            </a:extLst>
          </p:cNvPr>
          <p:cNvSpPr/>
          <p:nvPr/>
        </p:nvSpPr>
        <p:spPr>
          <a:xfrm>
            <a:off x="4417484" y="2852601"/>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Téléphone</a:t>
            </a:r>
            <a:endParaRPr lang="en-US" sz="1400" dirty="0">
              <a:latin typeface="Arial" panose="020B0604020202020204" pitchFamily="34" charset="0"/>
              <a:cs typeface="Arial" panose="020B0604020202020204" pitchFamily="34" charset="0"/>
            </a:endParaRPr>
          </a:p>
        </p:txBody>
      </p:sp>
      <p:sp>
        <p:nvSpPr>
          <p:cNvPr id="11" name="Text 25">
            <a:extLst>
              <a:ext uri="{FF2B5EF4-FFF2-40B4-BE49-F238E27FC236}">
                <a16:creationId xmlns:a16="http://schemas.microsoft.com/office/drawing/2014/main" id="{D7EF5245-91DA-4EDB-7072-B9319DDEED56}"/>
              </a:ext>
            </a:extLst>
          </p:cNvPr>
          <p:cNvSpPr/>
          <p:nvPr/>
        </p:nvSpPr>
        <p:spPr>
          <a:xfrm>
            <a:off x="4592053" y="3114197"/>
            <a:ext cx="2420734" cy="185738"/>
          </a:xfrm>
          <a:prstGeom prst="rect">
            <a:avLst/>
          </a:prstGeom>
          <a:noFill/>
          <a:ln/>
        </p:spPr>
        <p:txBody>
          <a:bodyPr wrap="none" lIns="0" tIns="0" rIns="0" bIns="0" rtlCol="0" anchor="t"/>
          <a:lstStyle/>
          <a:p>
            <a:pPr>
              <a:lnSpc>
                <a:spcPct val="127000"/>
              </a:lnSpc>
            </a:pPr>
            <a:r>
              <a:rPr lang="en-US" sz="1200" dirty="0">
                <a:solidFill>
                  <a:srgbClr val="272525"/>
                </a:solidFill>
                <a:latin typeface="Arial" panose="020B0604020202020204" pitchFamily="34" charset="0"/>
                <a:ea typeface="Inter" pitchFamily="34" charset="-122"/>
                <a:cs typeface="Arial" panose="020B0604020202020204" pitchFamily="34" charset="0"/>
              </a:rPr>
              <a:t>05 53 47 31 32</a:t>
            </a:r>
            <a:endParaRPr lang="en-US" sz="1200" dirty="0">
              <a:latin typeface="Arial" panose="020B0604020202020204" pitchFamily="34" charset="0"/>
              <a:cs typeface="Arial" panose="020B0604020202020204" pitchFamily="34" charset="0"/>
            </a:endParaRPr>
          </a:p>
        </p:txBody>
      </p:sp>
      <p:sp>
        <p:nvSpPr>
          <p:cNvPr id="12" name="Text 28">
            <a:extLst>
              <a:ext uri="{FF2B5EF4-FFF2-40B4-BE49-F238E27FC236}">
                <a16:creationId xmlns:a16="http://schemas.microsoft.com/office/drawing/2014/main" id="{5531391B-965D-A5A8-E710-805EB2D3ED91}"/>
              </a:ext>
            </a:extLst>
          </p:cNvPr>
          <p:cNvSpPr/>
          <p:nvPr/>
        </p:nvSpPr>
        <p:spPr>
          <a:xfrm>
            <a:off x="6673940" y="2823660"/>
            <a:ext cx="1522220" cy="195411"/>
          </a:xfrm>
          <a:prstGeom prst="rect">
            <a:avLst/>
          </a:prstGeom>
          <a:noFill/>
          <a:ln/>
        </p:spPr>
        <p:txBody>
          <a:bodyPr wrap="none" lIns="0" tIns="0" rIns="0" bIns="0" rtlCol="0" anchor="t"/>
          <a:lstStyle/>
          <a:p>
            <a:pPr>
              <a:lnSpc>
                <a:spcPct val="104000"/>
              </a:lnSpc>
            </a:pPr>
            <a:r>
              <a:rPr lang="en-US" sz="1400" b="1" dirty="0">
                <a:solidFill>
                  <a:srgbClr val="000000"/>
                </a:solidFill>
                <a:latin typeface="Arial" panose="020B0604020202020204" pitchFamily="34" charset="0"/>
                <a:ea typeface="Twemoji Mozilla" pitchFamily="34" charset="-122"/>
                <a:cs typeface="Arial" panose="020B0604020202020204" pitchFamily="34" charset="0"/>
              </a:rPr>
              <a:t>🌐</a:t>
            </a:r>
            <a:r>
              <a:rPr lang="en-US" sz="1400" b="1" dirty="0">
                <a:solidFill>
                  <a:srgbClr val="272525"/>
                </a:solidFill>
                <a:latin typeface="Arial" panose="020B0604020202020204" pitchFamily="34" charset="0"/>
                <a:ea typeface="Inter Bold" pitchFamily="34" charset="-122"/>
                <a:cs typeface="Arial" panose="020B0604020202020204" pitchFamily="34" charset="0"/>
              </a:rPr>
              <a:t> Site web</a:t>
            </a:r>
            <a:endParaRPr lang="en-US" sz="1400" dirty="0">
              <a:latin typeface="Arial" panose="020B0604020202020204" pitchFamily="34" charset="0"/>
              <a:cs typeface="Arial" panose="020B0604020202020204" pitchFamily="34" charset="0"/>
            </a:endParaRPr>
          </a:p>
        </p:txBody>
      </p:sp>
      <p:sp>
        <p:nvSpPr>
          <p:cNvPr id="13" name="Text 29">
            <a:extLst>
              <a:ext uri="{FF2B5EF4-FFF2-40B4-BE49-F238E27FC236}">
                <a16:creationId xmlns:a16="http://schemas.microsoft.com/office/drawing/2014/main" id="{622FC944-BA7D-C983-C9EE-9A7149C39FAA}"/>
              </a:ext>
            </a:extLst>
          </p:cNvPr>
          <p:cNvSpPr/>
          <p:nvPr/>
        </p:nvSpPr>
        <p:spPr>
          <a:xfrm>
            <a:off x="6673941" y="3085256"/>
            <a:ext cx="2420734" cy="185738"/>
          </a:xfrm>
          <a:prstGeom prst="rect">
            <a:avLst/>
          </a:prstGeom>
          <a:noFill/>
          <a:ln/>
        </p:spPr>
        <p:txBody>
          <a:bodyPr wrap="none" lIns="0" tIns="0" rIns="0" bIns="0" rtlCol="0" anchor="t"/>
          <a:lstStyle/>
          <a:p>
            <a:pPr>
              <a:lnSpc>
                <a:spcPct val="127000"/>
              </a:lnSpc>
            </a:pPr>
            <a:r>
              <a:rPr lang="en-US" sz="1200" dirty="0">
                <a:solidFill>
                  <a:srgbClr val="272525"/>
                </a:solidFill>
                <a:latin typeface="Arial" panose="020B0604020202020204" pitchFamily="34" charset="0"/>
                <a:ea typeface="Inter" pitchFamily="34" charset="-122"/>
                <a:cs typeface="Arial" panose="020B0604020202020204" pitchFamily="34" charset="0"/>
              </a:rPr>
              <a:t>lotetgaronne.fr/inclusion-numerique</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1141485"/>
      </p:ext>
    </p:extLst>
  </p:cSld>
  <p:clrMapOvr>
    <a:masterClrMapping/>
  </p:clrMapOvr>
</p:sld>
</file>

<file path=ppt/theme/theme1.xml><?xml version="1.0" encoding="utf-8"?>
<a:theme xmlns:a="http://schemas.openxmlformats.org/drawingml/2006/main" name="Thème Office 2013 – 2022">
  <a:themeElements>
    <a:clrScheme name="Thème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101</TotalTime>
  <Words>1405</Words>
  <Application>Microsoft Office PowerPoint</Application>
  <PresentationFormat>Format A4 (210 x 297 mm)</PresentationFormat>
  <Paragraphs>143</Paragraphs>
  <Slides>12</Slides>
  <Notes>12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12</vt:i4>
      </vt:variant>
    </vt:vector>
  </HeadingPairs>
  <TitlesOfParts>
    <vt:vector size="14" baseType="lpstr">
      <vt:lpstr>Arial</vt:lpstr>
      <vt:lpstr>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Aswad Michel</cp:lastModifiedBy>
  <cp:revision>14</cp:revision>
  <dcterms:created xsi:type="dcterms:W3CDTF">2026-06-23T21:03:16Z</dcterms:created>
  <dcterms:modified xsi:type="dcterms:W3CDTF">2026-07-02T13:28:14Z</dcterms:modified>
</cp:coreProperties>
</file>