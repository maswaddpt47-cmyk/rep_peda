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906000" cy="6858000" type="A4"/>
  <p:notesSz cx="6858000" cy="12192000"/>
  <p:embeddedFontLst>
    <p:embeddedFont>
      <p:font typeface="DM Sans" pitchFamily="2" charset="0"/>
      <p:regular r:id="rId15"/>
      <p:bold r:id="rId16"/>
      <p:italic r:id="rId17"/>
      <p:boldItalic r:id="rId18"/>
    </p:embeddedFont>
    <p:embeddedFont>
      <p:font typeface="DM Sans SemiBold" panose="020B0604020202020204" charset="0"/>
      <p:regular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C5E0"/>
    <a:srgbClr val="D6DF8E"/>
    <a:srgbClr val="FFCCD1"/>
    <a:srgbClr val="A9C7E5"/>
    <a:srgbClr val="94BA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1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2588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0987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16085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06968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27895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89783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79705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01901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97800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24640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7119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00002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8766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859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43.png"/><Relationship Id="rId18" Type="http://schemas.openxmlformats.org/officeDocument/2006/relationships/hyperlink" Target="https://aide.franceconnect.gouv.fr" TargetMode="External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svg"/><Relationship Id="rId17" Type="http://schemas.openxmlformats.org/officeDocument/2006/relationships/image" Target="../media/image45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7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sv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26.png"/><Relationship Id="rId10" Type="http://schemas.openxmlformats.org/officeDocument/2006/relationships/image" Target="../media/image40.svg"/><Relationship Id="rId19" Type="http://schemas.openxmlformats.org/officeDocument/2006/relationships/hyperlink" Target="mailto:conseiller-numerique@lotetgaronne.fr" TargetMode="External"/><Relationship Id="rId4" Type="http://schemas.openxmlformats.org/officeDocument/2006/relationships/image" Target="../media/image34.svg"/><Relationship Id="rId9" Type="http://schemas.openxmlformats.org/officeDocument/2006/relationships/image" Target="../media/image39.png"/><Relationship Id="rId14" Type="http://schemas.openxmlformats.org/officeDocument/2006/relationships/image" Target="../media/image4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cybermalveillance.gouv.fr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hyperlink" Target="mailto:conseiller-numerique@lotetgaronne.f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61698" y="642938"/>
            <a:ext cx="3714657" cy="55721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7448" y="2247834"/>
            <a:ext cx="5116199" cy="841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2400" dirty="0">
                <a:solidFill>
                  <a:srgbClr val="9C5461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Créer son identité numérique avec FranceConnect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37447" y="3266822"/>
            <a:ext cx="5116199" cy="491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4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Accédez à tous vos services administratifs avec </a:t>
            </a:r>
            <a:r>
              <a:rPr lang="en-US" sz="1400" b="1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un seul identifiant sécurisé</a:t>
            </a:r>
            <a:r>
              <a:rPr lang="en-US" sz="14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— simple, rapide et garanti par l'État.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70621" y="5213767"/>
            <a:ext cx="865625" cy="865646"/>
          </a:xfrm>
          <a:prstGeom prst="rect">
            <a:avLst/>
          </a:prstGeom>
        </p:spPr>
      </p:pic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26273" y="5018561"/>
            <a:ext cx="865625" cy="865646"/>
          </a:xfrm>
          <a:prstGeom prst="rect">
            <a:avLst/>
          </a:prstGeom>
        </p:spPr>
      </p:pic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01877" y="3951353"/>
            <a:ext cx="865625" cy="865646"/>
          </a:xfrm>
          <a:prstGeom prst="rect">
            <a:avLst/>
          </a:prstGeom>
        </p:spPr>
      </p:pic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2457" y="4032306"/>
            <a:ext cx="865625" cy="865646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35150"/>
            <a:ext cx="9905752" cy="72134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9777" y="968131"/>
            <a:ext cx="3680961" cy="180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dirty="0">
                <a:solidFill>
                  <a:srgbClr val="9C5461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Avant de commencer — Vérifiez vos prérequis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59777" y="1494467"/>
            <a:ext cx="5600523" cy="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92000"/>
              </a:lnSpc>
            </a:pPr>
            <a:r>
              <a:rPr lang="en-US" sz="14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Vous avez besoin d'un compte existant pour utiliser FranceConnect. Suivez ces étapes simples :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950297" y="2123345"/>
            <a:ext cx="5159" cy="1018171"/>
          </a:xfrm>
          <a:prstGeom prst="roundRect">
            <a:avLst>
              <a:gd name="adj" fmla="val 1006718"/>
            </a:avLst>
          </a:prstGeom>
          <a:solidFill>
            <a:srgbClr val="E5B2B7"/>
          </a:solidFill>
          <a:ln/>
        </p:spPr>
      </p:sp>
      <p:sp>
        <p:nvSpPr>
          <p:cNvPr id="6" name="Shape 3"/>
          <p:cNvSpPr/>
          <p:nvPr/>
        </p:nvSpPr>
        <p:spPr>
          <a:xfrm>
            <a:off x="4720067" y="2286055"/>
            <a:ext cx="173076" cy="5159"/>
          </a:xfrm>
          <a:prstGeom prst="roundRect">
            <a:avLst>
              <a:gd name="adj" fmla="val 1006718"/>
            </a:avLst>
          </a:prstGeom>
          <a:solidFill>
            <a:srgbClr val="E5B2B7"/>
          </a:solidFill>
          <a:ln/>
        </p:spPr>
      </p:sp>
      <p:sp>
        <p:nvSpPr>
          <p:cNvPr id="7" name="Shape 4"/>
          <p:cNvSpPr/>
          <p:nvPr/>
        </p:nvSpPr>
        <p:spPr>
          <a:xfrm>
            <a:off x="4887982" y="2223739"/>
            <a:ext cx="129787" cy="129790"/>
          </a:xfrm>
          <a:prstGeom prst="roundRect">
            <a:avLst>
              <a:gd name="adj" fmla="val 40020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01600" dist="889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909629" y="2234541"/>
            <a:ext cx="86498" cy="1081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1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236943" y="1884247"/>
            <a:ext cx="1427418" cy="177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04000"/>
              </a:lnSpc>
            </a:pPr>
            <a:r>
              <a:rPr lang="en-US" sz="1200" b="1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Vérifier vos prérequis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448554" y="2140104"/>
            <a:ext cx="3215808" cy="413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92000"/>
              </a:lnSpc>
            </a:pP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Avez-vous déjà un compte </a:t>
            </a:r>
            <a:r>
              <a:rPr lang="en-US" sz="1200" b="1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impots.gouv.fr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, </a:t>
            </a:r>
            <a:r>
              <a:rPr lang="en-US" sz="1200" b="1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Ameli.fr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, </a:t>
            </a:r>
            <a:r>
              <a:rPr lang="en-US" sz="1200" b="1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La Poste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, </a:t>
            </a:r>
            <a:r>
              <a:rPr lang="en-US" sz="1200" b="1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MSA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ou </a:t>
            </a:r>
            <a:r>
              <a:rPr lang="en-US" sz="1200" b="1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France Identité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?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012613" y="2560227"/>
            <a:ext cx="173076" cy="5159"/>
          </a:xfrm>
          <a:prstGeom prst="roundRect">
            <a:avLst>
              <a:gd name="adj" fmla="val 1006718"/>
            </a:avLst>
          </a:prstGeom>
          <a:solidFill>
            <a:srgbClr val="E5B2B7"/>
          </a:solidFill>
          <a:ln/>
        </p:spPr>
      </p:sp>
      <p:sp>
        <p:nvSpPr>
          <p:cNvPr id="12" name="Shape 9"/>
          <p:cNvSpPr/>
          <p:nvPr/>
        </p:nvSpPr>
        <p:spPr>
          <a:xfrm>
            <a:off x="4887982" y="2497912"/>
            <a:ext cx="129787" cy="129790"/>
          </a:xfrm>
          <a:prstGeom prst="roundRect">
            <a:avLst>
              <a:gd name="adj" fmla="val 40020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01600" dist="889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909629" y="2508714"/>
            <a:ext cx="86498" cy="1081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227745" y="2297329"/>
            <a:ext cx="3267898" cy="721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92000"/>
              </a:lnSpc>
            </a:pP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Créer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 un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compte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 (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si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besoin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2000"/>
              </a:lnSpc>
            </a:pP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Rendez-vous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sur </a:t>
            </a:r>
            <a:r>
              <a:rPr lang="en-US" sz="1200" b="1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identite.laposte.fr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— gratuit, en 5 minutes. L'option recommandée pour débuter.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720067" y="2822630"/>
            <a:ext cx="173076" cy="5159"/>
          </a:xfrm>
          <a:prstGeom prst="roundRect">
            <a:avLst>
              <a:gd name="adj" fmla="val 1006718"/>
            </a:avLst>
          </a:prstGeom>
          <a:solidFill>
            <a:srgbClr val="E5B2B7"/>
          </a:solidFill>
          <a:ln/>
        </p:spPr>
      </p:sp>
      <p:sp>
        <p:nvSpPr>
          <p:cNvPr id="17" name="Shape 14"/>
          <p:cNvSpPr/>
          <p:nvPr/>
        </p:nvSpPr>
        <p:spPr>
          <a:xfrm>
            <a:off x="4887982" y="2760314"/>
            <a:ext cx="129787" cy="129790"/>
          </a:xfrm>
          <a:prstGeom prst="roundRect">
            <a:avLst>
              <a:gd name="adj" fmla="val 40020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01600" dist="889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909629" y="2771116"/>
            <a:ext cx="86498" cy="1081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448554" y="2589774"/>
            <a:ext cx="3215807" cy="551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92000"/>
              </a:lnSpc>
            </a:pP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Prêt à commencer !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ct val="92000"/>
              </a:lnSpc>
            </a:pP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Connectez-vous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à plus de </a:t>
            </a:r>
            <a:r>
              <a:rPr lang="en-US" sz="1200" b="1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1 800 services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administratifs avec un seul identifiant sécurisé.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2400258" y="3334108"/>
            <a:ext cx="5105235" cy="7174"/>
          </a:xfrm>
          <a:prstGeom prst="roundRect">
            <a:avLst>
              <a:gd name="adj" fmla="val 723971"/>
            </a:avLst>
          </a:prstGeom>
          <a:solidFill>
            <a:srgbClr val="4A4A4A">
              <a:alpha val="5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1415851" y="3469382"/>
            <a:ext cx="1968817" cy="144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9C5461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Pourquoi FranceConnect ?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3692711" y="3484409"/>
            <a:ext cx="5600523" cy="216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92000"/>
              </a:lnSpc>
            </a:pP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Selon la DINUM (Direction interministérielle du numérique) :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910332" y="4392977"/>
            <a:ext cx="709799" cy="144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83000"/>
              </a:lnSpc>
            </a:pPr>
            <a:r>
              <a:rPr lang="en-US" sz="1000" b="1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43M</a:t>
            </a:r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-4226" y="5037092"/>
            <a:ext cx="2539075" cy="215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92000"/>
              </a:lnSpc>
            </a:pPr>
            <a:r>
              <a:rPr lang="en-US" sz="1000" b="1" dirty="0" err="1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Utilisateurs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b="1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en</a:t>
            </a:r>
            <a:r>
              <a:rPr lang="en-US" sz="1000" b="1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France</a:t>
            </a:r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5379752" y="4312024"/>
            <a:ext cx="709799" cy="144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83000"/>
              </a:lnSpc>
            </a:pPr>
            <a:r>
              <a:rPr lang="en-US" sz="1000" b="1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1800+</a:t>
            </a:r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4521501" y="4956139"/>
            <a:ext cx="2539075" cy="332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92000"/>
              </a:lnSpc>
            </a:pPr>
            <a:r>
              <a:rPr lang="en-US" sz="1000" b="1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Services </a:t>
            </a:r>
            <a:r>
              <a:rPr lang="en-US" sz="1000" b="1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accessibles</a:t>
            </a:r>
            <a:r>
              <a:rPr lang="en-US" sz="1000" b="1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avec un seul identifiant</a:t>
            </a:r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27"/>
          <p:cNvSpPr/>
          <p:nvPr/>
        </p:nvSpPr>
        <p:spPr>
          <a:xfrm>
            <a:off x="2804148" y="5379231"/>
            <a:ext cx="709799" cy="144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83000"/>
              </a:lnSpc>
            </a:pPr>
            <a:r>
              <a:rPr lang="en-US" sz="1000" b="1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79%</a:t>
            </a:r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29"/>
          <p:cNvSpPr/>
          <p:nvPr/>
        </p:nvSpPr>
        <p:spPr>
          <a:xfrm flipH="1">
            <a:off x="1439500" y="6034596"/>
            <a:ext cx="3469305" cy="290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92000"/>
              </a:lnSpc>
            </a:pPr>
            <a:r>
              <a:rPr lang="fr-FR" sz="1000" b="1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est le pourcentage de confiance déclarée par les usagers </a:t>
            </a:r>
            <a:br>
              <a:rPr lang="fr-FR" sz="1000" b="1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</a:br>
            <a:r>
              <a:rPr lang="fr-FR" sz="1000" b="1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(Baromètre </a:t>
            </a:r>
            <a:r>
              <a:rPr lang="fr-FR" sz="1000" b="1" dirty="0" err="1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Acsel</a:t>
            </a:r>
            <a:r>
              <a:rPr lang="fr-FR" sz="1000" b="1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 2024)</a:t>
            </a:r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30"/>
          <p:cNvSpPr/>
          <p:nvPr/>
        </p:nvSpPr>
        <p:spPr>
          <a:xfrm>
            <a:off x="7648496" y="5574437"/>
            <a:ext cx="709799" cy="144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83000"/>
              </a:lnSpc>
            </a:pPr>
            <a:r>
              <a:rPr lang="en-US" sz="1000" b="1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0%</a:t>
            </a:r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32"/>
          <p:cNvSpPr/>
          <p:nvPr/>
        </p:nvSpPr>
        <p:spPr>
          <a:xfrm>
            <a:off x="6587492" y="6218553"/>
            <a:ext cx="2831883" cy="33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92000"/>
              </a:lnSpc>
            </a:pPr>
            <a:r>
              <a:rPr lang="en-US" sz="1000" b="1" dirty="0" err="1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Zéro</a:t>
            </a:r>
            <a:r>
              <a:rPr lang="en-US" sz="1000" b="1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 stockage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b="1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de vos données </a:t>
            </a:r>
            <a:r>
              <a:rPr lang="en-US" sz="1000" b="1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personnelles</a:t>
            </a:r>
            <a:br>
              <a:rPr lang="en-US" sz="1000" b="1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</a:br>
            <a:r>
              <a:rPr lang="en-US" sz="1000" b="1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FranceConnect</a:t>
            </a:r>
            <a:r>
              <a:rPr lang="en-US" sz="1000" b="1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vérifie seulement votre identité</a:t>
            </a:r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2794" y="2169635"/>
            <a:ext cx="1960191" cy="1110797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472255" y="2185131"/>
            <a:ext cx="177752" cy="177756"/>
          </a:xfrm>
          <a:prstGeom prst="roundRect">
            <a:avLst>
              <a:gd name="adj" fmla="val 45016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01600" dist="13970" dir="2700000" algn="bl" rotWithShape="0">
              <a:srgbClr val="E5B2B7">
                <a:alpha val="100000"/>
              </a:srgbClr>
            </a:outerShdw>
          </a:effectLst>
        </p:spPr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9971" y="1480370"/>
            <a:ext cx="2408642" cy="2408703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1020485" y="451902"/>
            <a:ext cx="4754164" cy="2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Qu'est-ce que FranceConnect ?</a:t>
            </a:r>
            <a:endParaRPr lang="en-US" sz="2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9971" y="1480370"/>
            <a:ext cx="2408642" cy="2408703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64653" y="2618134"/>
            <a:ext cx="133012" cy="133015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5548" y="2218385"/>
            <a:ext cx="111085" cy="111087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701440" y="2204557"/>
            <a:ext cx="1287232" cy="138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🔑</a:t>
            </a:r>
            <a:r>
              <a:rPr lang="en-US" sz="14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Un identifiant unique</a:t>
            </a:r>
            <a:endParaRPr lang="en-US" sz="1400" dirty="0"/>
          </a:p>
        </p:txBody>
      </p:sp>
      <p:sp>
        <p:nvSpPr>
          <p:cNvPr id="9" name="Text 3"/>
          <p:cNvSpPr/>
          <p:nvPr/>
        </p:nvSpPr>
        <p:spPr>
          <a:xfrm>
            <a:off x="701438" y="2476124"/>
            <a:ext cx="4402933" cy="42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Accédez à des centaines de services : Ameli, </a:t>
            </a:r>
            <a:r>
              <a:rPr lang="en-US" sz="1200" dirty="0" err="1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impots.gouv</a:t>
            </a:r>
            <a:r>
              <a:rPr lang="en-US" sz="12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</a:t>
            </a:r>
            <a:br>
              <a:rPr lang="en-US" sz="12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</a:br>
            <a:r>
              <a:rPr lang="en-US" sz="12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CAF, Mon Espace Santé, France Travail…</a:t>
            </a:r>
            <a:endParaRPr lang="en-US" sz="12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9971" y="1480370"/>
            <a:ext cx="2408642" cy="2408703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29232" y="1888002"/>
            <a:ext cx="133012" cy="133015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>
            <a:off x="472255" y="3139773"/>
            <a:ext cx="177752" cy="177756"/>
          </a:xfrm>
          <a:prstGeom prst="roundRect">
            <a:avLst>
              <a:gd name="adj" fmla="val 45016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01600" dist="13970" dir="2700000" algn="bl" rotWithShape="0">
              <a:srgbClr val="E5B2B7">
                <a:alpha val="100000"/>
              </a:srgbClr>
            </a:outerShdw>
          </a:effectLst>
        </p:spPr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5548" y="3173028"/>
            <a:ext cx="111085" cy="111087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701438" y="3159200"/>
            <a:ext cx="1131488" cy="138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🔒</a:t>
            </a:r>
            <a:r>
              <a:rPr lang="en-US" sz="14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Sécurisé par l'État</a:t>
            </a:r>
            <a:endParaRPr lang="en-US" sz="1400" dirty="0"/>
          </a:p>
        </p:txBody>
      </p:sp>
      <p:sp>
        <p:nvSpPr>
          <p:cNvPr id="15" name="Text 6"/>
          <p:cNvSpPr/>
          <p:nvPr/>
        </p:nvSpPr>
        <p:spPr>
          <a:xfrm>
            <a:off x="701438" y="3396187"/>
            <a:ext cx="4402933" cy="362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Aucun mot de passe supplémentaire. FranceConnect ne </a:t>
            </a:r>
            <a:r>
              <a:rPr lang="en-US" sz="1200" dirty="0" err="1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stocke</a:t>
            </a:r>
            <a:br>
              <a:rPr lang="en-US" sz="12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</a:br>
            <a:r>
              <a:rPr lang="en-US" sz="12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 vos données — il vérifie votre identité.</a:t>
            </a:r>
            <a:endParaRPr lang="en-US" sz="1200" dirty="0"/>
          </a:p>
        </p:txBody>
      </p:sp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29232" y="3348266"/>
            <a:ext cx="133012" cy="133015"/>
          </a:xfrm>
          <a:prstGeom prst="rect">
            <a:avLst/>
          </a:prstGeom>
        </p:spPr>
      </p:pic>
      <p:sp>
        <p:nvSpPr>
          <p:cNvPr id="18" name="Shape 7"/>
          <p:cNvSpPr/>
          <p:nvPr/>
        </p:nvSpPr>
        <p:spPr>
          <a:xfrm>
            <a:off x="472255" y="4075264"/>
            <a:ext cx="177752" cy="177756"/>
          </a:xfrm>
          <a:prstGeom prst="roundRect">
            <a:avLst>
              <a:gd name="adj" fmla="val 45016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01600" dist="13970" dir="2700000" algn="bl" rotWithShape="0">
              <a:srgbClr val="E5B2B7">
                <a:alpha val="100000"/>
              </a:srgbClr>
            </a:outerShdw>
          </a:effectLst>
        </p:spPr>
      </p:sp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5548" y="4108517"/>
            <a:ext cx="111085" cy="111087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701441" y="4094690"/>
            <a:ext cx="1111333" cy="138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⚡</a:t>
            </a:r>
            <a:r>
              <a:rPr lang="en-US" sz="14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En 3 clics</a:t>
            </a:r>
            <a:endParaRPr lang="en-US" sz="1400" dirty="0"/>
          </a:p>
        </p:txBody>
      </p:sp>
      <p:sp>
        <p:nvSpPr>
          <p:cNvPr id="21" name="Text 9"/>
          <p:cNvSpPr/>
          <p:nvPr/>
        </p:nvSpPr>
        <p:spPr>
          <a:xfrm>
            <a:off x="701438" y="4341011"/>
            <a:ext cx="4402933" cy="363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12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Cliquez sur le bouton, choisissez votre fournisseur, validez. Disponible sur ordinateur, tablette et smartphone.</a:t>
            </a:r>
            <a:endParaRPr lang="en-US" sz="1200" dirty="0"/>
          </a:p>
        </p:txBody>
      </p:sp>
      <p:sp>
        <p:nvSpPr>
          <p:cNvPr id="22" name="Shape 10"/>
          <p:cNvSpPr/>
          <p:nvPr/>
        </p:nvSpPr>
        <p:spPr>
          <a:xfrm>
            <a:off x="1020483" y="5870273"/>
            <a:ext cx="7864787" cy="535825"/>
          </a:xfrm>
          <a:prstGeom prst="roundRect">
            <a:avLst>
              <a:gd name="adj" fmla="val 32112"/>
            </a:avLst>
          </a:prstGeom>
          <a:solidFill>
            <a:srgbClr val="B6D6FC">
              <a:alpha val="80000"/>
            </a:srgbClr>
          </a:solidFill>
          <a:ln/>
        </p:spPr>
      </p:sp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318" y="5981282"/>
            <a:ext cx="111085" cy="88838"/>
          </a:xfrm>
          <a:prstGeom prst="rect">
            <a:avLst/>
          </a:prstGeom>
        </p:spPr>
      </p:pic>
      <p:sp>
        <p:nvSpPr>
          <p:cNvPr id="24" name="Text 11"/>
          <p:cNvSpPr/>
          <p:nvPr/>
        </p:nvSpPr>
        <p:spPr>
          <a:xfrm>
            <a:off x="1309241" y="5938714"/>
            <a:ext cx="7487441" cy="386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À retenir :</a:t>
            </a: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FranceConnect ne conserve aucune de vos données </a:t>
            </a:r>
            <a:r>
              <a:rPr lang="en-US" sz="1200" dirty="0" err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personnelles</a:t>
            </a: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b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</a:b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Il se contente de confirmer votre identité auprès d'un service que vous connaissez déjà.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7528" y="369009"/>
            <a:ext cx="1244619" cy="273527"/>
          </a:xfrm>
          <a:prstGeom prst="roundRect">
            <a:avLst>
              <a:gd name="adj" fmla="val 42655"/>
            </a:avLst>
          </a:prstGeom>
          <a:solidFill>
            <a:srgbClr val="FFCCD1"/>
          </a:solidFill>
          <a:ln/>
        </p:spPr>
      </p:sp>
      <p:sp>
        <p:nvSpPr>
          <p:cNvPr id="3" name="Text 1"/>
          <p:cNvSpPr/>
          <p:nvPr/>
        </p:nvSpPr>
        <p:spPr>
          <a:xfrm>
            <a:off x="602020" y="401255"/>
            <a:ext cx="1044102" cy="18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3000"/>
              </a:lnSpc>
            </a:pPr>
            <a:r>
              <a:rPr lang="en-US" sz="1200" b="1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ÉTAPE 1 SUR 3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7529" y="832291"/>
            <a:ext cx="7038928" cy="335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dirty="0">
                <a:solidFill>
                  <a:srgbClr val="9C5461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Trouver et cliquer sur le bouton FranceConnect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8997" y="2772535"/>
            <a:ext cx="4657075" cy="263906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49360" y="2093690"/>
            <a:ext cx="322453" cy="77390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47026" y="2201151"/>
            <a:ext cx="2329238" cy="389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Rendez-vous sur un site compatible</a:t>
            </a:r>
            <a:b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</a:b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impots.gouv.fr, ameli.fr, caf.fr…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2103" y="2867678"/>
            <a:ext cx="322453" cy="77390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808249" y="2921367"/>
            <a:ext cx="2200177" cy="389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Cliquez sur « Se connecter »</a:t>
            </a:r>
            <a:b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</a:b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Ou « Mon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espace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»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selon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le site.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5969476" y="3641584"/>
            <a:ext cx="2732875" cy="3358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Repérez le bouton bleu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FranceConnect</a:t>
            </a:r>
            <a:b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</a:b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Toujours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bleu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foncé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avec le logo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tricolore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.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S'il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n'apparaît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pas,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descendez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dans la page.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9"/>
          <p:cNvSpPr/>
          <p:nvPr/>
        </p:nvSpPr>
        <p:spPr>
          <a:xfrm>
            <a:off x="6130784" y="4635248"/>
            <a:ext cx="2929240" cy="552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Cliquez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 dessus</a:t>
            </a:r>
            <a:b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</a:b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Ne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remplissez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pas les champs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habituels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</a:t>
            </a:r>
            <a:b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</a:b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une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page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intermédiaire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s'ouvre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,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c'est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normal.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Image 2" descr="preencoded.png">
            <a:extLst>
              <a:ext uri="{FF2B5EF4-FFF2-40B4-BE49-F238E27FC236}">
                <a16:creationId xmlns:a16="http://schemas.microsoft.com/office/drawing/2014/main" id="{58F4BFBA-C93B-A7B3-42ED-C2DB27D77EC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3329" y="3670845"/>
            <a:ext cx="322453" cy="842441"/>
          </a:xfrm>
          <a:prstGeom prst="rect">
            <a:avLst/>
          </a:prstGeom>
        </p:spPr>
      </p:pic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71411640-52EB-A9E3-D63F-2E2478ECF3B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3119" y="4635248"/>
            <a:ext cx="322453" cy="8424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37529" y="891272"/>
            <a:ext cx="4776011" cy="335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dirty="0">
                <a:solidFill>
                  <a:srgbClr val="9C5461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Choisir son fournisseur d'identité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7529" y="1403990"/>
            <a:ext cx="1839030" cy="167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9C5461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Comment choisir ?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37529" y="1748706"/>
            <a:ext cx="4415471" cy="440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3000"/>
              </a:lnSpc>
            </a:pP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Une liste de fournisseurs s'affiche : </a:t>
            </a:r>
            <a:r>
              <a:rPr lang="en-US" sz="1200" b="1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La Poste, Impôts, </a:t>
            </a:r>
            <a:r>
              <a:rPr lang="en-US" sz="1200" b="1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Ameli</a:t>
            </a:r>
            <a:r>
              <a:rPr lang="en-US" sz="1200" b="1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, …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4987" y="2763198"/>
            <a:ext cx="107457" cy="610903"/>
          </a:xfrm>
          <a:prstGeom prst="roundRect">
            <a:avLst>
              <a:gd name="adj" fmla="val 90039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01600" dist="1651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37529" y="2692661"/>
            <a:ext cx="322453" cy="322461"/>
          </a:xfrm>
          <a:prstGeom prst="roundRect">
            <a:avLst>
              <a:gd name="adj" fmla="val 96000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01600" dist="16510" dir="2700000" algn="bl" rotWithShape="0">
              <a:srgbClr val="E5B2B7">
                <a:alpha val="100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142" y="2773276"/>
            <a:ext cx="161227" cy="16123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35195" y="2709431"/>
            <a:ext cx="3953675" cy="473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n-US" sz="1200" b="1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Choisissez un service où vous avez déjà un </a:t>
            </a:r>
            <a:r>
              <a:rPr lang="en-US" sz="1200" b="1" dirty="0" err="1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compte</a:t>
            </a:r>
            <a:b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</a:b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Ex : La Poste,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Ameli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,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impots.gouv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…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4000"/>
              </a:lnSpc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06213" y="3610627"/>
            <a:ext cx="107457" cy="483692"/>
          </a:xfrm>
          <a:prstGeom prst="roundRect">
            <a:avLst>
              <a:gd name="adj" fmla="val 90039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01600" dist="1651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98756" y="3540088"/>
            <a:ext cx="322453" cy="322461"/>
          </a:xfrm>
          <a:prstGeom prst="roundRect">
            <a:avLst>
              <a:gd name="adj" fmla="val 96000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01600" dist="16510" dir="2700000" algn="bl" rotWithShape="0">
              <a:srgbClr val="E5B2B7">
                <a:alpha val="100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9369" y="3620703"/>
            <a:ext cx="161227" cy="16123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96422" y="3556858"/>
            <a:ext cx="3139676" cy="348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Cliquez sur le nom du </a:t>
            </a:r>
            <a:r>
              <a:rPr lang="en-US" sz="1200" b="1" dirty="0" err="1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fournisseur</a:t>
            </a:r>
            <a:r>
              <a:rPr lang="en-US" sz="1200" b="1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,</a:t>
            </a:r>
            <a:b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</a:b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Vous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êtes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redirigé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vers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sa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page de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connexion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4000"/>
              </a:lnSpc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967441" y="4330844"/>
            <a:ext cx="107457" cy="483692"/>
          </a:xfrm>
          <a:prstGeom prst="roundRect">
            <a:avLst>
              <a:gd name="adj" fmla="val 90039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01600" dist="1651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59982" y="4260305"/>
            <a:ext cx="322453" cy="322461"/>
          </a:xfrm>
          <a:prstGeom prst="roundRect">
            <a:avLst>
              <a:gd name="adj" fmla="val 96000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01600" dist="16510" dir="2700000" algn="bl" rotWithShape="0">
              <a:srgbClr val="E5B2B7">
                <a:alpha val="100000"/>
              </a:srgbClr>
            </a:outerShdw>
          </a:effectLst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0597" y="4340920"/>
            <a:ext cx="161227" cy="16123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57648" y="4277073"/>
            <a:ext cx="2978449" cy="430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Entrez vos </a:t>
            </a:r>
            <a:r>
              <a:rPr lang="en-US" sz="1200" b="1" dirty="0" err="1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identifiants</a:t>
            </a:r>
            <a:r>
              <a:rPr lang="en-US" sz="1200" b="1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habituels</a:t>
            </a:r>
            <a:r>
              <a:rPr lang="en-US" sz="1200" b="1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,</a:t>
            </a:r>
            <a:b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</a:b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Ceux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que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vous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utilisez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déjà pour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ce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service.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1149046" y="5527093"/>
            <a:ext cx="7258689" cy="473258"/>
          </a:xfrm>
          <a:prstGeom prst="roundRect">
            <a:avLst>
              <a:gd name="adj" fmla="val 15411"/>
            </a:avLst>
          </a:prstGeom>
          <a:solidFill>
            <a:srgbClr val="D6DF8E">
              <a:alpha val="80000"/>
            </a:srgbClr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6504" y="5675667"/>
            <a:ext cx="134301" cy="1074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98264" y="5621654"/>
            <a:ext cx="7011254" cy="438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3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💡 Pas encore de compte ? Créez-en un gratuitement sur </a:t>
            </a: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identite.laposte.fr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— c'est recommandé.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84776" y="2574077"/>
            <a:ext cx="3953675" cy="2240459"/>
          </a:xfrm>
          <a:prstGeom prst="rect">
            <a:avLst/>
          </a:prstGeom>
        </p:spPr>
      </p:pic>
      <p:sp>
        <p:nvSpPr>
          <p:cNvPr id="26" name="Shape 0">
            <a:extLst>
              <a:ext uri="{FF2B5EF4-FFF2-40B4-BE49-F238E27FC236}">
                <a16:creationId xmlns:a16="http://schemas.microsoft.com/office/drawing/2014/main" id="{DFDA456C-C563-FC3E-8208-6D280463ACFB}"/>
              </a:ext>
            </a:extLst>
          </p:cNvPr>
          <p:cNvSpPr/>
          <p:nvPr/>
        </p:nvSpPr>
        <p:spPr>
          <a:xfrm>
            <a:off x="537528" y="369009"/>
            <a:ext cx="1244619" cy="273527"/>
          </a:xfrm>
          <a:prstGeom prst="roundRect">
            <a:avLst>
              <a:gd name="adj" fmla="val 42655"/>
            </a:avLst>
          </a:prstGeom>
          <a:solidFill>
            <a:srgbClr val="FFCCD1"/>
          </a:solidFill>
          <a:ln/>
        </p:spPr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0F083DB9-3B7C-2FF7-8F08-142FEBEDC41F}"/>
              </a:ext>
            </a:extLst>
          </p:cNvPr>
          <p:cNvSpPr/>
          <p:nvPr/>
        </p:nvSpPr>
        <p:spPr>
          <a:xfrm>
            <a:off x="602020" y="401255"/>
            <a:ext cx="1044102" cy="18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3000"/>
              </a:lnSpc>
            </a:pPr>
            <a:r>
              <a:rPr lang="en-US" sz="1200" b="1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ÉTAPE 2 SUR 3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37529" y="917812"/>
            <a:ext cx="4844532" cy="335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dirty="0">
                <a:solidFill>
                  <a:srgbClr val="9C5461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Valider et accéder à votre espace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7529" y="2638890"/>
            <a:ext cx="3953675" cy="2240459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9811" y="2020410"/>
            <a:ext cx="322453" cy="77390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67474" y="2127871"/>
            <a:ext cx="3342044" cy="389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Une demande </a:t>
            </a:r>
            <a:r>
              <a:rPr lang="en-US" sz="1200" b="1" dirty="0" err="1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d'autorisation</a:t>
            </a:r>
            <a:r>
              <a:rPr lang="en-US" sz="1200" b="1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s'affiche</a:t>
            </a:r>
            <a:r>
              <a:rPr lang="en-US" sz="1200" b="1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,</a:t>
            </a:r>
            <a:b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</a:b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Lisez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attentivement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les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informations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demandées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31038" y="2740627"/>
            <a:ext cx="322453" cy="77390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28701" y="2848088"/>
            <a:ext cx="2994205" cy="389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Cliquez sur « </a:t>
            </a:r>
            <a:r>
              <a:rPr lang="en-US" sz="1200" b="1" dirty="0" err="1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Autoriser</a:t>
            </a:r>
            <a:r>
              <a:rPr lang="en-US" sz="1200" b="1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 »,</a:t>
            </a:r>
            <a:b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</a:b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Vous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confirmez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le partage de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votre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identité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92264" y="3460843"/>
            <a:ext cx="322453" cy="77390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89927" y="3568304"/>
            <a:ext cx="2357118" cy="389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Redirection </a:t>
            </a:r>
            <a:r>
              <a:rPr lang="en-US" sz="1200" b="1" dirty="0" err="1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automatique</a:t>
            </a:r>
            <a:r>
              <a:rPr lang="en-US" sz="1200" b="1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,</a:t>
            </a:r>
            <a:b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</a:b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Vous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revenez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sur le site de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départ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53571" y="4181060"/>
            <a:ext cx="322453" cy="77390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651234" y="4288520"/>
            <a:ext cx="3184856" cy="666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Votre espace </a:t>
            </a:r>
            <a:r>
              <a:rPr lang="en-US" sz="1200" b="1" dirty="0" err="1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s'ouvre</a:t>
            </a:r>
            <a:r>
              <a:rPr lang="en-US" sz="1200" b="1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 </a:t>
            </a: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✅</a:t>
            </a:r>
            <a:b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</a:b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À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chaque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connexion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future, un simple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clic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sur</a:t>
            </a:r>
            <a:b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</a:b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FranceConnect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suffira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1"/>
          <p:cNvSpPr/>
          <p:nvPr/>
        </p:nvSpPr>
        <p:spPr>
          <a:xfrm>
            <a:off x="2649207" y="5930412"/>
            <a:ext cx="6004053" cy="481596"/>
          </a:xfrm>
          <a:prstGeom prst="roundRect">
            <a:avLst>
              <a:gd name="adj" fmla="val 20090"/>
            </a:avLst>
          </a:prstGeom>
          <a:solidFill>
            <a:srgbClr val="B6D6FC">
              <a:alpha val="80000"/>
            </a:srgbClr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56664" y="6069655"/>
            <a:ext cx="167114" cy="17329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2998422" y="6052966"/>
            <a:ext cx="5580194" cy="292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3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🔍 Vérifiez que l'URL contient bien </a:t>
            </a: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franceconnect.gouv.fr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avant de valider.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42BB0738-2EFA-B45F-3B36-F45E6D304E69}"/>
              </a:ext>
            </a:extLst>
          </p:cNvPr>
          <p:cNvSpPr/>
          <p:nvPr/>
        </p:nvSpPr>
        <p:spPr>
          <a:xfrm>
            <a:off x="537528" y="369009"/>
            <a:ext cx="1244619" cy="273527"/>
          </a:xfrm>
          <a:prstGeom prst="roundRect">
            <a:avLst>
              <a:gd name="adj" fmla="val 42655"/>
            </a:avLst>
          </a:prstGeom>
          <a:solidFill>
            <a:srgbClr val="FFCCD1"/>
          </a:solidFill>
          <a:ln/>
        </p:spPr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61627E7B-AFF1-D0D2-56C2-22D2135004A5}"/>
              </a:ext>
            </a:extLst>
          </p:cNvPr>
          <p:cNvSpPr/>
          <p:nvPr/>
        </p:nvSpPr>
        <p:spPr>
          <a:xfrm>
            <a:off x="602020" y="401255"/>
            <a:ext cx="1044102" cy="18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3000"/>
              </a:lnSpc>
            </a:pPr>
            <a:r>
              <a:rPr lang="en-US" sz="1200" b="1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ÉTAPE 3 SUR 3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 cstate="screen">
            <a:alphaModFix amt="8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7530" y="326712"/>
            <a:ext cx="4122237" cy="43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⚠</a:t>
            </a:r>
            <a:r>
              <a:rPr lang="en-US" sz="2400" dirty="0">
                <a:solidFill>
                  <a:srgbClr val="9C5461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 Points de vigilance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945138" y="1911259"/>
            <a:ext cx="15478" cy="3716121"/>
          </a:xfrm>
          <a:prstGeom prst="roundRect">
            <a:avLst>
              <a:gd name="adj" fmla="val 803700"/>
            </a:avLst>
          </a:prstGeom>
          <a:solidFill>
            <a:srgbClr val="E5B2B7"/>
          </a:solidFill>
          <a:ln/>
        </p:spPr>
      </p:sp>
      <p:sp>
        <p:nvSpPr>
          <p:cNvPr id="4" name="Shape 2"/>
          <p:cNvSpPr/>
          <p:nvPr/>
        </p:nvSpPr>
        <p:spPr>
          <a:xfrm>
            <a:off x="522052" y="1258918"/>
            <a:ext cx="4415347" cy="1591345"/>
          </a:xfrm>
          <a:prstGeom prst="rect">
            <a:avLst/>
          </a:prstGeom>
          <a:solidFill>
            <a:srgbClr val="D6DF8E"/>
          </a:solidFill>
          <a:ln w="6350">
            <a:solidFill>
              <a:srgbClr val="E53935"/>
            </a:solidFill>
            <a:prstDash val="solid"/>
          </a:ln>
          <a:effectLst>
            <a:outerShdw blurRad="101600" dist="21590" dir="2700000" algn="bl" rotWithShape="0">
              <a:srgbClr val="E53935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25938" y="1402252"/>
            <a:ext cx="2073291" cy="259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04000"/>
              </a:lnSpc>
            </a:pPr>
            <a:r>
              <a:rPr lang="en-US" sz="1400" b="1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✕ À éviter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65381" y="1735999"/>
            <a:ext cx="4133846" cy="970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8606" indent="-278606">
              <a:lnSpc>
                <a:spcPct val="127000"/>
              </a:lnSpc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Communiquer vos identifiants à quelqu'un d'autre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8606" indent="-278606">
              <a:lnSpc>
                <a:spcPct val="127000"/>
              </a:lnSpc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Cliquer sur un lien FranceConnect reçu par e-mail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8606" indent="-278606">
              <a:lnSpc>
                <a:spcPct val="127000"/>
              </a:lnSpc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Utiliser FranceConnect sur un appareil public ou partagé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8606" indent="-278606">
              <a:lnSpc>
                <a:spcPct val="127000"/>
              </a:lnSpc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Oublier de se déconnecter sur un ordinateur partagé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968356" y="3751380"/>
            <a:ext cx="4415347" cy="2014938"/>
          </a:xfrm>
          <a:prstGeom prst="rect">
            <a:avLst/>
          </a:prstGeom>
          <a:solidFill>
            <a:srgbClr val="A9C7E5">
              <a:alpha val="80000"/>
            </a:srgbClr>
          </a:solidFill>
          <a:ln w="6350">
            <a:solidFill>
              <a:srgbClr val="2E7D32"/>
            </a:solidFill>
            <a:prstDash val="solid"/>
          </a:ln>
          <a:effectLst>
            <a:outerShdw blurRad="101600" dist="21590" dir="2700000" algn="bl" rotWithShape="0">
              <a:srgbClr val="2E7D32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06527" y="3894714"/>
            <a:ext cx="2073291" cy="259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✓ Bons réflexes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106525" y="4228462"/>
            <a:ext cx="4133846" cy="1398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78606" indent="-278606">
              <a:lnSpc>
                <a:spcPct val="127000"/>
              </a:lnSpc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Avoir un mot de passe solide chez votre fournisseur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8606" indent="-278606">
              <a:lnSpc>
                <a:spcPct val="127000"/>
              </a:lnSpc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Vérifier l'URL : elle doit contenir </a:t>
            </a:r>
            <a:r>
              <a:rPr lang="en-US" sz="1200" b="1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franceconnect.gouv.fr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8606" indent="-278606">
              <a:lnSpc>
                <a:spcPct val="127000"/>
              </a:lnSpc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Activer la double authentification chez La Poste si possible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8606" indent="-278606">
              <a:lnSpc>
                <a:spcPct val="127000"/>
              </a:lnSpc>
              <a:buSzPct val="100000"/>
              <a:buFontTx/>
              <a:buChar char="•"/>
            </a:pP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Signaler tout problème sur </a:t>
            </a:r>
            <a:r>
              <a:rPr lang="en-US" sz="1200" b="1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cybermalveillance.gouv.fr</a:t>
            </a:r>
            <a:br>
              <a:rPr lang="en-US" sz="1200" b="1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</a:b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📞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En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cas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de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problème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: </a:t>
            </a:r>
            <a:r>
              <a:rPr lang="en-US" sz="1200" b="1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0 800 200 000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(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gratuit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8606" indent="-278606">
              <a:lnSpc>
                <a:spcPct val="127000"/>
              </a:lnSpc>
              <a:buSzPct val="100000"/>
              <a:buChar char="•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106525" y="5273960"/>
            <a:ext cx="4133846" cy="2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7530" y="4593335"/>
            <a:ext cx="5201003" cy="744562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7530" y="2942592"/>
            <a:ext cx="5201003" cy="1539545"/>
          </a:xfrm>
          <a:prstGeom prst="rect">
            <a:avLst/>
          </a:prstGeom>
        </p:spPr>
      </p:pic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7530" y="5541382"/>
            <a:ext cx="5201003" cy="1000143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1011938" y="5651502"/>
            <a:ext cx="4017262" cy="238221"/>
          </a:xfrm>
          <a:prstGeom prst="roundRect">
            <a:avLst>
              <a:gd name="adj" fmla="val 43491"/>
            </a:avLst>
          </a:prstGeom>
          <a:solidFill>
            <a:srgbClr val="FFCCD1"/>
          </a:solidFill>
          <a:ln/>
        </p:spPr>
      </p:sp>
      <p:sp>
        <p:nvSpPr>
          <p:cNvPr id="25" name="Text 15"/>
          <p:cNvSpPr/>
          <p:nvPr/>
        </p:nvSpPr>
        <p:spPr>
          <a:xfrm>
            <a:off x="1111293" y="5662748"/>
            <a:ext cx="3808155" cy="176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300" b="1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MES IDENTIFIANTS NE FONCTIONNENT PAS</a:t>
            </a:r>
            <a:endParaRPr lang="en-US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16"/>
          <p:cNvSpPr/>
          <p:nvPr/>
        </p:nvSpPr>
        <p:spPr>
          <a:xfrm>
            <a:off x="1011938" y="5936378"/>
            <a:ext cx="4616477" cy="567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78606" indent="-278606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Vérifiez que vous utilisez les bons identifiants pour le fournisseur choisi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8606" indent="-278606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Réinitialisez votre mot de passe sur le site du fournisseur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hape 0"/>
          <p:cNvSpPr/>
          <p:nvPr/>
        </p:nvSpPr>
        <p:spPr>
          <a:xfrm>
            <a:off x="537529" y="313252"/>
            <a:ext cx="1013066" cy="246585"/>
          </a:xfrm>
          <a:prstGeom prst="roundRect">
            <a:avLst>
              <a:gd name="adj" fmla="val 43491"/>
            </a:avLst>
          </a:prstGeom>
          <a:solidFill>
            <a:srgbClr val="FFCCD1"/>
          </a:solidFill>
          <a:ln/>
        </p:spPr>
      </p:sp>
      <p:sp>
        <p:nvSpPr>
          <p:cNvPr id="3" name="Text 1"/>
          <p:cNvSpPr/>
          <p:nvPr/>
        </p:nvSpPr>
        <p:spPr>
          <a:xfrm>
            <a:off x="634668" y="343160"/>
            <a:ext cx="953251" cy="216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DÉPANNAGE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7529" y="673111"/>
            <a:ext cx="4889836" cy="311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dirty="0">
                <a:solidFill>
                  <a:srgbClr val="9C5461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 Dépannage — Les erreurs courantes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7530" y="1185194"/>
            <a:ext cx="5201003" cy="153954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0058" y="1654860"/>
            <a:ext cx="149699" cy="14970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11940" y="1295315"/>
            <a:ext cx="2869595" cy="238220"/>
          </a:xfrm>
          <a:prstGeom prst="roundRect">
            <a:avLst>
              <a:gd name="adj" fmla="val 43491"/>
            </a:avLst>
          </a:prstGeom>
          <a:solidFill>
            <a:srgbClr val="FFCCD1"/>
          </a:solidFill>
          <a:ln/>
        </p:spPr>
      </p:sp>
      <p:sp>
        <p:nvSpPr>
          <p:cNvPr id="8" name="Text 4"/>
          <p:cNvSpPr/>
          <p:nvPr/>
        </p:nvSpPr>
        <p:spPr>
          <a:xfrm>
            <a:off x="1123348" y="1297230"/>
            <a:ext cx="220329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300" b="1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ERREUR Y000001 OU E000008</a:t>
            </a:r>
            <a:endParaRPr lang="en-US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1011938" y="1598852"/>
            <a:ext cx="4616477" cy="131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Votre session n'a pas fonctionné. Solution :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011938" y="1788943"/>
            <a:ext cx="4616477" cy="440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78606" indent="-278606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Fermez complètement votre navigateur (tous les onglets)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8606" indent="-278606">
              <a:lnSpc>
                <a:spcPct val="110000"/>
              </a:lnSpc>
              <a:buSzPct val="100000"/>
              <a:buFont typeface="+mj-lt"/>
              <a:buAutoNum type="arabicPeriod" startAt="2"/>
            </a:pP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Rouvrez-le et tapez l'adresse du site directement (pas de raccourci)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8606" indent="-278606">
              <a:lnSpc>
                <a:spcPct val="110000"/>
              </a:lnSpc>
              <a:buSzPct val="100000"/>
              <a:buFont typeface="+mj-lt"/>
              <a:buAutoNum type="arabicPeriod" startAt="3"/>
            </a:pP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Réessayez la connexion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0058" y="3365403"/>
            <a:ext cx="149699" cy="149702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011938" y="3005857"/>
            <a:ext cx="3270813" cy="264071"/>
          </a:xfrm>
          <a:prstGeom prst="roundRect">
            <a:avLst>
              <a:gd name="adj" fmla="val 43491"/>
            </a:avLst>
          </a:prstGeom>
          <a:solidFill>
            <a:srgbClr val="FFCCD1"/>
          </a:solidFill>
          <a:ln/>
        </p:spPr>
      </p:sp>
      <p:sp>
        <p:nvSpPr>
          <p:cNvPr id="14" name="Text 8"/>
          <p:cNvSpPr/>
          <p:nvPr/>
        </p:nvSpPr>
        <p:spPr>
          <a:xfrm>
            <a:off x="1123348" y="3045297"/>
            <a:ext cx="2957616" cy="193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300" b="1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ERREUR LORS DE LA CONNEXION</a:t>
            </a:r>
            <a:endParaRPr lang="en-US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1011938" y="3421567"/>
            <a:ext cx="4616477" cy="131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Vérifiez :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1011939" y="3611658"/>
            <a:ext cx="4287850" cy="623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78606" indent="-278606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✓ Les cookies sont activés dans votre navigateur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8606" indent="-278606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✓ Votre antivirus n'interfère pas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8606" indent="-278606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✓ Vous utilisez un navigateur à jour (Chrome, Firefox, Safari, Edge)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0058" y="4890725"/>
            <a:ext cx="149699" cy="149702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1011940" y="4703456"/>
            <a:ext cx="4287848" cy="238220"/>
          </a:xfrm>
          <a:prstGeom prst="roundRect">
            <a:avLst>
              <a:gd name="adj" fmla="val 43491"/>
            </a:avLst>
          </a:prstGeom>
          <a:solidFill>
            <a:srgbClr val="FFCCD1"/>
          </a:solidFill>
          <a:ln/>
        </p:spPr>
      </p:sp>
      <p:sp>
        <p:nvSpPr>
          <p:cNvPr id="20" name="Text 12"/>
          <p:cNvSpPr/>
          <p:nvPr/>
        </p:nvSpPr>
        <p:spPr>
          <a:xfrm>
            <a:off x="1123348" y="4705371"/>
            <a:ext cx="4144060" cy="185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300" b="1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JE NE VOIS PAS LE BOUTON FRANCECONNECT</a:t>
            </a:r>
            <a:endParaRPr lang="en-US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1011938" y="4988332"/>
            <a:ext cx="4726595" cy="532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78606" indent="-278606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Descendez dans la page — le bouton bleu peut être plus bas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8606" indent="-278606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Vérifiez que vous êtes sur le bon site (impots.gouv, ameli.fr, etc.)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0058" y="5838773"/>
            <a:ext cx="149699" cy="149702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7143" y="1467747"/>
            <a:ext cx="2531623" cy="2531686"/>
          </a:xfrm>
          <a:prstGeom prst="rect">
            <a:avLst/>
          </a:prstGeom>
        </p:spPr>
      </p:pic>
      <p:sp>
        <p:nvSpPr>
          <p:cNvPr id="28" name="Shape 17"/>
          <p:cNvSpPr/>
          <p:nvPr/>
        </p:nvSpPr>
        <p:spPr>
          <a:xfrm>
            <a:off x="5987146" y="4097300"/>
            <a:ext cx="3386158" cy="12415"/>
          </a:xfrm>
          <a:prstGeom prst="roundRect">
            <a:avLst>
              <a:gd name="adj" fmla="val 723662"/>
            </a:avLst>
          </a:prstGeom>
          <a:solidFill>
            <a:srgbClr val="4A4A4A">
              <a:alpha val="50000"/>
            </a:srgbClr>
          </a:solidFill>
          <a:ln/>
        </p:spPr>
      </p:sp>
      <p:sp>
        <p:nvSpPr>
          <p:cNvPr id="29" name="Text 18"/>
          <p:cNvSpPr/>
          <p:nvPr/>
        </p:nvSpPr>
        <p:spPr>
          <a:xfrm>
            <a:off x="5987146" y="4388651"/>
            <a:ext cx="1933830" cy="155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 err="1">
                <a:solidFill>
                  <a:srgbClr val="9C5461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Besoin</a:t>
            </a:r>
            <a:r>
              <a:rPr lang="en-US" sz="1400" dirty="0">
                <a:solidFill>
                  <a:srgbClr val="9C5461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9C5461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d'aide</a:t>
            </a:r>
            <a:r>
              <a:rPr lang="en-US" sz="1400" dirty="0">
                <a:solidFill>
                  <a:srgbClr val="9C5461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 ?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19"/>
          <p:cNvSpPr/>
          <p:nvPr/>
        </p:nvSpPr>
        <p:spPr>
          <a:xfrm>
            <a:off x="5987146" y="4709109"/>
            <a:ext cx="3772674" cy="903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📞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</a:t>
            </a:r>
            <a:r>
              <a:rPr lang="en-US" sz="1200" b="1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0 800 200 000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(gratuit, du lundi au vendredi)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🌐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</a:t>
            </a:r>
            <a:r>
              <a:rPr lang="en-US" sz="1200" u="sng" dirty="0">
                <a:solidFill>
                  <a:srgbClr val="9C5461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aide.franceconnect.gouv.fr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(FAQ complète)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📧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Votre Conseiller Numérique :</a:t>
            </a:r>
            <a:b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</a:b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       </a:t>
            </a:r>
            <a:r>
              <a:rPr lang="en-US" sz="1200" u="sng" dirty="0">
                <a:solidFill>
                  <a:srgbClr val="9C5461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  <a:hlinkClick r:id="rId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conseiller-numerique@lotetgaronne.fr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57184" y="4597633"/>
            <a:ext cx="499077" cy="59889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7529" y="358769"/>
            <a:ext cx="3957142" cy="311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dirty="0">
                <a:solidFill>
                  <a:srgbClr val="9C5461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En résumé — Les étapes clés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60876" y="1367483"/>
            <a:ext cx="499077" cy="5988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24768" y="1467284"/>
            <a:ext cx="1616292" cy="350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Aller sur le site </a:t>
            </a:r>
            <a:r>
              <a:rPr lang="en-US" sz="1400" b="1" dirty="0" err="1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cible</a:t>
            </a:r>
            <a:b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</a:b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impots.gouv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,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Ameli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, CAF…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59953" y="2171608"/>
            <a:ext cx="499077" cy="5988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23842" y="2271410"/>
            <a:ext cx="1707096" cy="350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Cliquer sur </a:t>
            </a:r>
            <a:r>
              <a:rPr lang="en-US" sz="1400" b="1" dirty="0" err="1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FranceConnect</a:t>
            </a:r>
            <a:b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</a:b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Le bouton bleu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foncé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59030" y="2967346"/>
            <a:ext cx="499077" cy="5988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222920" y="3067147"/>
            <a:ext cx="1959022" cy="350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Choisir son </a:t>
            </a:r>
            <a:r>
              <a:rPr lang="en-US" sz="1400" b="1" dirty="0" err="1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fournisseur</a:t>
            </a:r>
            <a:b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</a:b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Celui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où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vous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avez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un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compte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8107" y="3783541"/>
            <a:ext cx="499077" cy="59889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721999" y="3883343"/>
            <a:ext cx="1959020" cy="350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Se connecter</a:t>
            </a:r>
            <a:b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</a:b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Avec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vos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identifiants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habituels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9"/>
          <p:cNvSpPr/>
          <p:nvPr/>
        </p:nvSpPr>
        <p:spPr>
          <a:xfrm>
            <a:off x="4221075" y="4697435"/>
            <a:ext cx="1427175" cy="350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Valider &amp; </a:t>
            </a:r>
            <a:r>
              <a:rPr lang="en-US" sz="1400" b="1" dirty="0" err="1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accéder</a:t>
            </a:r>
            <a:r>
              <a:rPr lang="en-US" sz="1400" b="1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 !</a:t>
            </a:r>
            <a:b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</a:b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C'est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fait 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✅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E5ED6806-C549-A16D-FBF3-F0615D5C83C6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64942" y="1367483"/>
            <a:ext cx="2436772" cy="36552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0">
            <a:extLst>
              <a:ext uri="{FF2B5EF4-FFF2-40B4-BE49-F238E27FC236}">
                <a16:creationId xmlns:a16="http://schemas.microsoft.com/office/drawing/2014/main" id="{F994759E-A346-429E-10E7-4EBA292F6992}"/>
              </a:ext>
            </a:extLst>
          </p:cNvPr>
          <p:cNvSpPr/>
          <p:nvPr/>
        </p:nvSpPr>
        <p:spPr>
          <a:xfrm>
            <a:off x="2477357" y="5613557"/>
            <a:ext cx="4875786" cy="1023766"/>
          </a:xfrm>
          <a:prstGeom prst="roundRect">
            <a:avLst>
              <a:gd name="adj" fmla="val 42655"/>
            </a:avLst>
          </a:prstGeom>
          <a:solidFill>
            <a:srgbClr val="D6DF8E">
              <a:alpha val="80000"/>
            </a:srgbClr>
          </a:solidFill>
          <a:ln/>
        </p:spPr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255543"/>
            <a:ext cx="9905752" cy="13437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7529" y="1879326"/>
            <a:ext cx="843402" cy="335924"/>
          </a:xfrm>
          <a:prstGeom prst="roundRect">
            <a:avLst>
              <a:gd name="adj" fmla="val 42655"/>
            </a:avLst>
          </a:prstGeom>
          <a:solidFill>
            <a:srgbClr val="D6DF8E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20682" y="1930235"/>
            <a:ext cx="937774" cy="116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3000"/>
              </a:lnSpc>
            </a:pPr>
            <a:r>
              <a:rPr lang="en-US" sz="1200" b="1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CHECKLIST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37529" y="2378205"/>
            <a:ext cx="7237455" cy="335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✅</a:t>
            </a:r>
            <a:r>
              <a:rPr lang="en-US" sz="1400" dirty="0">
                <a:solidFill>
                  <a:srgbClr val="9C5461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 Checklist de sécurité — Avant de vous connecter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37529" y="2740408"/>
            <a:ext cx="5200798" cy="233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3000"/>
              </a:lnSpc>
            </a:pPr>
            <a:r>
              <a:rPr lang="en-US" sz="14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Avant de commencer, assurez-vous que vous êtes en sécurité :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37529" y="3130373"/>
            <a:ext cx="2893369" cy="2241666"/>
          </a:xfrm>
          <a:prstGeom prst="roundRect">
            <a:avLst>
              <a:gd name="adj" fmla="val 7071"/>
            </a:avLst>
          </a:prstGeom>
          <a:solidFill>
            <a:srgbClr val="8FC5E0">
              <a:alpha val="70000"/>
            </a:srgbClr>
          </a:solidFill>
          <a:ln w="6350">
            <a:solidFill>
              <a:srgbClr val="E5B2B7"/>
            </a:solidFill>
            <a:prstDash val="solid"/>
          </a:ln>
          <a:effectLst>
            <a:outerShdw blurRad="101600" dist="1651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50146" y="3242993"/>
            <a:ext cx="1346482" cy="167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💻</a:t>
            </a:r>
            <a:r>
              <a:rPr lang="en-US" sz="1400" b="1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 Sur votre appareil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50146" y="3602297"/>
            <a:ext cx="2668136" cy="292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78606" indent="-278606">
              <a:lnSpc>
                <a:spcPct val="113000"/>
              </a:lnSpc>
              <a:buSzPct val="100000"/>
              <a:buChar char="​"/>
            </a:pP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Vous êtes sur votre ordinateur personnel (pas un appareil partagé)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50146" y="3658888"/>
            <a:ext cx="107457" cy="107460"/>
          </a:xfrm>
          <a:prstGeom prst="roundRect">
            <a:avLst>
              <a:gd name="adj" fmla="val 90039"/>
            </a:avLst>
          </a:prstGeom>
          <a:noFill/>
          <a:ln w="12700">
            <a:solidFill>
              <a:srgbClr val="9C54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0146" y="4229727"/>
            <a:ext cx="2668136" cy="200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78606" indent="-278606">
              <a:lnSpc>
                <a:spcPct val="150000"/>
              </a:lnSpc>
              <a:buSzPct val="100000"/>
              <a:buChar char="​"/>
            </a:pP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Votre antivirus est à jour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50146" y="4342304"/>
            <a:ext cx="107457" cy="107460"/>
          </a:xfrm>
          <a:prstGeom prst="roundRect">
            <a:avLst>
              <a:gd name="adj" fmla="val 90039"/>
            </a:avLst>
          </a:prstGeom>
          <a:noFill/>
          <a:ln w="12700">
            <a:solidFill>
              <a:srgbClr val="9C54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0146" y="4503653"/>
            <a:ext cx="2668136" cy="126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78606" indent="-278606">
              <a:lnSpc>
                <a:spcPct val="113000"/>
              </a:lnSpc>
              <a:buSzPct val="100000"/>
              <a:buChar char="​"/>
            </a:pP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Votre navigateur est à jour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50146" y="4562697"/>
            <a:ext cx="107457" cy="107460"/>
          </a:xfrm>
          <a:prstGeom prst="roundRect">
            <a:avLst>
              <a:gd name="adj" fmla="val 90039"/>
            </a:avLst>
          </a:prstGeom>
          <a:noFill/>
          <a:ln w="12700">
            <a:solidFill>
              <a:srgbClr val="9C546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06110" y="3130373"/>
            <a:ext cx="2893451" cy="2241666"/>
          </a:xfrm>
          <a:prstGeom prst="roundRect">
            <a:avLst>
              <a:gd name="adj" fmla="val 7071"/>
            </a:avLst>
          </a:prstGeom>
          <a:solidFill>
            <a:srgbClr val="8FC5E0">
              <a:alpha val="70000"/>
            </a:srgbClr>
          </a:solidFill>
          <a:ln w="6350">
            <a:solidFill>
              <a:srgbClr val="E5B2B7"/>
            </a:solidFill>
            <a:prstDash val="solid"/>
          </a:ln>
          <a:effectLst>
            <a:outerShdw blurRad="101600" dist="1651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571508" y="3242995"/>
            <a:ext cx="1343742" cy="167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🌐</a:t>
            </a:r>
            <a:r>
              <a:rPr lang="en-US" sz="1400" b="1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 Sur le site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618729" y="3521220"/>
            <a:ext cx="2668217" cy="292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78606" indent="-278606">
              <a:lnSpc>
                <a:spcPct val="113000"/>
              </a:lnSpc>
              <a:buSzPct val="100000"/>
              <a:buChar char="​"/>
            </a:pP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L'URL contient </a:t>
            </a:r>
            <a:r>
              <a:rPr lang="en-US" sz="1200" b="1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franceconnect.gouv.fr</a:t>
            </a:r>
            <a:br>
              <a:rPr lang="en-US" sz="1200" b="1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</a:b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(vérifiez bien !)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618729" y="3559151"/>
            <a:ext cx="107457" cy="107460"/>
          </a:xfrm>
          <a:prstGeom prst="roundRect">
            <a:avLst>
              <a:gd name="adj" fmla="val 90039"/>
            </a:avLst>
          </a:prstGeom>
          <a:noFill/>
          <a:ln w="12700">
            <a:solidFill>
              <a:srgbClr val="9C546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18729" y="4138151"/>
            <a:ext cx="2668217" cy="292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78606" indent="-278606">
              <a:lnSpc>
                <a:spcPct val="113000"/>
              </a:lnSpc>
              <a:buSzPct val="100000"/>
              <a:buChar char="​"/>
            </a:pP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Vous voyez le bouton bleu FranceConnect avec le logo tricolore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3618729" y="4204075"/>
            <a:ext cx="107457" cy="107460"/>
          </a:xfrm>
          <a:prstGeom prst="roundRect">
            <a:avLst>
              <a:gd name="adj" fmla="val 90039"/>
            </a:avLst>
          </a:prstGeom>
          <a:noFill/>
          <a:ln w="12700">
            <a:solidFill>
              <a:srgbClr val="9C546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18729" y="4769140"/>
            <a:ext cx="2668217" cy="444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78606" indent="-278606">
              <a:lnSpc>
                <a:spcPct val="113000"/>
              </a:lnSpc>
              <a:buSzPct val="100000"/>
              <a:buChar char="​"/>
            </a:pP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Vous n'avez pas cliqué sur un lien</a:t>
            </a:r>
            <a:b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</a:b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reçu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par e-mail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618729" y="4825731"/>
            <a:ext cx="107457" cy="107460"/>
          </a:xfrm>
          <a:prstGeom prst="roundRect">
            <a:avLst>
              <a:gd name="adj" fmla="val 90039"/>
            </a:avLst>
          </a:prstGeom>
          <a:noFill/>
          <a:ln w="12700">
            <a:solidFill>
              <a:srgbClr val="9C546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74773" y="3130373"/>
            <a:ext cx="2977137" cy="2241666"/>
          </a:xfrm>
          <a:prstGeom prst="roundRect">
            <a:avLst>
              <a:gd name="adj" fmla="val 7071"/>
            </a:avLst>
          </a:prstGeom>
          <a:solidFill>
            <a:srgbClr val="8FC5E0">
              <a:alpha val="70000"/>
            </a:srgbClr>
          </a:solidFill>
          <a:ln w="6350">
            <a:solidFill>
              <a:srgbClr val="E5B2B7"/>
            </a:solidFill>
            <a:prstDash val="solid"/>
          </a:ln>
          <a:effectLst>
            <a:outerShdw blurRad="101600" dist="1651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540735" y="3242995"/>
            <a:ext cx="1343742" cy="167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🔐</a:t>
            </a:r>
            <a:r>
              <a:rPr lang="en-US" sz="1400" b="1" dirty="0">
                <a:solidFill>
                  <a:srgbClr val="4A4A4A"/>
                </a:solidFill>
                <a:latin typeface="Arial" panose="020B0604020202020204" pitchFamily="34" charset="0"/>
                <a:ea typeface="DM Sans SemiBold" pitchFamily="34" charset="-122"/>
                <a:cs typeface="Arial" panose="020B0604020202020204" pitchFamily="34" charset="0"/>
              </a:rPr>
              <a:t> Vos identifiants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587392" y="3568030"/>
            <a:ext cx="2780832" cy="62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78606" indent="-278606">
              <a:lnSpc>
                <a:spcPct val="113000"/>
              </a:lnSpc>
              <a:buSzPct val="100000"/>
              <a:buChar char="​"/>
            </a:pP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Votre mot de passe est solide (au moins 12 caractères, mélange de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lettres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/chiffres/symboles)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6587392" y="3587300"/>
            <a:ext cx="107457" cy="107460"/>
          </a:xfrm>
          <a:prstGeom prst="roundRect">
            <a:avLst>
              <a:gd name="adj" fmla="val 90039"/>
            </a:avLst>
          </a:prstGeom>
          <a:noFill/>
          <a:ln w="12700">
            <a:solidFill>
              <a:srgbClr val="9C546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87392" y="4279837"/>
            <a:ext cx="2668217" cy="11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78606" indent="-278606">
              <a:lnSpc>
                <a:spcPct val="113000"/>
              </a:lnSpc>
              <a:buSzPct val="100000"/>
              <a:buFontTx/>
              <a:buChar char="​"/>
            </a:pP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Vous n'avez partagé vos identifiants avec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personne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,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vous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avez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activé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la double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authentification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si</a:t>
            </a: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 possible</a:t>
            </a:r>
            <a:b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</a:b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(La Poste le propose)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6587392" y="4346108"/>
            <a:ext cx="107457" cy="107460"/>
          </a:xfrm>
          <a:prstGeom prst="roundRect">
            <a:avLst>
              <a:gd name="adj" fmla="val 90039"/>
            </a:avLst>
          </a:prstGeom>
          <a:noFill/>
          <a:ln w="12700">
            <a:solidFill>
              <a:srgbClr val="9C546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37530" y="5456683"/>
            <a:ext cx="8830694" cy="13382"/>
          </a:xfrm>
          <a:prstGeom prst="roundRect">
            <a:avLst>
              <a:gd name="adj" fmla="val 723021"/>
            </a:avLst>
          </a:prstGeom>
          <a:solidFill>
            <a:srgbClr val="4A4A4A">
              <a:alpha val="50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2859913" y="5669809"/>
            <a:ext cx="2103034" cy="22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3000"/>
              </a:lnSpc>
            </a:pPr>
            <a:r>
              <a:rPr lang="en-US" sz="1400" b="1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Après votre connexion :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2859914" y="5900689"/>
            <a:ext cx="4377720" cy="675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78606" indent="-278606">
              <a:lnSpc>
                <a:spcPct val="113000"/>
              </a:lnSpc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Déconnectez-vous toujours (surtout sur un appareil partagé)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8606" indent="-278606">
              <a:lnSpc>
                <a:spcPct val="113000"/>
              </a:lnSpc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Ne laissez jamais votre session ouverte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8606" indent="-278606">
              <a:lnSpc>
                <a:spcPct val="113000"/>
              </a:lnSpc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Signalez tout problème sur </a:t>
            </a:r>
            <a:r>
              <a:rPr lang="en-US" sz="1200" b="1" u="sng" dirty="0">
                <a:solidFill>
                  <a:srgbClr val="9C5461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cybermalveillance.gouv.fr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 : coins arrondis 36">
            <a:extLst>
              <a:ext uri="{FF2B5EF4-FFF2-40B4-BE49-F238E27FC236}">
                <a16:creationId xmlns:a16="http://schemas.microsoft.com/office/drawing/2014/main" id="{18C6C804-30C1-1B03-83DB-9790ED56A9EA}"/>
              </a:ext>
            </a:extLst>
          </p:cNvPr>
          <p:cNvSpPr/>
          <p:nvPr/>
        </p:nvSpPr>
        <p:spPr>
          <a:xfrm>
            <a:off x="918233" y="1257886"/>
            <a:ext cx="8002795" cy="681337"/>
          </a:xfrm>
          <a:prstGeom prst="roundRect">
            <a:avLst/>
          </a:prstGeom>
          <a:solidFill>
            <a:srgbClr val="D6DF8E">
              <a:alpha val="90000"/>
            </a:srgb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0">
            <a:extLst>
              <a:ext uri="{FF2B5EF4-FFF2-40B4-BE49-F238E27FC236}">
                <a16:creationId xmlns:a16="http://schemas.microsoft.com/office/drawing/2014/main" id="{26BC74FF-DE5E-AB44-CB54-CDF8601C81E3}"/>
              </a:ext>
            </a:extLst>
          </p:cNvPr>
          <p:cNvSpPr/>
          <p:nvPr/>
        </p:nvSpPr>
        <p:spPr>
          <a:xfrm>
            <a:off x="1539171" y="514782"/>
            <a:ext cx="8333873" cy="380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Offre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départementale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d’Inclusion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Numérique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1">
            <a:extLst>
              <a:ext uri="{FF2B5EF4-FFF2-40B4-BE49-F238E27FC236}">
                <a16:creationId xmlns:a16="http://schemas.microsoft.com/office/drawing/2014/main" id="{5E62AD44-6661-335A-4697-F4B0D545BD9E}"/>
              </a:ext>
            </a:extLst>
          </p:cNvPr>
          <p:cNvSpPr/>
          <p:nvPr/>
        </p:nvSpPr>
        <p:spPr>
          <a:xfrm>
            <a:off x="2069873" y="1282825"/>
            <a:ext cx="5906208" cy="565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27000"/>
              </a:lnSpc>
            </a:pPr>
            <a:r>
              <a:rPr lang="fr-FR" sz="14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Voici les 5 offres et services dispensés par l’équipe départementale</a:t>
            </a:r>
          </a:p>
          <a:p>
            <a:pPr algn="ctr">
              <a:lnSpc>
                <a:spcPct val="127000"/>
              </a:lnSpc>
            </a:pPr>
            <a:r>
              <a:rPr lang="fr-FR" sz="14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des Conseiller.es numériques :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Shape 2">
            <a:extLst>
              <a:ext uri="{FF2B5EF4-FFF2-40B4-BE49-F238E27FC236}">
                <a16:creationId xmlns:a16="http://schemas.microsoft.com/office/drawing/2014/main" id="{AB259B7A-B540-8BEA-8049-92714184961D}"/>
              </a:ext>
            </a:extLst>
          </p:cNvPr>
          <p:cNvSpPr/>
          <p:nvPr/>
        </p:nvSpPr>
        <p:spPr>
          <a:xfrm>
            <a:off x="918233" y="2349802"/>
            <a:ext cx="2593972" cy="1994478"/>
          </a:xfrm>
          <a:prstGeom prst="roundRect">
            <a:avLst>
              <a:gd name="adj" fmla="val 3862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</p:sp>
      <p:sp>
        <p:nvSpPr>
          <p:cNvPr id="41" name="Shape 5">
            <a:extLst>
              <a:ext uri="{FF2B5EF4-FFF2-40B4-BE49-F238E27FC236}">
                <a16:creationId xmlns:a16="http://schemas.microsoft.com/office/drawing/2014/main" id="{33D75C83-F218-4467-D8E9-3E13D08646CA}"/>
              </a:ext>
            </a:extLst>
          </p:cNvPr>
          <p:cNvSpPr/>
          <p:nvPr/>
        </p:nvSpPr>
        <p:spPr>
          <a:xfrm>
            <a:off x="3622563" y="2349801"/>
            <a:ext cx="2594053" cy="1994477"/>
          </a:xfrm>
          <a:prstGeom prst="roundRect">
            <a:avLst>
              <a:gd name="adj" fmla="val 3862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</p:sp>
      <p:sp>
        <p:nvSpPr>
          <p:cNvPr id="42" name="Shape 8">
            <a:extLst>
              <a:ext uri="{FF2B5EF4-FFF2-40B4-BE49-F238E27FC236}">
                <a16:creationId xmlns:a16="http://schemas.microsoft.com/office/drawing/2014/main" id="{D97D6FBF-9861-D12B-275E-ACC94E8AC9B5}"/>
              </a:ext>
            </a:extLst>
          </p:cNvPr>
          <p:cNvSpPr/>
          <p:nvPr/>
        </p:nvSpPr>
        <p:spPr>
          <a:xfrm>
            <a:off x="6326975" y="2349802"/>
            <a:ext cx="2594053" cy="1994478"/>
          </a:xfrm>
          <a:prstGeom prst="roundRect">
            <a:avLst>
              <a:gd name="adj" fmla="val 3862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</p:sp>
      <p:sp>
        <p:nvSpPr>
          <p:cNvPr id="43" name="Text 9">
            <a:extLst>
              <a:ext uri="{FF2B5EF4-FFF2-40B4-BE49-F238E27FC236}">
                <a16:creationId xmlns:a16="http://schemas.microsoft.com/office/drawing/2014/main" id="{6DF89AB3-ACA2-BF4E-DC7C-72DCC123E539}"/>
              </a:ext>
            </a:extLst>
          </p:cNvPr>
          <p:cNvSpPr/>
          <p:nvPr/>
        </p:nvSpPr>
        <p:spPr>
          <a:xfrm>
            <a:off x="6453861" y="2476692"/>
            <a:ext cx="1522220" cy="195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Le Pass Numérique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72300BE7-3B47-E762-B3CE-4D26EA3BB0AF}"/>
              </a:ext>
            </a:extLst>
          </p:cNvPr>
          <p:cNvSpPr/>
          <p:nvPr/>
        </p:nvSpPr>
        <p:spPr>
          <a:xfrm>
            <a:off x="6453862" y="2738287"/>
            <a:ext cx="2340282" cy="1093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fr-FR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Dispositif qui finance des formations aux compétences numériques de par des formateurs agréés.</a:t>
            </a:r>
          </a:p>
        </p:txBody>
      </p:sp>
      <p:sp>
        <p:nvSpPr>
          <p:cNvPr id="45" name="Shape 11">
            <a:extLst>
              <a:ext uri="{FF2B5EF4-FFF2-40B4-BE49-F238E27FC236}">
                <a16:creationId xmlns:a16="http://schemas.microsoft.com/office/drawing/2014/main" id="{CF4ACF51-DB7C-637D-948C-6804CD2BD1F2}"/>
              </a:ext>
            </a:extLst>
          </p:cNvPr>
          <p:cNvSpPr/>
          <p:nvPr/>
        </p:nvSpPr>
        <p:spPr>
          <a:xfrm>
            <a:off x="918233" y="4533301"/>
            <a:ext cx="3946178" cy="1448459"/>
          </a:xfrm>
          <a:prstGeom prst="roundRect">
            <a:avLst>
              <a:gd name="adj" fmla="val 4492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B6850C2A-DA2B-E752-EBCF-42327713C076}"/>
              </a:ext>
            </a:extLst>
          </p:cNvPr>
          <p:cNvSpPr/>
          <p:nvPr/>
        </p:nvSpPr>
        <p:spPr>
          <a:xfrm>
            <a:off x="1045117" y="4660189"/>
            <a:ext cx="1522220" cy="195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anose="020B0604020202020204" charset="0"/>
                <a:cs typeface="Arial" panose="020B0604020202020204" pitchFamily="34" charset="0"/>
              </a:rPr>
              <a:t>Ordi</a:t>
            </a: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Inter Bold" panose="020B0604020202020204" charset="0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anose="020B0604020202020204" charset="0"/>
                <a:cs typeface="Arial" panose="020B0604020202020204" pitchFamily="34" charset="0"/>
              </a:rPr>
              <a:t>Solidaire</a:t>
            </a:r>
            <a:endParaRPr lang="en-US" sz="1200" dirty="0">
              <a:latin typeface="Arial" panose="020B0604020202020204" pitchFamily="34" charset="0"/>
              <a:ea typeface="Inter Bold" panose="020B0604020202020204" charset="0"/>
              <a:cs typeface="Arial" panose="020B0604020202020204" pitchFamily="34" charset="0"/>
            </a:endParaRPr>
          </a:p>
        </p:txBody>
      </p:sp>
      <p:sp>
        <p:nvSpPr>
          <p:cNvPr id="47" name="Text 13">
            <a:extLst>
              <a:ext uri="{FF2B5EF4-FFF2-40B4-BE49-F238E27FC236}">
                <a16:creationId xmlns:a16="http://schemas.microsoft.com/office/drawing/2014/main" id="{3C0ECAD4-DB6C-AA68-D688-B117D7B03A73}"/>
              </a:ext>
            </a:extLst>
          </p:cNvPr>
          <p:cNvSpPr/>
          <p:nvPr/>
        </p:nvSpPr>
        <p:spPr>
          <a:xfrm>
            <a:off x="1045117" y="4921786"/>
            <a:ext cx="3692408" cy="623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fr-FR" sz="1200" kern="100" dirty="0">
                <a:effectLst/>
                <a:latin typeface="Arial" panose="020B0604020202020204" pitchFamily="34" charset="0"/>
                <a:ea typeface="Inter" panose="020B0604020202020204" charset="0"/>
                <a:cs typeface="Arial" panose="020B0604020202020204" pitchFamily="34" charset="0"/>
              </a:rPr>
              <a:t>Reconditionnement de matériel informatique revendu à prix solidaires, dans le cadre d'un chantier d'insertion.</a:t>
            </a:r>
          </a:p>
        </p:txBody>
      </p:sp>
      <p:sp>
        <p:nvSpPr>
          <p:cNvPr id="48" name="Shape 14">
            <a:extLst>
              <a:ext uri="{FF2B5EF4-FFF2-40B4-BE49-F238E27FC236}">
                <a16:creationId xmlns:a16="http://schemas.microsoft.com/office/drawing/2014/main" id="{79A995B3-95A4-36F9-2147-527B7024ED16}"/>
              </a:ext>
            </a:extLst>
          </p:cNvPr>
          <p:cNvSpPr/>
          <p:nvPr/>
        </p:nvSpPr>
        <p:spPr>
          <a:xfrm>
            <a:off x="4974769" y="4533301"/>
            <a:ext cx="3946259" cy="1448459"/>
          </a:xfrm>
          <a:prstGeom prst="roundRect">
            <a:avLst>
              <a:gd name="adj" fmla="val 4492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</p:sp>
      <p:sp>
        <p:nvSpPr>
          <p:cNvPr id="49" name="Text 16">
            <a:extLst>
              <a:ext uri="{FF2B5EF4-FFF2-40B4-BE49-F238E27FC236}">
                <a16:creationId xmlns:a16="http://schemas.microsoft.com/office/drawing/2014/main" id="{74022871-27AF-53A9-6C2D-004A107F72CC}"/>
              </a:ext>
            </a:extLst>
          </p:cNvPr>
          <p:cNvSpPr/>
          <p:nvPr/>
        </p:nvSpPr>
        <p:spPr>
          <a:xfrm>
            <a:off x="5101655" y="4921786"/>
            <a:ext cx="3692488" cy="623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fr-FR" sz="1200" kern="100" dirty="0">
                <a:effectLst/>
                <a:latin typeface="Arial" panose="020B0604020202020204" pitchFamily="34" charset="0"/>
                <a:ea typeface="Inter" panose="020B0604020202020204" charset="0"/>
                <a:cs typeface="Arial" panose="020B0604020202020204" pitchFamily="34" charset="0"/>
              </a:rPr>
              <a:t>Après une formation, les parents des collégiens reçoivent gratuitement un ordinateur reconditionné, l'ensemble du dispositif étant intégralement pris en charge. </a:t>
            </a:r>
          </a:p>
        </p:txBody>
      </p:sp>
      <p:sp>
        <p:nvSpPr>
          <p:cNvPr id="50" name="Text 6">
            <a:extLst>
              <a:ext uri="{FF2B5EF4-FFF2-40B4-BE49-F238E27FC236}">
                <a16:creationId xmlns:a16="http://schemas.microsoft.com/office/drawing/2014/main" id="{935FBBD2-DF92-8110-7EAB-4C7E80D94BF8}"/>
              </a:ext>
            </a:extLst>
          </p:cNvPr>
          <p:cNvSpPr/>
          <p:nvPr/>
        </p:nvSpPr>
        <p:spPr>
          <a:xfrm>
            <a:off x="1230851" y="2462745"/>
            <a:ext cx="2222426" cy="3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n-US" sz="1200" b="1" dirty="0" err="1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Accompagnement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individuel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 7">
            <a:extLst>
              <a:ext uri="{FF2B5EF4-FFF2-40B4-BE49-F238E27FC236}">
                <a16:creationId xmlns:a16="http://schemas.microsoft.com/office/drawing/2014/main" id="{D7552F34-1911-B8FE-5475-5077BF636AD9}"/>
              </a:ext>
            </a:extLst>
          </p:cNvPr>
          <p:cNvSpPr/>
          <p:nvPr/>
        </p:nvSpPr>
        <p:spPr>
          <a:xfrm>
            <a:off x="1230851" y="2736696"/>
            <a:ext cx="2222426" cy="761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8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Vous rencontrez un problème spécifique ? Nos conseiller.es vous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reçoivent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sur rendez-vous pour un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suivi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personnalisé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en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CMS.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 3">
            <a:extLst>
              <a:ext uri="{FF2B5EF4-FFF2-40B4-BE49-F238E27FC236}">
                <a16:creationId xmlns:a16="http://schemas.microsoft.com/office/drawing/2014/main" id="{3702D6EE-91CE-0ED3-CD5C-BE640D4D6904}"/>
              </a:ext>
            </a:extLst>
          </p:cNvPr>
          <p:cNvSpPr/>
          <p:nvPr/>
        </p:nvSpPr>
        <p:spPr>
          <a:xfrm>
            <a:off x="3878016" y="2493018"/>
            <a:ext cx="1570346" cy="193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Ateliers </a:t>
            </a:r>
            <a:r>
              <a:rPr lang="en-US" sz="1200" b="1" dirty="0" err="1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collectifs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 4">
            <a:extLst>
              <a:ext uri="{FF2B5EF4-FFF2-40B4-BE49-F238E27FC236}">
                <a16:creationId xmlns:a16="http://schemas.microsoft.com/office/drawing/2014/main" id="{A76B5210-506E-90FD-DAEB-4C888155BCE7}"/>
              </a:ext>
            </a:extLst>
          </p:cNvPr>
          <p:cNvSpPr/>
          <p:nvPr/>
        </p:nvSpPr>
        <p:spPr>
          <a:xfrm>
            <a:off x="3878016" y="2755097"/>
            <a:ext cx="2222426" cy="761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8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Des sessions en présentiel animées par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conseiller.es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numériques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dans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plusieurs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communes du Lot-et-Garonne, pour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être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au plus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proche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de chez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vous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 3">
            <a:extLst>
              <a:ext uri="{FF2B5EF4-FFF2-40B4-BE49-F238E27FC236}">
                <a16:creationId xmlns:a16="http://schemas.microsoft.com/office/drawing/2014/main" id="{7CFA543D-20DA-5671-DBAC-64079D62BC71}"/>
              </a:ext>
            </a:extLst>
          </p:cNvPr>
          <p:cNvSpPr/>
          <p:nvPr/>
        </p:nvSpPr>
        <p:spPr>
          <a:xfrm>
            <a:off x="5098155" y="4654769"/>
            <a:ext cx="1570346" cy="193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Parents-</a:t>
            </a:r>
            <a:r>
              <a:rPr lang="en-US" sz="1200" b="1" dirty="0" err="1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Connectés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 : coins arrondis 66">
            <a:extLst>
              <a:ext uri="{FF2B5EF4-FFF2-40B4-BE49-F238E27FC236}">
                <a16:creationId xmlns:a16="http://schemas.microsoft.com/office/drawing/2014/main" id="{EB96E0D0-CBDF-B11F-B87A-F19D733B883D}"/>
              </a:ext>
            </a:extLst>
          </p:cNvPr>
          <p:cNvSpPr/>
          <p:nvPr/>
        </p:nvSpPr>
        <p:spPr>
          <a:xfrm>
            <a:off x="3904785" y="1010653"/>
            <a:ext cx="5527971" cy="1016882"/>
          </a:xfrm>
          <a:prstGeom prst="roundRect">
            <a:avLst/>
          </a:prstGeom>
          <a:solidFill>
            <a:srgbClr val="D6DF8E">
              <a:alpha val="90000"/>
            </a:srgb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8" name="Image 0" descr="preencoded.png">
            <a:extLst>
              <a:ext uri="{FF2B5EF4-FFF2-40B4-BE49-F238E27FC236}">
                <a16:creationId xmlns:a16="http://schemas.microsoft.com/office/drawing/2014/main" id="{D564BF07-EF47-5DA1-30AD-0795DCCF87C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5137" y="1010653"/>
            <a:ext cx="3112090" cy="4668252"/>
          </a:xfrm>
          <a:prstGeom prst="rect">
            <a:avLst/>
          </a:prstGeom>
        </p:spPr>
      </p:pic>
      <p:sp>
        <p:nvSpPr>
          <p:cNvPr id="69" name="Text 0">
            <a:extLst>
              <a:ext uri="{FF2B5EF4-FFF2-40B4-BE49-F238E27FC236}">
                <a16:creationId xmlns:a16="http://schemas.microsoft.com/office/drawing/2014/main" id="{4FBE1CDA-FD38-AA8E-3172-684C391BB9C0}"/>
              </a:ext>
            </a:extLst>
          </p:cNvPr>
          <p:cNvSpPr/>
          <p:nvPr/>
        </p:nvSpPr>
        <p:spPr>
          <a:xfrm>
            <a:off x="3891159" y="1081161"/>
            <a:ext cx="5527971" cy="830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2438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Besoin d'aide ? Nous sommes </a:t>
            </a:r>
            <a:r>
              <a:rPr lang="en-US" sz="2438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là</a:t>
            </a:r>
            <a:r>
              <a:rPr lang="en-US" sz="2438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!</a:t>
            </a:r>
          </a:p>
          <a:p>
            <a:pPr algn="ctr">
              <a:lnSpc>
                <a:spcPct val="104000"/>
              </a:lnSpc>
            </a:pPr>
            <a:r>
              <a:rPr lang="en-US" sz="2438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Pour nous </a:t>
            </a:r>
            <a:r>
              <a:rPr lang="en-US" sz="2438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joindre</a:t>
            </a:r>
            <a:r>
              <a:rPr lang="en-US" sz="2438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…</a:t>
            </a:r>
            <a:endParaRPr lang="en-US" sz="2438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Shape 2">
            <a:extLst>
              <a:ext uri="{FF2B5EF4-FFF2-40B4-BE49-F238E27FC236}">
                <a16:creationId xmlns:a16="http://schemas.microsoft.com/office/drawing/2014/main" id="{A06A98E3-7C1F-59F0-2D19-CB16D3C9816A}"/>
              </a:ext>
            </a:extLst>
          </p:cNvPr>
          <p:cNvSpPr/>
          <p:nvPr/>
        </p:nvSpPr>
        <p:spPr>
          <a:xfrm>
            <a:off x="3891159" y="2339485"/>
            <a:ext cx="2501025" cy="1496219"/>
          </a:xfrm>
          <a:prstGeom prst="roundRect">
            <a:avLst>
              <a:gd name="adj" fmla="val 3477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65000"/>
              </a:schemeClr>
            </a:solidFill>
            <a:prstDash val="solid"/>
          </a:ln>
        </p:spPr>
      </p:sp>
      <p:sp>
        <p:nvSpPr>
          <p:cNvPr id="71" name="Shape 5">
            <a:extLst>
              <a:ext uri="{FF2B5EF4-FFF2-40B4-BE49-F238E27FC236}">
                <a16:creationId xmlns:a16="http://schemas.microsoft.com/office/drawing/2014/main" id="{B2B9C008-618B-BA87-0832-EB0FAAF48072}"/>
              </a:ext>
            </a:extLst>
          </p:cNvPr>
          <p:cNvSpPr/>
          <p:nvPr/>
        </p:nvSpPr>
        <p:spPr>
          <a:xfrm>
            <a:off x="6506332" y="2339485"/>
            <a:ext cx="2926425" cy="1496219"/>
          </a:xfrm>
          <a:prstGeom prst="roundRect">
            <a:avLst>
              <a:gd name="adj" fmla="val 3477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65000"/>
              </a:schemeClr>
            </a:solidFill>
            <a:prstDash val="solid"/>
          </a:ln>
        </p:spPr>
      </p:sp>
      <p:sp>
        <p:nvSpPr>
          <p:cNvPr id="72" name="Shape 8">
            <a:extLst>
              <a:ext uri="{FF2B5EF4-FFF2-40B4-BE49-F238E27FC236}">
                <a16:creationId xmlns:a16="http://schemas.microsoft.com/office/drawing/2014/main" id="{54C1768B-53B0-41B9-71D7-48303DEAEB23}"/>
              </a:ext>
            </a:extLst>
          </p:cNvPr>
          <p:cNvSpPr/>
          <p:nvPr/>
        </p:nvSpPr>
        <p:spPr>
          <a:xfrm>
            <a:off x="3891158" y="3949855"/>
            <a:ext cx="5541599" cy="921674"/>
          </a:xfrm>
          <a:prstGeom prst="roundRect">
            <a:avLst>
              <a:gd name="adj" fmla="val 5645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65000"/>
              </a:schemeClr>
            </a:solidFill>
            <a:prstDash val="solid"/>
          </a:ln>
        </p:spPr>
      </p:sp>
      <p:sp>
        <p:nvSpPr>
          <p:cNvPr id="73" name="Text 20">
            <a:extLst>
              <a:ext uri="{FF2B5EF4-FFF2-40B4-BE49-F238E27FC236}">
                <a16:creationId xmlns:a16="http://schemas.microsoft.com/office/drawing/2014/main" id="{0DA0DF90-D440-8D4D-4E1D-ABDAE0C95953}"/>
              </a:ext>
            </a:extLst>
          </p:cNvPr>
          <p:cNvSpPr/>
          <p:nvPr/>
        </p:nvSpPr>
        <p:spPr>
          <a:xfrm>
            <a:off x="5312899" y="4112245"/>
            <a:ext cx="1522220" cy="195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📧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Email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Text 21">
            <a:extLst>
              <a:ext uri="{FF2B5EF4-FFF2-40B4-BE49-F238E27FC236}">
                <a16:creationId xmlns:a16="http://schemas.microsoft.com/office/drawing/2014/main" id="{04D880B0-4650-8734-DBE6-5B6301FED238}"/>
              </a:ext>
            </a:extLst>
          </p:cNvPr>
          <p:cNvSpPr/>
          <p:nvPr/>
        </p:nvSpPr>
        <p:spPr>
          <a:xfrm>
            <a:off x="5312899" y="4373841"/>
            <a:ext cx="242065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US" sz="1200" b="1" u="sng" dirty="0">
                <a:solidFill>
                  <a:srgbClr val="4950BC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conseiller-numerique@lotetgaronne.fr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Text 24">
            <a:extLst>
              <a:ext uri="{FF2B5EF4-FFF2-40B4-BE49-F238E27FC236}">
                <a16:creationId xmlns:a16="http://schemas.microsoft.com/office/drawing/2014/main" id="{324B8ECA-B152-251E-79B4-994987C7B6F8}"/>
              </a:ext>
            </a:extLst>
          </p:cNvPr>
          <p:cNvSpPr/>
          <p:nvPr/>
        </p:nvSpPr>
        <p:spPr>
          <a:xfrm>
            <a:off x="4417484" y="2852601"/>
            <a:ext cx="1522220" cy="195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📞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Téléphone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 25">
            <a:extLst>
              <a:ext uri="{FF2B5EF4-FFF2-40B4-BE49-F238E27FC236}">
                <a16:creationId xmlns:a16="http://schemas.microsoft.com/office/drawing/2014/main" id="{A85EF47C-BC3B-E839-98B3-3B0B0CBD133F}"/>
              </a:ext>
            </a:extLst>
          </p:cNvPr>
          <p:cNvSpPr/>
          <p:nvPr/>
        </p:nvSpPr>
        <p:spPr>
          <a:xfrm>
            <a:off x="4592053" y="3114197"/>
            <a:ext cx="242073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05 53 47 31 32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Text 28">
            <a:extLst>
              <a:ext uri="{FF2B5EF4-FFF2-40B4-BE49-F238E27FC236}">
                <a16:creationId xmlns:a16="http://schemas.microsoft.com/office/drawing/2014/main" id="{2E49FA7D-3C32-D16B-5326-96D3CBFC6F3D}"/>
              </a:ext>
            </a:extLst>
          </p:cNvPr>
          <p:cNvSpPr/>
          <p:nvPr/>
        </p:nvSpPr>
        <p:spPr>
          <a:xfrm>
            <a:off x="6673940" y="2823660"/>
            <a:ext cx="1522220" cy="195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🌐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Site web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Text 29">
            <a:extLst>
              <a:ext uri="{FF2B5EF4-FFF2-40B4-BE49-F238E27FC236}">
                <a16:creationId xmlns:a16="http://schemas.microsoft.com/office/drawing/2014/main" id="{60F9A9CE-8381-83E5-BFEA-89F5C5427BAD}"/>
              </a:ext>
            </a:extLst>
          </p:cNvPr>
          <p:cNvSpPr/>
          <p:nvPr/>
        </p:nvSpPr>
        <p:spPr>
          <a:xfrm>
            <a:off x="6673941" y="3085256"/>
            <a:ext cx="242073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lotetgaronne.fr/inclusion-numerique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 2013 – 2022">
  <a:themeElements>
    <a:clrScheme name="Thème Office 2013 –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 2013 –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547</TotalTime>
  <Words>1208</Words>
  <Application>Microsoft Office PowerPoint</Application>
  <PresentationFormat>Format A4 (210 x 297 mm)</PresentationFormat>
  <Paragraphs>142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8" baseType="lpstr">
      <vt:lpstr>Calibri Light</vt:lpstr>
      <vt:lpstr>Arial</vt:lpstr>
      <vt:lpstr>Calibri</vt:lpstr>
      <vt:lpstr>DM Sans</vt:lpstr>
      <vt:lpstr>DM Sans SemiBold</vt:lpstr>
      <vt:lpstr>Thème Office 2013 – 2022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Aswad Michel</cp:lastModifiedBy>
  <cp:revision>20</cp:revision>
  <dcterms:created xsi:type="dcterms:W3CDTF">2026-06-21T15:46:42Z</dcterms:created>
  <dcterms:modified xsi:type="dcterms:W3CDTF">2026-07-07T08:50:35Z</dcterms:modified>
</cp:coreProperties>
</file>