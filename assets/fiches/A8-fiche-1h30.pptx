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7556399"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bg-p1.png"/>
          <p:cNvPicPr>
            <a:picLocks noChangeAspect="1"/>
          </p:cNvPicPr>
          <p:nvPr/>
        </p:nvPicPr>
        <p:blipFill>
          <a:blip r:embed="rId2">
            <a:alphaModFix amt="80000"/>
          </a:blip>
          <a:stretch>
            <a:fillRect/>
          </a:stretch>
        </p:blipFill>
        <p:spPr>
          <a:xfrm>
            <a:off x="0" y="0"/>
            <a:ext cx="7556399" cy="10692000"/>
          </a:xfrm>
          <a:prstGeom prst="rect">
            <a:avLst/>
          </a:prstGeom>
        </p:spPr>
      </p:pic>
      <p:sp>
        <p:nvSpPr>
          <p:cNvPr id="3" name="TextBox 2"/>
          <p:cNvSpPr txBox="1"/>
          <p:nvPr/>
        </p:nvSpPr>
        <p:spPr>
          <a:xfrm>
            <a:off x="529200" y="1224000"/>
            <a:ext cx="6498000" cy="468000"/>
          </a:xfrm>
          <a:prstGeom prst="rect">
            <a:avLst/>
          </a:prstGeom>
          <a:noFill/>
        </p:spPr>
        <p:txBody>
          <a:bodyPr wrap="square" tIns="0" bIns="0" lIns="18000" rIns="18000">
            <a:spAutoFit/>
          </a:bodyPr>
          <a:lstStyle/>
          <a:p>
            <a:pPr algn="ctr">
              <a:spcBef>
                <a:spcPts val="0"/>
              </a:spcBef>
              <a:spcAft>
                <a:spcPts val="100"/>
              </a:spcAft>
            </a:pPr>
            <a:r>
              <a:rPr sz="1700" b="1" i="0">
                <a:solidFill>
                  <a:srgbClr val="4388BC"/>
                </a:solidFill>
                <a:latin typeface="Arial"/>
              </a:rPr>
              <a:t>Numérique &amp; Environnement</a:t>
            </a:r>
          </a:p>
          <a:p>
            <a:pPr algn="ctr">
              <a:spcBef>
                <a:spcPts val="0"/>
              </a:spcBef>
              <a:spcAft>
                <a:spcPts val="100"/>
              </a:spcAft>
            </a:pPr>
            <a:r>
              <a:rPr sz="800" b="0" i="0">
                <a:solidFill>
                  <a:srgbClr val="6E6E6D"/>
                </a:solidFill>
                <a:latin typeface="Arial"/>
              </a:rPr>
              <a:t>Fiche Action | 1h30 | Guide d'animation — Conseillers Numériques CD47</a:t>
            </a:r>
          </a:p>
        </p:txBody>
      </p:sp>
      <p:sp>
        <p:nvSpPr>
          <p:cNvPr id="4" name="Rectangle 3"/>
          <p:cNvSpPr/>
          <p:nvPr/>
        </p:nvSpPr>
        <p:spPr>
          <a:xfrm>
            <a:off x="529200" y="1764000"/>
            <a:ext cx="3024000" cy="900000"/>
          </a:xfrm>
          <a:prstGeom prst="rect">
            <a:avLst/>
          </a:prstGeom>
          <a:solidFill>
            <a:srgbClr val="ECF5FF"/>
          </a:solidFill>
          <a:ln w="12700">
            <a:solidFill>
              <a:srgbClr val="4388B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19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4388BC"/>
                </a:solidFill>
                <a:latin typeface="Arial"/>
              </a:rPr>
              <a:t>Objectifs</a:t>
            </a:r>
          </a:p>
          <a:p>
            <a:pPr algn="l">
              <a:spcBef>
                <a:spcPts val="0"/>
              </a:spcBef>
              <a:spcAft>
                <a:spcPts val="100"/>
              </a:spcAft>
            </a:pPr>
            <a:r>
              <a:rPr sz="850" b="0" i="0">
                <a:solidFill>
                  <a:srgbClr val="2B2B2B"/>
                </a:solidFill>
                <a:latin typeface="Arial"/>
              </a:rPr>
              <a:t>&gt; Le numérique : un secteur qui pèse lourd</a:t>
            </a:r>
          </a:p>
          <a:p>
            <a:pPr algn="l">
              <a:spcBef>
                <a:spcPts val="0"/>
              </a:spcBef>
              <a:spcAft>
                <a:spcPts val="100"/>
              </a:spcAft>
            </a:pPr>
            <a:r>
              <a:rPr sz="850" b="0" i="0">
                <a:solidFill>
                  <a:srgbClr val="2B2B2B"/>
                </a:solidFill>
                <a:latin typeface="Arial"/>
              </a:rPr>
              <a:t>&gt; Nos appareils : le cœur du problème</a:t>
            </a:r>
          </a:p>
          <a:p>
            <a:pPr algn="l">
              <a:spcBef>
                <a:spcPts val="0"/>
              </a:spcBef>
              <a:spcAft>
                <a:spcPts val="100"/>
              </a:spcAft>
            </a:pPr>
            <a:r>
              <a:rPr sz="850" b="0" i="0">
                <a:solidFill>
                  <a:srgbClr val="2B2B2B"/>
                </a:solidFill>
                <a:latin typeface="Arial"/>
              </a:rPr>
              <a:t>&gt; L'usage quotidien : des impacts souvent invisibles</a:t>
            </a:r>
          </a:p>
          <a:p>
            <a:pPr algn="l">
              <a:spcBef>
                <a:spcPts val="0"/>
              </a:spcBef>
              <a:spcAft>
                <a:spcPts val="100"/>
              </a:spcAft>
            </a:pPr>
            <a:r>
              <a:rPr sz="850" b="0" i="0">
                <a:solidFill>
                  <a:srgbClr val="2B2B2B"/>
                </a:solidFill>
                <a:latin typeface="Arial"/>
              </a:rPr>
              <a:t>&gt; Les data centers : des usines énergivores</a:t>
            </a:r>
          </a:p>
        </p:txBody>
      </p:sp>
      <p:sp>
        <p:nvSpPr>
          <p:cNvPr id="6" name="Rectangle 5"/>
          <p:cNvSpPr/>
          <p:nvPr/>
        </p:nvSpPr>
        <p:spPr>
          <a:xfrm>
            <a:off x="4003200" y="1764000"/>
            <a:ext cx="3024000" cy="900000"/>
          </a:xfrm>
          <a:prstGeom prst="rect">
            <a:avLst/>
          </a:prstGeom>
          <a:solidFill>
            <a:srgbClr val="EBF7F6"/>
          </a:solidFill>
          <a:ln w="12700">
            <a:solidFill>
              <a:srgbClr val="187C8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093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187C88"/>
                </a:solidFill>
                <a:latin typeface="Arial"/>
              </a:rPr>
              <a:t>Matériel nécessaire</a:t>
            </a:r>
          </a:p>
          <a:p>
            <a:pPr algn="l">
              <a:spcBef>
                <a:spcPts val="0"/>
              </a:spcBef>
              <a:spcAft>
                <a:spcPts val="100"/>
              </a:spcAft>
            </a:pPr>
            <a:r>
              <a:rPr sz="850" b="0" i="0">
                <a:solidFill>
                  <a:srgbClr val="2B2B2B"/>
                </a:solidFill>
                <a:latin typeface="Arial"/>
              </a:rPr>
              <a:t>&gt; 1 PC ou tablette par participant</a:t>
            </a:r>
          </a:p>
          <a:p>
            <a:pPr algn="l">
              <a:spcBef>
                <a:spcPts val="0"/>
              </a:spcBef>
              <a:spcAft>
                <a:spcPts val="100"/>
              </a:spcAft>
            </a:pPr>
            <a:r>
              <a:rPr sz="850" b="0" i="0">
                <a:solidFill>
                  <a:srgbClr val="2B2B2B"/>
                </a:solidFill>
                <a:latin typeface="Arial"/>
              </a:rPr>
              <a:t>&gt; Connexion Wi-Fi stable</a:t>
            </a:r>
          </a:p>
          <a:p>
            <a:pPr algn="l">
              <a:spcBef>
                <a:spcPts val="0"/>
              </a:spcBef>
              <a:spcAft>
                <a:spcPts val="100"/>
              </a:spcAft>
            </a:pPr>
            <a:r>
              <a:rPr sz="850" b="0" i="0">
                <a:solidFill>
                  <a:srgbClr val="2B2B2B"/>
                </a:solidFill>
                <a:latin typeface="Arial"/>
              </a:rPr>
              <a:t>&gt; Grand écran / vidéoprojecteur</a:t>
            </a:r>
          </a:p>
          <a:p>
            <a:pPr algn="l">
              <a:spcBef>
                <a:spcPts val="0"/>
              </a:spcBef>
              <a:spcAft>
                <a:spcPts val="100"/>
              </a:spcAft>
            </a:pPr>
            <a:r>
              <a:rPr sz="850" b="0" i="0">
                <a:solidFill>
                  <a:srgbClr val="2B2B2B"/>
                </a:solidFill>
                <a:latin typeface="Arial"/>
              </a:rPr>
              <a:t>&gt; Fiches mémo (1 par participant)</a:t>
            </a:r>
          </a:p>
        </p:txBody>
      </p:sp>
      <p:sp>
        <p:nvSpPr>
          <p:cNvPr id="8" name="Rectangle 7"/>
          <p:cNvSpPr/>
          <p:nvPr/>
        </p:nvSpPr>
        <p:spPr>
          <a:xfrm>
            <a:off x="529200" y="2736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29200" y="2736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63200" y="3031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3200" y="3031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0:02</a:t>
            </a:r>
          </a:p>
        </p:txBody>
      </p:sp>
      <p:sp>
        <p:nvSpPr>
          <p:cNvPr id="12" name="TextBox 11"/>
          <p:cNvSpPr txBox="1"/>
          <p:nvPr/>
        </p:nvSpPr>
        <p:spPr>
          <a:xfrm>
            <a:off x="1303200" y="2800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Le numérique : un secteur qui pèse lourd</a:t>
            </a:r>
          </a:p>
          <a:p>
            <a:pPr algn="l">
              <a:spcBef>
                <a:spcPts val="0"/>
              </a:spcBef>
              <a:spcAft>
                <a:spcPts val="100"/>
              </a:spcAft>
            </a:pPr>
            <a:r>
              <a:rPr sz="800" b="0" i="0">
                <a:solidFill>
                  <a:srgbClr val="2B2B2B"/>
                </a:solidFill>
                <a:latin typeface="Arial"/>
              </a:rPr>
              <a:t>. On l'oublie souvent, mais le numérique est l'un des secteurs les plus émetteurs de gaz à effet de serre au monde. Et sa croissance est rapide.</a:t>
            </a:r>
          </a:p>
        </p:txBody>
      </p:sp>
      <p:sp>
        <p:nvSpPr>
          <p:cNvPr id="13" name="Rectangle 12"/>
          <p:cNvSpPr/>
          <p:nvPr/>
        </p:nvSpPr>
        <p:spPr>
          <a:xfrm>
            <a:off x="529200" y="34848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29200" y="34848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63200" y="37800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63200" y="37800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0:10</a:t>
            </a:r>
          </a:p>
        </p:txBody>
      </p:sp>
      <p:sp>
        <p:nvSpPr>
          <p:cNvPr id="17" name="TextBox 16"/>
          <p:cNvSpPr txBox="1"/>
          <p:nvPr/>
        </p:nvSpPr>
        <p:spPr>
          <a:xfrm>
            <a:off x="1303200" y="35496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Nos appareils : le cœur du problème</a:t>
            </a:r>
          </a:p>
          <a:p>
            <a:pPr algn="l">
              <a:spcBef>
                <a:spcPts val="0"/>
              </a:spcBef>
              <a:spcAft>
                <a:spcPts val="100"/>
              </a:spcAft>
            </a:pPr>
            <a:r>
              <a:rPr sz="800" b="0" i="0">
                <a:solidFill>
                  <a:srgbClr val="2B2B2B"/>
                </a:solidFill>
                <a:latin typeface="Arial"/>
              </a:rPr>
              <a:t>. La fabrication de nos appareils numériques est de loin la source d'impact la plus importante — bien plus que leur utilisation quotidienne.</a:t>
            </a:r>
          </a:p>
        </p:txBody>
      </p:sp>
      <p:sp>
        <p:nvSpPr>
          <p:cNvPr id="18" name="Rectangle 17"/>
          <p:cNvSpPr/>
          <p:nvPr/>
        </p:nvSpPr>
        <p:spPr>
          <a:xfrm>
            <a:off x="529200" y="42336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29200" y="42336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63200" y="4528800"/>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63200" y="45288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0:18</a:t>
            </a:r>
          </a:p>
        </p:txBody>
      </p:sp>
      <p:sp>
        <p:nvSpPr>
          <p:cNvPr id="22" name="TextBox 21"/>
          <p:cNvSpPr txBox="1"/>
          <p:nvPr/>
        </p:nvSpPr>
        <p:spPr>
          <a:xfrm>
            <a:off x="1303200" y="42984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L'usage quotidien : des impacts souvent invisibl…</a:t>
            </a:r>
          </a:p>
          <a:p>
            <a:pPr algn="l">
              <a:spcBef>
                <a:spcPts val="0"/>
              </a:spcBef>
              <a:spcAft>
                <a:spcPts val="100"/>
              </a:spcAft>
            </a:pPr>
            <a:r>
              <a:rPr sz="800" b="0" i="0">
                <a:solidFill>
                  <a:srgbClr val="2B2B2B"/>
                </a:solidFill>
                <a:latin typeface="Arial"/>
              </a:rPr>
              <a:t>. Streaming vidéo</a:t>
            </a:r>
          </a:p>
        </p:txBody>
      </p:sp>
      <p:sp>
        <p:nvSpPr>
          <p:cNvPr id="23" name="Rectangle 22"/>
          <p:cNvSpPr/>
          <p:nvPr/>
        </p:nvSpPr>
        <p:spPr>
          <a:xfrm>
            <a:off x="529200" y="49824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29200" y="49824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63200" y="52776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63200" y="52776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0:26</a:t>
            </a:r>
          </a:p>
        </p:txBody>
      </p:sp>
      <p:sp>
        <p:nvSpPr>
          <p:cNvPr id="27" name="TextBox 26"/>
          <p:cNvSpPr txBox="1"/>
          <p:nvPr/>
        </p:nvSpPr>
        <p:spPr>
          <a:xfrm>
            <a:off x="1303200" y="50472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Les data centers : des usines énergivores</a:t>
            </a:r>
          </a:p>
          <a:p>
            <a:pPr algn="l">
              <a:spcBef>
                <a:spcPts val="0"/>
              </a:spcBef>
              <a:spcAft>
                <a:spcPts val="100"/>
              </a:spcAft>
            </a:pPr>
            <a:r>
              <a:rPr sz="800" b="0" i="0">
                <a:solidFill>
                  <a:srgbClr val="2B2B2B"/>
                </a:solidFill>
                <a:latin typeface="Arial"/>
              </a:rPr>
              <a:t>. Ces infrastructures discrètes sont le moteur de notre monde numérique, hébergeant nos données et applications. Cependant, leur fonctionnement est incroyablement gourmand en ressources, notamment pour le refroidissement des serveurs et le maintien d'une température stable.</a:t>
            </a:r>
          </a:p>
        </p:txBody>
      </p:sp>
      <p:sp>
        <p:nvSpPr>
          <p:cNvPr id="28" name="Rectangle 27"/>
          <p:cNvSpPr/>
          <p:nvPr/>
        </p:nvSpPr>
        <p:spPr>
          <a:xfrm>
            <a:off x="529200" y="57312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29200" y="57312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763200" y="6026399"/>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63200" y="60263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0:34</a:t>
            </a:r>
          </a:p>
        </p:txBody>
      </p:sp>
      <p:sp>
        <p:nvSpPr>
          <p:cNvPr id="32" name="TextBox 31"/>
          <p:cNvSpPr txBox="1"/>
          <p:nvPr/>
        </p:nvSpPr>
        <p:spPr>
          <a:xfrm>
            <a:off x="1303200" y="57960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La montagne de déchets électroniques</a:t>
            </a:r>
          </a:p>
          <a:p>
            <a:pPr algn="l">
              <a:spcBef>
                <a:spcPts val="0"/>
              </a:spcBef>
              <a:spcAft>
                <a:spcPts val="100"/>
              </a:spcAft>
            </a:pPr>
            <a:r>
              <a:rPr sz="800" b="0" i="0">
                <a:solidFill>
                  <a:srgbClr val="2B2B2B"/>
                </a:solidFill>
                <a:latin typeface="Arial"/>
              </a:rPr>
              <a:t>. Les Déchets d'Équipements Électriques et Électroniques (DEEE), ou "e-waste", représentent aujourd'hui le flux de déchets qui croît le plus rapidement dans le monde. C'est une problématique environnementale et sanitaire majeure.</a:t>
            </a:r>
          </a:p>
        </p:txBody>
      </p:sp>
      <p:sp>
        <p:nvSpPr>
          <p:cNvPr id="33" name="Rectangle 32"/>
          <p:cNvSpPr/>
          <p:nvPr/>
        </p:nvSpPr>
        <p:spPr>
          <a:xfrm>
            <a:off x="529200" y="6480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529200" y="6480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763200" y="6775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63200" y="6775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0:42</a:t>
            </a:r>
          </a:p>
        </p:txBody>
      </p:sp>
      <p:sp>
        <p:nvSpPr>
          <p:cNvPr id="37" name="TextBox 36"/>
          <p:cNvSpPr txBox="1"/>
          <p:nvPr/>
        </p:nvSpPr>
        <p:spPr>
          <a:xfrm>
            <a:off x="1303200" y="6544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L'obsolescence : le piège du renouvellement</a:t>
            </a:r>
          </a:p>
          <a:p>
            <a:pPr algn="l">
              <a:spcBef>
                <a:spcPts val="0"/>
              </a:spcBef>
              <a:spcAft>
                <a:spcPts val="100"/>
              </a:spcAft>
            </a:pPr>
            <a:r>
              <a:rPr sz="800" b="0" i="0">
                <a:solidFill>
                  <a:srgbClr val="2B2B2B"/>
                </a:solidFill>
                <a:latin typeface="Arial"/>
              </a:rPr>
              <a:t>. L'obsolescence, qu'elle soit programmée ou perçue, est un facteur majeur de l'empreinte environnementale du numérique. Elle nous pousse à renouveler nos appareils bien avant la fin de leur durée de vie potentielle.</a:t>
            </a:r>
          </a:p>
        </p:txBody>
      </p:sp>
      <p:sp>
        <p:nvSpPr>
          <p:cNvPr id="38" name="Rectangle 37"/>
          <p:cNvSpPr/>
          <p:nvPr/>
        </p:nvSpPr>
        <p:spPr>
          <a:xfrm>
            <a:off x="529200" y="72287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529200" y="7228799"/>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763200" y="7523999"/>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63200" y="75239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0:50</a:t>
            </a:r>
          </a:p>
        </p:txBody>
      </p:sp>
      <p:sp>
        <p:nvSpPr>
          <p:cNvPr id="42" name="TextBox 41"/>
          <p:cNvSpPr txBox="1"/>
          <p:nvPr/>
        </p:nvSpPr>
        <p:spPr>
          <a:xfrm>
            <a:off x="1303200" y="72935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Allonger la vie de ses appareils</a:t>
            </a:r>
          </a:p>
          <a:p>
            <a:pPr algn="l">
              <a:spcBef>
                <a:spcPts val="0"/>
              </a:spcBef>
              <a:spcAft>
                <a:spcPts val="100"/>
              </a:spcAft>
            </a:pPr>
            <a:r>
              <a:rPr sz="800" b="0" i="0">
                <a:solidFill>
                  <a:srgbClr val="2B2B2B"/>
                </a:solidFill>
                <a:latin typeface="Arial"/>
              </a:rPr>
              <a:t>. Plutôt que de céder à l'obsolescence programmée ou perçue, adoptons des gestes simples pour prolonger la durée de vie de nos équipements. Chaque année gagnée, c'est une réduction significative de leur empreinte environnementale.</a:t>
            </a:r>
          </a:p>
        </p:txBody>
      </p:sp>
      <p:sp>
        <p:nvSpPr>
          <p:cNvPr id="43" name="Rectangle 42"/>
          <p:cNvSpPr/>
          <p:nvPr/>
        </p:nvSpPr>
        <p:spPr>
          <a:xfrm>
            <a:off x="529200" y="79775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529200" y="7977599"/>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763200" y="8272799"/>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63200" y="82727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0:58</a:t>
            </a:r>
          </a:p>
        </p:txBody>
      </p:sp>
      <p:sp>
        <p:nvSpPr>
          <p:cNvPr id="47" name="TextBox 46"/>
          <p:cNvSpPr txBox="1"/>
          <p:nvPr/>
        </p:nvSpPr>
        <p:spPr>
          <a:xfrm>
            <a:off x="1303200" y="80423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La sobriété numérique au quotidien</a:t>
            </a:r>
          </a:p>
          <a:p>
            <a:pPr algn="l">
              <a:spcBef>
                <a:spcPts val="0"/>
              </a:spcBef>
              <a:spcAft>
                <a:spcPts val="100"/>
              </a:spcAft>
            </a:pPr>
            <a:r>
              <a:rPr sz="800" b="0" i="0">
                <a:solidFill>
                  <a:srgbClr val="2B2B2B"/>
                </a:solidFill>
                <a:latin typeface="Arial"/>
              </a:rPr>
              <a:t>. Adopter de petits gestes au quotidien peut avoir un impact significatif sur la réduction de votre empreinte numérique. Chaque action compte pour une consommation plus responsable des ressources.</a:t>
            </a:r>
          </a:p>
        </p:txBody>
      </p:sp>
      <p:sp>
        <p:nvSpPr>
          <p:cNvPr id="48" name="Rectangle 47"/>
          <p:cNvSpPr/>
          <p:nvPr/>
        </p:nvSpPr>
        <p:spPr>
          <a:xfrm>
            <a:off x="529200" y="87263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529200" y="8726399"/>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763200" y="9021599"/>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763200" y="90215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1:06</a:t>
            </a:r>
          </a:p>
        </p:txBody>
      </p:sp>
      <p:sp>
        <p:nvSpPr>
          <p:cNvPr id="52" name="TextBox 51"/>
          <p:cNvSpPr txBox="1"/>
          <p:nvPr/>
        </p:nvSpPr>
        <p:spPr>
          <a:xfrm>
            <a:off x="1303200" y="87911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L'IA : un appétit énergétique démesuré</a:t>
            </a:r>
          </a:p>
          <a:p>
            <a:pPr algn="l">
              <a:spcBef>
                <a:spcPts val="0"/>
              </a:spcBef>
              <a:spcAft>
                <a:spcPts val="100"/>
              </a:spcAft>
            </a:pPr>
            <a:r>
              <a:rPr sz="800" b="0" i="0">
                <a:solidFill>
                  <a:srgbClr val="2B2B2B"/>
                </a:solidFill>
                <a:latin typeface="Arial"/>
              </a:rPr>
              <a:t>. L'intelligence artificielle, en particulier l'IA générative, est une technologie révolutionnaire mais aussi une gourmande insatiable en énergie et en ressources. Son empreinte environnementale croissante est une préoccupation majeure.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bg-p2.png"/>
          <p:cNvPicPr>
            <a:picLocks noChangeAspect="1"/>
          </p:cNvPicPr>
          <p:nvPr/>
        </p:nvPicPr>
        <p:blipFill>
          <a:blip r:embed="rId2">
            <a:alphaModFix amt="80000"/>
          </a:blip>
          <a:stretch>
            <a:fillRect/>
          </a:stretch>
        </p:blipFill>
        <p:spPr>
          <a:xfrm>
            <a:off x="0" y="0"/>
            <a:ext cx="7556399" cy="10692000"/>
          </a:xfrm>
          <a:prstGeom prst="rect">
            <a:avLst/>
          </a:prstGeom>
        </p:spPr>
      </p:pic>
      <p:sp>
        <p:nvSpPr>
          <p:cNvPr id="3" name="Rectangle 2"/>
          <p:cNvSpPr/>
          <p:nvPr/>
        </p:nvSpPr>
        <p:spPr>
          <a:xfrm>
            <a:off x="529200" y="540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29200" y="5400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763200" y="8352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63200" y="835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1:14</a:t>
            </a:r>
          </a:p>
        </p:txBody>
      </p:sp>
      <p:sp>
        <p:nvSpPr>
          <p:cNvPr id="7" name="TextBox 6"/>
          <p:cNvSpPr txBox="1"/>
          <p:nvPr/>
        </p:nvSpPr>
        <p:spPr>
          <a:xfrm>
            <a:off x="1303200" y="604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Des solutions collectives et réglementaires</a:t>
            </a:r>
          </a:p>
          <a:p>
            <a:pPr algn="l">
              <a:spcBef>
                <a:spcPts val="0"/>
              </a:spcBef>
              <a:spcAft>
                <a:spcPts val="100"/>
              </a:spcAft>
            </a:pPr>
            <a:r>
              <a:rPr sz="800" b="0" i="0">
                <a:solidFill>
                  <a:srgbClr val="2B2B2B"/>
                </a:solidFill>
                <a:latin typeface="Arial"/>
              </a:rPr>
              <a:t>. Face aux enjeux du numérique, des cadres réglementaires et des initiatives collectives émergent pour encourager des pratiques plus durables. Ces efforts visent à transformer en profondeur nos modes de production et de consommation.</a:t>
            </a:r>
          </a:p>
        </p:txBody>
      </p:sp>
      <p:sp>
        <p:nvSpPr>
          <p:cNvPr id="8" name="Rectangle 7"/>
          <p:cNvSpPr/>
          <p:nvPr/>
        </p:nvSpPr>
        <p:spPr>
          <a:xfrm>
            <a:off x="529200" y="12888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29200" y="12888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63200" y="1584000"/>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3200" y="15840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1:22</a:t>
            </a:r>
          </a:p>
        </p:txBody>
      </p:sp>
      <p:sp>
        <p:nvSpPr>
          <p:cNvPr id="12" name="TextBox 11"/>
          <p:cNvSpPr txBox="1"/>
          <p:nvPr/>
        </p:nvSpPr>
        <p:spPr>
          <a:xfrm>
            <a:off x="1303200" y="13536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À vous de jouer !</a:t>
            </a:r>
          </a:p>
          <a:p>
            <a:pPr algn="l">
              <a:spcBef>
                <a:spcPts val="0"/>
              </a:spcBef>
              <a:spcAft>
                <a:spcPts val="100"/>
              </a:spcAft>
            </a:pPr>
            <a:r>
              <a:rPr sz="800" b="0" i="0">
                <a:solidFill>
                  <a:srgbClr val="2B2B2B"/>
                </a:solidFill>
                <a:latin typeface="Arial"/>
              </a:rPr>
              <a:t>. Répondez à ces questions individuellement ou en petits groupes, puis partagez vos réflexions avec le reste de l'atelier.</a:t>
            </a:r>
          </a:p>
        </p:txBody>
      </p:sp>
      <p:sp>
        <p:nvSpPr>
          <p:cNvPr id="13" name="Rectangle 12"/>
          <p:cNvSpPr/>
          <p:nvPr/>
        </p:nvSpPr>
        <p:spPr>
          <a:xfrm>
            <a:off x="529200" y="2127600"/>
            <a:ext cx="6498000" cy="2728799"/>
          </a:xfrm>
          <a:prstGeom prst="rect">
            <a:avLst/>
          </a:prstGeom>
          <a:solidFill>
            <a:srgbClr val="FFF8EF"/>
          </a:solidFill>
          <a:ln w="19050">
            <a:solidFill>
              <a:srgbClr val="E67D2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29200" y="2127600"/>
            <a:ext cx="6498000" cy="198000"/>
          </a:xfrm>
          <a:prstGeom prst="rect">
            <a:avLst/>
          </a:prstGeom>
          <a:solidFill>
            <a:srgbClr val="E67D2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01200" y="2156400"/>
            <a:ext cx="6354000" cy="162000"/>
          </a:xfrm>
          <a:prstGeom prst="rect">
            <a:avLst/>
          </a:prstGeom>
          <a:noFill/>
        </p:spPr>
        <p:txBody>
          <a:bodyPr wrap="square" tIns="0" bIns="0" lIns="18000" rIns="18000">
            <a:spAutoFit/>
          </a:bodyPr>
          <a:lstStyle/>
          <a:p>
            <a:pPr algn="ctr">
              <a:spcBef>
                <a:spcPts val="0"/>
              </a:spcBef>
              <a:spcAft>
                <a:spcPts val="100"/>
              </a:spcAft>
            </a:pPr>
            <a:r>
              <a:rPr sz="850" b="1" i="0">
                <a:solidFill>
                  <a:srgbClr val="FFFFFF"/>
                </a:solidFill>
                <a:latin typeface="Arial"/>
              </a:rPr>
              <a:t>Blocs optionnels — À aborder si le temps le permet</a:t>
            </a:r>
          </a:p>
        </p:txBody>
      </p:sp>
      <p:sp>
        <p:nvSpPr>
          <p:cNvPr id="16" name="Rectangle 15"/>
          <p:cNvSpPr/>
          <p:nvPr/>
        </p:nvSpPr>
        <p:spPr>
          <a:xfrm>
            <a:off x="529200" y="2325600"/>
            <a:ext cx="6498000" cy="14400"/>
          </a:xfrm>
          <a:prstGeom prst="rect">
            <a:avLst/>
          </a:prstGeom>
          <a:solidFill>
            <a:srgbClr val="E67D2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7200" y="2368800"/>
            <a:ext cx="6300000" cy="766800"/>
          </a:xfrm>
          <a:prstGeom prst="rect">
            <a:avLst/>
          </a:prstGeom>
          <a:noFill/>
        </p:spPr>
        <p:txBody>
          <a:bodyPr wrap="square" tIns="0" bIns="0" lIns="18000" rIns="18000">
            <a:spAutoFit/>
          </a:bodyPr>
          <a:lstStyle/>
          <a:p>
            <a:pPr algn="l">
              <a:spcBef>
                <a:spcPts val="0"/>
              </a:spcBef>
              <a:spcAft>
                <a:spcPts val="100"/>
              </a:spcAft>
            </a:pPr>
            <a:r>
              <a:rPr sz="800" b="1" i="0">
                <a:solidFill>
                  <a:srgbClr val="E67D21"/>
                </a:solidFill>
                <a:latin typeface="Arial"/>
              </a:rPr>
              <a:t>5 min</a:t>
            </a:r>
          </a:p>
          <a:p>
            <a:pPr algn="l">
              <a:spcBef>
                <a:spcPts val="0"/>
              </a:spcBef>
              <a:spcAft>
                <a:spcPts val="100"/>
              </a:spcAft>
            </a:pPr>
            <a:r>
              <a:rPr sz="900" b="1" i="0">
                <a:solidFill>
                  <a:srgbClr val="2B2B2B"/>
                </a:solidFill>
                <a:latin typeface="Arial"/>
              </a:rPr>
              <a:t>Des ressources rares et précieuses</a:t>
            </a:r>
          </a:p>
          <a:p>
            <a:pPr>
              <a:spcBef>
                <a:spcPts val="0"/>
              </a:spcBef>
              <a:spcAft>
                <a:spcPts val="100"/>
              </a:spcAft>
            </a:pPr>
            <a:r>
              <a:rPr sz="800" b="1">
                <a:solidFill>
                  <a:srgbClr val="E67D21"/>
                </a:solidFill>
                <a:latin typeface="Arial"/>
              </a:rPr>
              <a:t>OPT.  </a:t>
            </a:r>
            <a:r>
              <a:rPr sz="800">
                <a:solidFill>
                  <a:srgbClr val="2B2B2B"/>
                </a:solidFill>
                <a:latin typeface="Arial"/>
              </a:rPr>
              <a:t>. Derrière chaque écran, chaque circuit imprimé, se cache un monde de minerais et de métaux rares, dont l'extraction a des conséquences environnementales et sociales souvent dramatiques.</a:t>
            </a:r>
          </a:p>
          <a:p>
            <a:pPr algn="l">
              <a:spcBef>
                <a:spcPts val="0"/>
              </a:spcBef>
              <a:spcAft>
                <a:spcPts val="100"/>
              </a:spcAft>
            </a:pPr>
            <a:r>
              <a:rPr sz="800" b="0" i="0">
                <a:solidFill>
                  <a:srgbClr val="2B2B2B"/>
                </a:solidFill>
                <a:latin typeface="Arial"/>
              </a:rPr>
              <a:t>. Un cocktail de métaux stratégiques</a:t>
            </a:r>
          </a:p>
          <a:p>
            <a:pPr algn="l">
              <a:spcBef>
                <a:spcPts val="0"/>
              </a:spcBef>
              <a:spcAft>
                <a:spcPts val="100"/>
              </a:spcAft>
            </a:pPr>
            <a:r>
              <a:rPr sz="800" b="0" i="0">
                <a:solidFill>
                  <a:srgbClr val="2B2B2B"/>
                </a:solidFill>
                <a:latin typeface="Arial"/>
              </a:rPr>
              <a:t>. Nos appareils dépendent de ressources comme le lithium (batteries), le cobalt (batteries, puces), le coltan (condensateurs), l'or, l'argent, le cuivre... L'extraction de ces 70+ métaux est très énergivore et souvent localisée dans des zones politiquement instables.</a:t>
            </a:r>
          </a:p>
        </p:txBody>
      </p:sp>
      <p:sp>
        <p:nvSpPr>
          <p:cNvPr id="18" name="Rectangle 17"/>
          <p:cNvSpPr/>
          <p:nvPr/>
        </p:nvSpPr>
        <p:spPr>
          <a:xfrm>
            <a:off x="529200" y="3157200"/>
            <a:ext cx="6498000" cy="14400"/>
          </a:xfrm>
          <a:prstGeom prst="rect">
            <a:avLst/>
          </a:prstGeom>
          <a:solidFill>
            <a:srgbClr val="E67D2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37200" y="3200399"/>
            <a:ext cx="6300000" cy="766800"/>
          </a:xfrm>
          <a:prstGeom prst="rect">
            <a:avLst/>
          </a:prstGeom>
          <a:noFill/>
        </p:spPr>
        <p:txBody>
          <a:bodyPr wrap="square" tIns="0" bIns="0" lIns="18000" rIns="18000">
            <a:spAutoFit/>
          </a:bodyPr>
          <a:lstStyle/>
          <a:p>
            <a:pPr algn="l">
              <a:spcBef>
                <a:spcPts val="0"/>
              </a:spcBef>
              <a:spcAft>
                <a:spcPts val="100"/>
              </a:spcAft>
            </a:pPr>
            <a:r>
              <a:rPr sz="800" b="1" i="0">
                <a:solidFill>
                  <a:srgbClr val="E67D21"/>
                </a:solidFill>
                <a:latin typeface="Arial"/>
              </a:rPr>
              <a:t>8 min</a:t>
            </a:r>
          </a:p>
          <a:p>
            <a:pPr algn="l">
              <a:spcBef>
                <a:spcPts val="0"/>
              </a:spcBef>
              <a:spcAft>
                <a:spcPts val="100"/>
              </a:spcAft>
            </a:pPr>
            <a:r>
              <a:rPr sz="900" b="1" i="0">
                <a:solidFill>
                  <a:srgbClr val="2B2B2B"/>
                </a:solidFill>
                <a:latin typeface="Arial"/>
              </a:rPr>
              <a:t>Le numérique responsable en entreprise</a:t>
            </a:r>
          </a:p>
          <a:p>
            <a:pPr>
              <a:spcBef>
                <a:spcPts val="0"/>
              </a:spcBef>
              <a:spcAft>
                <a:spcPts val="100"/>
              </a:spcAft>
            </a:pPr>
            <a:r>
              <a:rPr sz="800" b="1">
                <a:solidFill>
                  <a:srgbClr val="E67D21"/>
                </a:solidFill>
                <a:latin typeface="Arial"/>
              </a:rPr>
              <a:t>OPT.  </a:t>
            </a:r>
            <a:r>
              <a:rPr sz="800">
                <a:solidFill>
                  <a:srgbClr val="2B2B2B"/>
                </a:solidFill>
                <a:latin typeface="Arial"/>
              </a:rPr>
              <a:t>. Intégrer le numérique responsable au sein de votre organisation permet de réduire votre empreinte environnementale tout en optimisant vos coûts et en engageant vos équipes. Voici des pistes concrètes pour agir.</a:t>
            </a:r>
          </a:p>
          <a:p>
            <a:pPr algn="l">
              <a:spcBef>
                <a:spcPts val="0"/>
              </a:spcBef>
              <a:spcAft>
                <a:spcPts val="100"/>
              </a:spcAft>
            </a:pPr>
            <a:r>
              <a:rPr sz="800" b="0" i="0">
                <a:solidFill>
                  <a:srgbClr val="2B2B2B"/>
                </a:solidFill>
                <a:latin typeface="Arial"/>
              </a:rPr>
              <a:t>. Politique d'achat responsable</a:t>
            </a:r>
          </a:p>
          <a:p>
            <a:pPr algn="l">
              <a:spcBef>
                <a:spcPts val="0"/>
              </a:spcBef>
              <a:spcAft>
                <a:spcPts val="100"/>
              </a:spcAft>
            </a:pPr>
            <a:r>
              <a:rPr sz="800" b="0" i="0">
                <a:solidFill>
                  <a:srgbClr val="2B2B2B"/>
                </a:solidFill>
                <a:latin typeface="Arial"/>
              </a:rPr>
              <a:t>. Privilégiez les équipements reconditionnés ou conçus pour durer. Demandez des garanties de réparabilité et de disponibilité des pièces détachées à vos fournisseurs.</a:t>
            </a:r>
          </a:p>
        </p:txBody>
      </p:sp>
      <p:sp>
        <p:nvSpPr>
          <p:cNvPr id="20" name="Rectangle 19"/>
          <p:cNvSpPr/>
          <p:nvPr/>
        </p:nvSpPr>
        <p:spPr>
          <a:xfrm>
            <a:off x="529200" y="3988800"/>
            <a:ext cx="6498000" cy="14400"/>
          </a:xfrm>
          <a:prstGeom prst="rect">
            <a:avLst/>
          </a:prstGeom>
          <a:solidFill>
            <a:srgbClr val="E67D2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7200" y="4031999"/>
            <a:ext cx="6300000" cy="766800"/>
          </a:xfrm>
          <a:prstGeom prst="rect">
            <a:avLst/>
          </a:prstGeom>
          <a:noFill/>
        </p:spPr>
        <p:txBody>
          <a:bodyPr wrap="square" tIns="0" bIns="0" lIns="18000" rIns="18000">
            <a:spAutoFit/>
          </a:bodyPr>
          <a:lstStyle/>
          <a:p>
            <a:pPr algn="l">
              <a:spcBef>
                <a:spcPts val="0"/>
              </a:spcBef>
              <a:spcAft>
                <a:spcPts val="100"/>
              </a:spcAft>
            </a:pPr>
            <a:r>
              <a:rPr sz="800" b="1" i="0">
                <a:solidFill>
                  <a:srgbClr val="E67D21"/>
                </a:solidFill>
                <a:latin typeface="Arial"/>
              </a:rPr>
              <a:t>5 min</a:t>
            </a:r>
          </a:p>
          <a:p>
            <a:pPr algn="l">
              <a:spcBef>
                <a:spcPts val="0"/>
              </a:spcBef>
              <a:spcAft>
                <a:spcPts val="100"/>
              </a:spcAft>
            </a:pPr>
            <a:r>
              <a:rPr sz="900" b="1" i="0">
                <a:solidFill>
                  <a:srgbClr val="2B2B2B"/>
                </a:solidFill>
                <a:latin typeface="Arial"/>
              </a:rPr>
              <a:t>Pour aller plus loin — Sources</a:t>
            </a:r>
          </a:p>
          <a:p>
            <a:pPr>
              <a:spcBef>
                <a:spcPts val="0"/>
              </a:spcBef>
              <a:spcAft>
                <a:spcPts val="100"/>
              </a:spcAft>
            </a:pPr>
            <a:r>
              <a:rPr sz="800" b="1">
                <a:solidFill>
                  <a:srgbClr val="E67D21"/>
                </a:solidFill>
                <a:latin typeface="Arial"/>
              </a:rPr>
              <a:t>OPT.  </a:t>
            </a:r>
            <a:r>
              <a:rPr sz="800">
                <a:solidFill>
                  <a:srgbClr val="2B2B2B"/>
                </a:solidFill>
                <a:latin typeface="Arial"/>
              </a:rPr>
              <a:t>. Le numérique responsable, c'est l'affaire de tous. Chaque geste compte, chaque appareil prolongé, chaque donnée nettoyée contribue à un avenir plus durable.</a:t>
            </a:r>
          </a:p>
          <a:p>
            <a:pPr algn="l">
              <a:spcBef>
                <a:spcPts val="0"/>
              </a:spcBef>
              <a:spcAft>
                <a:spcPts val="100"/>
              </a:spcAft>
            </a:pPr>
            <a:r>
              <a:rPr sz="800" b="0" i="0">
                <a:solidFill>
                  <a:srgbClr val="2B2B2B"/>
                </a:solidFill>
                <a:latin typeface="Arial"/>
              </a:rPr>
              <a:t>. ADEME-Arcep, Évaluation de l'impact environnemental du numérique en France, Janvier 2025 — librairie.ademe.fr</a:t>
            </a:r>
          </a:p>
          <a:p>
            <a:pPr algn="l">
              <a:spcBef>
                <a:spcPts val="0"/>
              </a:spcBef>
              <a:spcAft>
                <a:spcPts val="100"/>
              </a:spcAft>
            </a:pPr>
            <a:r>
              <a:rPr sz="800" b="0" i="0">
                <a:solidFill>
                  <a:srgbClr val="2B2B2B"/>
                </a:solidFill>
                <a:latin typeface="Arial"/>
              </a:rPr>
              <a:t>. GreenIT.fr, Benchmark Green IT 2024, Novembre 2024 — greenit.fr</a:t>
            </a:r>
          </a:p>
        </p:txBody>
      </p:sp>
      <p:sp>
        <p:nvSpPr>
          <p:cNvPr id="22" name="Rectangle 21"/>
          <p:cNvSpPr/>
          <p:nvPr/>
        </p:nvSpPr>
        <p:spPr>
          <a:xfrm>
            <a:off x="529200" y="9684000"/>
            <a:ext cx="6498000" cy="43200"/>
          </a:xfrm>
          <a:prstGeom prst="rect">
            <a:avLst/>
          </a:prstGeom>
          <a:solidFill>
            <a:srgbClr val="F8A8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19200" y="9748800"/>
            <a:ext cx="6354000" cy="827999"/>
          </a:xfrm>
          <a:prstGeom prst="rect">
            <a:avLst/>
          </a:prstGeom>
          <a:noFill/>
        </p:spPr>
        <p:txBody>
          <a:bodyPr wrap="square" tIns="0" bIns="0" lIns="18000" rIns="18000">
            <a:spAutoFit/>
          </a:bodyPr>
          <a:lstStyle/>
          <a:p>
            <a:pPr algn="l">
              <a:spcBef>
                <a:spcPts val="0"/>
              </a:spcBef>
              <a:spcAft>
                <a:spcPts val="100"/>
              </a:spcAft>
            </a:pPr>
            <a:r>
              <a:rPr sz="950" b="1" i="0">
                <a:solidFill>
                  <a:srgbClr val="2B2B2B"/>
                </a:solidFill>
                <a:latin typeface="Arial"/>
              </a:rPr>
              <a:t>Conseils pour une bonne animation</a:t>
            </a:r>
          </a:p>
          <a:p>
            <a:pPr algn="l">
              <a:spcBef>
                <a:spcPts val="0"/>
              </a:spcBef>
              <a:spcAft>
                <a:spcPts val="100"/>
              </a:spcAft>
            </a:pPr>
            <a:r>
              <a:rPr sz="850" b="0" i="0">
                <a:solidFill>
                  <a:srgbClr val="2B2B2B"/>
                </a:solidFill>
                <a:latin typeface="Arial"/>
              </a:rPr>
              <a:t>&gt; Adapter le rythme selon le niveau du groupe.</a:t>
            </a:r>
          </a:p>
          <a:p>
            <a:pPr algn="l">
              <a:spcBef>
                <a:spcPts val="0"/>
              </a:spcBef>
              <a:spcAft>
                <a:spcPts val="100"/>
              </a:spcAft>
            </a:pPr>
            <a:r>
              <a:rPr sz="850" b="0" i="0">
                <a:solidFill>
                  <a:srgbClr val="2B2B2B"/>
                </a:solidFill>
                <a:latin typeface="Arial"/>
              </a:rPr>
              <a:t>&gt; Laisser les participants manipuler dès que possible.</a:t>
            </a:r>
          </a:p>
          <a:p>
            <a:pPr algn="l">
              <a:spcBef>
                <a:spcPts val="0"/>
              </a:spcBef>
              <a:spcAft>
                <a:spcPts val="100"/>
              </a:spcAft>
            </a:pPr>
            <a:r>
              <a:rPr sz="850" b="0" i="0">
                <a:solidFill>
                  <a:srgbClr val="2B2B2B"/>
                </a:solidFill>
                <a:latin typeface="Arial"/>
              </a:rPr>
              <a:t>&gt; Prévoir un compte de démonstration pour ne pas exposer de données personnelles.</a:t>
            </a:r>
          </a:p>
          <a:p>
            <a:pPr algn="l">
              <a:spcBef>
                <a:spcPts val="0"/>
              </a:spcBef>
              <a:spcAft>
                <a:spcPts val="100"/>
              </a:spcAft>
            </a:pPr>
            <a:r>
              <a:rPr sz="850" b="0" i="0">
                <a:solidFill>
                  <a:srgbClr val="2B2B2B"/>
                </a:solidFill>
                <a:latin typeface="Arial"/>
              </a:rPr>
              <a:t>&gt; Terminer en distribuant la fiche mémo — c'est le support qu'ils garderont.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