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245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7559999" cy="1066491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6642100" y="0"/>
                </a:move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101600" y="8483600"/>
                </a:move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close/>
              </a:path>
            </a:pathLst>
          </a:custGeom>
          <a:ln w="6350">
            <a:solidFill>
              <a:srgbClr val="DFDF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6077" y="1192400"/>
            <a:ext cx="4588510" cy="496570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4388BC"/>
                </a:solidFill>
                <a:latin typeface="Arial"/>
                <a:cs typeface="Arial"/>
              </a:rPr>
              <a:t>Prendre en main l'ordinateur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050" dirty="0">
                <a:solidFill>
                  <a:srgbClr val="6E6E6D"/>
                </a:solidFill>
                <a:latin typeface="Arial"/>
                <a:cs typeface="Arial"/>
              </a:rPr>
              <a:t>Fiche Action | 1h58 | Guide d'animation — Conseillers Numériques CD47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0225" y="1738500"/>
            <a:ext cx="5514975" cy="1108075"/>
            <a:chOff x="530225" y="1738500"/>
            <a:chExt cx="5514975" cy="1108075"/>
          </a:xfrm>
        </p:grpSpPr>
        <p:sp>
          <p:nvSpPr>
            <p:cNvPr id="4" name="object 4"/>
            <p:cNvSpPr/>
            <p:nvPr/>
          </p:nvSpPr>
          <p:spPr>
            <a:xfrm>
              <a:off x="1524000" y="1751200"/>
              <a:ext cx="4508500" cy="0"/>
            </a:xfrm>
            <a:custGeom>
              <a:avLst/>
              <a:gdLst/>
              <a:ahLst/>
              <a:cxnLst/>
              <a:rect l="l" t="t" r="r" b="b"/>
              <a:pathLst>
                <a:path w="4508500">
                  <a:moveTo>
                    <a:pt x="0" y="0"/>
                  </a:moveTo>
                  <a:lnTo>
                    <a:pt x="4508500" y="0"/>
                  </a:lnTo>
                </a:path>
              </a:pathLst>
            </a:custGeom>
            <a:ln w="25400">
              <a:solidFill>
                <a:srgbClr val="B6C8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30734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close/>
                </a:path>
              </a:pathLst>
            </a:custGeom>
            <a:solidFill>
              <a:srgbClr val="EC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63500" y="1041400"/>
                  </a:move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4388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7700" y="1778124"/>
            <a:ext cx="2041525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spc="-10" dirty="0">
                <a:solidFill>
                  <a:srgbClr val="4388BC"/>
                </a:solidFill>
                <a:latin typeface="Arial"/>
                <a:cs typeface="Arial"/>
              </a:rPr>
              <a:t>Objectifs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Qu'est-ce qu'un ordinateur ?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Les éléments essentiels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Allumer et éteindre correctement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Découverte du bureau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94125" y="1798825"/>
            <a:ext cx="3105150" cy="1047750"/>
            <a:chOff x="3794125" y="1798825"/>
            <a:chExt cx="3105150" cy="1047750"/>
          </a:xfrm>
        </p:grpSpPr>
        <p:sp>
          <p:nvSpPr>
            <p:cNvPr id="9" name="object 9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30353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close/>
                </a:path>
              </a:pathLst>
            </a:custGeom>
            <a:solidFill>
              <a:srgbClr val="EBF7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63500" y="1041400"/>
                  </a:move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187C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11600" y="1778124"/>
            <a:ext cx="1927860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dirty="0">
                <a:solidFill>
                  <a:srgbClr val="187C88"/>
                </a:solidFill>
                <a:latin typeface="Arial"/>
                <a:cs typeface="Arial"/>
              </a:rPr>
              <a:t>Materiel </a:t>
            </a:r>
            <a:r>
              <a:rPr sz="1100" b="1" spc="-10" dirty="0">
                <a:solidFill>
                  <a:srgbClr val="187C88"/>
                </a:solidFill>
                <a:latin typeface="Arial"/>
                <a:cs typeface="Arial"/>
              </a:rPr>
              <a:t>necessaire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1 PC ou tablette par participant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Connexion Wi-Fi stable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Grand écran / vidéoprojecteur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Fiches mémo (1 par participant)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30859" y="2904360"/>
            <a:ext cx="6494780" cy="728980"/>
            <a:chOff x="530859" y="2904360"/>
            <a:chExt cx="6494780" cy="728980"/>
          </a:xfrm>
        </p:grpSpPr>
        <p:sp>
          <p:nvSpPr>
            <p:cNvPr id="13" name="object 13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3400" y="29068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4636" y="31863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8100" y="2913250"/>
            <a:ext cx="282130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4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Au programme aujourd'hui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Ce que vous allez apprendre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30859" y="3653659"/>
            <a:ext cx="6494780" cy="728980"/>
            <a:chOff x="530859" y="3653659"/>
            <a:chExt cx="6494780" cy="728980"/>
          </a:xfrm>
        </p:grpSpPr>
        <p:sp>
          <p:nvSpPr>
            <p:cNvPr id="19" name="object 19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3400" y="36561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74636" y="39356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0:06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08100" y="3662550"/>
            <a:ext cx="27768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Qu'est-ce qu'un ordinateur ?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Un ordinateur est une machine qui vous permet d'écrire, de communiquer, de chercher des in…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0859" y="4402959"/>
            <a:ext cx="6494780" cy="728980"/>
            <a:chOff x="530859" y="4402959"/>
            <a:chExt cx="6494780" cy="728980"/>
          </a:xfrm>
        </p:grpSpPr>
        <p:sp>
          <p:nvSpPr>
            <p:cNvPr id="25" name="object 25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3400" y="44054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74636" y="46849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0:14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08100" y="4411850"/>
            <a:ext cx="26085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spc="-10" dirty="0">
                <a:solidFill>
                  <a:srgbClr val="2B2B2B"/>
                </a:solidFill>
                <a:latin typeface="Arial"/>
                <a:cs typeface="Arial"/>
              </a:rPr>
              <a:t>Les éléments essentiels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Chaque composant a un rôle précis. Apprenez à les reconnaître pour mieux les utiliser.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30859" y="5152259"/>
            <a:ext cx="6494780" cy="728980"/>
            <a:chOff x="530859" y="5152259"/>
            <a:chExt cx="6494780" cy="728980"/>
          </a:xfrm>
        </p:grpSpPr>
        <p:sp>
          <p:nvSpPr>
            <p:cNvPr id="31" name="object 31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3400" y="51547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4636" y="54342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0:22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08100" y="5161150"/>
            <a:ext cx="31038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Allumer et éteindre correctement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Ces gestes simples protègent votre ordinateur et évitent les pertes de données. À pratique…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30859" y="5901559"/>
            <a:ext cx="6494780" cy="728980"/>
            <a:chOff x="530859" y="5901559"/>
            <a:chExt cx="6494780" cy="728980"/>
          </a:xfrm>
        </p:grpSpPr>
        <p:sp>
          <p:nvSpPr>
            <p:cNvPr id="37" name="object 37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33400" y="59040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74636" y="61835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0:30</a:t>
            </a:r>
            <a:endParaRPr sz="10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08100" y="5910450"/>
            <a:ext cx="3103245" cy="58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8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Découverte du bureau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Le bureau, c'est votre espace de travail principal. Trois zones essentielles à repérer dès…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30859" y="6650859"/>
            <a:ext cx="6494780" cy="728980"/>
            <a:chOff x="530859" y="6650859"/>
            <a:chExt cx="6494780" cy="728980"/>
          </a:xfrm>
        </p:grpSpPr>
        <p:sp>
          <p:nvSpPr>
            <p:cNvPr id="43" name="object 43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33400" y="66533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74636" y="69328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0:38</a:t>
            </a:r>
            <a:endParaRPr sz="10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08100" y="6659750"/>
            <a:ext cx="32467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8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La souris, votre meilleur outil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La souris vous permet d'interagir avec tout ce qui est à l'écran. Prenez le temps de bien …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-10000000" y="8101200"/>
            <a:ext cx="6489700" cy="1422400"/>
            <a:chOff x="533400" y="8101200"/>
            <a:chExt cx="6489700" cy="1422400"/>
          </a:xfrm>
        </p:grpSpPr>
        <p:sp>
          <p:nvSpPr>
            <p:cNvPr id="49" name="object 49"/>
            <p:cNvSpPr/>
            <p:nvPr/>
          </p:nvSpPr>
          <p:spPr>
            <a:xfrm>
              <a:off x="533400" y="81012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35000" y="83298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33400" y="88251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35000" y="90537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-10000000" y="7868790"/>
          <a:ext cx="6457950" cy="16630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5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4629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Blocs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optionnels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aborder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si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temps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permet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57150">
                      <a:solidFill>
                        <a:srgbClr val="E67D21"/>
                      </a:solidFill>
                      <a:prstDash val="solid"/>
                    </a:lnL>
                    <a:lnR w="9525">
                      <a:solidFill>
                        <a:srgbClr val="E67D21"/>
                      </a:solidFill>
                      <a:prstDash val="solid"/>
                    </a:lnR>
                    <a:lnT w="9525">
                      <a:solidFill>
                        <a:srgbClr val="E67D21"/>
                      </a:solidFill>
                      <a:prstDash val="solid"/>
                    </a:lnT>
                    <a:lnB w="28575">
                      <a:solidFill>
                        <a:srgbClr val="E67D21"/>
                      </a:solidFill>
                      <a:prstDash val="solid"/>
                    </a:lnB>
                    <a:solidFill>
                      <a:srgbClr val="FF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535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4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15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2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min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Teleconsultation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230504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755015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OPT.</a:t>
                      </a:r>
                      <a:r>
                        <a:rPr sz="1200" b="1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Expliquer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ce qu'est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la teleconsultation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et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son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remboursement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Montrer comment reperer un medecin proposant la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video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9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Simuler la reception du lien et le demarrage de la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session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76200">
                      <a:solidFill>
                        <a:srgbClr val="E67D21"/>
                      </a:solidFill>
                      <a:prstDash val="solid"/>
                    </a:lnL>
                    <a:lnR w="6350">
                      <a:solidFill>
                        <a:srgbClr val="EFC799"/>
                      </a:solidFill>
                      <a:prstDash val="solid"/>
                    </a:lnR>
                    <a:lnT w="28575">
                      <a:solidFill>
                        <a:srgbClr val="E67D21"/>
                      </a:solidFill>
                      <a:prstDash val="solid"/>
                    </a:lnT>
                    <a:lnB w="19050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2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min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Acceder</a:t>
                      </a:r>
                      <a:r>
                        <a:rPr sz="1050" b="1" spc="-2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050" b="1" spc="-2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mes</a:t>
                      </a:r>
                      <a:r>
                        <a:rPr sz="1050" b="1" spc="-2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documents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R="3022600" algn="r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524510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OPT.</a:t>
                      </a:r>
                      <a:r>
                        <a:rPr sz="1200" b="1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Naviguer vers Mon espace sante &gt; Mes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documents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R="3035300" algn="r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Retrouver une ordonnance ou un resultat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d'analyse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8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Telecharger ou imprimer un document depuis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Doctolib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76200">
                      <a:solidFill>
                        <a:srgbClr val="E67D21"/>
                      </a:solidFill>
                      <a:prstDash val="solid"/>
                    </a:lnL>
                    <a:lnT w="19050">
                      <a:solidFill>
                        <a:srgbClr val="EFC799"/>
                      </a:solidFill>
                      <a:prstDash val="solid"/>
                    </a:lnT>
                    <a:lnB w="9525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4" name="object 54"/>
          <p:cNvGrpSpPr/>
          <p:nvPr/>
        </p:nvGrpSpPr>
        <p:grpSpPr>
          <a:xfrm>
            <a:off x="528955" y="9569955"/>
            <a:ext cx="6498590" cy="72390"/>
            <a:chOff x="528955" y="9569955"/>
            <a:chExt cx="6498590" cy="72390"/>
          </a:xfrm>
        </p:grpSpPr>
        <p:sp>
          <p:nvSpPr>
            <p:cNvPr id="55" name="object 55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0" y="0"/>
                  </a:moveTo>
                  <a:lnTo>
                    <a:pt x="0" y="63500"/>
                  </a:lnTo>
                  <a:lnTo>
                    <a:pt x="4985" y="38769"/>
                  </a:lnTo>
                  <a:lnTo>
                    <a:pt x="9715" y="31750"/>
                  </a:lnTo>
                  <a:lnTo>
                    <a:pt x="4985" y="24730"/>
                  </a:lnTo>
                  <a:lnTo>
                    <a:pt x="0" y="0"/>
                  </a:lnTo>
                  <a:close/>
                </a:path>
                <a:path w="6489700" h="63500">
                  <a:moveTo>
                    <a:pt x="64262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9715" y="3175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79984" y="31750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close/>
                </a:path>
                <a:path w="6489700" h="63500">
                  <a:moveTo>
                    <a:pt x="6489700" y="0"/>
                  </a:moveTo>
                  <a:lnTo>
                    <a:pt x="6484714" y="24730"/>
                  </a:lnTo>
                  <a:lnTo>
                    <a:pt x="6479984" y="31750"/>
                  </a:lnTo>
                  <a:lnTo>
                    <a:pt x="6484714" y="38769"/>
                  </a:lnTo>
                  <a:lnTo>
                    <a:pt x="6489700" y="63500"/>
                  </a:lnTo>
                  <a:lnTo>
                    <a:pt x="6489700" y="0"/>
                  </a:lnTo>
                  <a:close/>
                </a:path>
              </a:pathLst>
            </a:custGeom>
            <a:solidFill>
              <a:srgbClr val="FFFC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63500" y="63500"/>
                  </a:move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84714" y="24730"/>
                  </a:lnTo>
                  <a:lnTo>
                    <a:pt x="6489700" y="0"/>
                  </a:lnTo>
                  <a:lnTo>
                    <a:pt x="6489700" y="63500"/>
                  </a:lnTo>
                  <a:lnTo>
                    <a:pt x="6484714" y="38769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0"/>
                  </a:lnTo>
                  <a:lnTo>
                    <a:pt x="4985" y="2473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close/>
                </a:path>
              </a:pathLst>
            </a:custGeom>
            <a:ln w="8890">
              <a:solidFill>
                <a:srgbClr val="F8A8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09600" y="9571577"/>
            <a:ext cx="4641850" cy="82613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Conseils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pour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une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bonne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animation</a:t>
            </a:r>
            <a:endParaRPr sz="10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20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Adapter le rythme selon le niveau du groupe.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Laisser les participants manipuler dès que possible.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Prévoir un compte de démonstration pour ne pas exposer de données personnelles.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Terminer en distribuant la fiche mémo — c'est le support qu'ils garderont.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8" name="object 5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820" y="314131"/>
            <a:ext cx="3224784" cy="60655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392</Words>
  <Application>Microsoft Office PowerPoint</Application>
  <PresentationFormat>Personnalisé</PresentationFormat>
  <Paragraphs>63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unspecified</dc:subject>
  <dc:creator>anonymous</dc:creator>
  <cp:lastModifiedBy>Aswad Michel</cp:lastModifiedBy>
  <cp:revision>1</cp:revision>
  <dcterms:created xsi:type="dcterms:W3CDTF">2026-05-05T14:40:57Z</dcterms:created>
  <dcterms:modified xsi:type="dcterms:W3CDTF">2026-06-17T13:09:11Z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2026-05-05T00:00:00Z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2026-05-05T00:00:00Z</vt:filetime>
  </property>
  <property fmtid="{D5CDD505-2E9C-101B-9397-08002B2CF9AE}" pid="5" name="Producer">
    <vt:lpwstr>ReportLab PDF Library - (opensource)</vt:lpwstr>
  </property>
</Properties>
</file>