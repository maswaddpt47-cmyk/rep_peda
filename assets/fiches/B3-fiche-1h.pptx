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7556399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29200" y="1224000"/>
            <a:ext cx="6498000" cy="4680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700" b="1" i="0">
                <a:solidFill>
                  <a:srgbClr val="4388BC"/>
                </a:solidFill>
                <a:latin typeface="Arial"/>
              </a:rPr>
              <a:t>Créer son identité numérique avec FranceConnect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6E6E6D"/>
                </a:solidFill>
                <a:latin typeface="Arial"/>
              </a:rPr>
              <a:t>Fiche Action | 58 min | Guide d'animation — Conseillers Numériques CD47</a:t>
            </a:r>
          </a:p>
        </p:txBody>
      </p:sp>
      <p:sp>
        <p:nvSpPr>
          <p:cNvPr id="3" name="Rectangle 2"/>
          <p:cNvSpPr/>
          <p:nvPr/>
        </p:nvSpPr>
        <p:spPr>
          <a:xfrm>
            <a:off x="529200" y="1764000"/>
            <a:ext cx="3024000" cy="900000"/>
          </a:xfrm>
          <a:prstGeom prst="rect">
            <a:avLst/>
          </a:prstGeom>
          <a:solidFill>
            <a:srgbClr val="ECF5FF"/>
          </a:solidFill>
          <a:ln w="12700">
            <a:solidFill>
              <a:srgbClr val="438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19200" y="1818000"/>
            <a:ext cx="2880000" cy="8279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4388BC"/>
                </a:solidFill>
                <a:latin typeface="Arial"/>
              </a:rPr>
              <a:t>Objectifs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Avant de commencer — Vérifiez vos prérequis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Qu'est-ce que FranceConnect ?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ÉTAPE 1 SUR 3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ÉTAPE 2 SUR 3</a:t>
            </a:r>
          </a:p>
        </p:txBody>
      </p:sp>
      <p:sp>
        <p:nvSpPr>
          <p:cNvPr id="5" name="Rectangle 4"/>
          <p:cNvSpPr/>
          <p:nvPr/>
        </p:nvSpPr>
        <p:spPr>
          <a:xfrm>
            <a:off x="4003200" y="1764000"/>
            <a:ext cx="3024000" cy="900000"/>
          </a:xfrm>
          <a:prstGeom prst="rect">
            <a:avLst/>
          </a:prstGeom>
          <a:solidFill>
            <a:srgbClr val="EBF7F6"/>
          </a:solidFill>
          <a:ln w="12700">
            <a:solidFill>
              <a:srgbClr val="187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4093200" y="1818000"/>
            <a:ext cx="2880000" cy="8279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187C88"/>
                </a:solidFill>
                <a:latin typeface="Arial"/>
              </a:rPr>
              <a:t>Matériel nécessaire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1 PC ou tablette par participant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Connexion Wi-Fi stable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Grand écran / vidéoprojecteur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Fiches mémo (1 par participant)</a:t>
            </a:r>
          </a:p>
        </p:txBody>
      </p:sp>
      <p:sp>
        <p:nvSpPr>
          <p:cNvPr id="7" name="Rectangle 6"/>
          <p:cNvSpPr/>
          <p:nvPr/>
        </p:nvSpPr>
        <p:spPr>
          <a:xfrm>
            <a:off x="529200" y="27360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29200" y="2736000"/>
            <a:ext cx="198000" cy="7488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763200" y="3031200"/>
            <a:ext cx="468000" cy="1584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63200" y="30312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03200" y="28008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5EB3D2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Avant de commencer — Vérifiez vos prérequis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Vous avez besoin d'un compte existant pour utiliser FranceConnect. Suivez ces étapes simples 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9200" y="34848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29200" y="3484800"/>
            <a:ext cx="198000" cy="7488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763200" y="3780000"/>
            <a:ext cx="468000" cy="1584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63200" y="37800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03200" y="35496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4388BC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Qu'est-ce que FranceConnect ?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Un identifiant unique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9200" y="42336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529200" y="4233600"/>
            <a:ext cx="198000" cy="7488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763200" y="4528800"/>
            <a:ext cx="468000" cy="1584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63200" y="45288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0:18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03200" y="42984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187C88"/>
                </a:solidFill>
                <a:latin typeface="Arial"/>
              </a:rPr>
              <a:t>2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ÉTAPE 1 SUR 3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Trouver et cliquer sur le bouton FranceConnect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29200" y="49824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29200" y="4982400"/>
            <a:ext cx="198000" cy="7488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763200" y="5277600"/>
            <a:ext cx="468000" cy="1584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63200" y="52776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0:20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03200" y="50472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4388BC"/>
                </a:solidFill>
                <a:latin typeface="Arial"/>
              </a:rPr>
              <a:t>2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ÉTAPE 2 SUR 3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Choisir son fournisseur d'identité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29200" y="57312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529200" y="5731200"/>
            <a:ext cx="198000" cy="7488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763200" y="6026399"/>
            <a:ext cx="468000" cy="1584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63200" y="6026399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0:22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03200" y="57960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187C88"/>
                </a:solidFill>
                <a:latin typeface="Arial"/>
              </a:rPr>
              <a:t>2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ÉTAPE 3 SUR 3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Valider et accéder à votre espace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29200" y="64800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529200" y="6480000"/>
            <a:ext cx="198000" cy="7488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763200" y="6775200"/>
            <a:ext cx="468000" cy="1584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763200" y="67752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0:24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03200" y="65448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5EB3D2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Points de vigilance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Communiquer vos identifiants à quelqu'un d'autre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29200" y="7228799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529200" y="7228799"/>
            <a:ext cx="198000" cy="7488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763200" y="7523999"/>
            <a:ext cx="468000" cy="1584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763200" y="7523999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0:32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03200" y="7293599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5EB3D2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DÉPANNAGE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Dépannage — Les erreurs courantes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29200" y="7977599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ectangle 42"/>
          <p:cNvSpPr/>
          <p:nvPr/>
        </p:nvSpPr>
        <p:spPr>
          <a:xfrm>
            <a:off x="529200" y="7977599"/>
            <a:ext cx="198000" cy="7488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Rectangle 43"/>
          <p:cNvSpPr/>
          <p:nvPr/>
        </p:nvSpPr>
        <p:spPr>
          <a:xfrm>
            <a:off x="763200" y="8272799"/>
            <a:ext cx="468000" cy="1584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763200" y="8272799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0:40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303200" y="8042399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4388BC"/>
                </a:solidFill>
                <a:latin typeface="Arial"/>
              </a:rPr>
              <a:t>2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En résumé — Les étapes clés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Aller sur le site cible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29200" y="8726399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529200" y="8726399"/>
            <a:ext cx="198000" cy="7488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Rectangle 48"/>
          <p:cNvSpPr/>
          <p:nvPr/>
        </p:nvSpPr>
        <p:spPr>
          <a:xfrm>
            <a:off x="763200" y="9021599"/>
            <a:ext cx="468000" cy="1584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763200" y="9021599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0:42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303200" y="8791199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187C88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CHECKLIST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Checklist de sécurité — Avant de vous connecter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29200" y="5400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29200" y="540000"/>
            <a:ext cx="198000" cy="7488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763200" y="835200"/>
            <a:ext cx="468000" cy="1584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63200" y="8352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03200" y="6048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4388BC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QUIZ D'ÉVALUATION — Testez vos connaissances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Question 1 : Qu'est-ce que FranceConnect ?</a:t>
            </a:r>
          </a:p>
        </p:txBody>
      </p:sp>
      <p:sp>
        <p:nvSpPr>
          <p:cNvPr id="7" name="Rectangle 6"/>
          <p:cNvSpPr/>
          <p:nvPr/>
        </p:nvSpPr>
        <p:spPr>
          <a:xfrm>
            <a:off x="529200" y="9684000"/>
            <a:ext cx="6498000" cy="43200"/>
          </a:xfrm>
          <a:prstGeom prst="rect">
            <a:avLst/>
          </a:prstGeom>
          <a:solidFill>
            <a:srgbClr val="F8A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19200" y="9748800"/>
            <a:ext cx="6354000" cy="8279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2B2B2B"/>
                </a:solidFill>
                <a:latin typeface="Arial"/>
              </a:rPr>
              <a:t>Conseils pour une bonne animation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Adapter le rythme selon le niveau du groupe.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Laisser les participants manipuler dès que possible.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Prévoir un compte de démonstration pour ne pas exposer de données personnelles.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Terminer en distribuant la fiche mémo — c'est le support qu'ils garderont.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