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.jpg" ContentType="image/jpg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7556500" cy="10693400"/>
  <p:notesSz cx="7556500" cy="10693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8" d="100"/>
          <a:sy n="58" d="100"/>
        </p:scale>
        <p:origin x="2458" y="7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7213" y="3314954"/>
            <a:ext cx="6428422" cy="22456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34427" y="5988304"/>
            <a:ext cx="5293995" cy="2673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78142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3894867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6/17/2026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6/17/2026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6/17/2026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7559999" cy="10664918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406400" y="1217800"/>
            <a:ext cx="6743700" cy="8483600"/>
          </a:xfrm>
          <a:custGeom>
            <a:avLst/>
            <a:gdLst/>
            <a:ahLst/>
            <a:cxnLst/>
            <a:rect l="l" t="t" r="r" b="b"/>
            <a:pathLst>
              <a:path w="6743700" h="8483600">
                <a:moveTo>
                  <a:pt x="6642100" y="0"/>
                </a:moveTo>
                <a:lnTo>
                  <a:pt x="101600" y="0"/>
                </a:lnTo>
                <a:lnTo>
                  <a:pt x="62032" y="7977"/>
                </a:lnTo>
                <a:lnTo>
                  <a:pt x="29740" y="29740"/>
                </a:lnTo>
                <a:lnTo>
                  <a:pt x="7977" y="62032"/>
                </a:lnTo>
                <a:lnTo>
                  <a:pt x="0" y="101600"/>
                </a:lnTo>
                <a:lnTo>
                  <a:pt x="0" y="8382000"/>
                </a:lnTo>
                <a:lnTo>
                  <a:pt x="7977" y="8421567"/>
                </a:lnTo>
                <a:lnTo>
                  <a:pt x="29740" y="8453859"/>
                </a:lnTo>
                <a:lnTo>
                  <a:pt x="62032" y="8475622"/>
                </a:lnTo>
                <a:lnTo>
                  <a:pt x="101600" y="8483600"/>
                </a:lnTo>
                <a:lnTo>
                  <a:pt x="6642100" y="8483600"/>
                </a:lnTo>
                <a:lnTo>
                  <a:pt x="6681667" y="8475622"/>
                </a:lnTo>
                <a:lnTo>
                  <a:pt x="6713959" y="8453859"/>
                </a:lnTo>
                <a:lnTo>
                  <a:pt x="6735722" y="8421567"/>
                </a:lnTo>
                <a:lnTo>
                  <a:pt x="6743700" y="8382000"/>
                </a:lnTo>
                <a:lnTo>
                  <a:pt x="6743700" y="101600"/>
                </a:lnTo>
                <a:lnTo>
                  <a:pt x="6735722" y="62032"/>
                </a:lnTo>
                <a:lnTo>
                  <a:pt x="6713959" y="29740"/>
                </a:lnTo>
                <a:lnTo>
                  <a:pt x="6681667" y="7977"/>
                </a:lnTo>
                <a:lnTo>
                  <a:pt x="66421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406400" y="1217800"/>
            <a:ext cx="6743700" cy="8483600"/>
          </a:xfrm>
          <a:custGeom>
            <a:avLst/>
            <a:gdLst/>
            <a:ahLst/>
            <a:cxnLst/>
            <a:rect l="l" t="t" r="r" b="b"/>
            <a:pathLst>
              <a:path w="6743700" h="8483600">
                <a:moveTo>
                  <a:pt x="101600" y="8483600"/>
                </a:moveTo>
                <a:lnTo>
                  <a:pt x="6642100" y="8483600"/>
                </a:lnTo>
                <a:lnTo>
                  <a:pt x="6681667" y="8475622"/>
                </a:lnTo>
                <a:lnTo>
                  <a:pt x="6713959" y="8453859"/>
                </a:lnTo>
                <a:lnTo>
                  <a:pt x="6735722" y="8421567"/>
                </a:lnTo>
                <a:lnTo>
                  <a:pt x="6743700" y="8382000"/>
                </a:lnTo>
                <a:lnTo>
                  <a:pt x="6743700" y="101600"/>
                </a:lnTo>
                <a:lnTo>
                  <a:pt x="6735722" y="62032"/>
                </a:lnTo>
                <a:lnTo>
                  <a:pt x="6713959" y="29740"/>
                </a:lnTo>
                <a:lnTo>
                  <a:pt x="6681667" y="7977"/>
                </a:lnTo>
                <a:lnTo>
                  <a:pt x="6642100" y="0"/>
                </a:lnTo>
                <a:lnTo>
                  <a:pt x="101600" y="0"/>
                </a:lnTo>
                <a:lnTo>
                  <a:pt x="62032" y="7977"/>
                </a:lnTo>
                <a:lnTo>
                  <a:pt x="29740" y="29740"/>
                </a:lnTo>
                <a:lnTo>
                  <a:pt x="7977" y="62032"/>
                </a:lnTo>
                <a:lnTo>
                  <a:pt x="0" y="101600"/>
                </a:lnTo>
                <a:lnTo>
                  <a:pt x="0" y="8382000"/>
                </a:lnTo>
                <a:lnTo>
                  <a:pt x="7977" y="8421567"/>
                </a:lnTo>
                <a:lnTo>
                  <a:pt x="29740" y="8453859"/>
                </a:lnTo>
                <a:lnTo>
                  <a:pt x="62032" y="8475622"/>
                </a:lnTo>
                <a:lnTo>
                  <a:pt x="101600" y="8483600"/>
                </a:lnTo>
                <a:close/>
              </a:path>
            </a:pathLst>
          </a:custGeom>
          <a:ln w="6350">
            <a:solidFill>
              <a:srgbClr val="DFDFD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8142" y="427736"/>
            <a:ext cx="6806565" cy="17109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8142" y="2459482"/>
            <a:ext cx="6806565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71369" y="9944862"/>
            <a:ext cx="2420112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8142" y="9944862"/>
            <a:ext cx="173945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45252" y="9944862"/>
            <a:ext cx="173945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86077" y="1192400"/>
            <a:ext cx="4588510" cy="4965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solidFill>
                  <a:srgbClr val="4388BC"/>
                </a:solidFill>
                <a:latin typeface="Arial"/>
                <a:cs typeface="Arial"/>
              </a:rPr>
              <a:t>Fiche Action - Atelier Prenez en main votre boîte mail</a:t>
            </a:r>
            <a:endParaRPr sz="20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50"/>
              </a:spcBef>
            </a:pPr>
            <a:r>
              <a:rPr sz="1050" dirty="0">
                <a:solidFill>
                  <a:srgbClr val="6E6E6D"/>
                </a:solidFill>
                <a:latin typeface="Arial"/>
                <a:cs typeface="Arial"/>
              </a:rPr>
              <a:t>1h55 | Guide d'animation pour les Conseillers Numériques CD47</a:t>
            </a:r>
            <a:endParaRPr sz="1050">
              <a:latin typeface="Arial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530225" y="1738500"/>
            <a:ext cx="5514975" cy="1108075"/>
            <a:chOff x="530225" y="1738500"/>
            <a:chExt cx="5514975" cy="1108075"/>
          </a:xfrm>
        </p:grpSpPr>
        <p:sp>
          <p:nvSpPr>
            <p:cNvPr id="4" name="object 4"/>
            <p:cNvSpPr/>
            <p:nvPr/>
          </p:nvSpPr>
          <p:spPr>
            <a:xfrm>
              <a:off x="1524000" y="1751200"/>
              <a:ext cx="4508500" cy="0"/>
            </a:xfrm>
            <a:custGeom>
              <a:avLst/>
              <a:gdLst/>
              <a:ahLst/>
              <a:cxnLst/>
              <a:rect l="l" t="t" r="r" b="b"/>
              <a:pathLst>
                <a:path w="4508500">
                  <a:moveTo>
                    <a:pt x="0" y="0"/>
                  </a:moveTo>
                  <a:lnTo>
                    <a:pt x="4508500" y="0"/>
                  </a:lnTo>
                </a:path>
              </a:pathLst>
            </a:custGeom>
            <a:ln w="25400">
              <a:solidFill>
                <a:srgbClr val="B6C83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33400" y="1802000"/>
              <a:ext cx="3136900" cy="1041400"/>
            </a:xfrm>
            <a:custGeom>
              <a:avLst/>
              <a:gdLst/>
              <a:ahLst/>
              <a:cxnLst/>
              <a:rect l="l" t="t" r="r" b="b"/>
              <a:pathLst>
                <a:path w="3136900" h="1041400">
                  <a:moveTo>
                    <a:pt x="3073400" y="0"/>
                  </a:move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977900"/>
                  </a:lnTo>
                  <a:lnTo>
                    <a:pt x="4985" y="1002630"/>
                  </a:lnTo>
                  <a:lnTo>
                    <a:pt x="18586" y="1022813"/>
                  </a:lnTo>
                  <a:lnTo>
                    <a:pt x="38769" y="1036414"/>
                  </a:lnTo>
                  <a:lnTo>
                    <a:pt x="63500" y="1041400"/>
                  </a:lnTo>
                  <a:lnTo>
                    <a:pt x="3073400" y="1041400"/>
                  </a:lnTo>
                  <a:lnTo>
                    <a:pt x="3098130" y="1036414"/>
                  </a:lnTo>
                  <a:lnTo>
                    <a:pt x="3118313" y="1022813"/>
                  </a:lnTo>
                  <a:lnTo>
                    <a:pt x="3131914" y="1002630"/>
                  </a:lnTo>
                  <a:lnTo>
                    <a:pt x="3136900" y="977900"/>
                  </a:lnTo>
                  <a:lnTo>
                    <a:pt x="3136900" y="63500"/>
                  </a:lnTo>
                  <a:lnTo>
                    <a:pt x="3131914" y="38769"/>
                  </a:lnTo>
                  <a:lnTo>
                    <a:pt x="3118313" y="18586"/>
                  </a:lnTo>
                  <a:lnTo>
                    <a:pt x="3098130" y="4985"/>
                  </a:lnTo>
                  <a:lnTo>
                    <a:pt x="3073400" y="0"/>
                  </a:lnTo>
                  <a:close/>
                </a:path>
              </a:pathLst>
            </a:custGeom>
            <a:solidFill>
              <a:srgbClr val="ECF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33400" y="1802000"/>
              <a:ext cx="3136900" cy="1041400"/>
            </a:xfrm>
            <a:custGeom>
              <a:avLst/>
              <a:gdLst/>
              <a:ahLst/>
              <a:cxnLst/>
              <a:rect l="l" t="t" r="r" b="b"/>
              <a:pathLst>
                <a:path w="3136900" h="1041400">
                  <a:moveTo>
                    <a:pt x="63500" y="1041400"/>
                  </a:moveTo>
                  <a:lnTo>
                    <a:pt x="3073400" y="1041400"/>
                  </a:lnTo>
                  <a:lnTo>
                    <a:pt x="3098130" y="1036414"/>
                  </a:lnTo>
                  <a:lnTo>
                    <a:pt x="3118313" y="1022813"/>
                  </a:lnTo>
                  <a:lnTo>
                    <a:pt x="3131914" y="1002630"/>
                  </a:lnTo>
                  <a:lnTo>
                    <a:pt x="3136900" y="977900"/>
                  </a:lnTo>
                  <a:lnTo>
                    <a:pt x="3136900" y="63500"/>
                  </a:lnTo>
                  <a:lnTo>
                    <a:pt x="3131914" y="38769"/>
                  </a:lnTo>
                  <a:lnTo>
                    <a:pt x="3118313" y="18586"/>
                  </a:lnTo>
                  <a:lnTo>
                    <a:pt x="3098130" y="4985"/>
                  </a:lnTo>
                  <a:lnTo>
                    <a:pt x="3073400" y="0"/>
                  </a:ln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977900"/>
                  </a:lnTo>
                  <a:lnTo>
                    <a:pt x="4985" y="1002630"/>
                  </a:lnTo>
                  <a:lnTo>
                    <a:pt x="18586" y="1022813"/>
                  </a:lnTo>
                  <a:lnTo>
                    <a:pt x="38769" y="1036414"/>
                  </a:lnTo>
                  <a:lnTo>
                    <a:pt x="63500" y="1041400"/>
                  </a:lnTo>
                  <a:close/>
                </a:path>
              </a:pathLst>
            </a:custGeom>
            <a:ln w="6350">
              <a:solidFill>
                <a:srgbClr val="4388B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647700" y="1778124"/>
            <a:ext cx="2041525" cy="862330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sz="1100" b="1" spc="-10" dirty="0">
                <a:solidFill>
                  <a:srgbClr val="4388BC"/>
                </a:solidFill>
                <a:latin typeface="Arial"/>
                <a:cs typeface="Arial"/>
              </a:rPr>
              <a:t>Objectifs</a:t>
            </a:r>
            <a:endParaRPr sz="1100" dirty="0">
              <a:latin typeface="Arial"/>
              <a:cs typeface="Arial"/>
            </a:endParaRPr>
          </a:p>
          <a:p>
            <a:pPr marL="121285" indent="-108585">
              <a:lnSpc>
                <a:spcPct val="100000"/>
              </a:lnSpc>
              <a:spcBef>
                <a:spcPts val="80"/>
              </a:spcBef>
              <a:buChar char="&gt;"/>
              <a:tabLst>
                <a:tab pos="121285" algn="l"/>
              </a:tabLst>
            </a:pPr>
            <a:r>
              <a:rPr sz="1000" dirty="0">
                <a:solidFill>
                  <a:srgbClr val="2B2B2B"/>
                </a:solidFill>
                <a:latin typeface="Arial"/>
                <a:cs typeface="Arial"/>
              </a:rPr>
              <a:t>Pourquoi la messagerie, c'est important ?</a:t>
            </a:r>
            <a:endParaRPr sz="1000" dirty="0">
              <a:latin typeface="Arial"/>
              <a:cs typeface="Arial"/>
            </a:endParaRPr>
          </a:p>
          <a:p>
            <a:pPr marL="121285" indent="-108585">
              <a:lnSpc>
                <a:spcPct val="100000"/>
              </a:lnSpc>
              <a:spcBef>
                <a:spcPts val="100"/>
              </a:spcBef>
              <a:buChar char="&gt;"/>
              <a:tabLst>
                <a:tab pos="121285" algn="l"/>
              </a:tabLst>
            </a:pPr>
            <a:r>
              <a:rPr sz="1000" dirty="0">
                <a:solidFill>
                  <a:srgbClr val="2B2B2B"/>
                </a:solidFill>
                <a:latin typeface="Arial"/>
                <a:cs typeface="Arial"/>
              </a:rPr>
              <a:t>Les trois grandes messageries</a:t>
            </a:r>
            <a:endParaRPr sz="1000" dirty="0">
              <a:latin typeface="Arial"/>
              <a:cs typeface="Arial"/>
            </a:endParaRPr>
          </a:p>
          <a:p>
            <a:pPr marL="121285" indent="-108585">
              <a:lnSpc>
                <a:spcPct val="100000"/>
              </a:lnSpc>
              <a:spcBef>
                <a:spcPts val="100"/>
              </a:spcBef>
              <a:buChar char="&gt;"/>
              <a:tabLst>
                <a:tab pos="121285" algn="l"/>
              </a:tabLst>
            </a:pPr>
            <a:r>
              <a:rPr sz="1000" dirty="0">
                <a:solidFill>
                  <a:srgbClr val="2B2B2B"/>
                </a:solidFill>
                <a:latin typeface="Arial"/>
                <a:cs typeface="Arial"/>
              </a:rPr>
              <a:t>Anatomie d'une boîte mail</a:t>
            </a:r>
            <a:endParaRPr sz="1000" dirty="0">
              <a:latin typeface="Arial"/>
              <a:cs typeface="Arial"/>
            </a:endParaRPr>
          </a:p>
          <a:p>
            <a:pPr marL="121285" indent="-108585">
              <a:lnSpc>
                <a:spcPct val="100000"/>
              </a:lnSpc>
              <a:spcBef>
                <a:spcPts val="100"/>
              </a:spcBef>
              <a:buChar char="&gt;"/>
              <a:tabLst>
                <a:tab pos="121285" algn="l"/>
              </a:tabLst>
            </a:pPr>
            <a:r>
              <a:rPr sz="1000" dirty="0">
                <a:solidFill>
                  <a:srgbClr val="2B2B2B"/>
                </a:solidFill>
                <a:latin typeface="Arial"/>
                <a:cs typeface="Arial"/>
              </a:rPr>
              <a:t>Lire et comprendre un e-mail reçu</a:t>
            </a:r>
            <a:endParaRPr sz="1000" dirty="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3794125" y="1798825"/>
            <a:ext cx="3105150" cy="1047750"/>
            <a:chOff x="3794125" y="1798825"/>
            <a:chExt cx="3105150" cy="1047750"/>
          </a:xfrm>
        </p:grpSpPr>
        <p:sp>
          <p:nvSpPr>
            <p:cNvPr id="9" name="object 9"/>
            <p:cNvSpPr/>
            <p:nvPr/>
          </p:nvSpPr>
          <p:spPr>
            <a:xfrm>
              <a:off x="3797300" y="1802000"/>
              <a:ext cx="3098800" cy="1041400"/>
            </a:xfrm>
            <a:custGeom>
              <a:avLst/>
              <a:gdLst/>
              <a:ahLst/>
              <a:cxnLst/>
              <a:rect l="l" t="t" r="r" b="b"/>
              <a:pathLst>
                <a:path w="3098800" h="1041400">
                  <a:moveTo>
                    <a:pt x="3035300" y="0"/>
                  </a:move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977900"/>
                  </a:lnTo>
                  <a:lnTo>
                    <a:pt x="4985" y="1002630"/>
                  </a:lnTo>
                  <a:lnTo>
                    <a:pt x="18586" y="1022813"/>
                  </a:lnTo>
                  <a:lnTo>
                    <a:pt x="38769" y="1036414"/>
                  </a:lnTo>
                  <a:lnTo>
                    <a:pt x="63500" y="1041400"/>
                  </a:lnTo>
                  <a:lnTo>
                    <a:pt x="3035300" y="1041400"/>
                  </a:lnTo>
                  <a:lnTo>
                    <a:pt x="3060030" y="1036414"/>
                  </a:lnTo>
                  <a:lnTo>
                    <a:pt x="3080213" y="1022813"/>
                  </a:lnTo>
                  <a:lnTo>
                    <a:pt x="3093814" y="1002630"/>
                  </a:lnTo>
                  <a:lnTo>
                    <a:pt x="3098800" y="977900"/>
                  </a:lnTo>
                  <a:lnTo>
                    <a:pt x="3098800" y="63500"/>
                  </a:lnTo>
                  <a:lnTo>
                    <a:pt x="3093814" y="38769"/>
                  </a:lnTo>
                  <a:lnTo>
                    <a:pt x="3080213" y="18586"/>
                  </a:lnTo>
                  <a:lnTo>
                    <a:pt x="3060030" y="4985"/>
                  </a:lnTo>
                  <a:lnTo>
                    <a:pt x="3035300" y="0"/>
                  </a:lnTo>
                  <a:close/>
                </a:path>
              </a:pathLst>
            </a:custGeom>
            <a:solidFill>
              <a:srgbClr val="EBF7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797300" y="1802000"/>
              <a:ext cx="3098800" cy="1041400"/>
            </a:xfrm>
            <a:custGeom>
              <a:avLst/>
              <a:gdLst/>
              <a:ahLst/>
              <a:cxnLst/>
              <a:rect l="l" t="t" r="r" b="b"/>
              <a:pathLst>
                <a:path w="3098800" h="1041400">
                  <a:moveTo>
                    <a:pt x="63500" y="1041400"/>
                  </a:moveTo>
                  <a:lnTo>
                    <a:pt x="3035300" y="1041400"/>
                  </a:lnTo>
                  <a:lnTo>
                    <a:pt x="3060030" y="1036414"/>
                  </a:lnTo>
                  <a:lnTo>
                    <a:pt x="3080213" y="1022813"/>
                  </a:lnTo>
                  <a:lnTo>
                    <a:pt x="3093814" y="1002630"/>
                  </a:lnTo>
                  <a:lnTo>
                    <a:pt x="3098800" y="977900"/>
                  </a:lnTo>
                  <a:lnTo>
                    <a:pt x="3098800" y="63500"/>
                  </a:lnTo>
                  <a:lnTo>
                    <a:pt x="3093814" y="38769"/>
                  </a:lnTo>
                  <a:lnTo>
                    <a:pt x="3080213" y="18586"/>
                  </a:lnTo>
                  <a:lnTo>
                    <a:pt x="3060030" y="4985"/>
                  </a:lnTo>
                  <a:lnTo>
                    <a:pt x="3035300" y="0"/>
                  </a:ln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977900"/>
                  </a:lnTo>
                  <a:lnTo>
                    <a:pt x="4985" y="1002630"/>
                  </a:lnTo>
                  <a:lnTo>
                    <a:pt x="18586" y="1022813"/>
                  </a:lnTo>
                  <a:lnTo>
                    <a:pt x="38769" y="1036414"/>
                  </a:lnTo>
                  <a:lnTo>
                    <a:pt x="63500" y="1041400"/>
                  </a:lnTo>
                  <a:close/>
                </a:path>
              </a:pathLst>
            </a:custGeom>
            <a:ln w="6350">
              <a:solidFill>
                <a:srgbClr val="187C8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3911600" y="1778124"/>
            <a:ext cx="1927860" cy="862330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sz="1100" b="1" dirty="0">
                <a:solidFill>
                  <a:srgbClr val="187C88"/>
                </a:solidFill>
                <a:latin typeface="Arial"/>
                <a:cs typeface="Arial"/>
              </a:rPr>
              <a:t>Materiel </a:t>
            </a:r>
            <a:r>
              <a:rPr sz="1100" b="1" spc="-10" dirty="0">
                <a:solidFill>
                  <a:srgbClr val="187C88"/>
                </a:solidFill>
                <a:latin typeface="Arial"/>
                <a:cs typeface="Arial"/>
              </a:rPr>
              <a:t>necessaire</a:t>
            </a:r>
            <a:endParaRPr sz="1100" dirty="0">
              <a:latin typeface="Arial"/>
              <a:cs typeface="Arial"/>
            </a:endParaRPr>
          </a:p>
          <a:p>
            <a:pPr marL="121285" indent="-108585">
              <a:lnSpc>
                <a:spcPct val="100000"/>
              </a:lnSpc>
              <a:spcBef>
                <a:spcPts val="80"/>
              </a:spcBef>
              <a:buChar char="&gt;"/>
              <a:tabLst>
                <a:tab pos="121285" algn="l"/>
              </a:tabLst>
            </a:pPr>
            <a:r>
              <a:rPr sz="1000" dirty="0">
                <a:solidFill>
                  <a:srgbClr val="2B2B2B"/>
                </a:solidFill>
                <a:latin typeface="Arial"/>
                <a:cs typeface="Arial"/>
              </a:rPr>
              <a:t>1 PC ou tablette par participant</a:t>
            </a:r>
            <a:endParaRPr sz="1000" dirty="0">
              <a:latin typeface="Arial"/>
              <a:cs typeface="Arial"/>
            </a:endParaRPr>
          </a:p>
          <a:p>
            <a:pPr marL="121285" indent="-108585">
              <a:lnSpc>
                <a:spcPct val="100000"/>
              </a:lnSpc>
              <a:spcBef>
                <a:spcPts val="100"/>
              </a:spcBef>
              <a:buChar char="&gt;"/>
              <a:tabLst>
                <a:tab pos="121285" algn="l"/>
              </a:tabLst>
            </a:pPr>
            <a:r>
              <a:rPr sz="1000" dirty="0">
                <a:solidFill>
                  <a:srgbClr val="2B2B2B"/>
                </a:solidFill>
                <a:latin typeface="Arial"/>
                <a:cs typeface="Arial"/>
              </a:rPr>
              <a:t>Connexion Wi-Fi stable</a:t>
            </a:r>
            <a:endParaRPr sz="1000" dirty="0">
              <a:latin typeface="Arial"/>
              <a:cs typeface="Arial"/>
            </a:endParaRPr>
          </a:p>
          <a:p>
            <a:pPr marL="121285" indent="-108585">
              <a:lnSpc>
                <a:spcPct val="100000"/>
              </a:lnSpc>
              <a:spcBef>
                <a:spcPts val="100"/>
              </a:spcBef>
              <a:buChar char="&gt;"/>
              <a:tabLst>
                <a:tab pos="121285" algn="l"/>
              </a:tabLst>
            </a:pPr>
            <a:r>
              <a:rPr sz="1000" dirty="0">
                <a:solidFill>
                  <a:srgbClr val="2B2B2B"/>
                </a:solidFill>
                <a:latin typeface="Arial"/>
                <a:cs typeface="Arial"/>
              </a:rPr>
              <a:t>Grand écran / vidéoprojecteur</a:t>
            </a:r>
            <a:endParaRPr sz="1000" dirty="0">
              <a:latin typeface="Arial"/>
              <a:cs typeface="Arial"/>
            </a:endParaRPr>
          </a:p>
          <a:p>
            <a:pPr marL="121285" indent="-108585">
              <a:lnSpc>
                <a:spcPct val="100000"/>
              </a:lnSpc>
              <a:spcBef>
                <a:spcPts val="100"/>
              </a:spcBef>
              <a:buChar char="&gt;"/>
              <a:tabLst>
                <a:tab pos="121285" algn="l"/>
              </a:tabLst>
            </a:pPr>
            <a:r>
              <a:rPr sz="1000" dirty="0">
                <a:solidFill>
                  <a:srgbClr val="2B2B2B"/>
                </a:solidFill>
                <a:latin typeface="Arial"/>
                <a:cs typeface="Arial"/>
              </a:rPr>
              <a:t>Fiches mémo (1 par participant)</a:t>
            </a:r>
            <a:endParaRPr sz="1000" dirty="0">
              <a:latin typeface="Arial"/>
              <a:cs typeface="Arial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530859" y="2904360"/>
            <a:ext cx="6494780" cy="728980"/>
            <a:chOff x="530859" y="2904360"/>
            <a:chExt cx="6494780" cy="728980"/>
          </a:xfrm>
        </p:grpSpPr>
        <p:sp>
          <p:nvSpPr>
            <p:cNvPr id="13" name="object 13"/>
            <p:cNvSpPr/>
            <p:nvPr/>
          </p:nvSpPr>
          <p:spPr>
            <a:xfrm>
              <a:off x="533399" y="2906900"/>
              <a:ext cx="6489700" cy="723900"/>
            </a:xfrm>
            <a:custGeom>
              <a:avLst/>
              <a:gdLst/>
              <a:ahLst/>
              <a:cxnLst/>
              <a:rect l="l" t="t" r="r" b="b"/>
              <a:pathLst>
                <a:path w="6489700" h="723900">
                  <a:moveTo>
                    <a:pt x="6438900" y="0"/>
                  </a:moveTo>
                  <a:lnTo>
                    <a:pt x="50800" y="0"/>
                  </a:lnTo>
                  <a:lnTo>
                    <a:pt x="31016" y="3988"/>
                  </a:lnTo>
                  <a:lnTo>
                    <a:pt x="14870" y="14870"/>
                  </a:lnTo>
                  <a:lnTo>
                    <a:pt x="3988" y="31016"/>
                  </a:lnTo>
                  <a:lnTo>
                    <a:pt x="0" y="50800"/>
                  </a:lnTo>
                  <a:lnTo>
                    <a:pt x="0" y="673100"/>
                  </a:lnTo>
                  <a:lnTo>
                    <a:pt x="3988" y="692883"/>
                  </a:lnTo>
                  <a:lnTo>
                    <a:pt x="14870" y="709029"/>
                  </a:lnTo>
                  <a:lnTo>
                    <a:pt x="31016" y="719911"/>
                  </a:lnTo>
                  <a:lnTo>
                    <a:pt x="50800" y="723900"/>
                  </a:lnTo>
                  <a:lnTo>
                    <a:pt x="6438900" y="723900"/>
                  </a:lnTo>
                  <a:lnTo>
                    <a:pt x="6458683" y="719911"/>
                  </a:lnTo>
                  <a:lnTo>
                    <a:pt x="6474829" y="709029"/>
                  </a:lnTo>
                  <a:lnTo>
                    <a:pt x="6485711" y="692883"/>
                  </a:lnTo>
                  <a:lnTo>
                    <a:pt x="6489700" y="673100"/>
                  </a:lnTo>
                  <a:lnTo>
                    <a:pt x="6489700" y="50800"/>
                  </a:lnTo>
                  <a:lnTo>
                    <a:pt x="6485711" y="31016"/>
                  </a:lnTo>
                  <a:lnTo>
                    <a:pt x="6474829" y="14870"/>
                  </a:lnTo>
                  <a:lnTo>
                    <a:pt x="6458683" y="3988"/>
                  </a:lnTo>
                  <a:lnTo>
                    <a:pt x="6438900" y="0"/>
                  </a:lnTo>
                  <a:close/>
                </a:path>
              </a:pathLst>
            </a:custGeom>
            <a:solidFill>
              <a:srgbClr val="F8F9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33399" y="2906900"/>
              <a:ext cx="6489700" cy="723900"/>
            </a:xfrm>
            <a:custGeom>
              <a:avLst/>
              <a:gdLst/>
              <a:ahLst/>
              <a:cxnLst/>
              <a:rect l="l" t="t" r="r" b="b"/>
              <a:pathLst>
                <a:path w="6489700" h="723900">
                  <a:moveTo>
                    <a:pt x="50800" y="723900"/>
                  </a:moveTo>
                  <a:lnTo>
                    <a:pt x="6438900" y="723900"/>
                  </a:lnTo>
                  <a:lnTo>
                    <a:pt x="6458683" y="719911"/>
                  </a:lnTo>
                  <a:lnTo>
                    <a:pt x="6474829" y="709029"/>
                  </a:lnTo>
                  <a:lnTo>
                    <a:pt x="6485711" y="692883"/>
                  </a:lnTo>
                  <a:lnTo>
                    <a:pt x="6489700" y="673100"/>
                  </a:lnTo>
                  <a:lnTo>
                    <a:pt x="6489700" y="50800"/>
                  </a:lnTo>
                  <a:lnTo>
                    <a:pt x="6485711" y="31016"/>
                  </a:lnTo>
                  <a:lnTo>
                    <a:pt x="6474829" y="14870"/>
                  </a:lnTo>
                  <a:lnTo>
                    <a:pt x="6458683" y="3988"/>
                  </a:lnTo>
                  <a:lnTo>
                    <a:pt x="6438900" y="0"/>
                  </a:lnTo>
                  <a:lnTo>
                    <a:pt x="50800" y="0"/>
                  </a:lnTo>
                  <a:lnTo>
                    <a:pt x="31016" y="3988"/>
                  </a:lnTo>
                  <a:lnTo>
                    <a:pt x="14870" y="14870"/>
                  </a:lnTo>
                  <a:lnTo>
                    <a:pt x="3988" y="31016"/>
                  </a:lnTo>
                  <a:lnTo>
                    <a:pt x="0" y="50800"/>
                  </a:lnTo>
                  <a:lnTo>
                    <a:pt x="0" y="673100"/>
                  </a:lnTo>
                  <a:lnTo>
                    <a:pt x="3988" y="692883"/>
                  </a:lnTo>
                  <a:lnTo>
                    <a:pt x="14870" y="709029"/>
                  </a:lnTo>
                  <a:lnTo>
                    <a:pt x="31016" y="719911"/>
                  </a:lnTo>
                  <a:lnTo>
                    <a:pt x="50800" y="723900"/>
                  </a:lnTo>
                  <a:close/>
                </a:path>
              </a:pathLst>
            </a:custGeom>
            <a:ln w="5080">
              <a:solidFill>
                <a:srgbClr val="DDE6E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33400" y="2906899"/>
              <a:ext cx="673100" cy="723900"/>
            </a:xfrm>
            <a:custGeom>
              <a:avLst/>
              <a:gdLst/>
              <a:ahLst/>
              <a:cxnLst/>
              <a:rect l="l" t="t" r="r" b="b"/>
              <a:pathLst>
                <a:path w="673100" h="723900">
                  <a:moveTo>
                    <a:pt x="63500" y="0"/>
                  </a:moveTo>
                  <a:lnTo>
                    <a:pt x="0" y="0"/>
                  </a:lnTo>
                  <a:lnTo>
                    <a:pt x="0" y="723900"/>
                  </a:lnTo>
                  <a:lnTo>
                    <a:pt x="63500" y="723900"/>
                  </a:lnTo>
                  <a:lnTo>
                    <a:pt x="63500" y="0"/>
                  </a:lnTo>
                  <a:close/>
                </a:path>
                <a:path w="673100" h="723900">
                  <a:moveTo>
                    <a:pt x="673100" y="292100"/>
                  </a:moveTo>
                  <a:lnTo>
                    <a:pt x="670102" y="277266"/>
                  </a:lnTo>
                  <a:lnTo>
                    <a:pt x="661936" y="265163"/>
                  </a:lnTo>
                  <a:lnTo>
                    <a:pt x="649833" y="256997"/>
                  </a:lnTo>
                  <a:lnTo>
                    <a:pt x="635000" y="254000"/>
                  </a:lnTo>
                  <a:lnTo>
                    <a:pt x="139700" y="254000"/>
                  </a:lnTo>
                  <a:lnTo>
                    <a:pt x="124853" y="256997"/>
                  </a:lnTo>
                  <a:lnTo>
                    <a:pt x="112750" y="265163"/>
                  </a:lnTo>
                  <a:lnTo>
                    <a:pt x="104584" y="277266"/>
                  </a:lnTo>
                  <a:lnTo>
                    <a:pt x="101600" y="292100"/>
                  </a:lnTo>
                  <a:lnTo>
                    <a:pt x="101600" y="457200"/>
                  </a:lnTo>
                  <a:lnTo>
                    <a:pt x="104584" y="472046"/>
                  </a:lnTo>
                  <a:lnTo>
                    <a:pt x="112750" y="484149"/>
                  </a:lnTo>
                  <a:lnTo>
                    <a:pt x="124853" y="492315"/>
                  </a:lnTo>
                  <a:lnTo>
                    <a:pt x="139700" y="495300"/>
                  </a:lnTo>
                  <a:lnTo>
                    <a:pt x="635000" y="495300"/>
                  </a:lnTo>
                  <a:lnTo>
                    <a:pt x="649833" y="492315"/>
                  </a:lnTo>
                  <a:lnTo>
                    <a:pt x="661936" y="484149"/>
                  </a:lnTo>
                  <a:lnTo>
                    <a:pt x="670102" y="472046"/>
                  </a:lnTo>
                  <a:lnTo>
                    <a:pt x="673100" y="457200"/>
                  </a:lnTo>
                  <a:lnTo>
                    <a:pt x="673100" y="292100"/>
                  </a:lnTo>
                  <a:close/>
                </a:path>
              </a:pathLst>
            </a:custGeom>
            <a:solidFill>
              <a:srgbClr val="5EB3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774636" y="3186300"/>
            <a:ext cx="28003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20" dirty="0">
                <a:solidFill>
                  <a:srgbClr val="FFFFFF"/>
                </a:solidFill>
                <a:latin typeface="Arial"/>
                <a:cs typeface="Arial"/>
              </a:rPr>
              <a:t>0:02</a:t>
            </a:r>
            <a:endParaRPr sz="10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308100" y="2913250"/>
            <a:ext cx="2821305" cy="7150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960"/>
              </a:lnSpc>
              <a:spcBef>
                <a:spcPts val="100"/>
              </a:spcBef>
            </a:pPr>
            <a:r>
              <a:rPr sz="850" b="1" dirty="0">
                <a:solidFill>
                  <a:srgbClr val="5EB3D2"/>
                </a:solidFill>
                <a:latin typeface="Arial"/>
                <a:cs typeface="Arial"/>
              </a:rPr>
              <a:t>4 min</a:t>
            </a:r>
            <a:endParaRPr sz="850" dirty="0">
              <a:latin typeface="Arial"/>
              <a:cs typeface="Arial"/>
            </a:endParaRPr>
          </a:p>
          <a:p>
            <a:pPr marL="12700">
              <a:lnSpc>
                <a:spcPts val="1200"/>
              </a:lnSpc>
            </a:pPr>
            <a:r>
              <a:rPr sz="1050" b="1" dirty="0">
                <a:solidFill>
                  <a:srgbClr val="2B2B2B"/>
                </a:solidFill>
                <a:latin typeface="Arial"/>
                <a:cs typeface="Arial"/>
              </a:rPr>
              <a:t>Au programme</a:t>
            </a:r>
            <a:endParaRPr sz="1050" dirty="0">
              <a:latin typeface="Arial"/>
              <a:cs typeface="Arial"/>
            </a:endParaRPr>
          </a:p>
          <a:p>
            <a:pPr marL="12700">
              <a:lnSpc>
                <a:spcPts val="1065"/>
              </a:lnSpc>
              <a:spcBef>
                <a:spcPts val="90"/>
              </a:spcBef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>. Ce que vous allez apprendre aujourd'hui</a:t>
            </a:r>
            <a:endParaRPr sz="900" dirty="0">
              <a:latin typeface="Arial"/>
              <a:cs typeface="Arial"/>
            </a:endParaRPr>
          </a:p>
          <a:p>
            <a:pPr marL="12700">
              <a:lnSpc>
                <a:spcPts val="1050"/>
              </a:lnSpc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/>
            </a:r>
            <a:endParaRPr sz="900" dirty="0">
              <a:latin typeface="Arial"/>
              <a:cs typeface="Arial"/>
            </a:endParaRPr>
          </a:p>
          <a:p>
            <a:pPr marL="12700">
              <a:lnSpc>
                <a:spcPts val="1065"/>
              </a:lnSpc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/>
            </a:r>
            <a:endParaRPr sz="900" dirty="0">
              <a:latin typeface="Arial"/>
              <a:cs typeface="Arial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530859" y="3653659"/>
            <a:ext cx="6494780" cy="728980"/>
            <a:chOff x="530859" y="3653659"/>
            <a:chExt cx="6494780" cy="728980"/>
          </a:xfrm>
        </p:grpSpPr>
        <p:sp>
          <p:nvSpPr>
            <p:cNvPr id="19" name="object 19"/>
            <p:cNvSpPr/>
            <p:nvPr/>
          </p:nvSpPr>
          <p:spPr>
            <a:xfrm>
              <a:off x="533399" y="3656199"/>
              <a:ext cx="6489700" cy="723900"/>
            </a:xfrm>
            <a:custGeom>
              <a:avLst/>
              <a:gdLst/>
              <a:ahLst/>
              <a:cxnLst/>
              <a:rect l="l" t="t" r="r" b="b"/>
              <a:pathLst>
                <a:path w="6489700" h="723900">
                  <a:moveTo>
                    <a:pt x="6438900" y="0"/>
                  </a:moveTo>
                  <a:lnTo>
                    <a:pt x="50800" y="0"/>
                  </a:lnTo>
                  <a:lnTo>
                    <a:pt x="31016" y="3988"/>
                  </a:lnTo>
                  <a:lnTo>
                    <a:pt x="14870" y="14870"/>
                  </a:lnTo>
                  <a:lnTo>
                    <a:pt x="3988" y="31016"/>
                  </a:lnTo>
                  <a:lnTo>
                    <a:pt x="0" y="50800"/>
                  </a:lnTo>
                  <a:lnTo>
                    <a:pt x="0" y="673100"/>
                  </a:lnTo>
                  <a:lnTo>
                    <a:pt x="3988" y="692883"/>
                  </a:lnTo>
                  <a:lnTo>
                    <a:pt x="14870" y="709029"/>
                  </a:lnTo>
                  <a:lnTo>
                    <a:pt x="31016" y="719911"/>
                  </a:lnTo>
                  <a:lnTo>
                    <a:pt x="50800" y="723900"/>
                  </a:lnTo>
                  <a:lnTo>
                    <a:pt x="6438900" y="723900"/>
                  </a:lnTo>
                  <a:lnTo>
                    <a:pt x="6458683" y="719911"/>
                  </a:lnTo>
                  <a:lnTo>
                    <a:pt x="6474829" y="709029"/>
                  </a:lnTo>
                  <a:lnTo>
                    <a:pt x="6485711" y="692883"/>
                  </a:lnTo>
                  <a:lnTo>
                    <a:pt x="6489700" y="673100"/>
                  </a:lnTo>
                  <a:lnTo>
                    <a:pt x="6489700" y="50800"/>
                  </a:lnTo>
                  <a:lnTo>
                    <a:pt x="6485711" y="31016"/>
                  </a:lnTo>
                  <a:lnTo>
                    <a:pt x="6474829" y="14870"/>
                  </a:lnTo>
                  <a:lnTo>
                    <a:pt x="6458683" y="3988"/>
                  </a:lnTo>
                  <a:lnTo>
                    <a:pt x="6438900" y="0"/>
                  </a:lnTo>
                  <a:close/>
                </a:path>
              </a:pathLst>
            </a:custGeom>
            <a:solidFill>
              <a:srgbClr val="F8F9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33399" y="3656199"/>
              <a:ext cx="6489700" cy="723900"/>
            </a:xfrm>
            <a:custGeom>
              <a:avLst/>
              <a:gdLst/>
              <a:ahLst/>
              <a:cxnLst/>
              <a:rect l="l" t="t" r="r" b="b"/>
              <a:pathLst>
                <a:path w="6489700" h="723900">
                  <a:moveTo>
                    <a:pt x="50800" y="723900"/>
                  </a:moveTo>
                  <a:lnTo>
                    <a:pt x="6438900" y="723900"/>
                  </a:lnTo>
                  <a:lnTo>
                    <a:pt x="6458683" y="719911"/>
                  </a:lnTo>
                  <a:lnTo>
                    <a:pt x="6474829" y="709029"/>
                  </a:lnTo>
                  <a:lnTo>
                    <a:pt x="6485711" y="692883"/>
                  </a:lnTo>
                  <a:lnTo>
                    <a:pt x="6489700" y="673100"/>
                  </a:lnTo>
                  <a:lnTo>
                    <a:pt x="6489700" y="50800"/>
                  </a:lnTo>
                  <a:lnTo>
                    <a:pt x="6485711" y="31016"/>
                  </a:lnTo>
                  <a:lnTo>
                    <a:pt x="6474829" y="14870"/>
                  </a:lnTo>
                  <a:lnTo>
                    <a:pt x="6458683" y="3988"/>
                  </a:lnTo>
                  <a:lnTo>
                    <a:pt x="6438900" y="0"/>
                  </a:lnTo>
                  <a:lnTo>
                    <a:pt x="50800" y="0"/>
                  </a:lnTo>
                  <a:lnTo>
                    <a:pt x="31016" y="3988"/>
                  </a:lnTo>
                  <a:lnTo>
                    <a:pt x="14870" y="14870"/>
                  </a:lnTo>
                  <a:lnTo>
                    <a:pt x="3988" y="31016"/>
                  </a:lnTo>
                  <a:lnTo>
                    <a:pt x="0" y="50800"/>
                  </a:lnTo>
                  <a:lnTo>
                    <a:pt x="0" y="673100"/>
                  </a:lnTo>
                  <a:lnTo>
                    <a:pt x="3988" y="692883"/>
                  </a:lnTo>
                  <a:lnTo>
                    <a:pt x="14870" y="709029"/>
                  </a:lnTo>
                  <a:lnTo>
                    <a:pt x="31016" y="719911"/>
                  </a:lnTo>
                  <a:lnTo>
                    <a:pt x="50800" y="723900"/>
                  </a:lnTo>
                  <a:close/>
                </a:path>
              </a:pathLst>
            </a:custGeom>
            <a:ln w="5080">
              <a:solidFill>
                <a:srgbClr val="DDE6E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33400" y="3656199"/>
              <a:ext cx="673100" cy="723900"/>
            </a:xfrm>
            <a:custGeom>
              <a:avLst/>
              <a:gdLst/>
              <a:ahLst/>
              <a:cxnLst/>
              <a:rect l="l" t="t" r="r" b="b"/>
              <a:pathLst>
                <a:path w="673100" h="723900">
                  <a:moveTo>
                    <a:pt x="63500" y="0"/>
                  </a:moveTo>
                  <a:lnTo>
                    <a:pt x="0" y="0"/>
                  </a:lnTo>
                  <a:lnTo>
                    <a:pt x="0" y="723900"/>
                  </a:lnTo>
                  <a:lnTo>
                    <a:pt x="63500" y="723900"/>
                  </a:lnTo>
                  <a:lnTo>
                    <a:pt x="63500" y="0"/>
                  </a:lnTo>
                  <a:close/>
                </a:path>
                <a:path w="673100" h="723900">
                  <a:moveTo>
                    <a:pt x="673100" y="292100"/>
                  </a:moveTo>
                  <a:lnTo>
                    <a:pt x="670102" y="277266"/>
                  </a:lnTo>
                  <a:lnTo>
                    <a:pt x="661936" y="265163"/>
                  </a:lnTo>
                  <a:lnTo>
                    <a:pt x="649833" y="256997"/>
                  </a:lnTo>
                  <a:lnTo>
                    <a:pt x="635000" y="254000"/>
                  </a:lnTo>
                  <a:lnTo>
                    <a:pt x="139700" y="254000"/>
                  </a:lnTo>
                  <a:lnTo>
                    <a:pt x="124853" y="256997"/>
                  </a:lnTo>
                  <a:lnTo>
                    <a:pt x="112750" y="265163"/>
                  </a:lnTo>
                  <a:lnTo>
                    <a:pt x="104584" y="277266"/>
                  </a:lnTo>
                  <a:lnTo>
                    <a:pt x="101600" y="292100"/>
                  </a:lnTo>
                  <a:lnTo>
                    <a:pt x="101600" y="457200"/>
                  </a:lnTo>
                  <a:lnTo>
                    <a:pt x="104584" y="472046"/>
                  </a:lnTo>
                  <a:lnTo>
                    <a:pt x="112750" y="484149"/>
                  </a:lnTo>
                  <a:lnTo>
                    <a:pt x="124853" y="492315"/>
                  </a:lnTo>
                  <a:lnTo>
                    <a:pt x="139700" y="495300"/>
                  </a:lnTo>
                  <a:lnTo>
                    <a:pt x="635000" y="495300"/>
                  </a:lnTo>
                  <a:lnTo>
                    <a:pt x="649833" y="492315"/>
                  </a:lnTo>
                  <a:lnTo>
                    <a:pt x="661936" y="484149"/>
                  </a:lnTo>
                  <a:lnTo>
                    <a:pt x="670102" y="472046"/>
                  </a:lnTo>
                  <a:lnTo>
                    <a:pt x="673100" y="457200"/>
                  </a:lnTo>
                  <a:lnTo>
                    <a:pt x="673100" y="292100"/>
                  </a:lnTo>
                  <a:close/>
                </a:path>
              </a:pathLst>
            </a:custGeom>
            <a:solidFill>
              <a:srgbClr val="4388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774636" y="3935600"/>
            <a:ext cx="28003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20" dirty="0">
                <a:solidFill>
                  <a:srgbClr val="FFFFFF"/>
                </a:solidFill>
                <a:latin typeface="Arial"/>
                <a:cs typeface="Arial"/>
              </a:rPr>
              <a:t>0:06</a:t>
            </a:r>
            <a:endParaRPr sz="10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308100" y="3662550"/>
            <a:ext cx="2776855" cy="7150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960"/>
              </a:lnSpc>
              <a:spcBef>
                <a:spcPts val="100"/>
              </a:spcBef>
            </a:pPr>
            <a:r>
              <a:rPr sz="850" b="1" dirty="0">
                <a:solidFill>
                  <a:srgbClr val="4388BC"/>
                </a:solidFill>
                <a:latin typeface="Arial"/>
                <a:cs typeface="Arial"/>
              </a:rPr>
              <a:t>8 min</a:t>
            </a:r>
            <a:endParaRPr sz="850" dirty="0">
              <a:latin typeface="Arial"/>
              <a:cs typeface="Arial"/>
            </a:endParaRPr>
          </a:p>
          <a:p>
            <a:pPr marL="12700">
              <a:lnSpc>
                <a:spcPts val="1200"/>
              </a:lnSpc>
            </a:pPr>
            <a:r>
              <a:rPr sz="1050" b="1" dirty="0">
                <a:solidFill>
                  <a:srgbClr val="2B2B2B"/>
                </a:solidFill>
                <a:latin typeface="Arial"/>
                <a:cs typeface="Arial"/>
              </a:rPr>
              <a:t>Pourquoi la messagerie, c'est important ?</a:t>
            </a:r>
            <a:endParaRPr sz="1050" dirty="0">
              <a:latin typeface="Arial"/>
              <a:cs typeface="Arial"/>
            </a:endParaRPr>
          </a:p>
          <a:p>
            <a:pPr marL="12700">
              <a:lnSpc>
                <a:spcPts val="1065"/>
              </a:lnSpc>
              <a:spcBef>
                <a:spcPts val="90"/>
              </a:spcBef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>. Aujourd'hui, l'e-mail est devenu incontournable : administrations, banques, médecins, fami…</a:t>
            </a:r>
            <a:endParaRPr sz="900" dirty="0">
              <a:latin typeface="Arial"/>
              <a:cs typeface="Arial"/>
            </a:endParaRPr>
          </a:p>
          <a:p>
            <a:pPr marL="12700">
              <a:lnSpc>
                <a:spcPts val="1050"/>
              </a:lnSpc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/>
            </a:r>
            <a:endParaRPr sz="900" dirty="0">
              <a:latin typeface="Arial"/>
              <a:cs typeface="Arial"/>
            </a:endParaRPr>
          </a:p>
          <a:p>
            <a:pPr marL="12700">
              <a:lnSpc>
                <a:spcPts val="1065"/>
              </a:lnSpc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/>
            </a:r>
            <a:endParaRPr sz="900" dirty="0">
              <a:latin typeface="Arial"/>
              <a:cs typeface="Arial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530859" y="4402959"/>
            <a:ext cx="6494780" cy="728980"/>
            <a:chOff x="530859" y="4402959"/>
            <a:chExt cx="6494780" cy="728980"/>
          </a:xfrm>
        </p:grpSpPr>
        <p:sp>
          <p:nvSpPr>
            <p:cNvPr id="25" name="object 25"/>
            <p:cNvSpPr/>
            <p:nvPr/>
          </p:nvSpPr>
          <p:spPr>
            <a:xfrm>
              <a:off x="533399" y="4405499"/>
              <a:ext cx="6489700" cy="723900"/>
            </a:xfrm>
            <a:custGeom>
              <a:avLst/>
              <a:gdLst/>
              <a:ahLst/>
              <a:cxnLst/>
              <a:rect l="l" t="t" r="r" b="b"/>
              <a:pathLst>
                <a:path w="6489700" h="723900">
                  <a:moveTo>
                    <a:pt x="6438900" y="0"/>
                  </a:moveTo>
                  <a:lnTo>
                    <a:pt x="50800" y="0"/>
                  </a:lnTo>
                  <a:lnTo>
                    <a:pt x="31016" y="3988"/>
                  </a:lnTo>
                  <a:lnTo>
                    <a:pt x="14870" y="14870"/>
                  </a:lnTo>
                  <a:lnTo>
                    <a:pt x="3988" y="31016"/>
                  </a:lnTo>
                  <a:lnTo>
                    <a:pt x="0" y="50800"/>
                  </a:lnTo>
                  <a:lnTo>
                    <a:pt x="0" y="673100"/>
                  </a:lnTo>
                  <a:lnTo>
                    <a:pt x="3988" y="692883"/>
                  </a:lnTo>
                  <a:lnTo>
                    <a:pt x="14870" y="709029"/>
                  </a:lnTo>
                  <a:lnTo>
                    <a:pt x="31016" y="719911"/>
                  </a:lnTo>
                  <a:lnTo>
                    <a:pt x="50800" y="723900"/>
                  </a:lnTo>
                  <a:lnTo>
                    <a:pt x="6438900" y="723900"/>
                  </a:lnTo>
                  <a:lnTo>
                    <a:pt x="6458683" y="719911"/>
                  </a:lnTo>
                  <a:lnTo>
                    <a:pt x="6474829" y="709029"/>
                  </a:lnTo>
                  <a:lnTo>
                    <a:pt x="6485711" y="692883"/>
                  </a:lnTo>
                  <a:lnTo>
                    <a:pt x="6489700" y="673100"/>
                  </a:lnTo>
                  <a:lnTo>
                    <a:pt x="6489700" y="50800"/>
                  </a:lnTo>
                  <a:lnTo>
                    <a:pt x="6485711" y="31016"/>
                  </a:lnTo>
                  <a:lnTo>
                    <a:pt x="6474829" y="14870"/>
                  </a:lnTo>
                  <a:lnTo>
                    <a:pt x="6458683" y="3988"/>
                  </a:lnTo>
                  <a:lnTo>
                    <a:pt x="6438900" y="0"/>
                  </a:lnTo>
                  <a:close/>
                </a:path>
              </a:pathLst>
            </a:custGeom>
            <a:solidFill>
              <a:srgbClr val="F8F9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533399" y="4405499"/>
              <a:ext cx="6489700" cy="723900"/>
            </a:xfrm>
            <a:custGeom>
              <a:avLst/>
              <a:gdLst/>
              <a:ahLst/>
              <a:cxnLst/>
              <a:rect l="l" t="t" r="r" b="b"/>
              <a:pathLst>
                <a:path w="6489700" h="723900">
                  <a:moveTo>
                    <a:pt x="50800" y="723900"/>
                  </a:moveTo>
                  <a:lnTo>
                    <a:pt x="6438900" y="723900"/>
                  </a:lnTo>
                  <a:lnTo>
                    <a:pt x="6458683" y="719911"/>
                  </a:lnTo>
                  <a:lnTo>
                    <a:pt x="6474829" y="709029"/>
                  </a:lnTo>
                  <a:lnTo>
                    <a:pt x="6485711" y="692883"/>
                  </a:lnTo>
                  <a:lnTo>
                    <a:pt x="6489700" y="673100"/>
                  </a:lnTo>
                  <a:lnTo>
                    <a:pt x="6489700" y="50800"/>
                  </a:lnTo>
                  <a:lnTo>
                    <a:pt x="6485711" y="31016"/>
                  </a:lnTo>
                  <a:lnTo>
                    <a:pt x="6474829" y="14870"/>
                  </a:lnTo>
                  <a:lnTo>
                    <a:pt x="6458683" y="3988"/>
                  </a:lnTo>
                  <a:lnTo>
                    <a:pt x="6438900" y="0"/>
                  </a:lnTo>
                  <a:lnTo>
                    <a:pt x="50800" y="0"/>
                  </a:lnTo>
                  <a:lnTo>
                    <a:pt x="31016" y="3988"/>
                  </a:lnTo>
                  <a:lnTo>
                    <a:pt x="14870" y="14870"/>
                  </a:lnTo>
                  <a:lnTo>
                    <a:pt x="3988" y="31016"/>
                  </a:lnTo>
                  <a:lnTo>
                    <a:pt x="0" y="50800"/>
                  </a:lnTo>
                  <a:lnTo>
                    <a:pt x="0" y="673100"/>
                  </a:lnTo>
                  <a:lnTo>
                    <a:pt x="3988" y="692883"/>
                  </a:lnTo>
                  <a:lnTo>
                    <a:pt x="14870" y="709029"/>
                  </a:lnTo>
                  <a:lnTo>
                    <a:pt x="31016" y="719911"/>
                  </a:lnTo>
                  <a:lnTo>
                    <a:pt x="50800" y="723900"/>
                  </a:lnTo>
                  <a:close/>
                </a:path>
              </a:pathLst>
            </a:custGeom>
            <a:ln w="5080">
              <a:solidFill>
                <a:srgbClr val="DDE6E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533400" y="4405499"/>
              <a:ext cx="673100" cy="723900"/>
            </a:xfrm>
            <a:custGeom>
              <a:avLst/>
              <a:gdLst/>
              <a:ahLst/>
              <a:cxnLst/>
              <a:rect l="l" t="t" r="r" b="b"/>
              <a:pathLst>
                <a:path w="673100" h="723900">
                  <a:moveTo>
                    <a:pt x="63500" y="0"/>
                  </a:moveTo>
                  <a:lnTo>
                    <a:pt x="0" y="0"/>
                  </a:lnTo>
                  <a:lnTo>
                    <a:pt x="0" y="723900"/>
                  </a:lnTo>
                  <a:lnTo>
                    <a:pt x="63500" y="723900"/>
                  </a:lnTo>
                  <a:lnTo>
                    <a:pt x="63500" y="0"/>
                  </a:lnTo>
                  <a:close/>
                </a:path>
                <a:path w="673100" h="723900">
                  <a:moveTo>
                    <a:pt x="673100" y="292100"/>
                  </a:moveTo>
                  <a:lnTo>
                    <a:pt x="670102" y="277266"/>
                  </a:lnTo>
                  <a:lnTo>
                    <a:pt x="661936" y="265163"/>
                  </a:lnTo>
                  <a:lnTo>
                    <a:pt x="649833" y="256997"/>
                  </a:lnTo>
                  <a:lnTo>
                    <a:pt x="635000" y="254000"/>
                  </a:lnTo>
                  <a:lnTo>
                    <a:pt x="139700" y="254000"/>
                  </a:lnTo>
                  <a:lnTo>
                    <a:pt x="124853" y="256997"/>
                  </a:lnTo>
                  <a:lnTo>
                    <a:pt x="112750" y="265163"/>
                  </a:lnTo>
                  <a:lnTo>
                    <a:pt x="104584" y="277266"/>
                  </a:lnTo>
                  <a:lnTo>
                    <a:pt x="101600" y="292100"/>
                  </a:lnTo>
                  <a:lnTo>
                    <a:pt x="101600" y="457200"/>
                  </a:lnTo>
                  <a:lnTo>
                    <a:pt x="104584" y="472046"/>
                  </a:lnTo>
                  <a:lnTo>
                    <a:pt x="112750" y="484149"/>
                  </a:lnTo>
                  <a:lnTo>
                    <a:pt x="124853" y="492315"/>
                  </a:lnTo>
                  <a:lnTo>
                    <a:pt x="139700" y="495300"/>
                  </a:lnTo>
                  <a:lnTo>
                    <a:pt x="635000" y="495300"/>
                  </a:lnTo>
                  <a:lnTo>
                    <a:pt x="649833" y="492315"/>
                  </a:lnTo>
                  <a:lnTo>
                    <a:pt x="661936" y="484149"/>
                  </a:lnTo>
                  <a:lnTo>
                    <a:pt x="670102" y="472046"/>
                  </a:lnTo>
                  <a:lnTo>
                    <a:pt x="673100" y="457200"/>
                  </a:lnTo>
                  <a:lnTo>
                    <a:pt x="673100" y="292100"/>
                  </a:lnTo>
                  <a:close/>
                </a:path>
              </a:pathLst>
            </a:custGeom>
            <a:solidFill>
              <a:srgbClr val="187C8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774636" y="4684900"/>
            <a:ext cx="28003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20" dirty="0">
                <a:solidFill>
                  <a:srgbClr val="FFFFFF"/>
                </a:solidFill>
                <a:latin typeface="Arial"/>
                <a:cs typeface="Arial"/>
              </a:rPr>
              <a:t>0:14</a:t>
            </a:r>
            <a:endParaRPr sz="100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308100" y="4411850"/>
            <a:ext cx="2608580" cy="7150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960"/>
              </a:lnSpc>
              <a:spcBef>
                <a:spcPts val="100"/>
              </a:spcBef>
            </a:pPr>
            <a:r>
              <a:rPr sz="850" b="1" dirty="0">
                <a:solidFill>
                  <a:srgbClr val="187C88"/>
                </a:solidFill>
                <a:latin typeface="Arial"/>
                <a:cs typeface="Arial"/>
              </a:rPr>
              <a:t>8 min</a:t>
            </a:r>
            <a:endParaRPr sz="850" dirty="0">
              <a:latin typeface="Arial"/>
              <a:cs typeface="Arial"/>
            </a:endParaRPr>
          </a:p>
          <a:p>
            <a:pPr marL="12700">
              <a:lnSpc>
                <a:spcPts val="1200"/>
              </a:lnSpc>
            </a:pPr>
            <a:r>
              <a:rPr sz="1050" b="1" spc="-10" dirty="0">
                <a:solidFill>
                  <a:srgbClr val="2B2B2B"/>
                </a:solidFill>
                <a:latin typeface="Arial"/>
                <a:cs typeface="Arial"/>
              </a:rPr>
              <a:t>Les trois grandes messageries</a:t>
            </a:r>
            <a:endParaRPr sz="1050" dirty="0">
              <a:latin typeface="Arial"/>
              <a:cs typeface="Arial"/>
            </a:endParaRPr>
          </a:p>
          <a:p>
            <a:pPr marL="12700">
              <a:lnSpc>
                <a:spcPts val="1065"/>
              </a:lnSpc>
              <a:spcBef>
                <a:spcPts val="90"/>
              </a:spcBef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>. Il existe de nombreux services de messagerie, mais trois dominent largement le marché en F…</a:t>
            </a:r>
            <a:endParaRPr sz="900" dirty="0">
              <a:latin typeface="Arial"/>
              <a:cs typeface="Arial"/>
            </a:endParaRPr>
          </a:p>
          <a:p>
            <a:pPr marL="12700">
              <a:lnSpc>
                <a:spcPts val="1050"/>
              </a:lnSpc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/>
            </a:r>
            <a:endParaRPr sz="900" dirty="0">
              <a:latin typeface="Arial"/>
              <a:cs typeface="Arial"/>
            </a:endParaRPr>
          </a:p>
          <a:p>
            <a:pPr marL="12700">
              <a:lnSpc>
                <a:spcPts val="1065"/>
              </a:lnSpc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/>
            </a:r>
            <a:endParaRPr sz="900" dirty="0">
              <a:latin typeface="Arial"/>
              <a:cs typeface="Arial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530859" y="5152259"/>
            <a:ext cx="6494780" cy="728980"/>
            <a:chOff x="530859" y="5152259"/>
            <a:chExt cx="6494780" cy="728980"/>
          </a:xfrm>
        </p:grpSpPr>
        <p:sp>
          <p:nvSpPr>
            <p:cNvPr id="31" name="object 31"/>
            <p:cNvSpPr/>
            <p:nvPr/>
          </p:nvSpPr>
          <p:spPr>
            <a:xfrm>
              <a:off x="533399" y="5154799"/>
              <a:ext cx="6489700" cy="723900"/>
            </a:xfrm>
            <a:custGeom>
              <a:avLst/>
              <a:gdLst/>
              <a:ahLst/>
              <a:cxnLst/>
              <a:rect l="l" t="t" r="r" b="b"/>
              <a:pathLst>
                <a:path w="6489700" h="723900">
                  <a:moveTo>
                    <a:pt x="6438900" y="0"/>
                  </a:moveTo>
                  <a:lnTo>
                    <a:pt x="50800" y="0"/>
                  </a:lnTo>
                  <a:lnTo>
                    <a:pt x="31016" y="3988"/>
                  </a:lnTo>
                  <a:lnTo>
                    <a:pt x="14870" y="14870"/>
                  </a:lnTo>
                  <a:lnTo>
                    <a:pt x="3988" y="31016"/>
                  </a:lnTo>
                  <a:lnTo>
                    <a:pt x="0" y="50800"/>
                  </a:lnTo>
                  <a:lnTo>
                    <a:pt x="0" y="673100"/>
                  </a:lnTo>
                  <a:lnTo>
                    <a:pt x="3988" y="692883"/>
                  </a:lnTo>
                  <a:lnTo>
                    <a:pt x="14870" y="709029"/>
                  </a:lnTo>
                  <a:lnTo>
                    <a:pt x="31016" y="719911"/>
                  </a:lnTo>
                  <a:lnTo>
                    <a:pt x="50800" y="723900"/>
                  </a:lnTo>
                  <a:lnTo>
                    <a:pt x="6438900" y="723900"/>
                  </a:lnTo>
                  <a:lnTo>
                    <a:pt x="6458683" y="719911"/>
                  </a:lnTo>
                  <a:lnTo>
                    <a:pt x="6474829" y="709029"/>
                  </a:lnTo>
                  <a:lnTo>
                    <a:pt x="6485711" y="692883"/>
                  </a:lnTo>
                  <a:lnTo>
                    <a:pt x="6489700" y="673100"/>
                  </a:lnTo>
                  <a:lnTo>
                    <a:pt x="6489700" y="50800"/>
                  </a:lnTo>
                  <a:lnTo>
                    <a:pt x="6485711" y="31016"/>
                  </a:lnTo>
                  <a:lnTo>
                    <a:pt x="6474829" y="14870"/>
                  </a:lnTo>
                  <a:lnTo>
                    <a:pt x="6458683" y="3988"/>
                  </a:lnTo>
                  <a:lnTo>
                    <a:pt x="6438900" y="0"/>
                  </a:lnTo>
                  <a:close/>
                </a:path>
              </a:pathLst>
            </a:custGeom>
            <a:solidFill>
              <a:srgbClr val="F8F9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533399" y="5154799"/>
              <a:ext cx="6489700" cy="723900"/>
            </a:xfrm>
            <a:custGeom>
              <a:avLst/>
              <a:gdLst/>
              <a:ahLst/>
              <a:cxnLst/>
              <a:rect l="l" t="t" r="r" b="b"/>
              <a:pathLst>
                <a:path w="6489700" h="723900">
                  <a:moveTo>
                    <a:pt x="50800" y="723900"/>
                  </a:moveTo>
                  <a:lnTo>
                    <a:pt x="6438900" y="723900"/>
                  </a:lnTo>
                  <a:lnTo>
                    <a:pt x="6458683" y="719911"/>
                  </a:lnTo>
                  <a:lnTo>
                    <a:pt x="6474829" y="709029"/>
                  </a:lnTo>
                  <a:lnTo>
                    <a:pt x="6485711" y="692883"/>
                  </a:lnTo>
                  <a:lnTo>
                    <a:pt x="6489700" y="673100"/>
                  </a:lnTo>
                  <a:lnTo>
                    <a:pt x="6489700" y="50800"/>
                  </a:lnTo>
                  <a:lnTo>
                    <a:pt x="6485711" y="31016"/>
                  </a:lnTo>
                  <a:lnTo>
                    <a:pt x="6474829" y="14870"/>
                  </a:lnTo>
                  <a:lnTo>
                    <a:pt x="6458683" y="3988"/>
                  </a:lnTo>
                  <a:lnTo>
                    <a:pt x="6438900" y="0"/>
                  </a:lnTo>
                  <a:lnTo>
                    <a:pt x="50800" y="0"/>
                  </a:lnTo>
                  <a:lnTo>
                    <a:pt x="31016" y="3988"/>
                  </a:lnTo>
                  <a:lnTo>
                    <a:pt x="14870" y="14870"/>
                  </a:lnTo>
                  <a:lnTo>
                    <a:pt x="3988" y="31016"/>
                  </a:lnTo>
                  <a:lnTo>
                    <a:pt x="0" y="50800"/>
                  </a:lnTo>
                  <a:lnTo>
                    <a:pt x="0" y="673100"/>
                  </a:lnTo>
                  <a:lnTo>
                    <a:pt x="3988" y="692883"/>
                  </a:lnTo>
                  <a:lnTo>
                    <a:pt x="14870" y="709029"/>
                  </a:lnTo>
                  <a:lnTo>
                    <a:pt x="31016" y="719911"/>
                  </a:lnTo>
                  <a:lnTo>
                    <a:pt x="50800" y="723900"/>
                  </a:lnTo>
                  <a:close/>
                </a:path>
              </a:pathLst>
            </a:custGeom>
            <a:ln w="5080">
              <a:solidFill>
                <a:srgbClr val="DDE6E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533400" y="5154799"/>
              <a:ext cx="673100" cy="723900"/>
            </a:xfrm>
            <a:custGeom>
              <a:avLst/>
              <a:gdLst/>
              <a:ahLst/>
              <a:cxnLst/>
              <a:rect l="l" t="t" r="r" b="b"/>
              <a:pathLst>
                <a:path w="673100" h="723900">
                  <a:moveTo>
                    <a:pt x="63500" y="0"/>
                  </a:moveTo>
                  <a:lnTo>
                    <a:pt x="0" y="0"/>
                  </a:lnTo>
                  <a:lnTo>
                    <a:pt x="0" y="723900"/>
                  </a:lnTo>
                  <a:lnTo>
                    <a:pt x="63500" y="723900"/>
                  </a:lnTo>
                  <a:lnTo>
                    <a:pt x="63500" y="0"/>
                  </a:lnTo>
                  <a:close/>
                </a:path>
                <a:path w="673100" h="723900">
                  <a:moveTo>
                    <a:pt x="673100" y="292100"/>
                  </a:moveTo>
                  <a:lnTo>
                    <a:pt x="670102" y="277266"/>
                  </a:lnTo>
                  <a:lnTo>
                    <a:pt x="661936" y="265163"/>
                  </a:lnTo>
                  <a:lnTo>
                    <a:pt x="649833" y="256997"/>
                  </a:lnTo>
                  <a:lnTo>
                    <a:pt x="635000" y="254000"/>
                  </a:lnTo>
                  <a:lnTo>
                    <a:pt x="139700" y="254000"/>
                  </a:lnTo>
                  <a:lnTo>
                    <a:pt x="124853" y="256997"/>
                  </a:lnTo>
                  <a:lnTo>
                    <a:pt x="112750" y="265163"/>
                  </a:lnTo>
                  <a:lnTo>
                    <a:pt x="104584" y="277266"/>
                  </a:lnTo>
                  <a:lnTo>
                    <a:pt x="101600" y="292100"/>
                  </a:lnTo>
                  <a:lnTo>
                    <a:pt x="101600" y="457200"/>
                  </a:lnTo>
                  <a:lnTo>
                    <a:pt x="104584" y="472046"/>
                  </a:lnTo>
                  <a:lnTo>
                    <a:pt x="112750" y="484149"/>
                  </a:lnTo>
                  <a:lnTo>
                    <a:pt x="124853" y="492315"/>
                  </a:lnTo>
                  <a:lnTo>
                    <a:pt x="139700" y="495300"/>
                  </a:lnTo>
                  <a:lnTo>
                    <a:pt x="635000" y="495300"/>
                  </a:lnTo>
                  <a:lnTo>
                    <a:pt x="649833" y="492315"/>
                  </a:lnTo>
                  <a:lnTo>
                    <a:pt x="661936" y="484149"/>
                  </a:lnTo>
                  <a:lnTo>
                    <a:pt x="670102" y="472046"/>
                  </a:lnTo>
                  <a:lnTo>
                    <a:pt x="673100" y="457200"/>
                  </a:lnTo>
                  <a:lnTo>
                    <a:pt x="673100" y="292100"/>
                  </a:lnTo>
                  <a:close/>
                </a:path>
              </a:pathLst>
            </a:custGeom>
            <a:solidFill>
              <a:srgbClr val="4388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774636" y="5434200"/>
            <a:ext cx="28003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20" dirty="0">
                <a:solidFill>
                  <a:srgbClr val="FFFFFF"/>
                </a:solidFill>
                <a:latin typeface="Arial"/>
                <a:cs typeface="Arial"/>
              </a:rPr>
              <a:t>0:22</a:t>
            </a:r>
            <a:endParaRPr sz="1000">
              <a:latin typeface="Arial"/>
              <a:cs typeface="Aria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308100" y="5161150"/>
            <a:ext cx="3103880" cy="7150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960"/>
              </a:lnSpc>
              <a:spcBef>
                <a:spcPts val="100"/>
              </a:spcBef>
            </a:pPr>
            <a:r>
              <a:rPr sz="850" b="1" dirty="0">
                <a:solidFill>
                  <a:srgbClr val="4388BC"/>
                </a:solidFill>
                <a:latin typeface="Arial"/>
                <a:cs typeface="Arial"/>
              </a:rPr>
              <a:t>8 min</a:t>
            </a:r>
            <a:endParaRPr sz="850" dirty="0">
              <a:latin typeface="Arial"/>
              <a:cs typeface="Arial"/>
            </a:endParaRPr>
          </a:p>
          <a:p>
            <a:pPr marL="12700">
              <a:lnSpc>
                <a:spcPts val="1200"/>
              </a:lnSpc>
            </a:pPr>
            <a:r>
              <a:rPr sz="1050" b="1" dirty="0">
                <a:solidFill>
                  <a:srgbClr val="2B2B2B"/>
                </a:solidFill>
                <a:latin typeface="Arial"/>
                <a:cs typeface="Arial"/>
              </a:rPr>
              <a:t>Anatomie d'une boîte mail</a:t>
            </a:r>
            <a:endParaRPr sz="1050" dirty="0">
              <a:latin typeface="Arial"/>
              <a:cs typeface="Arial"/>
            </a:endParaRPr>
          </a:p>
          <a:p>
            <a:pPr marL="12700">
              <a:lnSpc>
                <a:spcPts val="1065"/>
              </a:lnSpc>
              <a:spcBef>
                <a:spcPts val="90"/>
              </a:spcBef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>. Avant de se lancer, comprenons les éléments essentiels de l'interface. Quelle que soit la …</a:t>
            </a:r>
            <a:endParaRPr sz="900" dirty="0">
              <a:latin typeface="Arial"/>
              <a:cs typeface="Arial"/>
            </a:endParaRPr>
          </a:p>
          <a:p>
            <a:pPr marL="12700">
              <a:lnSpc>
                <a:spcPts val="1050"/>
              </a:lnSpc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/>
            </a:r>
            <a:endParaRPr sz="900" dirty="0">
              <a:latin typeface="Arial"/>
              <a:cs typeface="Arial"/>
            </a:endParaRPr>
          </a:p>
          <a:p>
            <a:pPr marL="12700">
              <a:lnSpc>
                <a:spcPts val="1065"/>
              </a:lnSpc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/>
            </a:r>
            <a:endParaRPr sz="900" dirty="0">
              <a:latin typeface="Arial"/>
              <a:cs typeface="Arial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530859" y="5901559"/>
            <a:ext cx="6494780" cy="728980"/>
            <a:chOff x="530859" y="5901559"/>
            <a:chExt cx="6494780" cy="728980"/>
          </a:xfrm>
        </p:grpSpPr>
        <p:sp>
          <p:nvSpPr>
            <p:cNvPr id="37" name="object 37"/>
            <p:cNvSpPr/>
            <p:nvPr/>
          </p:nvSpPr>
          <p:spPr>
            <a:xfrm>
              <a:off x="533399" y="5904099"/>
              <a:ext cx="6489700" cy="723900"/>
            </a:xfrm>
            <a:custGeom>
              <a:avLst/>
              <a:gdLst/>
              <a:ahLst/>
              <a:cxnLst/>
              <a:rect l="l" t="t" r="r" b="b"/>
              <a:pathLst>
                <a:path w="6489700" h="723900">
                  <a:moveTo>
                    <a:pt x="6438900" y="0"/>
                  </a:moveTo>
                  <a:lnTo>
                    <a:pt x="50800" y="0"/>
                  </a:lnTo>
                  <a:lnTo>
                    <a:pt x="31016" y="3988"/>
                  </a:lnTo>
                  <a:lnTo>
                    <a:pt x="14870" y="14870"/>
                  </a:lnTo>
                  <a:lnTo>
                    <a:pt x="3988" y="31016"/>
                  </a:lnTo>
                  <a:lnTo>
                    <a:pt x="0" y="50800"/>
                  </a:lnTo>
                  <a:lnTo>
                    <a:pt x="0" y="673100"/>
                  </a:lnTo>
                  <a:lnTo>
                    <a:pt x="3988" y="692883"/>
                  </a:lnTo>
                  <a:lnTo>
                    <a:pt x="14870" y="709029"/>
                  </a:lnTo>
                  <a:lnTo>
                    <a:pt x="31016" y="719911"/>
                  </a:lnTo>
                  <a:lnTo>
                    <a:pt x="50800" y="723900"/>
                  </a:lnTo>
                  <a:lnTo>
                    <a:pt x="6438900" y="723900"/>
                  </a:lnTo>
                  <a:lnTo>
                    <a:pt x="6458683" y="719911"/>
                  </a:lnTo>
                  <a:lnTo>
                    <a:pt x="6474829" y="709029"/>
                  </a:lnTo>
                  <a:lnTo>
                    <a:pt x="6485711" y="692883"/>
                  </a:lnTo>
                  <a:lnTo>
                    <a:pt x="6489700" y="673100"/>
                  </a:lnTo>
                  <a:lnTo>
                    <a:pt x="6489700" y="50800"/>
                  </a:lnTo>
                  <a:lnTo>
                    <a:pt x="6485711" y="31016"/>
                  </a:lnTo>
                  <a:lnTo>
                    <a:pt x="6474829" y="14870"/>
                  </a:lnTo>
                  <a:lnTo>
                    <a:pt x="6458683" y="3988"/>
                  </a:lnTo>
                  <a:lnTo>
                    <a:pt x="6438900" y="0"/>
                  </a:lnTo>
                  <a:close/>
                </a:path>
              </a:pathLst>
            </a:custGeom>
            <a:solidFill>
              <a:srgbClr val="F8F9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533399" y="5904099"/>
              <a:ext cx="6489700" cy="723900"/>
            </a:xfrm>
            <a:custGeom>
              <a:avLst/>
              <a:gdLst/>
              <a:ahLst/>
              <a:cxnLst/>
              <a:rect l="l" t="t" r="r" b="b"/>
              <a:pathLst>
                <a:path w="6489700" h="723900">
                  <a:moveTo>
                    <a:pt x="50800" y="723900"/>
                  </a:moveTo>
                  <a:lnTo>
                    <a:pt x="6438900" y="723900"/>
                  </a:lnTo>
                  <a:lnTo>
                    <a:pt x="6458683" y="719911"/>
                  </a:lnTo>
                  <a:lnTo>
                    <a:pt x="6474829" y="709029"/>
                  </a:lnTo>
                  <a:lnTo>
                    <a:pt x="6485711" y="692883"/>
                  </a:lnTo>
                  <a:lnTo>
                    <a:pt x="6489700" y="673100"/>
                  </a:lnTo>
                  <a:lnTo>
                    <a:pt x="6489700" y="50800"/>
                  </a:lnTo>
                  <a:lnTo>
                    <a:pt x="6485711" y="31016"/>
                  </a:lnTo>
                  <a:lnTo>
                    <a:pt x="6474829" y="14870"/>
                  </a:lnTo>
                  <a:lnTo>
                    <a:pt x="6458683" y="3988"/>
                  </a:lnTo>
                  <a:lnTo>
                    <a:pt x="6438900" y="0"/>
                  </a:lnTo>
                  <a:lnTo>
                    <a:pt x="50800" y="0"/>
                  </a:lnTo>
                  <a:lnTo>
                    <a:pt x="31016" y="3988"/>
                  </a:lnTo>
                  <a:lnTo>
                    <a:pt x="14870" y="14870"/>
                  </a:lnTo>
                  <a:lnTo>
                    <a:pt x="3988" y="31016"/>
                  </a:lnTo>
                  <a:lnTo>
                    <a:pt x="0" y="50800"/>
                  </a:lnTo>
                  <a:lnTo>
                    <a:pt x="0" y="673100"/>
                  </a:lnTo>
                  <a:lnTo>
                    <a:pt x="3988" y="692883"/>
                  </a:lnTo>
                  <a:lnTo>
                    <a:pt x="14870" y="709029"/>
                  </a:lnTo>
                  <a:lnTo>
                    <a:pt x="31016" y="719911"/>
                  </a:lnTo>
                  <a:lnTo>
                    <a:pt x="50800" y="723900"/>
                  </a:lnTo>
                  <a:close/>
                </a:path>
              </a:pathLst>
            </a:custGeom>
            <a:ln w="5080">
              <a:solidFill>
                <a:srgbClr val="DDE6E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533400" y="5904099"/>
              <a:ext cx="673100" cy="723900"/>
            </a:xfrm>
            <a:custGeom>
              <a:avLst/>
              <a:gdLst/>
              <a:ahLst/>
              <a:cxnLst/>
              <a:rect l="l" t="t" r="r" b="b"/>
              <a:pathLst>
                <a:path w="673100" h="723900">
                  <a:moveTo>
                    <a:pt x="63500" y="0"/>
                  </a:moveTo>
                  <a:lnTo>
                    <a:pt x="0" y="0"/>
                  </a:lnTo>
                  <a:lnTo>
                    <a:pt x="0" y="723900"/>
                  </a:lnTo>
                  <a:lnTo>
                    <a:pt x="63500" y="723900"/>
                  </a:lnTo>
                  <a:lnTo>
                    <a:pt x="63500" y="0"/>
                  </a:lnTo>
                  <a:close/>
                </a:path>
                <a:path w="673100" h="723900">
                  <a:moveTo>
                    <a:pt x="673100" y="292100"/>
                  </a:moveTo>
                  <a:lnTo>
                    <a:pt x="670102" y="277266"/>
                  </a:lnTo>
                  <a:lnTo>
                    <a:pt x="661936" y="265163"/>
                  </a:lnTo>
                  <a:lnTo>
                    <a:pt x="649833" y="256997"/>
                  </a:lnTo>
                  <a:lnTo>
                    <a:pt x="635000" y="254000"/>
                  </a:lnTo>
                  <a:lnTo>
                    <a:pt x="139700" y="254000"/>
                  </a:lnTo>
                  <a:lnTo>
                    <a:pt x="124853" y="256997"/>
                  </a:lnTo>
                  <a:lnTo>
                    <a:pt x="112750" y="265163"/>
                  </a:lnTo>
                  <a:lnTo>
                    <a:pt x="104584" y="277266"/>
                  </a:lnTo>
                  <a:lnTo>
                    <a:pt x="101600" y="292100"/>
                  </a:lnTo>
                  <a:lnTo>
                    <a:pt x="101600" y="457200"/>
                  </a:lnTo>
                  <a:lnTo>
                    <a:pt x="104584" y="472046"/>
                  </a:lnTo>
                  <a:lnTo>
                    <a:pt x="112750" y="484149"/>
                  </a:lnTo>
                  <a:lnTo>
                    <a:pt x="124853" y="492315"/>
                  </a:lnTo>
                  <a:lnTo>
                    <a:pt x="139700" y="495300"/>
                  </a:lnTo>
                  <a:lnTo>
                    <a:pt x="635000" y="495300"/>
                  </a:lnTo>
                  <a:lnTo>
                    <a:pt x="649833" y="492315"/>
                  </a:lnTo>
                  <a:lnTo>
                    <a:pt x="661936" y="484149"/>
                  </a:lnTo>
                  <a:lnTo>
                    <a:pt x="670102" y="472046"/>
                  </a:lnTo>
                  <a:lnTo>
                    <a:pt x="673100" y="457200"/>
                  </a:lnTo>
                  <a:lnTo>
                    <a:pt x="673100" y="292100"/>
                  </a:lnTo>
                  <a:close/>
                </a:path>
              </a:pathLst>
            </a:custGeom>
            <a:solidFill>
              <a:srgbClr val="187C8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0" name="object 40"/>
          <p:cNvSpPr txBox="1"/>
          <p:nvPr/>
        </p:nvSpPr>
        <p:spPr>
          <a:xfrm>
            <a:off x="774636" y="6183500"/>
            <a:ext cx="28003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20" dirty="0">
                <a:solidFill>
                  <a:srgbClr val="FFFFFF"/>
                </a:solidFill>
                <a:latin typeface="Arial"/>
                <a:cs typeface="Arial"/>
              </a:rPr>
              <a:t>0:30</a:t>
            </a:r>
            <a:endParaRPr sz="1000">
              <a:latin typeface="Arial"/>
              <a:cs typeface="Arial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1308100" y="5910450"/>
            <a:ext cx="3103245" cy="5816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960"/>
              </a:lnSpc>
              <a:spcBef>
                <a:spcPts val="100"/>
              </a:spcBef>
            </a:pPr>
            <a:r>
              <a:rPr sz="850" b="1" dirty="0">
                <a:solidFill>
                  <a:srgbClr val="187C88"/>
                </a:solidFill>
                <a:latin typeface="Arial"/>
                <a:cs typeface="Arial"/>
              </a:rPr>
              <a:t>8 min</a:t>
            </a:r>
            <a:endParaRPr sz="850">
              <a:latin typeface="Arial"/>
              <a:cs typeface="Arial"/>
            </a:endParaRPr>
          </a:p>
          <a:p>
            <a:pPr marL="12700">
              <a:lnSpc>
                <a:spcPts val="1200"/>
              </a:lnSpc>
            </a:pPr>
            <a:r>
              <a:rPr sz="1050" b="1" dirty="0">
                <a:solidFill>
                  <a:srgbClr val="2B2B2B"/>
                </a:solidFill>
                <a:latin typeface="Arial"/>
                <a:cs typeface="Arial"/>
              </a:rPr>
              <a:t>Lire et comprendre un e-mail reçu</a:t>
            </a:r>
            <a:endParaRPr sz="1050">
              <a:latin typeface="Arial"/>
              <a:cs typeface="Arial"/>
            </a:endParaRPr>
          </a:p>
          <a:p>
            <a:pPr marL="12700">
              <a:lnSpc>
                <a:spcPts val="1065"/>
              </a:lnSpc>
              <a:spcBef>
                <a:spcPts val="90"/>
              </a:spcBef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>. Recevoir un mail, c'est bien. Le comprendre, c'est mieux ! Chaque e-mail contient plusieur…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ts val="1065"/>
              </a:lnSpc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/>
            </a:r>
            <a:endParaRPr sz="900">
              <a:latin typeface="Arial"/>
              <a:cs typeface="Arial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530859" y="6650859"/>
            <a:ext cx="6494780" cy="728980"/>
            <a:chOff x="530859" y="6650859"/>
            <a:chExt cx="6494780" cy="728980"/>
          </a:xfrm>
        </p:grpSpPr>
        <p:sp>
          <p:nvSpPr>
            <p:cNvPr id="43" name="object 43"/>
            <p:cNvSpPr/>
            <p:nvPr/>
          </p:nvSpPr>
          <p:spPr>
            <a:xfrm>
              <a:off x="533399" y="6653399"/>
              <a:ext cx="6489700" cy="723900"/>
            </a:xfrm>
            <a:custGeom>
              <a:avLst/>
              <a:gdLst/>
              <a:ahLst/>
              <a:cxnLst/>
              <a:rect l="l" t="t" r="r" b="b"/>
              <a:pathLst>
                <a:path w="6489700" h="723900">
                  <a:moveTo>
                    <a:pt x="6438900" y="0"/>
                  </a:moveTo>
                  <a:lnTo>
                    <a:pt x="50800" y="0"/>
                  </a:lnTo>
                  <a:lnTo>
                    <a:pt x="31016" y="3988"/>
                  </a:lnTo>
                  <a:lnTo>
                    <a:pt x="14870" y="14870"/>
                  </a:lnTo>
                  <a:lnTo>
                    <a:pt x="3988" y="31016"/>
                  </a:lnTo>
                  <a:lnTo>
                    <a:pt x="0" y="50800"/>
                  </a:lnTo>
                  <a:lnTo>
                    <a:pt x="0" y="673100"/>
                  </a:lnTo>
                  <a:lnTo>
                    <a:pt x="3988" y="692883"/>
                  </a:lnTo>
                  <a:lnTo>
                    <a:pt x="14870" y="709029"/>
                  </a:lnTo>
                  <a:lnTo>
                    <a:pt x="31016" y="719911"/>
                  </a:lnTo>
                  <a:lnTo>
                    <a:pt x="50800" y="723900"/>
                  </a:lnTo>
                  <a:lnTo>
                    <a:pt x="6438900" y="723900"/>
                  </a:lnTo>
                  <a:lnTo>
                    <a:pt x="6458683" y="719911"/>
                  </a:lnTo>
                  <a:lnTo>
                    <a:pt x="6474829" y="709029"/>
                  </a:lnTo>
                  <a:lnTo>
                    <a:pt x="6485711" y="692883"/>
                  </a:lnTo>
                  <a:lnTo>
                    <a:pt x="6489700" y="673100"/>
                  </a:lnTo>
                  <a:lnTo>
                    <a:pt x="6489700" y="50800"/>
                  </a:lnTo>
                  <a:lnTo>
                    <a:pt x="6485711" y="31016"/>
                  </a:lnTo>
                  <a:lnTo>
                    <a:pt x="6474829" y="14870"/>
                  </a:lnTo>
                  <a:lnTo>
                    <a:pt x="6458683" y="3988"/>
                  </a:lnTo>
                  <a:lnTo>
                    <a:pt x="6438900" y="0"/>
                  </a:lnTo>
                  <a:close/>
                </a:path>
              </a:pathLst>
            </a:custGeom>
            <a:solidFill>
              <a:srgbClr val="F8F9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533399" y="6653399"/>
              <a:ext cx="6489700" cy="723900"/>
            </a:xfrm>
            <a:custGeom>
              <a:avLst/>
              <a:gdLst/>
              <a:ahLst/>
              <a:cxnLst/>
              <a:rect l="l" t="t" r="r" b="b"/>
              <a:pathLst>
                <a:path w="6489700" h="723900">
                  <a:moveTo>
                    <a:pt x="50800" y="723900"/>
                  </a:moveTo>
                  <a:lnTo>
                    <a:pt x="6438900" y="723900"/>
                  </a:lnTo>
                  <a:lnTo>
                    <a:pt x="6458683" y="719911"/>
                  </a:lnTo>
                  <a:lnTo>
                    <a:pt x="6474829" y="709029"/>
                  </a:lnTo>
                  <a:lnTo>
                    <a:pt x="6485711" y="692883"/>
                  </a:lnTo>
                  <a:lnTo>
                    <a:pt x="6489700" y="673100"/>
                  </a:lnTo>
                  <a:lnTo>
                    <a:pt x="6489700" y="50800"/>
                  </a:lnTo>
                  <a:lnTo>
                    <a:pt x="6485711" y="31016"/>
                  </a:lnTo>
                  <a:lnTo>
                    <a:pt x="6474829" y="14870"/>
                  </a:lnTo>
                  <a:lnTo>
                    <a:pt x="6458683" y="3988"/>
                  </a:lnTo>
                  <a:lnTo>
                    <a:pt x="6438900" y="0"/>
                  </a:lnTo>
                  <a:lnTo>
                    <a:pt x="50800" y="0"/>
                  </a:lnTo>
                  <a:lnTo>
                    <a:pt x="31016" y="3988"/>
                  </a:lnTo>
                  <a:lnTo>
                    <a:pt x="14870" y="14870"/>
                  </a:lnTo>
                  <a:lnTo>
                    <a:pt x="3988" y="31016"/>
                  </a:lnTo>
                  <a:lnTo>
                    <a:pt x="0" y="50800"/>
                  </a:lnTo>
                  <a:lnTo>
                    <a:pt x="0" y="673100"/>
                  </a:lnTo>
                  <a:lnTo>
                    <a:pt x="3988" y="692883"/>
                  </a:lnTo>
                  <a:lnTo>
                    <a:pt x="14870" y="709029"/>
                  </a:lnTo>
                  <a:lnTo>
                    <a:pt x="31016" y="719911"/>
                  </a:lnTo>
                  <a:lnTo>
                    <a:pt x="50800" y="723900"/>
                  </a:lnTo>
                  <a:close/>
                </a:path>
              </a:pathLst>
            </a:custGeom>
            <a:ln w="5080">
              <a:solidFill>
                <a:srgbClr val="DDE6E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533400" y="6653399"/>
              <a:ext cx="673100" cy="723900"/>
            </a:xfrm>
            <a:custGeom>
              <a:avLst/>
              <a:gdLst/>
              <a:ahLst/>
              <a:cxnLst/>
              <a:rect l="l" t="t" r="r" b="b"/>
              <a:pathLst>
                <a:path w="673100" h="723900">
                  <a:moveTo>
                    <a:pt x="63500" y="0"/>
                  </a:moveTo>
                  <a:lnTo>
                    <a:pt x="0" y="0"/>
                  </a:lnTo>
                  <a:lnTo>
                    <a:pt x="0" y="723900"/>
                  </a:lnTo>
                  <a:lnTo>
                    <a:pt x="63500" y="723900"/>
                  </a:lnTo>
                  <a:lnTo>
                    <a:pt x="63500" y="0"/>
                  </a:lnTo>
                  <a:close/>
                </a:path>
                <a:path w="673100" h="723900">
                  <a:moveTo>
                    <a:pt x="673100" y="292100"/>
                  </a:moveTo>
                  <a:lnTo>
                    <a:pt x="670102" y="277266"/>
                  </a:lnTo>
                  <a:lnTo>
                    <a:pt x="661936" y="265163"/>
                  </a:lnTo>
                  <a:lnTo>
                    <a:pt x="649833" y="256997"/>
                  </a:lnTo>
                  <a:lnTo>
                    <a:pt x="635000" y="254000"/>
                  </a:lnTo>
                  <a:lnTo>
                    <a:pt x="139700" y="254000"/>
                  </a:lnTo>
                  <a:lnTo>
                    <a:pt x="124853" y="256997"/>
                  </a:lnTo>
                  <a:lnTo>
                    <a:pt x="112750" y="265163"/>
                  </a:lnTo>
                  <a:lnTo>
                    <a:pt x="104584" y="277266"/>
                  </a:lnTo>
                  <a:lnTo>
                    <a:pt x="101600" y="292100"/>
                  </a:lnTo>
                  <a:lnTo>
                    <a:pt x="101600" y="457200"/>
                  </a:lnTo>
                  <a:lnTo>
                    <a:pt x="104584" y="472046"/>
                  </a:lnTo>
                  <a:lnTo>
                    <a:pt x="112750" y="484149"/>
                  </a:lnTo>
                  <a:lnTo>
                    <a:pt x="124853" y="492315"/>
                  </a:lnTo>
                  <a:lnTo>
                    <a:pt x="139700" y="495300"/>
                  </a:lnTo>
                  <a:lnTo>
                    <a:pt x="635000" y="495300"/>
                  </a:lnTo>
                  <a:lnTo>
                    <a:pt x="649833" y="492315"/>
                  </a:lnTo>
                  <a:lnTo>
                    <a:pt x="661936" y="484149"/>
                  </a:lnTo>
                  <a:lnTo>
                    <a:pt x="670102" y="472046"/>
                  </a:lnTo>
                  <a:lnTo>
                    <a:pt x="673100" y="457200"/>
                  </a:lnTo>
                  <a:lnTo>
                    <a:pt x="673100" y="292100"/>
                  </a:lnTo>
                  <a:close/>
                </a:path>
              </a:pathLst>
            </a:custGeom>
            <a:solidFill>
              <a:srgbClr val="5EB3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6" name="object 46"/>
          <p:cNvSpPr txBox="1"/>
          <p:nvPr/>
        </p:nvSpPr>
        <p:spPr>
          <a:xfrm>
            <a:off x="774636" y="6932800"/>
            <a:ext cx="28003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20" dirty="0">
                <a:solidFill>
                  <a:srgbClr val="FFFFFF"/>
                </a:solidFill>
                <a:latin typeface="Arial"/>
                <a:cs typeface="Arial"/>
              </a:rPr>
              <a:t>0:38</a:t>
            </a:r>
            <a:endParaRPr sz="1000">
              <a:latin typeface="Arial"/>
              <a:cs typeface="Arial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1308100" y="6659750"/>
            <a:ext cx="3246755" cy="7150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960"/>
              </a:lnSpc>
              <a:spcBef>
                <a:spcPts val="100"/>
              </a:spcBef>
            </a:pPr>
            <a:r>
              <a:rPr sz="850" b="1" dirty="0">
                <a:solidFill>
                  <a:srgbClr val="5EB3D2"/>
                </a:solidFill>
                <a:latin typeface="Arial"/>
                <a:cs typeface="Arial"/>
              </a:rPr>
              <a:t>8 min</a:t>
            </a:r>
            <a:endParaRPr sz="850">
              <a:latin typeface="Arial"/>
              <a:cs typeface="Arial"/>
            </a:endParaRPr>
          </a:p>
          <a:p>
            <a:pPr marL="12700">
              <a:lnSpc>
                <a:spcPts val="1200"/>
              </a:lnSpc>
            </a:pPr>
            <a:r>
              <a:rPr sz="1050" b="1" dirty="0">
                <a:solidFill>
                  <a:srgbClr val="2B2B2B"/>
                </a:solidFill>
                <a:latin typeface="Arial"/>
                <a:cs typeface="Arial"/>
              </a:rPr>
              <a:t>Rédiger et envoyer un e-mail</a:t>
            </a:r>
            <a:endParaRPr sz="1050">
              <a:latin typeface="Arial"/>
              <a:cs typeface="Arial"/>
            </a:endParaRPr>
          </a:p>
          <a:p>
            <a:pPr marL="12700">
              <a:lnSpc>
                <a:spcPts val="1065"/>
              </a:lnSpc>
              <a:spcBef>
                <a:spcPts val="90"/>
              </a:spcBef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>. Envoyer un mail professionnel ou personnel ne s'improvise pas tout à fait. Voici les étape…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ts val="1050"/>
              </a:lnSpc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/>
            </a:r>
            <a:endParaRPr sz="900">
              <a:latin typeface="Arial"/>
              <a:cs typeface="Arial"/>
            </a:endParaRPr>
          </a:p>
          <a:p>
            <a:pPr marL="12700">
              <a:lnSpc>
                <a:spcPts val="1065"/>
              </a:lnSpc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/>
            </a:r>
            <a:endParaRPr sz="900">
              <a:latin typeface="Arial"/>
              <a:cs typeface="Arial"/>
            </a:endParaRPr>
          </a:p>
        </p:txBody>
      </p:sp>
      <p:grpSp>
        <p:nvGrpSpPr>
          <p:cNvPr id="48" name="object 48"/>
          <p:cNvGrpSpPr/>
          <p:nvPr/>
        </p:nvGrpSpPr>
        <p:grpSpPr>
          <a:xfrm>
            <a:off x="533400" y="8101200"/>
            <a:ext cx="6489700" cy="1422400"/>
            <a:chOff x="533400" y="8101200"/>
            <a:chExt cx="6489700" cy="1422400"/>
          </a:xfrm>
        </p:grpSpPr>
        <p:sp>
          <p:nvSpPr>
            <p:cNvPr id="49" name="object 49"/>
            <p:cNvSpPr/>
            <p:nvPr/>
          </p:nvSpPr>
          <p:spPr>
            <a:xfrm>
              <a:off x="533400" y="8101200"/>
              <a:ext cx="6489700" cy="698500"/>
            </a:xfrm>
            <a:custGeom>
              <a:avLst/>
              <a:gdLst/>
              <a:ahLst/>
              <a:cxnLst/>
              <a:rect l="l" t="t" r="r" b="b"/>
              <a:pathLst>
                <a:path w="6489700" h="698500">
                  <a:moveTo>
                    <a:pt x="6438900" y="0"/>
                  </a:moveTo>
                  <a:lnTo>
                    <a:pt x="50800" y="0"/>
                  </a:lnTo>
                  <a:lnTo>
                    <a:pt x="31016" y="3988"/>
                  </a:lnTo>
                  <a:lnTo>
                    <a:pt x="14870" y="14870"/>
                  </a:lnTo>
                  <a:lnTo>
                    <a:pt x="3988" y="31016"/>
                  </a:lnTo>
                  <a:lnTo>
                    <a:pt x="0" y="50800"/>
                  </a:lnTo>
                  <a:lnTo>
                    <a:pt x="0" y="647700"/>
                  </a:lnTo>
                  <a:lnTo>
                    <a:pt x="3988" y="667483"/>
                  </a:lnTo>
                  <a:lnTo>
                    <a:pt x="14870" y="683629"/>
                  </a:lnTo>
                  <a:lnTo>
                    <a:pt x="31016" y="694511"/>
                  </a:lnTo>
                  <a:lnTo>
                    <a:pt x="50800" y="698500"/>
                  </a:lnTo>
                  <a:lnTo>
                    <a:pt x="6438900" y="698500"/>
                  </a:lnTo>
                  <a:lnTo>
                    <a:pt x="6458683" y="694511"/>
                  </a:lnTo>
                  <a:lnTo>
                    <a:pt x="6474829" y="683629"/>
                  </a:lnTo>
                  <a:lnTo>
                    <a:pt x="6485711" y="667483"/>
                  </a:lnTo>
                  <a:lnTo>
                    <a:pt x="6489700" y="647700"/>
                  </a:lnTo>
                  <a:lnTo>
                    <a:pt x="6489700" y="50800"/>
                  </a:lnTo>
                  <a:lnTo>
                    <a:pt x="6485711" y="31016"/>
                  </a:lnTo>
                  <a:lnTo>
                    <a:pt x="6474829" y="14870"/>
                  </a:lnTo>
                  <a:lnTo>
                    <a:pt x="6458683" y="3988"/>
                  </a:lnTo>
                  <a:lnTo>
                    <a:pt x="6438900" y="0"/>
                  </a:lnTo>
                  <a:close/>
                </a:path>
              </a:pathLst>
            </a:custGeom>
            <a:solidFill>
              <a:srgbClr val="FFF8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635000" y="8329800"/>
              <a:ext cx="571500" cy="241300"/>
            </a:xfrm>
            <a:custGeom>
              <a:avLst/>
              <a:gdLst/>
              <a:ahLst/>
              <a:cxnLst/>
              <a:rect l="l" t="t" r="r" b="b"/>
              <a:pathLst>
                <a:path w="571500" h="241300">
                  <a:moveTo>
                    <a:pt x="533400" y="0"/>
                  </a:moveTo>
                  <a:lnTo>
                    <a:pt x="38100" y="0"/>
                  </a:lnTo>
                  <a:lnTo>
                    <a:pt x="23263" y="2992"/>
                  </a:lnTo>
                  <a:lnTo>
                    <a:pt x="11153" y="11153"/>
                  </a:lnTo>
                  <a:lnTo>
                    <a:pt x="2992" y="23263"/>
                  </a:lnTo>
                  <a:lnTo>
                    <a:pt x="0" y="38100"/>
                  </a:lnTo>
                  <a:lnTo>
                    <a:pt x="0" y="203200"/>
                  </a:lnTo>
                  <a:lnTo>
                    <a:pt x="2992" y="218036"/>
                  </a:lnTo>
                  <a:lnTo>
                    <a:pt x="11153" y="230146"/>
                  </a:lnTo>
                  <a:lnTo>
                    <a:pt x="23263" y="238307"/>
                  </a:lnTo>
                  <a:lnTo>
                    <a:pt x="38100" y="241300"/>
                  </a:lnTo>
                  <a:lnTo>
                    <a:pt x="533400" y="241300"/>
                  </a:lnTo>
                  <a:lnTo>
                    <a:pt x="548236" y="238307"/>
                  </a:lnTo>
                  <a:lnTo>
                    <a:pt x="560346" y="230146"/>
                  </a:lnTo>
                  <a:lnTo>
                    <a:pt x="568507" y="218036"/>
                  </a:lnTo>
                  <a:lnTo>
                    <a:pt x="571500" y="203200"/>
                  </a:lnTo>
                  <a:lnTo>
                    <a:pt x="571500" y="38100"/>
                  </a:lnTo>
                  <a:lnTo>
                    <a:pt x="568507" y="23263"/>
                  </a:lnTo>
                  <a:lnTo>
                    <a:pt x="560346" y="11153"/>
                  </a:lnTo>
                  <a:lnTo>
                    <a:pt x="548236" y="2992"/>
                  </a:lnTo>
                  <a:lnTo>
                    <a:pt x="533400" y="0"/>
                  </a:lnTo>
                  <a:close/>
                </a:path>
              </a:pathLst>
            </a:custGeom>
            <a:solidFill>
              <a:srgbClr val="E67D2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533400" y="8825100"/>
              <a:ext cx="6489700" cy="698500"/>
            </a:xfrm>
            <a:custGeom>
              <a:avLst/>
              <a:gdLst/>
              <a:ahLst/>
              <a:cxnLst/>
              <a:rect l="l" t="t" r="r" b="b"/>
              <a:pathLst>
                <a:path w="6489700" h="698500">
                  <a:moveTo>
                    <a:pt x="6438900" y="0"/>
                  </a:moveTo>
                  <a:lnTo>
                    <a:pt x="50800" y="0"/>
                  </a:lnTo>
                  <a:lnTo>
                    <a:pt x="31016" y="3988"/>
                  </a:lnTo>
                  <a:lnTo>
                    <a:pt x="14870" y="14870"/>
                  </a:lnTo>
                  <a:lnTo>
                    <a:pt x="3988" y="31016"/>
                  </a:lnTo>
                  <a:lnTo>
                    <a:pt x="0" y="50800"/>
                  </a:lnTo>
                  <a:lnTo>
                    <a:pt x="0" y="647700"/>
                  </a:lnTo>
                  <a:lnTo>
                    <a:pt x="3988" y="667483"/>
                  </a:lnTo>
                  <a:lnTo>
                    <a:pt x="14870" y="683629"/>
                  </a:lnTo>
                  <a:lnTo>
                    <a:pt x="31016" y="694511"/>
                  </a:lnTo>
                  <a:lnTo>
                    <a:pt x="50800" y="698500"/>
                  </a:lnTo>
                  <a:lnTo>
                    <a:pt x="6438900" y="698500"/>
                  </a:lnTo>
                  <a:lnTo>
                    <a:pt x="6458683" y="694511"/>
                  </a:lnTo>
                  <a:lnTo>
                    <a:pt x="6474829" y="683629"/>
                  </a:lnTo>
                  <a:lnTo>
                    <a:pt x="6485711" y="667483"/>
                  </a:lnTo>
                  <a:lnTo>
                    <a:pt x="6489700" y="647700"/>
                  </a:lnTo>
                  <a:lnTo>
                    <a:pt x="6489700" y="50800"/>
                  </a:lnTo>
                  <a:lnTo>
                    <a:pt x="6485711" y="31016"/>
                  </a:lnTo>
                  <a:lnTo>
                    <a:pt x="6474829" y="14870"/>
                  </a:lnTo>
                  <a:lnTo>
                    <a:pt x="6458683" y="3988"/>
                  </a:lnTo>
                  <a:lnTo>
                    <a:pt x="6438900" y="0"/>
                  </a:lnTo>
                  <a:close/>
                </a:path>
              </a:pathLst>
            </a:custGeom>
            <a:solidFill>
              <a:srgbClr val="FFF8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635000" y="9053700"/>
              <a:ext cx="571500" cy="241300"/>
            </a:xfrm>
            <a:custGeom>
              <a:avLst/>
              <a:gdLst/>
              <a:ahLst/>
              <a:cxnLst/>
              <a:rect l="l" t="t" r="r" b="b"/>
              <a:pathLst>
                <a:path w="571500" h="241300">
                  <a:moveTo>
                    <a:pt x="533400" y="0"/>
                  </a:moveTo>
                  <a:lnTo>
                    <a:pt x="38100" y="0"/>
                  </a:lnTo>
                  <a:lnTo>
                    <a:pt x="23263" y="2992"/>
                  </a:lnTo>
                  <a:lnTo>
                    <a:pt x="11153" y="11153"/>
                  </a:lnTo>
                  <a:lnTo>
                    <a:pt x="2992" y="23263"/>
                  </a:lnTo>
                  <a:lnTo>
                    <a:pt x="0" y="38100"/>
                  </a:lnTo>
                  <a:lnTo>
                    <a:pt x="0" y="203200"/>
                  </a:lnTo>
                  <a:lnTo>
                    <a:pt x="2992" y="218036"/>
                  </a:lnTo>
                  <a:lnTo>
                    <a:pt x="11153" y="230146"/>
                  </a:lnTo>
                  <a:lnTo>
                    <a:pt x="23263" y="238307"/>
                  </a:lnTo>
                  <a:lnTo>
                    <a:pt x="38100" y="241300"/>
                  </a:lnTo>
                  <a:lnTo>
                    <a:pt x="533400" y="241300"/>
                  </a:lnTo>
                  <a:lnTo>
                    <a:pt x="548236" y="238307"/>
                  </a:lnTo>
                  <a:lnTo>
                    <a:pt x="560346" y="230146"/>
                  </a:lnTo>
                  <a:lnTo>
                    <a:pt x="568507" y="218036"/>
                  </a:lnTo>
                  <a:lnTo>
                    <a:pt x="571500" y="203200"/>
                  </a:lnTo>
                  <a:lnTo>
                    <a:pt x="571500" y="38100"/>
                  </a:lnTo>
                  <a:lnTo>
                    <a:pt x="568507" y="23263"/>
                  </a:lnTo>
                  <a:lnTo>
                    <a:pt x="560346" y="11153"/>
                  </a:lnTo>
                  <a:lnTo>
                    <a:pt x="548236" y="2992"/>
                  </a:lnTo>
                  <a:lnTo>
                    <a:pt x="533400" y="0"/>
                  </a:lnTo>
                  <a:close/>
                </a:path>
              </a:pathLst>
            </a:custGeom>
            <a:solidFill>
              <a:srgbClr val="E67D2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53" name="object 53"/>
          <p:cNvGraphicFramePr>
            <a:graphicFrameLocks noGrp="1"/>
          </p:cNvGraphicFramePr>
          <p:nvPr/>
        </p:nvGraphicFramePr>
        <p:xfrm>
          <a:off x="533400" y="7868790"/>
          <a:ext cx="6457950" cy="166306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457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4629">
                <a:tc>
                  <a:txBody>
                    <a:bodyPr/>
                    <a:lstStyle/>
                    <a:p>
                      <a:pPr marR="20320" algn="ctr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850" b="1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Blocs</a:t>
                      </a:r>
                      <a:r>
                        <a:rPr sz="850" b="1" spc="-20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50" b="1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optionnels</a:t>
                      </a:r>
                      <a:r>
                        <a:rPr sz="850" b="1" spc="-15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50" b="1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-</a:t>
                      </a:r>
                      <a:r>
                        <a:rPr sz="850" b="1" spc="-20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50" b="1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850" b="1" spc="-15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50" b="1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aborder</a:t>
                      </a:r>
                      <a:r>
                        <a:rPr sz="850" b="1" spc="-15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50" b="1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si</a:t>
                      </a:r>
                      <a:r>
                        <a:rPr sz="850" b="1" spc="-20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50" b="1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le</a:t>
                      </a:r>
                      <a:r>
                        <a:rPr sz="850" b="1" spc="-15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50" b="1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temps</a:t>
                      </a:r>
                      <a:r>
                        <a:rPr sz="850" b="1" spc="-15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50" b="1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le</a:t>
                      </a:r>
                      <a:r>
                        <a:rPr sz="850" b="1" spc="-20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50" b="1" spc="-10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permet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T="44450" marB="0">
                    <a:lnL w="57150">
                      <a:solidFill>
                        <a:srgbClr val="E67D21"/>
                      </a:solidFill>
                      <a:prstDash val="solid"/>
                    </a:lnL>
                    <a:lnR w="9525">
                      <a:solidFill>
                        <a:srgbClr val="E67D21"/>
                      </a:solidFill>
                      <a:prstDash val="solid"/>
                    </a:lnR>
                    <a:lnT w="9525">
                      <a:solidFill>
                        <a:srgbClr val="E67D21"/>
                      </a:solidFill>
                      <a:prstDash val="solid"/>
                    </a:lnT>
                    <a:lnB w="28575">
                      <a:solidFill>
                        <a:srgbClr val="E67D21"/>
                      </a:solidFill>
                      <a:prstDash val="solid"/>
                    </a:lnB>
                    <a:solidFill>
                      <a:srgbClr val="FFF3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4535">
                <a:tc>
                  <a:txBody>
                    <a:bodyPr/>
                    <a:lstStyle/>
                    <a:p>
                      <a:pPr marL="755650">
                        <a:lnSpc>
                          <a:spcPts val="960"/>
                        </a:lnSpc>
                        <a:spcBef>
                          <a:spcPts val="254"/>
                        </a:spcBef>
                      </a:pPr>
                      <a:r>
                        <a:rPr sz="850" b="1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15</a:t>
                      </a:r>
                      <a:r>
                        <a:rPr sz="850" b="1" spc="-10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50" b="1" spc="-25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min</a:t>
                      </a:r>
                      <a:endParaRPr sz="850">
                        <a:latin typeface="Arial"/>
                        <a:cs typeface="Arial"/>
                      </a:endParaRPr>
                    </a:p>
                    <a:p>
                      <a:pPr marL="755650">
                        <a:lnSpc>
                          <a:spcPts val="1200"/>
                        </a:lnSpc>
                      </a:pPr>
                      <a:r>
                        <a:rPr sz="1050" b="1" spc="-10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Teleconsultation</a:t>
                      </a:r>
                      <a:endParaRPr sz="1050">
                        <a:latin typeface="Arial"/>
                        <a:cs typeface="Arial"/>
                      </a:endParaRPr>
                    </a:p>
                    <a:p>
                      <a:pPr marL="230504">
                        <a:lnSpc>
                          <a:spcPts val="1065"/>
                        </a:lnSpc>
                        <a:spcBef>
                          <a:spcPts val="90"/>
                        </a:spcBef>
                        <a:tabLst>
                          <a:tab pos="755015" algn="l"/>
                        </a:tabLst>
                      </a:pPr>
                      <a:r>
                        <a:rPr sz="1200" b="1" spc="-30" baseline="13888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OPT.</a:t>
                      </a:r>
                      <a:r>
                        <a:rPr sz="1200" b="1" baseline="13888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sz="900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.</a:t>
                      </a:r>
                      <a:r>
                        <a:rPr sz="900" spc="-5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Expliquer</a:t>
                      </a:r>
                      <a:r>
                        <a:rPr sz="900" spc="-5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ce qu'est</a:t>
                      </a:r>
                      <a:r>
                        <a:rPr sz="900" spc="-5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la teleconsultation</a:t>
                      </a:r>
                      <a:r>
                        <a:rPr sz="900" spc="-5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et</a:t>
                      </a:r>
                      <a:r>
                        <a:rPr sz="900" spc="-5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son </a:t>
                      </a:r>
                      <a:r>
                        <a:rPr sz="900" spc="-10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remboursement</a:t>
                      </a:r>
                      <a:endParaRPr sz="900">
                        <a:latin typeface="Arial"/>
                        <a:cs typeface="Arial"/>
                      </a:endParaRPr>
                    </a:p>
                    <a:p>
                      <a:pPr marL="755650">
                        <a:lnSpc>
                          <a:spcPts val="1050"/>
                        </a:lnSpc>
                      </a:pPr>
                      <a:r>
                        <a:rPr sz="900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. Montrer comment reperer un medecin proposant la </a:t>
                      </a:r>
                      <a:r>
                        <a:rPr sz="900" spc="-10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video</a:t>
                      </a:r>
                      <a:endParaRPr sz="900">
                        <a:latin typeface="Arial"/>
                        <a:cs typeface="Arial"/>
                      </a:endParaRPr>
                    </a:p>
                    <a:p>
                      <a:pPr marL="755650">
                        <a:lnSpc>
                          <a:spcPts val="985"/>
                        </a:lnSpc>
                      </a:pPr>
                      <a:r>
                        <a:rPr sz="900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. Simuler la reception du lien et le demarrage de la </a:t>
                      </a:r>
                      <a:r>
                        <a:rPr sz="900" spc="-10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session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32384" marB="0">
                    <a:lnL w="76200">
                      <a:solidFill>
                        <a:srgbClr val="E67D21"/>
                      </a:solidFill>
                      <a:prstDash val="solid"/>
                    </a:lnL>
                    <a:lnR w="6350">
                      <a:solidFill>
                        <a:srgbClr val="EFC799"/>
                      </a:solidFill>
                      <a:prstDash val="solid"/>
                    </a:lnR>
                    <a:lnT w="28575">
                      <a:solidFill>
                        <a:srgbClr val="E67D21"/>
                      </a:solidFill>
                      <a:prstDash val="solid"/>
                    </a:lnT>
                    <a:lnB w="19050">
                      <a:solidFill>
                        <a:srgbClr val="EFC79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1200">
                <a:tc>
                  <a:txBody>
                    <a:bodyPr/>
                    <a:lstStyle/>
                    <a:p>
                      <a:pPr marL="755650">
                        <a:lnSpc>
                          <a:spcPts val="960"/>
                        </a:lnSpc>
                        <a:spcBef>
                          <a:spcPts val="250"/>
                        </a:spcBef>
                      </a:pPr>
                      <a:r>
                        <a:rPr sz="850" b="1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10</a:t>
                      </a:r>
                      <a:r>
                        <a:rPr sz="850" b="1" spc="-10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50" b="1" spc="-25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min</a:t>
                      </a:r>
                      <a:endParaRPr sz="850">
                        <a:latin typeface="Arial"/>
                        <a:cs typeface="Arial"/>
                      </a:endParaRPr>
                    </a:p>
                    <a:p>
                      <a:pPr marL="755650">
                        <a:lnSpc>
                          <a:spcPts val="1200"/>
                        </a:lnSpc>
                      </a:pPr>
                      <a:r>
                        <a:rPr sz="1050" b="1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Acceder</a:t>
                      </a:r>
                      <a:r>
                        <a:rPr sz="1050" b="1" spc="-25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50" b="1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1050" b="1" spc="-25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50" b="1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mes</a:t>
                      </a:r>
                      <a:r>
                        <a:rPr sz="1050" b="1" spc="-20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50" b="1" spc="-10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documents</a:t>
                      </a:r>
                      <a:endParaRPr sz="1050">
                        <a:latin typeface="Arial"/>
                        <a:cs typeface="Arial"/>
                      </a:endParaRPr>
                    </a:p>
                    <a:p>
                      <a:pPr marR="3022600" algn="r">
                        <a:lnSpc>
                          <a:spcPts val="1065"/>
                        </a:lnSpc>
                        <a:spcBef>
                          <a:spcPts val="90"/>
                        </a:spcBef>
                        <a:tabLst>
                          <a:tab pos="524510" algn="l"/>
                        </a:tabLst>
                      </a:pPr>
                      <a:r>
                        <a:rPr sz="1200" b="1" spc="-30" baseline="13888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OPT.</a:t>
                      </a:r>
                      <a:r>
                        <a:rPr sz="1200" b="1" baseline="13888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sz="900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. Naviguer vers Mon espace sante &gt; Mes </a:t>
                      </a:r>
                      <a:r>
                        <a:rPr sz="900" spc="-10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documents</a:t>
                      </a:r>
                      <a:endParaRPr sz="900">
                        <a:latin typeface="Arial"/>
                        <a:cs typeface="Arial"/>
                      </a:endParaRPr>
                    </a:p>
                    <a:p>
                      <a:pPr marR="3035300" algn="r">
                        <a:lnSpc>
                          <a:spcPts val="1050"/>
                        </a:lnSpc>
                      </a:pPr>
                      <a:r>
                        <a:rPr sz="900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. Retrouver une ordonnance ou un resultat </a:t>
                      </a:r>
                      <a:r>
                        <a:rPr sz="900" spc="-10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d'analyse</a:t>
                      </a:r>
                      <a:endParaRPr sz="900">
                        <a:latin typeface="Arial"/>
                        <a:cs typeface="Arial"/>
                      </a:endParaRPr>
                    </a:p>
                    <a:p>
                      <a:pPr marL="755650">
                        <a:lnSpc>
                          <a:spcPts val="885"/>
                        </a:lnSpc>
                      </a:pPr>
                      <a:r>
                        <a:rPr sz="900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. Telecharger ou imprimer un document depuis </a:t>
                      </a:r>
                      <a:r>
                        <a:rPr sz="900" spc="-10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Doctolib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31750" marB="0">
                    <a:lnL w="76200">
                      <a:solidFill>
                        <a:srgbClr val="E67D21"/>
                      </a:solidFill>
                      <a:prstDash val="solid"/>
                    </a:lnL>
                    <a:lnT w="19050">
                      <a:solidFill>
                        <a:srgbClr val="EFC799"/>
                      </a:solidFill>
                      <a:prstDash val="solid"/>
                    </a:lnT>
                    <a:lnB w="9525">
                      <a:solidFill>
                        <a:srgbClr val="EFC79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54" name="object 54"/>
          <p:cNvGrpSpPr/>
          <p:nvPr/>
        </p:nvGrpSpPr>
        <p:grpSpPr>
          <a:xfrm>
            <a:off x="528955" y="9569955"/>
            <a:ext cx="6498590" cy="72390"/>
            <a:chOff x="528955" y="9569955"/>
            <a:chExt cx="6498590" cy="72390"/>
          </a:xfrm>
        </p:grpSpPr>
        <p:sp>
          <p:nvSpPr>
            <p:cNvPr id="55" name="object 55"/>
            <p:cNvSpPr/>
            <p:nvPr/>
          </p:nvSpPr>
          <p:spPr>
            <a:xfrm>
              <a:off x="533400" y="9574400"/>
              <a:ext cx="6489700" cy="63500"/>
            </a:xfrm>
            <a:custGeom>
              <a:avLst/>
              <a:gdLst/>
              <a:ahLst/>
              <a:cxnLst/>
              <a:rect l="l" t="t" r="r" b="b"/>
              <a:pathLst>
                <a:path w="6489700" h="63500">
                  <a:moveTo>
                    <a:pt x="0" y="0"/>
                  </a:moveTo>
                  <a:lnTo>
                    <a:pt x="0" y="63500"/>
                  </a:lnTo>
                  <a:lnTo>
                    <a:pt x="4985" y="38769"/>
                  </a:lnTo>
                  <a:lnTo>
                    <a:pt x="9715" y="31750"/>
                  </a:lnTo>
                  <a:lnTo>
                    <a:pt x="4985" y="24730"/>
                  </a:lnTo>
                  <a:lnTo>
                    <a:pt x="0" y="0"/>
                  </a:lnTo>
                  <a:close/>
                </a:path>
                <a:path w="6489700" h="63500">
                  <a:moveTo>
                    <a:pt x="6426200" y="0"/>
                  </a:move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9715" y="31750"/>
                  </a:lnTo>
                  <a:lnTo>
                    <a:pt x="18586" y="44913"/>
                  </a:lnTo>
                  <a:lnTo>
                    <a:pt x="38769" y="58514"/>
                  </a:lnTo>
                  <a:lnTo>
                    <a:pt x="63500" y="63500"/>
                  </a:lnTo>
                  <a:lnTo>
                    <a:pt x="6426200" y="63500"/>
                  </a:lnTo>
                  <a:lnTo>
                    <a:pt x="6450930" y="58514"/>
                  </a:lnTo>
                  <a:lnTo>
                    <a:pt x="6471113" y="44913"/>
                  </a:lnTo>
                  <a:lnTo>
                    <a:pt x="6479984" y="31750"/>
                  </a:lnTo>
                  <a:lnTo>
                    <a:pt x="6471113" y="18586"/>
                  </a:lnTo>
                  <a:lnTo>
                    <a:pt x="6450930" y="4985"/>
                  </a:lnTo>
                  <a:lnTo>
                    <a:pt x="6426200" y="0"/>
                  </a:lnTo>
                  <a:close/>
                </a:path>
                <a:path w="6489700" h="63500">
                  <a:moveTo>
                    <a:pt x="6489700" y="0"/>
                  </a:moveTo>
                  <a:lnTo>
                    <a:pt x="6484714" y="24730"/>
                  </a:lnTo>
                  <a:lnTo>
                    <a:pt x="6479984" y="31750"/>
                  </a:lnTo>
                  <a:lnTo>
                    <a:pt x="6484714" y="38769"/>
                  </a:lnTo>
                  <a:lnTo>
                    <a:pt x="6489700" y="63500"/>
                  </a:lnTo>
                  <a:lnTo>
                    <a:pt x="6489700" y="0"/>
                  </a:lnTo>
                  <a:close/>
                </a:path>
              </a:pathLst>
            </a:custGeom>
            <a:solidFill>
              <a:srgbClr val="FFFC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533400" y="9574400"/>
              <a:ext cx="6489700" cy="63500"/>
            </a:xfrm>
            <a:custGeom>
              <a:avLst/>
              <a:gdLst/>
              <a:ahLst/>
              <a:cxnLst/>
              <a:rect l="l" t="t" r="r" b="b"/>
              <a:pathLst>
                <a:path w="6489700" h="63500">
                  <a:moveTo>
                    <a:pt x="63500" y="63500"/>
                  </a:moveTo>
                  <a:lnTo>
                    <a:pt x="6426200" y="63500"/>
                  </a:lnTo>
                  <a:lnTo>
                    <a:pt x="6450930" y="58514"/>
                  </a:lnTo>
                  <a:lnTo>
                    <a:pt x="6471113" y="44913"/>
                  </a:lnTo>
                  <a:lnTo>
                    <a:pt x="6484714" y="24730"/>
                  </a:lnTo>
                  <a:lnTo>
                    <a:pt x="6489700" y="0"/>
                  </a:lnTo>
                  <a:lnTo>
                    <a:pt x="6489700" y="63500"/>
                  </a:lnTo>
                  <a:lnTo>
                    <a:pt x="6484714" y="38769"/>
                  </a:lnTo>
                  <a:lnTo>
                    <a:pt x="6471113" y="18586"/>
                  </a:lnTo>
                  <a:lnTo>
                    <a:pt x="6450930" y="4985"/>
                  </a:lnTo>
                  <a:lnTo>
                    <a:pt x="6426200" y="0"/>
                  </a:ln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0"/>
                  </a:lnTo>
                  <a:lnTo>
                    <a:pt x="4985" y="24730"/>
                  </a:lnTo>
                  <a:lnTo>
                    <a:pt x="18586" y="44913"/>
                  </a:lnTo>
                  <a:lnTo>
                    <a:pt x="38769" y="58514"/>
                  </a:lnTo>
                  <a:lnTo>
                    <a:pt x="63500" y="63500"/>
                  </a:lnTo>
                  <a:close/>
                </a:path>
              </a:pathLst>
            </a:custGeom>
            <a:ln w="8890">
              <a:solidFill>
                <a:srgbClr val="F8A82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7" name="object 57"/>
          <p:cNvSpPr txBox="1"/>
          <p:nvPr/>
        </p:nvSpPr>
        <p:spPr>
          <a:xfrm>
            <a:off x="609600" y="9571577"/>
            <a:ext cx="4641850" cy="826135"/>
          </a:xfrm>
          <a:prstGeom prst="rect">
            <a:avLst/>
          </a:prstGeom>
        </p:spPr>
        <p:txBody>
          <a:bodyPr vert="horz" wrap="square" lIns="0" tIns="4064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320"/>
              </a:spcBef>
            </a:pPr>
            <a:r>
              <a:rPr sz="1000" b="1" dirty="0">
                <a:solidFill>
                  <a:srgbClr val="5D4037"/>
                </a:solidFill>
                <a:latin typeface="Arial"/>
                <a:cs typeface="Arial"/>
              </a:rPr>
              <a:t>Conseils</a:t>
            </a:r>
            <a:r>
              <a:rPr sz="1000" b="1" spc="-15" dirty="0">
                <a:solidFill>
                  <a:srgbClr val="5D4037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5D4037"/>
                </a:solidFill>
                <a:latin typeface="Arial"/>
                <a:cs typeface="Arial"/>
              </a:rPr>
              <a:t>pour</a:t>
            </a:r>
            <a:r>
              <a:rPr sz="1000" b="1" spc="-15" dirty="0">
                <a:solidFill>
                  <a:srgbClr val="5D4037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5D4037"/>
                </a:solidFill>
                <a:latin typeface="Arial"/>
                <a:cs typeface="Arial"/>
              </a:rPr>
              <a:t>une</a:t>
            </a:r>
            <a:r>
              <a:rPr sz="1000" b="1" spc="-10" dirty="0">
                <a:solidFill>
                  <a:srgbClr val="5D4037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5D4037"/>
                </a:solidFill>
                <a:latin typeface="Arial"/>
                <a:cs typeface="Arial"/>
              </a:rPr>
              <a:t>bonne</a:t>
            </a:r>
            <a:r>
              <a:rPr sz="1000" b="1" spc="-15" dirty="0">
                <a:solidFill>
                  <a:srgbClr val="5D4037"/>
                </a:solidFill>
                <a:latin typeface="Arial"/>
                <a:cs typeface="Arial"/>
              </a:rPr>
              <a:t> </a:t>
            </a:r>
            <a:r>
              <a:rPr sz="1000" b="1" spc="-10" dirty="0">
                <a:solidFill>
                  <a:srgbClr val="5D4037"/>
                </a:solidFill>
                <a:latin typeface="Arial"/>
                <a:cs typeface="Arial"/>
              </a:rPr>
              <a:t>animation</a:t>
            </a:r>
            <a:endParaRPr sz="1000">
              <a:latin typeface="Arial"/>
              <a:cs typeface="Arial"/>
            </a:endParaRPr>
          </a:p>
          <a:p>
            <a:pPr marL="149225" indent="-98425">
              <a:lnSpc>
                <a:spcPct val="100000"/>
              </a:lnSpc>
              <a:spcBef>
                <a:spcPts val="200"/>
              </a:spcBef>
              <a:buChar char="&gt;"/>
              <a:tabLst>
                <a:tab pos="149225" algn="l"/>
              </a:tabLst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>Adapter le rythme selon le niveau du groupe.</a:t>
            </a:r>
            <a:endParaRPr sz="900">
              <a:latin typeface="Arial"/>
              <a:cs typeface="Arial"/>
            </a:endParaRPr>
          </a:p>
          <a:p>
            <a:pPr marL="149225" indent="-98425">
              <a:lnSpc>
                <a:spcPct val="100000"/>
              </a:lnSpc>
              <a:spcBef>
                <a:spcPts val="120"/>
              </a:spcBef>
              <a:buChar char="&gt;"/>
              <a:tabLst>
                <a:tab pos="149225" algn="l"/>
              </a:tabLst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>Laisser les participants manipuler dès que possible.</a:t>
            </a:r>
            <a:endParaRPr sz="900">
              <a:latin typeface="Arial"/>
              <a:cs typeface="Arial"/>
            </a:endParaRPr>
          </a:p>
          <a:p>
            <a:pPr marL="149225" indent="-98425">
              <a:lnSpc>
                <a:spcPct val="100000"/>
              </a:lnSpc>
              <a:spcBef>
                <a:spcPts val="120"/>
              </a:spcBef>
              <a:buChar char="&gt;"/>
              <a:tabLst>
                <a:tab pos="149225" algn="l"/>
              </a:tabLst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>Prévoir un compte de démonstration pour ne pas exposer de données personnelles.</a:t>
            </a:r>
            <a:endParaRPr sz="900">
              <a:latin typeface="Arial"/>
              <a:cs typeface="Arial"/>
            </a:endParaRPr>
          </a:p>
          <a:p>
            <a:pPr marL="149225" indent="-98425">
              <a:lnSpc>
                <a:spcPct val="100000"/>
              </a:lnSpc>
              <a:spcBef>
                <a:spcPts val="120"/>
              </a:spcBef>
              <a:buChar char="&gt;"/>
              <a:tabLst>
                <a:tab pos="149225" algn="l"/>
              </a:tabLst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>Terminer en distribuant la fiche mémo — c'est le support qu'ils garderont.</a:t>
            </a:r>
            <a:endParaRPr sz="900">
              <a:latin typeface="Arial"/>
              <a:cs typeface="Arial"/>
            </a:endParaRPr>
          </a:p>
        </p:txBody>
      </p:sp>
      <p:pic>
        <p:nvPicPr>
          <p:cNvPr id="58" name="object 5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6820" y="314131"/>
            <a:ext cx="3224784" cy="606551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</TotalTime>
  <Words>392</Words>
  <Application>Microsoft Office PowerPoint</Application>
  <PresentationFormat>Personnalisé</PresentationFormat>
  <Paragraphs>63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untitled</dc:title>
  <dc:subject>unspecified</dc:subject>
  <dc:creator>anonymous</dc:creator>
  <cp:lastModifiedBy>Aswad Michel</cp:lastModifiedBy>
  <cp:revision>1</cp:revision>
  <dcterms:created xsi:type="dcterms:W3CDTF">2026-05-05T14:40:57Z</dcterms:created>
  <dcterms:modified xsi:type="dcterms:W3CDTF">2026-06-17T13:09:11Z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2026-05-05T00:00:00Z</vt:filetime>
  </property>
  <property fmtid="{D5CDD505-2E9C-101B-9397-08002B2CF9AE}" pid="3" name="Creator">
    <vt:lpwstr>anonymous</vt:lpwstr>
  </property>
  <property fmtid="{D5CDD505-2E9C-101B-9397-08002B2CF9AE}" pid="4" name="LastSaved">
    <vt:filetime>2026-05-05T00:00:00Z</vt:filetime>
  </property>
  <property fmtid="{D5CDD505-2E9C-101B-9397-08002B2CF9AE}" pid="5" name="Producer">
    <vt:lpwstr>ReportLab PDF Library - (opensource)</vt:lpwstr>
  </property>
</Properties>
</file>