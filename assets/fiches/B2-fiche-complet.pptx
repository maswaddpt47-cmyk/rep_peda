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556399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9200" y="1224000"/>
            <a:ext cx="6498000" cy="46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4388BC"/>
                </a:solidFill>
                <a:latin typeface="Arial"/>
              </a:rPr>
              <a:t>Pièces jointes par e-mail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6E6E6D"/>
                </a:solidFill>
                <a:latin typeface="Arial"/>
              </a:rPr>
              <a:t>Fiche Action | 2h10 | Guide d'animation — Conseillers Numériques CD47</a:t>
            </a:r>
          </a:p>
        </p:txBody>
      </p:sp>
      <p:sp>
        <p:nvSpPr>
          <p:cNvPr id="3" name="Rectangle 2"/>
          <p:cNvSpPr/>
          <p:nvPr/>
        </p:nvSpPr>
        <p:spPr>
          <a:xfrm>
            <a:off x="529200" y="1764000"/>
            <a:ext cx="3024000" cy="900000"/>
          </a:xfrm>
          <a:prstGeom prst="rect">
            <a:avLst/>
          </a:prstGeom>
          <a:solidFill>
            <a:srgbClr val="ECF5FF"/>
          </a:solidFill>
          <a:ln w="12700">
            <a:solidFill>
              <a:srgbClr val="438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19200" y="1818000"/>
            <a:ext cx="2880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4388BC"/>
                </a:solidFill>
                <a:latin typeface="Arial"/>
              </a:rPr>
              <a:t>Objectifs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Qu'est-ce qu'une pièce jointe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Les types de fichiers — Ce que disent les extensions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Envoyer une pièce jointe avec Gmail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Envoyer une pièce jointe avec Outlook</a:t>
            </a:r>
          </a:p>
        </p:txBody>
      </p:sp>
      <p:sp>
        <p:nvSpPr>
          <p:cNvPr id="5" name="Rectangle 4"/>
          <p:cNvSpPr/>
          <p:nvPr/>
        </p:nvSpPr>
        <p:spPr>
          <a:xfrm>
            <a:off x="4003200" y="1764000"/>
            <a:ext cx="3024000" cy="900000"/>
          </a:xfrm>
          <a:prstGeom prst="rect">
            <a:avLst/>
          </a:prstGeom>
          <a:solidFill>
            <a:srgbClr val="EBF7F6"/>
          </a:solidFill>
          <a:ln w="12700">
            <a:solidFill>
              <a:srgbClr val="18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093200" y="1818000"/>
            <a:ext cx="2880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187C88"/>
                </a:solidFill>
                <a:latin typeface="Arial"/>
              </a:rPr>
              <a:t>Matériel nécessaire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1 PC ou tablette par participant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Connexion Wi-Fi stable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Grand écran / vidéoprojecteur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Fiches mémo (1 par participant)</a:t>
            </a:r>
          </a:p>
        </p:txBody>
      </p:sp>
      <p:sp>
        <p:nvSpPr>
          <p:cNvPr id="7" name="Rectangle 6"/>
          <p:cNvSpPr/>
          <p:nvPr/>
        </p:nvSpPr>
        <p:spPr>
          <a:xfrm>
            <a:off x="529200" y="2736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29200" y="27360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63200" y="30312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3200" y="3031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3200" y="2800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4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Au programme de cet atelier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Qu'est-ce qu'une pièce jointe 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9200" y="34848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29200" y="34848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63200" y="37800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3200" y="37800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3200" y="35496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Qu'est-ce qu'une pièce jointe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Une pièce jointe, c'est simplement un fichier que l'on accroche à un e-mail, comme on agrafait autrefois un document à une lettre. Ce fichier voyage avec le message et le destinataire peut le consulter ou le sauvegarder sur son propre appareil.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9200" y="42336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29200" y="42336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63200" y="4528800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63200" y="45288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3200" y="42984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Les types de fichiers — Ce que disent les extens…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Chaque 	fichier porte une extension — les quelques lettres après le point dans son nom (ex. : photo.jpg). C'est votre premier repère pour savoir de quoi il s'agit.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9200" y="49824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29200" y="49824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763200" y="52776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63200" y="52776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03200" y="50472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Envoyer une pièce jointe avec Gmail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Gmail est l'un des services de messagerie les plus utilisés en France. Joindre un fichier est simple et rapide depuis un ordinateur ou un smartphone.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9200" y="57312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29200" y="57312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763200" y="6026399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63200" y="60263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03200" y="57960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Envoyer une pièce jointe avec Outlook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Sur ordinateur (application)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9200" y="6480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29200" y="64800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763200" y="67752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63200" y="6775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0:38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03200" y="6544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Envoyer une pièce jointe avec Proton Mail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Proton Mail est une messagerie axée sur la confidentialité et le chiffrement. Populaire auprès de ceux qui souhaitent protéger leurs échanges, elle reste simple à utiliser au quotidien.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9200" y="72287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529200" y="7228799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763200" y="7523999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63200" y="75239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0:46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03200" y="72935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Comparatif des trois messageries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Chaque service a ses forces. Voici un aperçu rapide pour choisir ou mieux comprendre_x000B_celui que vous utilisez.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9200" y="79775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529200" y="7977599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763200" y="8272799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63200" y="82727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0:54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03200" y="80423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Recevoir et ouvrir une pièce jointe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Quand vous recevez un e-mail avec une pièce jointe, une icône de trombone apparaît dans la liste de vos messages. À l'ouverture, le fichier est affiché en bas ou en haut du message selon le service utilisé.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29200" y="87263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529200" y="8726399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763200" y="9021599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763200" y="90215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1:02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03200" y="87911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Retrouver ses pièces jointes téléchargées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Une fois téléchargé, où se trouve le fichier ? C'est souvent une source de confusion. Voici comment le retrouver facilement selon votre appareil.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29200" y="540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29200" y="5400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763200" y="8352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63200" y="835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3200" y="604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Les pièges à éviter absolument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La majorité des cyberattaques arrivent par e-mail. Reconnaître un fichier suspect peut vous éviter de graves désagréments : virus, vol de données, arnaques financières.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29200" y="12888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29200" y="12888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63200" y="1584000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3200" y="15840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3200" y="13536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Les signaux d'alarme — Infographie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Si vous reconnaissez un seul de ces signaux dans un e-mail reçu, la prudence s'impose. En cas de doute,_x000B_supprimez le message sans ouvrir la pièce jointe.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9200" y="20376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29200" y="20376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63200" y="23328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3200" y="23328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3200" y="21024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12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Bonnes pratiques recommandées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Quelques habitudes simples suffisent pour envoyer et recevoir des pièces jointes en toute sérénité, que vous utilisiez Gmail, Outlook ou Proton Mail.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9200" y="27864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29200" y="27864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63200" y="30816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63200" y="30816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1:38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3200" y="28512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Les limites de taille — et comment les contourne…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Chaque messagerie impose une limite de taille pour les pièces jointes. Lorsque votre fichier est trop lourd, voici les alternatives à connaître.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9200" y="35352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29200" y="35352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763200" y="38304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63200" y="38304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1:46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03200" y="36000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Ce qu'il faut retenir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Identifier les fichiers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9200" y="4284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29200" y="42840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763200" y="4579200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63200" y="4579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1:54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03200" y="4348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Offre départementale d’Inclusion Numérique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Voici les 5 offres et services dispensés par l’équipe départementale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9200" y="50328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29200" y="50328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763200" y="53280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63200" y="53280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2:02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03200" y="50976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Besoin d'aide ? Nous sommes là !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Pour nous joindre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9200" y="9684000"/>
            <a:ext cx="6498000" cy="43200"/>
          </a:xfrm>
          <a:prstGeom prst="rect">
            <a:avLst/>
          </a:prstGeom>
          <a:solidFill>
            <a:srgbClr val="F8A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19200" y="9748800"/>
            <a:ext cx="6354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2B2B2B"/>
                </a:solidFill>
                <a:latin typeface="Arial"/>
              </a:rPr>
              <a:t>Conseils pour une bonne animation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Adapter le rythme selon le niveau du groupe.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Laisser les participants manipuler dès que possible.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Prévoir un compte de démonstration pour ne pas exposer de données personnelles.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Terminer en distribuant la fiche mémo — c'est le support qu'ils garderont.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