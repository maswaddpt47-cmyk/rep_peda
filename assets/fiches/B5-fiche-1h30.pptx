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29200" y="1224000"/>
            <a:ext cx="6498000" cy="468000"/>
          </a:xfrm>
          <a:prstGeom prst="rect">
            <a:avLst/>
          </a:prstGeom>
          <a:noFill/>
        </p:spPr>
        <p:txBody>
          <a:bodyPr wrap="square" tIns="0" bIns="0" lIns="18000" rIns="18000">
            <a:spAutoFit/>
          </a:bodyPr>
          <a:lstStyle/>
          <a:p>
            <a:pPr algn="ctr">
              <a:spcBef>
                <a:spcPts val="0"/>
              </a:spcBef>
              <a:spcAft>
                <a:spcPts val="100"/>
              </a:spcAft>
            </a:pPr>
            <a:r>
              <a:rPr sz="1700" b="1" i="0">
                <a:solidFill>
                  <a:srgbClr val="4388BC"/>
                </a:solidFill>
                <a:latin typeface="Arial"/>
              </a:rPr>
              <a:t>Créer et gérer votre espace personnel en ligne</a:t>
            </a:r>
          </a:p>
          <a:p>
            <a:pPr algn="ctr">
              <a:spcBef>
                <a:spcPts val="0"/>
              </a:spcBef>
              <a:spcAft>
                <a:spcPts val="100"/>
              </a:spcAft>
            </a:pPr>
            <a:r>
              <a:rPr sz="800" b="0" i="0">
                <a:solidFill>
                  <a:srgbClr val="6E6E6D"/>
                </a:solidFill>
                <a:latin typeface="Arial"/>
              </a:rPr>
              <a:t>Fiche Action | 1h32 | Guide d'animation — Conseillers Numériques CD47</a:t>
            </a:r>
          </a:p>
        </p:txBody>
      </p:sp>
      <p:sp>
        <p:nvSpPr>
          <p:cNvPr id="3" name="Rectangle 2"/>
          <p:cNvSpPr/>
          <p:nvPr/>
        </p:nvSpPr>
        <p:spPr>
          <a:xfrm>
            <a:off x="529200" y="1764000"/>
            <a:ext cx="3024000" cy="900000"/>
          </a:xfrm>
          <a:prstGeom prst="rect">
            <a:avLst/>
          </a:prstGeom>
          <a:solidFill>
            <a:srgbClr val="ECF5FF"/>
          </a:solidFill>
          <a:ln w="1270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19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4388BC"/>
                </a:solidFill>
                <a:latin typeface="Arial"/>
              </a:rPr>
              <a:t>Objectifs</a:t>
            </a:r>
          </a:p>
          <a:p>
            <a:pPr algn="l">
              <a:spcBef>
                <a:spcPts val="0"/>
              </a:spcBef>
              <a:spcAft>
                <a:spcPts val="100"/>
              </a:spcAft>
            </a:pPr>
            <a:r>
              <a:rPr sz="850" b="0" i="0">
                <a:solidFill>
                  <a:srgbClr val="2B2B2B"/>
                </a:solidFill>
                <a:latin typeface="Arial"/>
              </a:rPr>
              <a:t>&gt; Ce que vous allez apprendre</a:t>
            </a:r>
          </a:p>
          <a:p>
            <a:pPr algn="l">
              <a:spcBef>
                <a:spcPts val="0"/>
              </a:spcBef>
              <a:spcAft>
                <a:spcPts val="100"/>
              </a:spcAft>
            </a:pPr>
            <a:r>
              <a:rPr sz="850" b="0" i="0">
                <a:solidFill>
                  <a:srgbClr val="2B2B2B"/>
                </a:solidFill>
                <a:latin typeface="Arial"/>
              </a:rPr>
              <a:t>&gt; À quoi sert un espace personnel ?</a:t>
            </a:r>
          </a:p>
          <a:p>
            <a:pPr algn="l">
              <a:spcBef>
                <a:spcPts val="0"/>
              </a:spcBef>
              <a:spcAft>
                <a:spcPts val="100"/>
              </a:spcAft>
            </a:pPr>
            <a:r>
              <a:rPr sz="850" b="0" i="0">
                <a:solidFill>
                  <a:srgbClr val="2B2B2B"/>
                </a:solidFill>
                <a:latin typeface="Arial"/>
              </a:rPr>
              <a:t>&gt; Les principaux sites administratifs</a:t>
            </a:r>
          </a:p>
          <a:p>
            <a:pPr algn="l">
              <a:spcBef>
                <a:spcPts val="0"/>
              </a:spcBef>
              <a:spcAft>
                <a:spcPts val="100"/>
              </a:spcAft>
            </a:pPr>
            <a:r>
              <a:rPr sz="850" b="0" i="0">
                <a:solidFill>
                  <a:srgbClr val="2B2B2B"/>
                </a:solidFill>
                <a:latin typeface="Arial"/>
              </a:rPr>
              <a:t>&gt; Ouvrir votre compte Ameli (Assurance Maladie)</a:t>
            </a:r>
          </a:p>
        </p:txBody>
      </p:sp>
      <p:sp>
        <p:nvSpPr>
          <p:cNvPr id="5" name="Rectangle 4"/>
          <p:cNvSpPr/>
          <p:nvPr/>
        </p:nvSpPr>
        <p:spPr>
          <a:xfrm>
            <a:off x="4003200" y="1764000"/>
            <a:ext cx="3024000" cy="900000"/>
          </a:xfrm>
          <a:prstGeom prst="rect">
            <a:avLst/>
          </a:prstGeom>
          <a:solidFill>
            <a:srgbClr val="EBF7F6"/>
          </a:solidFill>
          <a:ln w="12700">
            <a:solidFill>
              <a:srgbClr val="187C88"/>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093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187C88"/>
                </a:solidFill>
                <a:latin typeface="Arial"/>
              </a:rPr>
              <a:t>Matériel nécessaire</a:t>
            </a:r>
          </a:p>
          <a:p>
            <a:pPr algn="l">
              <a:spcBef>
                <a:spcPts val="0"/>
              </a:spcBef>
              <a:spcAft>
                <a:spcPts val="100"/>
              </a:spcAft>
            </a:pPr>
            <a:r>
              <a:rPr sz="850" b="0" i="0">
                <a:solidFill>
                  <a:srgbClr val="2B2B2B"/>
                </a:solidFill>
                <a:latin typeface="Arial"/>
              </a:rPr>
              <a:t>&gt; 1 PC ou tablette par participant</a:t>
            </a:r>
          </a:p>
          <a:p>
            <a:pPr algn="l">
              <a:spcBef>
                <a:spcPts val="0"/>
              </a:spcBef>
              <a:spcAft>
                <a:spcPts val="100"/>
              </a:spcAft>
            </a:pPr>
            <a:r>
              <a:rPr sz="850" b="0" i="0">
                <a:solidFill>
                  <a:srgbClr val="2B2B2B"/>
                </a:solidFill>
                <a:latin typeface="Arial"/>
              </a:rPr>
              <a:t>&gt; Connexion Wi-Fi stable</a:t>
            </a:r>
          </a:p>
          <a:p>
            <a:pPr algn="l">
              <a:spcBef>
                <a:spcPts val="0"/>
              </a:spcBef>
              <a:spcAft>
                <a:spcPts val="100"/>
              </a:spcAft>
            </a:pPr>
            <a:r>
              <a:rPr sz="850" b="0" i="0">
                <a:solidFill>
                  <a:srgbClr val="2B2B2B"/>
                </a:solidFill>
                <a:latin typeface="Arial"/>
              </a:rPr>
              <a:t>&gt; Grand écran / vidéoprojecteur</a:t>
            </a:r>
          </a:p>
          <a:p>
            <a:pPr algn="l">
              <a:spcBef>
                <a:spcPts val="0"/>
              </a:spcBef>
              <a:spcAft>
                <a:spcPts val="100"/>
              </a:spcAft>
            </a:pPr>
            <a:r>
              <a:rPr sz="850" b="0" i="0">
                <a:solidFill>
                  <a:srgbClr val="2B2B2B"/>
                </a:solidFill>
                <a:latin typeface="Arial"/>
              </a:rPr>
              <a:t>&gt; Fiches mémo (1 par participant)</a:t>
            </a:r>
          </a:p>
        </p:txBody>
      </p:sp>
      <p:sp>
        <p:nvSpPr>
          <p:cNvPr id="7" name="Rectangle 6"/>
          <p:cNvSpPr/>
          <p:nvPr/>
        </p:nvSpPr>
        <p:spPr>
          <a:xfrm>
            <a:off x="529200" y="2736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29200" y="2736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63200" y="3031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200" y="3031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0:02</a:t>
            </a:r>
          </a:p>
        </p:txBody>
      </p:sp>
      <p:sp>
        <p:nvSpPr>
          <p:cNvPr id="11" name="TextBox 10"/>
          <p:cNvSpPr txBox="1"/>
          <p:nvPr/>
        </p:nvSpPr>
        <p:spPr>
          <a:xfrm>
            <a:off x="1303200" y="2800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Ce que vous allez apprendre</a:t>
            </a:r>
          </a:p>
          <a:p>
            <a:pPr algn="l">
              <a:spcBef>
                <a:spcPts val="0"/>
              </a:spcBef>
              <a:spcAft>
                <a:spcPts val="100"/>
              </a:spcAft>
            </a:pPr>
            <a:r>
              <a:rPr sz="800" b="0" i="0">
                <a:solidFill>
                  <a:srgbClr val="2B2B2B"/>
                </a:solidFill>
                <a:latin typeface="Arial"/>
              </a:rPr>
              <a:t>. Ce guide couvre toutes les étapes essentielles pour vous sentir à l'aise avec les services administratifs en ligne. Voici le programme :</a:t>
            </a:r>
          </a:p>
        </p:txBody>
      </p:sp>
      <p:sp>
        <p:nvSpPr>
          <p:cNvPr id="12" name="Rectangle 11"/>
          <p:cNvSpPr/>
          <p:nvPr/>
        </p:nvSpPr>
        <p:spPr>
          <a:xfrm>
            <a:off x="529200" y="3484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9200" y="34848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63200" y="37800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63200" y="3780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0:10</a:t>
            </a:r>
          </a:p>
        </p:txBody>
      </p:sp>
      <p:sp>
        <p:nvSpPr>
          <p:cNvPr id="16" name="TextBox 15"/>
          <p:cNvSpPr txBox="1"/>
          <p:nvPr/>
        </p:nvSpPr>
        <p:spPr>
          <a:xfrm>
            <a:off x="1303200" y="3549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À quoi sert un espace personnel ?</a:t>
            </a:r>
          </a:p>
          <a:p>
            <a:pPr algn="l">
              <a:spcBef>
                <a:spcPts val="0"/>
              </a:spcBef>
              <a:spcAft>
                <a:spcPts val="100"/>
              </a:spcAft>
            </a:pPr>
            <a:r>
              <a:rPr sz="800" b="0" i="0">
                <a:solidFill>
                  <a:srgbClr val="2B2B2B"/>
                </a:solidFill>
                <a:latin typeface="Arial"/>
              </a:rPr>
              <a:t>. Un espace personnel, c'est votre coin privé sur le site d'un organisme administratif. Une fois connecté, vous pouvez tout faire à distance, sans vous déplacer ni attendre en file d'attente.</a:t>
            </a:r>
          </a:p>
        </p:txBody>
      </p:sp>
      <p:sp>
        <p:nvSpPr>
          <p:cNvPr id="17" name="Rectangle 16"/>
          <p:cNvSpPr/>
          <p:nvPr/>
        </p:nvSpPr>
        <p:spPr>
          <a:xfrm>
            <a:off x="529200" y="4233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29200" y="42336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63200" y="45288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3200" y="4528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0:18</a:t>
            </a:r>
          </a:p>
        </p:txBody>
      </p:sp>
      <p:sp>
        <p:nvSpPr>
          <p:cNvPr id="21" name="TextBox 20"/>
          <p:cNvSpPr txBox="1"/>
          <p:nvPr/>
        </p:nvSpPr>
        <p:spPr>
          <a:xfrm>
            <a:off x="1303200" y="4298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Les principaux sites administratifs</a:t>
            </a:r>
          </a:p>
          <a:p>
            <a:pPr algn="l">
              <a:spcBef>
                <a:spcPts val="0"/>
              </a:spcBef>
              <a:spcAft>
                <a:spcPts val="100"/>
              </a:spcAft>
            </a:pPr>
            <a:r>
              <a:rPr sz="800" b="0" i="0">
                <a:solidFill>
                  <a:srgbClr val="2B2B2B"/>
                </a:solidFill>
                <a:latin typeface="Arial"/>
              </a:rPr>
              <a:t>. Chaque organisme dispose de son propre espace en ligne. Voici un aperçu des plateformes les plus utilisées en France et de ce que chacune propose :</a:t>
            </a:r>
          </a:p>
        </p:txBody>
      </p:sp>
      <p:sp>
        <p:nvSpPr>
          <p:cNvPr id="22" name="Rectangle 21"/>
          <p:cNvSpPr/>
          <p:nvPr/>
        </p:nvSpPr>
        <p:spPr>
          <a:xfrm>
            <a:off x="529200" y="49824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29200" y="49824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63200" y="52776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63200" y="52776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0:26</a:t>
            </a:r>
          </a:p>
        </p:txBody>
      </p:sp>
      <p:sp>
        <p:nvSpPr>
          <p:cNvPr id="26" name="TextBox 25"/>
          <p:cNvSpPr txBox="1"/>
          <p:nvPr/>
        </p:nvSpPr>
        <p:spPr>
          <a:xfrm>
            <a:off x="1303200" y="50472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Ouvrir votre compte Ameli (Assurance Maladie)</a:t>
            </a:r>
          </a:p>
          <a:p>
            <a:pPr algn="l">
              <a:spcBef>
                <a:spcPts val="0"/>
              </a:spcBef>
              <a:spcAft>
                <a:spcPts val="100"/>
              </a:spcAft>
            </a:pPr>
            <a:r>
              <a:rPr sz="800" b="0" i="0">
                <a:solidFill>
                  <a:srgbClr val="2B2B2B"/>
                </a:solidFill>
                <a:latin typeface="Arial"/>
              </a:rPr>
              <a:t>. Ameli.fr est le portail de l'Assurance Maladie. Voici comment créer votre espace personnel étape par étape.</a:t>
            </a:r>
          </a:p>
        </p:txBody>
      </p:sp>
      <p:sp>
        <p:nvSpPr>
          <p:cNvPr id="27" name="Rectangle 26"/>
          <p:cNvSpPr/>
          <p:nvPr/>
        </p:nvSpPr>
        <p:spPr>
          <a:xfrm>
            <a:off x="529200" y="57312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29200" y="57312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63200" y="60263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63200" y="60263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0:34</a:t>
            </a:r>
          </a:p>
        </p:txBody>
      </p:sp>
      <p:sp>
        <p:nvSpPr>
          <p:cNvPr id="31" name="TextBox 30"/>
          <p:cNvSpPr txBox="1"/>
          <p:nvPr/>
        </p:nvSpPr>
        <p:spPr>
          <a:xfrm>
            <a:off x="1303200" y="57960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Ouvrir votre compte Impôts.gouv.fr</a:t>
            </a:r>
          </a:p>
          <a:p>
            <a:pPr algn="l">
              <a:spcBef>
                <a:spcPts val="0"/>
              </a:spcBef>
              <a:spcAft>
                <a:spcPts val="100"/>
              </a:spcAft>
            </a:pPr>
            <a:r>
              <a:rPr sz="800" b="0" i="0">
                <a:solidFill>
                  <a:srgbClr val="2B2B2B"/>
                </a:solidFill>
                <a:latin typeface="Arial"/>
              </a:rPr>
              <a:t>. Le site impots.gouv.fr vous permet de déclarer vos revenus, consulter vos avis d'imposition et gérer votre prélèvement à la source. Voici ce qu'il faut pour créer votre espace.</a:t>
            </a:r>
          </a:p>
        </p:txBody>
      </p:sp>
      <p:sp>
        <p:nvSpPr>
          <p:cNvPr id="32" name="Rectangle 31"/>
          <p:cNvSpPr/>
          <p:nvPr/>
        </p:nvSpPr>
        <p:spPr>
          <a:xfrm>
            <a:off x="529200" y="648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529200" y="6480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763200" y="6775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63200" y="677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0:42</a:t>
            </a:r>
          </a:p>
        </p:txBody>
      </p:sp>
      <p:sp>
        <p:nvSpPr>
          <p:cNvPr id="36" name="TextBox 35"/>
          <p:cNvSpPr txBox="1"/>
          <p:nvPr/>
        </p:nvSpPr>
        <p:spPr>
          <a:xfrm>
            <a:off x="1303200" y="654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Où trouver vos numéros clés ?</a:t>
            </a:r>
          </a:p>
          <a:p>
            <a:pPr algn="l">
              <a:spcBef>
                <a:spcPts val="0"/>
              </a:spcBef>
              <a:spcAft>
                <a:spcPts val="100"/>
              </a:spcAft>
            </a:pPr>
            <a:r>
              <a:rPr sz="800" b="0" i="0">
                <a:solidFill>
                  <a:srgbClr val="2B2B2B"/>
                </a:solidFill>
                <a:latin typeface="Arial"/>
              </a:rPr>
              <a:t>. Avant de créer vos espaces personnels, repérez ces numéros essentiels sur vos documents. Voici où les trouver facilement.</a:t>
            </a:r>
          </a:p>
        </p:txBody>
      </p:sp>
      <p:sp>
        <p:nvSpPr>
          <p:cNvPr id="37" name="Rectangle 36"/>
          <p:cNvSpPr/>
          <p:nvPr/>
        </p:nvSpPr>
        <p:spPr>
          <a:xfrm>
            <a:off x="529200" y="72287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529200" y="7228799"/>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763200" y="7523999"/>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63200" y="75239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0:50</a:t>
            </a:r>
          </a:p>
        </p:txBody>
      </p:sp>
      <p:sp>
        <p:nvSpPr>
          <p:cNvPr id="41" name="TextBox 40"/>
          <p:cNvSpPr txBox="1"/>
          <p:nvPr/>
        </p:nvSpPr>
        <p:spPr>
          <a:xfrm>
            <a:off x="1303200" y="72935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Créer votre espace personnel : ce qu'il faut pré…</a:t>
            </a:r>
          </a:p>
          <a:p>
            <a:pPr algn="l">
              <a:spcBef>
                <a:spcPts val="0"/>
              </a:spcBef>
              <a:spcAft>
                <a:spcPts val="100"/>
              </a:spcAft>
            </a:pPr>
            <a:r>
              <a:rPr sz="800" b="0" i="0">
                <a:solidFill>
                  <a:srgbClr val="2B2B2B"/>
                </a:solidFill>
                <a:latin typeface="Arial"/>
              </a:rPr>
              <a:t>. Ce que vous aurez besoin</a:t>
            </a:r>
          </a:p>
        </p:txBody>
      </p:sp>
      <p:sp>
        <p:nvSpPr>
          <p:cNvPr id="42" name="Rectangle 41"/>
          <p:cNvSpPr/>
          <p:nvPr/>
        </p:nvSpPr>
        <p:spPr>
          <a:xfrm>
            <a:off x="529200" y="79775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529200" y="7977599"/>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763200" y="8272799"/>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63200" y="82727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0:58</a:t>
            </a:r>
          </a:p>
        </p:txBody>
      </p:sp>
      <p:sp>
        <p:nvSpPr>
          <p:cNvPr id="46" name="TextBox 45"/>
          <p:cNvSpPr txBox="1"/>
          <p:nvPr/>
        </p:nvSpPr>
        <p:spPr>
          <a:xfrm>
            <a:off x="1303200" y="80423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2 min</a:t>
            </a:r>
          </a:p>
          <a:p>
            <a:pPr algn="l">
              <a:spcBef>
                <a:spcPts val="0"/>
              </a:spcBef>
              <a:spcAft>
                <a:spcPts val="100"/>
              </a:spcAft>
            </a:pPr>
            <a:r>
              <a:rPr sz="900" b="1" i="0">
                <a:solidFill>
                  <a:srgbClr val="2B2B2B"/>
                </a:solidFill>
                <a:latin typeface="Arial"/>
              </a:rPr>
              <a:t>Les étapes de création de votre compte</a:t>
            </a:r>
          </a:p>
          <a:p>
            <a:pPr algn="l">
              <a:spcBef>
                <a:spcPts val="0"/>
              </a:spcBef>
              <a:spcAft>
                <a:spcPts val="100"/>
              </a:spcAft>
            </a:pPr>
            <a:r>
              <a:rPr sz="800" b="0" i="0">
                <a:solidFill>
                  <a:srgbClr val="2B2B2B"/>
                </a:solidFill>
                <a:latin typeface="Arial"/>
              </a:rPr>
              <a:t>. Choisir mot de passe</a:t>
            </a:r>
          </a:p>
        </p:txBody>
      </p:sp>
      <p:sp>
        <p:nvSpPr>
          <p:cNvPr id="47" name="Rectangle 46"/>
          <p:cNvSpPr/>
          <p:nvPr/>
        </p:nvSpPr>
        <p:spPr>
          <a:xfrm>
            <a:off x="529200" y="87263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529200" y="8726399"/>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763200" y="90215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763200" y="90215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1:00</a:t>
            </a:r>
          </a:p>
        </p:txBody>
      </p:sp>
      <p:sp>
        <p:nvSpPr>
          <p:cNvPr id="51" name="TextBox 50"/>
          <p:cNvSpPr txBox="1"/>
          <p:nvPr/>
        </p:nvSpPr>
        <p:spPr>
          <a:xfrm>
            <a:off x="1303200" y="87911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Choisir un mot de passe solide</a:t>
            </a:r>
          </a:p>
          <a:p>
            <a:pPr algn="l">
              <a:spcBef>
                <a:spcPts val="0"/>
              </a:spcBef>
              <a:spcAft>
                <a:spcPts val="100"/>
              </a:spcAft>
            </a:pPr>
            <a:r>
              <a:rPr sz="800" b="0" i="0">
                <a:solidFill>
                  <a:srgbClr val="2B2B2B"/>
                </a:solidFill>
                <a:latin typeface="Arial"/>
              </a:rPr>
              <a:t>. Votre mot de passe est la première barrière contre les accès non autorisés à vos données personnelles et financières. Prenez le temps de bien le choisir.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29200" y="54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29200" y="5400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63200" y="8352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63200" y="83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1:08</a:t>
            </a:r>
          </a:p>
        </p:txBody>
      </p:sp>
      <p:sp>
        <p:nvSpPr>
          <p:cNvPr id="6" name="TextBox 5"/>
          <p:cNvSpPr txBox="1"/>
          <p:nvPr/>
        </p:nvSpPr>
        <p:spPr>
          <a:xfrm>
            <a:off x="1303200" y="60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La double authentification : une sécurité supplé…</a:t>
            </a:r>
          </a:p>
          <a:p>
            <a:pPr algn="l">
              <a:spcBef>
                <a:spcPts val="0"/>
              </a:spcBef>
              <a:spcAft>
                <a:spcPts val="100"/>
              </a:spcAft>
            </a:pPr>
            <a:r>
              <a:rPr sz="800" b="0" i="0">
                <a:solidFill>
                  <a:srgbClr val="2B2B2B"/>
                </a:solidFill>
                <a:latin typeface="Arial"/>
              </a:rPr>
              <a:t>. De plus en plus de sites administratifs proposent ou imposent la double authentification (aussi appelée 2FA). Ce mécanisme ajoute une deuxième vérification lors de votre connexion, en plus de votre mot de passe.</a:t>
            </a:r>
          </a:p>
        </p:txBody>
      </p:sp>
      <p:sp>
        <p:nvSpPr>
          <p:cNvPr id="7" name="Rectangle 6"/>
          <p:cNvSpPr/>
          <p:nvPr/>
        </p:nvSpPr>
        <p:spPr>
          <a:xfrm>
            <a:off x="529200" y="1288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29200" y="12888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63200" y="15840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200" y="1584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1:16</a:t>
            </a:r>
          </a:p>
        </p:txBody>
      </p:sp>
      <p:sp>
        <p:nvSpPr>
          <p:cNvPr id="11" name="TextBox 10"/>
          <p:cNvSpPr txBox="1"/>
          <p:nvPr/>
        </p:nvSpPr>
        <p:spPr>
          <a:xfrm>
            <a:off x="1303200" y="1353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Mettre à jour vos informations personnelles</a:t>
            </a:r>
          </a:p>
          <a:p>
            <a:pPr algn="l">
              <a:spcBef>
                <a:spcPts val="0"/>
              </a:spcBef>
              <a:spcAft>
                <a:spcPts val="100"/>
              </a:spcAft>
            </a:pPr>
            <a:r>
              <a:rPr sz="800" b="0" i="0">
                <a:solidFill>
                  <a:srgbClr val="2B2B2B"/>
                </a:solidFill>
                <a:latin typeface="Arial"/>
              </a:rPr>
              <a:t>. Votre espace personnel n'est utile que si les informations qu'il contient sont exactes et à jour. Voici les données à vérifier régulièrement et comment les modifier en quelques clics.</a:t>
            </a:r>
          </a:p>
        </p:txBody>
      </p:sp>
      <p:sp>
        <p:nvSpPr>
          <p:cNvPr id="12" name="Rectangle 11"/>
          <p:cNvSpPr/>
          <p:nvPr/>
        </p:nvSpPr>
        <p:spPr>
          <a:xfrm>
            <a:off x="529200" y="2037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9200" y="20376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63200" y="23328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63200" y="2332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1:24</a:t>
            </a:r>
          </a:p>
        </p:txBody>
      </p:sp>
      <p:sp>
        <p:nvSpPr>
          <p:cNvPr id="16" name="TextBox 15"/>
          <p:cNvSpPr txBox="1"/>
          <p:nvPr/>
        </p:nvSpPr>
        <p:spPr>
          <a:xfrm>
            <a:off x="1303200" y="2102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En cas de problème : que faire ?</a:t>
            </a:r>
          </a:p>
          <a:p>
            <a:pPr algn="l">
              <a:spcBef>
                <a:spcPts val="0"/>
              </a:spcBef>
              <a:spcAft>
                <a:spcPts val="100"/>
              </a:spcAft>
            </a:pPr>
            <a:r>
              <a:rPr sz="800" b="0" i="0">
                <a:solidFill>
                  <a:srgbClr val="2B2B2B"/>
                </a:solidFill>
                <a:latin typeface="Arial"/>
              </a:rPr>
              <a:t>. Mot de passe oublié</a:t>
            </a:r>
          </a:p>
        </p:txBody>
      </p:sp>
      <p:sp>
        <p:nvSpPr>
          <p:cNvPr id="17" name="Rectangle 16"/>
          <p:cNvSpPr/>
          <p:nvPr/>
        </p:nvSpPr>
        <p:spPr>
          <a:xfrm>
            <a:off x="529200" y="9684000"/>
            <a:ext cx="6498000" cy="43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19200" y="9748800"/>
            <a:ext cx="6354000" cy="827999"/>
          </a:xfrm>
          <a:prstGeom prst="rect">
            <a:avLst/>
          </a:prstGeom>
          <a:noFill/>
        </p:spPr>
        <p:txBody>
          <a:bodyPr wrap="square" tIns="0" bIns="0" lIns="18000" rIns="18000">
            <a:spAutoFit/>
          </a:bodyPr>
          <a:lstStyle/>
          <a:p>
            <a:pPr algn="l">
              <a:spcBef>
                <a:spcPts val="0"/>
              </a:spcBef>
              <a:spcAft>
                <a:spcPts val="100"/>
              </a:spcAft>
            </a:pPr>
            <a:r>
              <a:rPr sz="950" b="1" i="0">
                <a:solidFill>
                  <a:srgbClr val="2B2B2B"/>
                </a:solidFill>
                <a:latin typeface="Arial"/>
              </a:rPr>
              <a:t>Conseils pour une bonne animation</a:t>
            </a:r>
          </a:p>
          <a:p>
            <a:pPr algn="l">
              <a:spcBef>
                <a:spcPts val="0"/>
              </a:spcBef>
              <a:spcAft>
                <a:spcPts val="100"/>
              </a:spcAft>
            </a:pPr>
            <a:r>
              <a:rPr sz="850" b="0" i="0">
                <a:solidFill>
                  <a:srgbClr val="2B2B2B"/>
                </a:solidFill>
                <a:latin typeface="Arial"/>
              </a:rPr>
              <a:t>&gt; Adapter le rythme selon le niveau du groupe.</a:t>
            </a:r>
          </a:p>
          <a:p>
            <a:pPr algn="l">
              <a:spcBef>
                <a:spcPts val="0"/>
              </a:spcBef>
              <a:spcAft>
                <a:spcPts val="100"/>
              </a:spcAft>
            </a:pPr>
            <a:r>
              <a:rPr sz="850" b="0" i="0">
                <a:solidFill>
                  <a:srgbClr val="2B2B2B"/>
                </a:solidFill>
                <a:latin typeface="Arial"/>
              </a:rPr>
              <a:t>&gt; Laisser les participants manipuler dès que possible.</a:t>
            </a:r>
          </a:p>
          <a:p>
            <a:pPr algn="l">
              <a:spcBef>
                <a:spcPts val="0"/>
              </a:spcBef>
              <a:spcAft>
                <a:spcPts val="100"/>
              </a:spcAft>
            </a:pPr>
            <a:r>
              <a:rPr sz="850" b="0" i="0">
                <a:solidFill>
                  <a:srgbClr val="2B2B2B"/>
                </a:solidFill>
                <a:latin typeface="Arial"/>
              </a:rPr>
              <a:t>&gt; Prévoir un compte de démonstration pour ne pas exposer de données personnelles.</a:t>
            </a:r>
          </a:p>
          <a:p>
            <a:pPr algn="l">
              <a:spcBef>
                <a:spcPts val="0"/>
              </a:spcBef>
              <a:spcAft>
                <a:spcPts val="100"/>
              </a:spcAft>
            </a:pPr>
            <a:r>
              <a:rPr sz="850" b="0" i="0">
                <a:solidFill>
                  <a:srgbClr val="2B2B2B"/>
                </a:solidFill>
                <a:latin typeface="Arial"/>
              </a:rPr>
              <a:t>&gt; Terminer en distribuant la fiche mémo — c'est le support qu'ils garderont.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