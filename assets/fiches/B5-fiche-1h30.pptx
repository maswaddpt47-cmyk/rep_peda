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Créer et gérer votre espace personnel en ligne</a:t>
            </a:r>
          </a:p>
          <a:p>
            <a:pPr algn="ctr">
              <a:spcBef>
                <a:spcPts val="0"/>
              </a:spcBef>
              <a:spcAft>
                <a:spcPts val="100"/>
              </a:spcAft>
            </a:pPr>
            <a:r>
              <a:rPr sz="800" b="0" i="0">
                <a:solidFill>
                  <a:srgbClr val="6E6E6D"/>
                </a:solidFill>
                <a:latin typeface="Arial"/>
              </a:rPr>
              <a:t>Fiche Action | 1h32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Ce que vous allez apprendre</a:t>
            </a:r>
          </a:p>
          <a:p>
            <a:pPr algn="l">
              <a:spcBef>
                <a:spcPts val="0"/>
              </a:spcBef>
              <a:spcAft>
                <a:spcPts val="100"/>
              </a:spcAft>
            </a:pPr>
            <a:r>
              <a:rPr sz="850" b="0" i="0">
                <a:solidFill>
                  <a:srgbClr val="2B2B2B"/>
                </a:solidFill>
                <a:latin typeface="Arial"/>
              </a:rPr>
              <a:t>&gt; À quoi sert un espace personnel ?</a:t>
            </a:r>
          </a:p>
          <a:p>
            <a:pPr algn="l">
              <a:spcBef>
                <a:spcPts val="0"/>
              </a:spcBef>
              <a:spcAft>
                <a:spcPts val="100"/>
              </a:spcAft>
            </a:pPr>
            <a:r>
              <a:rPr sz="850" b="0" i="0">
                <a:solidFill>
                  <a:srgbClr val="2B2B2B"/>
                </a:solidFill>
                <a:latin typeface="Arial"/>
              </a:rPr>
              <a:t>&gt; Les principaux sites administratifs</a:t>
            </a:r>
          </a:p>
          <a:p>
            <a:pPr algn="l">
              <a:spcBef>
                <a:spcPts val="0"/>
              </a:spcBef>
              <a:spcAft>
                <a:spcPts val="100"/>
              </a:spcAft>
            </a:pPr>
            <a:r>
              <a:rPr sz="850" b="0" i="0">
                <a:solidFill>
                  <a:srgbClr val="2B2B2B"/>
                </a:solidFill>
                <a:latin typeface="Arial"/>
              </a:rPr>
              <a:t>&gt; Ouvrir votre compte Ameli (Assurance Maladie)</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Ce que vous allez apprendre</a:t>
            </a:r>
          </a:p>
          <a:p>
            <a:pPr algn="l">
              <a:spcBef>
                <a:spcPts val="0"/>
              </a:spcBef>
              <a:spcAft>
                <a:spcPts val="100"/>
              </a:spcAft>
            </a:pPr>
            <a:r>
              <a:rPr sz="800" b="0" i="0">
                <a:solidFill>
                  <a:srgbClr val="2B2B2B"/>
                </a:solidFill>
                <a:latin typeface="Arial"/>
              </a:rPr>
              <a:t>. Ce guide couvre toutes les étapes essentielles pour vous sentir à l'aise avec les services administratifs en ligne. Voici le programme :</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À quoi sert un espace personnel ?</a:t>
            </a:r>
          </a:p>
          <a:p>
            <a:pPr algn="l">
              <a:spcBef>
                <a:spcPts val="0"/>
              </a:spcBef>
              <a:spcAft>
                <a:spcPts val="100"/>
              </a:spcAft>
            </a:pPr>
            <a:r>
              <a:rPr sz="800" b="0" i="0">
                <a:solidFill>
                  <a:srgbClr val="2B2B2B"/>
                </a:solidFill>
                <a:latin typeface="Arial"/>
              </a:rPr>
              <a:t>. Un espace personnel, c'est votre coin privé sur le site d'un organisme administratif. Une fois connecté, vous pouvez tout faire à distance, sans vous déplacer ni attendre en file d'attente.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Les principaux sites administratifs</a:t>
            </a:r>
          </a:p>
          <a:p>
            <a:pPr algn="l">
              <a:spcBef>
                <a:spcPts val="0"/>
              </a:spcBef>
              <a:spcAft>
                <a:spcPts val="100"/>
              </a:spcAft>
            </a:pPr>
            <a:r>
              <a:rPr sz="800" b="0" i="0">
                <a:solidFill>
                  <a:srgbClr val="2B2B2B"/>
                </a:solidFill>
                <a:latin typeface="Arial"/>
              </a:rPr>
              <a:t>. Chaque organisme dispose de son propre espace en ligne. Voici un aperçu des plateformes les plus utilisées en France et de ce que chacune propose :</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Ouvrir votre compte Ameli (Assurance Maladie)</a:t>
            </a:r>
          </a:p>
          <a:p>
            <a:pPr algn="l">
              <a:spcBef>
                <a:spcPts val="0"/>
              </a:spcBef>
              <a:spcAft>
                <a:spcPts val="100"/>
              </a:spcAft>
            </a:pPr>
            <a:r>
              <a:rPr sz="800" b="0" i="0">
                <a:solidFill>
                  <a:srgbClr val="2B2B2B"/>
                </a:solidFill>
                <a:latin typeface="Arial"/>
              </a:rPr>
              <a:t>. Ameli.fr est le portail de l'Assurance Maladie. Voici comment créer votre espace personnel étape par étape.</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0:34</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Ouvrir votre compte Impôts.gouv.fr</a:t>
            </a:r>
          </a:p>
          <a:p>
            <a:pPr algn="l">
              <a:spcBef>
                <a:spcPts val="0"/>
              </a:spcBef>
              <a:spcAft>
                <a:spcPts val="100"/>
              </a:spcAft>
            </a:pPr>
            <a:r>
              <a:rPr sz="800" b="0" i="0">
                <a:solidFill>
                  <a:srgbClr val="2B2B2B"/>
                </a:solidFill>
                <a:latin typeface="Arial"/>
              </a:rPr>
              <a:t>. Le site impots.gouv.fr vous permet de déclarer vos revenus, consulter vos avis d'imposition et gérer votre prélèvement à la source. Voici ce qu'il faut pour créer votre espace.</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0:42</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Où trouver vos numéros clés ?</a:t>
            </a:r>
          </a:p>
          <a:p>
            <a:pPr algn="l">
              <a:spcBef>
                <a:spcPts val="0"/>
              </a:spcBef>
              <a:spcAft>
                <a:spcPts val="100"/>
              </a:spcAft>
            </a:pPr>
            <a:r>
              <a:rPr sz="800" b="0" i="0">
                <a:solidFill>
                  <a:srgbClr val="2B2B2B"/>
                </a:solidFill>
                <a:latin typeface="Arial"/>
              </a:rPr>
              <a:t>. Avant de créer vos espaces personnels, repérez ces numéros essentiels sur vos documents. Voici où les trouver facilement.</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0:50</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Créer votre espace personnel : ce qu'il faut pré…</a:t>
            </a:r>
          </a:p>
          <a:p>
            <a:pPr algn="l">
              <a:spcBef>
                <a:spcPts val="0"/>
              </a:spcBef>
              <a:spcAft>
                <a:spcPts val="100"/>
              </a:spcAft>
            </a:pPr>
            <a:r>
              <a:rPr sz="800" b="0" i="0">
                <a:solidFill>
                  <a:srgbClr val="2B2B2B"/>
                </a:solidFill>
                <a:latin typeface="Arial"/>
              </a:rPr>
              <a:t>. Ce que vous aurez besoin</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0:58</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2 min</a:t>
            </a:r>
          </a:p>
          <a:p>
            <a:pPr algn="l">
              <a:spcBef>
                <a:spcPts val="0"/>
              </a:spcBef>
              <a:spcAft>
                <a:spcPts val="100"/>
              </a:spcAft>
            </a:pPr>
            <a:r>
              <a:rPr sz="900" b="1" i="0">
                <a:solidFill>
                  <a:srgbClr val="2B2B2B"/>
                </a:solidFill>
                <a:latin typeface="Arial"/>
              </a:rPr>
              <a:t>Les étapes de création de votre compte</a:t>
            </a:r>
          </a:p>
          <a:p>
            <a:pPr algn="l">
              <a:spcBef>
                <a:spcPts val="0"/>
              </a:spcBef>
              <a:spcAft>
                <a:spcPts val="100"/>
              </a:spcAft>
            </a:pPr>
            <a:r>
              <a:rPr sz="800" b="0" i="0">
                <a:solidFill>
                  <a:srgbClr val="2B2B2B"/>
                </a:solidFill>
                <a:latin typeface="Arial"/>
              </a:rPr>
              <a:t>. Choisir mot de passe</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1:00</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Choisir un mot de passe solide</a:t>
            </a:r>
          </a:p>
          <a:p>
            <a:pPr algn="l">
              <a:spcBef>
                <a:spcPts val="0"/>
              </a:spcBef>
              <a:spcAft>
                <a:spcPts val="100"/>
              </a:spcAft>
            </a:pPr>
            <a:r>
              <a:rPr sz="800" b="0" i="0">
                <a:solidFill>
                  <a:srgbClr val="2B2B2B"/>
                </a:solidFill>
                <a:latin typeface="Arial"/>
              </a:rPr>
              <a:t>. Votre mot de passe est la première barrière contre les accès non autorisés à vos données personnelles et financières. Prenez le temps de bien le choisir.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1:08</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La double authentification : une sécurité supplé…</a:t>
            </a:r>
          </a:p>
          <a:p>
            <a:pPr algn="l">
              <a:spcBef>
                <a:spcPts val="0"/>
              </a:spcBef>
              <a:spcAft>
                <a:spcPts val="100"/>
              </a:spcAft>
            </a:pPr>
            <a:r>
              <a:rPr sz="800" b="0" i="0">
                <a:solidFill>
                  <a:srgbClr val="2B2B2B"/>
                </a:solidFill>
                <a:latin typeface="Arial"/>
              </a:rPr>
              <a:t>. De plus en plus de sites administratifs proposent ou imposent la double authentification (aussi appelée 2FA). Ce mécanisme ajoute une deuxième vérification lors de votre connexion, en plus de votre mot de passe.</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1:16</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Mettre à jour vos informations personnelles</a:t>
            </a:r>
          </a:p>
          <a:p>
            <a:pPr algn="l">
              <a:spcBef>
                <a:spcPts val="0"/>
              </a:spcBef>
              <a:spcAft>
                <a:spcPts val="100"/>
              </a:spcAft>
            </a:pPr>
            <a:r>
              <a:rPr sz="800" b="0" i="0">
                <a:solidFill>
                  <a:srgbClr val="2B2B2B"/>
                </a:solidFill>
                <a:latin typeface="Arial"/>
              </a:rPr>
              <a:t>. Votre espace personnel n'est utile que si les informations qu'il contient sont exactes et à jour. Voici les données à vérifier régulièrement et comment les modifier en quelques clics.</a:t>
            </a:r>
          </a:p>
        </p:txBody>
      </p:sp>
      <p:sp>
        <p:nvSpPr>
          <p:cNvPr id="12" name="Rectangle 11"/>
          <p:cNvSpPr/>
          <p:nvPr/>
        </p:nvSpPr>
        <p:spPr>
          <a:xfrm>
            <a:off x="529200" y="2037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20376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23328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2332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1:24</a:t>
            </a:r>
          </a:p>
        </p:txBody>
      </p:sp>
      <p:sp>
        <p:nvSpPr>
          <p:cNvPr id="16" name="TextBox 15"/>
          <p:cNvSpPr txBox="1"/>
          <p:nvPr/>
        </p:nvSpPr>
        <p:spPr>
          <a:xfrm>
            <a:off x="1303200" y="2102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En cas de problème : que faire ?</a:t>
            </a:r>
          </a:p>
          <a:p>
            <a:pPr algn="l">
              <a:spcBef>
                <a:spcPts val="0"/>
              </a:spcBef>
              <a:spcAft>
                <a:spcPts val="100"/>
              </a:spcAft>
            </a:pPr>
            <a:r>
              <a:rPr sz="800" b="0" i="0">
                <a:solidFill>
                  <a:srgbClr val="2B2B2B"/>
                </a:solidFill>
                <a:latin typeface="Arial"/>
              </a:rPr>
              <a:t>. Mot de passe oublié</a:t>
            </a:r>
          </a:p>
        </p:txBody>
      </p:sp>
      <p:sp>
        <p:nvSpPr>
          <p:cNvPr id="17" name="Rectangle 16"/>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