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Les démarches administratives en ligne</a:t>
            </a:r>
          </a:p>
          <a:p>
            <a:pPr algn="ctr">
              <a:spcBef>
                <a:spcPts val="0"/>
              </a:spcBef>
              <a:spcAft>
                <a:spcPts val="100"/>
              </a:spcAft>
            </a:pPr>
            <a:r>
              <a:rPr sz="800" b="0" i="0">
                <a:solidFill>
                  <a:srgbClr val="6E6E6D"/>
                </a:solidFill>
                <a:latin typeface="Arial"/>
              </a:rPr>
              <a:t>Fiche Action | 1h02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Pourquoi les démarches en ligne semblent compliquées</a:t>
            </a:r>
          </a:p>
          <a:p>
            <a:pPr algn="l">
              <a:spcBef>
                <a:spcPts val="0"/>
              </a:spcBef>
              <a:spcAft>
                <a:spcPts val="100"/>
              </a:spcAft>
            </a:pPr>
            <a:r>
              <a:rPr sz="850" b="0" i="0">
                <a:solidFill>
                  <a:srgbClr val="2B2B2B"/>
                </a:solidFill>
                <a:latin typeface="Arial"/>
              </a:rPr>
              <a:t>&gt; Service-public.fr : votre portail officiel</a:t>
            </a:r>
          </a:p>
          <a:p>
            <a:pPr algn="l">
              <a:spcBef>
                <a:spcPts val="0"/>
              </a:spcBef>
              <a:spcAft>
                <a:spcPts val="100"/>
              </a:spcAft>
            </a:pPr>
            <a:r>
              <a:rPr sz="850" b="0" i="0">
                <a:solidFill>
                  <a:srgbClr val="2B2B2B"/>
                </a:solidFill>
                <a:latin typeface="Arial"/>
              </a:rPr>
              <a:t>&gt; Comment naviguer sur service-public.fr</a:t>
            </a:r>
          </a:p>
          <a:p>
            <a:pPr algn="l">
              <a:spcBef>
                <a:spcPts val="0"/>
              </a:spcBef>
              <a:spcAft>
                <a:spcPts val="100"/>
              </a:spcAft>
            </a:pPr>
            <a:r>
              <a:rPr sz="850" b="0" i="0">
                <a:solidFill>
                  <a:srgbClr val="2B2B2B"/>
                </a:solidFill>
                <a:latin typeface="Arial"/>
              </a:rPr>
              <a:t>&gt; La Boussole des jeunes : pour les 16–30 ans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Pourquoi les démarches en ligne semblent compliq…</a:t>
            </a:r>
          </a:p>
          <a:p>
            <a:pPr algn="l">
              <a:spcBef>
                <a:spcPts val="0"/>
              </a:spcBef>
              <a:spcAft>
                <a:spcPts val="100"/>
              </a:spcAft>
            </a:pPr>
            <a:r>
              <a:rPr sz="800" b="0" i="0">
                <a:solidFill>
                  <a:srgbClr val="2B2B2B"/>
                </a:solidFill>
                <a:latin typeface="Arial"/>
              </a:rPr>
              <a:t>. Beaucoup de personnes hésitent à effectuer leurs démarches administratives en ligne. Et c'est tout à fait normal ! Les sites sont nombreux, les formulaires parfois longs, et la peur de faire une erreur peut bloquer.</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4 min</a:t>
            </a:r>
          </a:p>
          <a:p>
            <a:pPr algn="l">
              <a:spcBef>
                <a:spcPts val="0"/>
              </a:spcBef>
              <a:spcAft>
                <a:spcPts val="100"/>
              </a:spcAft>
            </a:pPr>
            <a:r>
              <a:rPr sz="900" b="1" i="0">
                <a:solidFill>
                  <a:srgbClr val="2B2B2B"/>
                </a:solidFill>
                <a:latin typeface="Arial"/>
              </a:rPr>
              <a:t>Au programme de cet atelier</a:t>
            </a:r>
          </a:p>
          <a:p>
            <a:pPr algn="l">
              <a:spcBef>
                <a:spcPts val="0"/>
              </a:spcBef>
              <a:spcAft>
                <a:spcPts val="100"/>
              </a:spcAft>
            </a:pPr>
            <a:r>
              <a:rPr sz="800" b="0" i="0">
                <a:solidFill>
                  <a:srgbClr val="2B2B2B"/>
                </a:solidFill>
                <a:latin typeface="Arial"/>
              </a:rPr>
              <a:t>. Voici les grandes étapes que nous allons explorer ensemble aujourd'hui. Chaque partie est conçue pour vous donner des repères concrets et des outils immédiatement utilisables.</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Service-public.fr : votre portail officiel</a:t>
            </a:r>
          </a:p>
          <a:p>
            <a:pPr algn="l">
              <a:spcBef>
                <a:spcPts val="0"/>
              </a:spcBef>
              <a:spcAft>
                <a:spcPts val="100"/>
              </a:spcAft>
            </a:pPr>
            <a:r>
              <a:rPr sz="800" b="0" i="0">
                <a:solidFill>
                  <a:srgbClr val="2B2B2B"/>
                </a:solidFill>
                <a:latin typeface="Arial"/>
              </a:rPr>
              <a:t>. Service-public.fr est le site officiel de l'administration française. Géré par la Direction de l'information légale et administrative (DILA), c'est votre point d'entrée unique et fiable pour toutes vos démarches. Il remplace les longues files d'attente en préfecture ou en mairie.</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Comment naviguer sur service-public.fr</a:t>
            </a:r>
          </a:p>
          <a:p>
            <a:pPr algn="l">
              <a:spcBef>
                <a:spcPts val="0"/>
              </a:spcBef>
              <a:spcAft>
                <a:spcPts val="100"/>
              </a:spcAft>
            </a:pPr>
            <a:r>
              <a:rPr sz="800" b="0" i="0">
                <a:solidFill>
                  <a:srgbClr val="2B2B2B"/>
                </a:solidFill>
                <a:latin typeface="Arial"/>
              </a:rPr>
              <a:t>. Le site est organisé de manière logique. Voici comment l'utiliser efficacement, étape par étape, même si_x000B_vous n'êtes pas à l'aise avec Internet.</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Boussole des jeunes : pour les 16–30 ans</a:t>
            </a:r>
          </a:p>
          <a:p>
            <a:pPr algn="l">
              <a:spcBef>
                <a:spcPts val="0"/>
              </a:spcBef>
              <a:spcAft>
                <a:spcPts val="100"/>
              </a:spcAft>
            </a:pPr>
            <a:r>
              <a:rPr sz="800" b="0" i="0">
                <a:solidFill>
                  <a:srgbClr val="2B2B2B"/>
                </a:solidFill>
                <a:latin typeface="Arial"/>
              </a:rPr>
              <a:t>. boussole.jeunes.gouv.fr est un outil numérique gratuit conçu spécifiquement pour aider les jeunes de 16 à 30 ans à s'orienter dans leurs démarches administratives, sociales et professionnelles. En quelques questions simples, il vous dirige vers les aides et dispositifs qui correspondent à votre situation.</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0:38</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FranceConnect : une clé pour tous les services</a:t>
            </a:r>
          </a:p>
          <a:p>
            <a:pPr algn="l">
              <a:spcBef>
                <a:spcPts val="0"/>
              </a:spcBef>
              <a:spcAft>
                <a:spcPts val="100"/>
              </a:spcAft>
            </a:pPr>
            <a:r>
              <a:rPr sz="800" b="0" i="0">
                <a:solidFill>
                  <a:srgbClr val="2B2B2B"/>
                </a:solidFill>
                <a:latin typeface="Arial"/>
              </a:rPr>
              <a:t>. FranceConnect est un dispositif officiel de l'État qui vous permet de vous connecter à la majorité des services publics en ligne_x000B_avec un seul identifiant. Plus besoin de retenir des dizaines de mots de passe différents !</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0:46</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principaux sites par thème</a:t>
            </a:r>
          </a:p>
          <a:p>
            <a:pPr algn="l">
              <a:spcBef>
                <a:spcPts val="0"/>
              </a:spcBef>
              <a:spcAft>
                <a:spcPts val="100"/>
              </a:spcAft>
            </a:pPr>
            <a:r>
              <a:rPr sz="800" b="0" i="0">
                <a:solidFill>
                  <a:srgbClr val="2B2B2B"/>
                </a:solidFill>
                <a:latin typeface="Arial"/>
              </a:rPr>
              <a:t>. Voici un panorama des sites officiels les plus utiles au quotidien. Tous sont gratuits et accessibles depuis un ordinateur, une tablette ou un smartphone.</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0:54</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Vous n'êtes pas seule : les lieux d'aide</a:t>
            </a:r>
          </a:p>
          <a:p>
            <a:pPr algn="l">
              <a:spcBef>
                <a:spcPts val="0"/>
              </a:spcBef>
              <a:spcAft>
                <a:spcPts val="100"/>
              </a:spcAft>
            </a:pPr>
            <a:r>
              <a:rPr sz="800" b="0" i="0">
                <a:solidFill>
                  <a:srgbClr val="2B2B2B"/>
                </a:solidFill>
                <a:latin typeface="Arial"/>
              </a:rPr>
              <a:t>. Effectuer des démarches en ligne ne veut pas dire être seul face à l'écran. De nombreux professionnels et bénévoles sont là pour vous accompagner, gratuitement, près de chez vous.</a:t>
            </a:r>
          </a:p>
        </p:txBody>
      </p:sp>
      <p:sp>
        <p:nvSpPr>
          <p:cNvPr id="47" name="Rectangle 46"/>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