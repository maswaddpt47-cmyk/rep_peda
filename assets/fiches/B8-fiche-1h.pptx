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56399"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TextBox 1"/>
          <p:cNvSpPr txBox="1"/>
          <p:nvPr/>
        </p:nvSpPr>
        <p:spPr>
          <a:xfrm>
            <a:off x="529200" y="1224000"/>
            <a:ext cx="6498000" cy="468000"/>
          </a:xfrm>
          <a:prstGeom prst="rect">
            <a:avLst/>
          </a:prstGeom>
          <a:noFill/>
        </p:spPr>
        <p:txBody>
          <a:bodyPr wrap="square" tIns="0" bIns="0" lIns="18000" rIns="18000">
            <a:spAutoFit/>
          </a:bodyPr>
          <a:lstStyle/>
          <a:p>
            <a:pPr algn="ctr">
              <a:spcBef>
                <a:spcPts val="0"/>
              </a:spcBef>
              <a:spcAft>
                <a:spcPts val="100"/>
              </a:spcAft>
            </a:pPr>
            <a:r>
              <a:rPr sz="1700" b="1" i="0">
                <a:solidFill>
                  <a:srgbClr val="4388BC"/>
                </a:solidFill>
                <a:latin typeface="Arial"/>
              </a:rPr>
              <a:t>Gérer son budget à l'ère numérique</a:t>
            </a:r>
          </a:p>
          <a:p>
            <a:pPr algn="ctr">
              <a:spcBef>
                <a:spcPts val="0"/>
              </a:spcBef>
              <a:spcAft>
                <a:spcPts val="100"/>
              </a:spcAft>
            </a:pPr>
            <a:r>
              <a:rPr sz="800" b="0" i="0">
                <a:solidFill>
                  <a:srgbClr val="6E6E6D"/>
                </a:solidFill>
                <a:latin typeface="Arial"/>
              </a:rPr>
              <a:t>Fiche Action | 1h04 | Guide d'animation — Conseillers Numériques CD47</a:t>
            </a:r>
          </a:p>
        </p:txBody>
      </p:sp>
      <p:sp>
        <p:nvSpPr>
          <p:cNvPr id="3" name="Rectangle 2"/>
          <p:cNvSpPr/>
          <p:nvPr/>
        </p:nvSpPr>
        <p:spPr>
          <a:xfrm>
            <a:off x="529200" y="1764000"/>
            <a:ext cx="3024000" cy="900000"/>
          </a:xfrm>
          <a:prstGeom prst="rect">
            <a:avLst/>
          </a:prstGeom>
          <a:solidFill>
            <a:srgbClr val="ECF5FF"/>
          </a:solidFill>
          <a:ln w="1270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19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4388BC"/>
                </a:solidFill>
                <a:latin typeface="Arial"/>
              </a:rPr>
              <a:t>Objectifs</a:t>
            </a:r>
          </a:p>
          <a:p>
            <a:pPr algn="l">
              <a:spcBef>
                <a:spcPts val="0"/>
              </a:spcBef>
              <a:spcAft>
                <a:spcPts val="100"/>
              </a:spcAft>
            </a:pPr>
            <a:r>
              <a:rPr sz="850" b="0" i="0">
                <a:solidFill>
                  <a:srgbClr val="2B2B2B"/>
                </a:solidFill>
                <a:latin typeface="Arial"/>
              </a:rPr>
              <a:t>&gt; Pourquoi suivre son budget ?</a:t>
            </a:r>
          </a:p>
          <a:p>
            <a:pPr algn="l">
              <a:spcBef>
                <a:spcPts val="0"/>
              </a:spcBef>
              <a:spcAft>
                <a:spcPts val="100"/>
              </a:spcAft>
            </a:pPr>
            <a:r>
              <a:rPr sz="850" b="0" i="0">
                <a:solidFill>
                  <a:srgbClr val="2B2B2B"/>
                </a:solidFill>
                <a:latin typeface="Arial"/>
              </a:rPr>
              <a:t>&gt; Tour d'horizon des applications de budget</a:t>
            </a:r>
          </a:p>
          <a:p>
            <a:pPr algn="l">
              <a:spcBef>
                <a:spcPts val="0"/>
              </a:spcBef>
              <a:spcAft>
                <a:spcPts val="100"/>
              </a:spcAft>
            </a:pPr>
            <a:r>
              <a:rPr sz="850" b="0" i="0">
                <a:solidFill>
                  <a:srgbClr val="2B2B2B"/>
                </a:solidFill>
                <a:latin typeface="Arial"/>
              </a:rPr>
              <a:t>&gt; Applications gratuites vs. payantes</a:t>
            </a:r>
          </a:p>
          <a:p>
            <a:pPr algn="l">
              <a:spcBef>
                <a:spcPts val="0"/>
              </a:spcBef>
              <a:spcAft>
                <a:spcPts val="100"/>
              </a:spcAft>
            </a:pPr>
            <a:r>
              <a:rPr sz="850" b="0" i="0">
                <a:solidFill>
                  <a:srgbClr val="2B2B2B"/>
                </a:solidFill>
                <a:latin typeface="Arial"/>
              </a:rPr>
              <a:t>&gt; Comment bien démarrer : les premières étapes</a:t>
            </a:r>
          </a:p>
        </p:txBody>
      </p:sp>
      <p:sp>
        <p:nvSpPr>
          <p:cNvPr id="5" name="Rectangle 4"/>
          <p:cNvSpPr/>
          <p:nvPr/>
        </p:nvSpPr>
        <p:spPr>
          <a:xfrm>
            <a:off x="4003200" y="1764000"/>
            <a:ext cx="3024000" cy="900000"/>
          </a:xfrm>
          <a:prstGeom prst="rect">
            <a:avLst/>
          </a:prstGeom>
          <a:solidFill>
            <a:srgbClr val="EBF7F6"/>
          </a:solidFill>
          <a:ln w="12700">
            <a:solidFill>
              <a:srgbClr val="187C8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093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187C88"/>
                </a:solidFill>
                <a:latin typeface="Arial"/>
              </a:rPr>
              <a:t>Matériel nécessaire</a:t>
            </a:r>
          </a:p>
          <a:p>
            <a:pPr algn="l">
              <a:spcBef>
                <a:spcPts val="0"/>
              </a:spcBef>
              <a:spcAft>
                <a:spcPts val="100"/>
              </a:spcAft>
            </a:pPr>
            <a:r>
              <a:rPr sz="850" b="0" i="0">
                <a:solidFill>
                  <a:srgbClr val="2B2B2B"/>
                </a:solidFill>
                <a:latin typeface="Arial"/>
              </a:rPr>
              <a:t>&gt; 1 PC ou tablette par participant</a:t>
            </a:r>
          </a:p>
          <a:p>
            <a:pPr algn="l">
              <a:spcBef>
                <a:spcPts val="0"/>
              </a:spcBef>
              <a:spcAft>
                <a:spcPts val="100"/>
              </a:spcAft>
            </a:pPr>
            <a:r>
              <a:rPr sz="850" b="0" i="0">
                <a:solidFill>
                  <a:srgbClr val="2B2B2B"/>
                </a:solidFill>
                <a:latin typeface="Arial"/>
              </a:rPr>
              <a:t>&gt; Connexion Wi-Fi stable</a:t>
            </a:r>
          </a:p>
          <a:p>
            <a:pPr algn="l">
              <a:spcBef>
                <a:spcPts val="0"/>
              </a:spcBef>
              <a:spcAft>
                <a:spcPts val="100"/>
              </a:spcAft>
            </a:pPr>
            <a:r>
              <a:rPr sz="850" b="0" i="0">
                <a:solidFill>
                  <a:srgbClr val="2B2B2B"/>
                </a:solidFill>
                <a:latin typeface="Arial"/>
              </a:rPr>
              <a:t>&gt; Grand écran / vidéoprojecteur</a:t>
            </a:r>
          </a:p>
          <a:p>
            <a:pPr algn="l">
              <a:spcBef>
                <a:spcPts val="0"/>
              </a:spcBef>
              <a:spcAft>
                <a:spcPts val="100"/>
              </a:spcAft>
            </a:pPr>
            <a:r>
              <a:rPr sz="850" b="0" i="0">
                <a:solidFill>
                  <a:srgbClr val="2B2B2B"/>
                </a:solidFill>
                <a:latin typeface="Arial"/>
              </a:rPr>
              <a:t>&gt; Fiches mémo (1 par participant)</a:t>
            </a:r>
          </a:p>
        </p:txBody>
      </p:sp>
      <p:sp>
        <p:nvSpPr>
          <p:cNvPr id="7" name="Rectangle 6"/>
          <p:cNvSpPr/>
          <p:nvPr/>
        </p:nvSpPr>
        <p:spPr>
          <a:xfrm>
            <a:off x="529200" y="2736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29200" y="2736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63200" y="3031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3200" y="3031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0:02</a:t>
            </a:r>
          </a:p>
        </p:txBody>
      </p:sp>
      <p:sp>
        <p:nvSpPr>
          <p:cNvPr id="11" name="TextBox 10"/>
          <p:cNvSpPr txBox="1"/>
          <p:nvPr/>
        </p:nvSpPr>
        <p:spPr>
          <a:xfrm>
            <a:off x="1303200" y="2800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4 min</a:t>
            </a:r>
          </a:p>
          <a:p>
            <a:pPr algn="l">
              <a:spcBef>
                <a:spcPts val="0"/>
              </a:spcBef>
              <a:spcAft>
                <a:spcPts val="100"/>
              </a:spcAft>
            </a:pPr>
            <a:r>
              <a:rPr sz="900" b="1" i="0">
                <a:solidFill>
                  <a:srgbClr val="2B2B2B"/>
                </a:solidFill>
                <a:latin typeface="Arial"/>
              </a:rPr>
              <a:t>Au programme de cet atelier</a:t>
            </a:r>
          </a:p>
          <a:p>
            <a:pPr algn="l">
              <a:spcBef>
                <a:spcPts val="0"/>
              </a:spcBef>
              <a:spcAft>
                <a:spcPts val="100"/>
              </a:spcAft>
            </a:pPr>
            <a:r>
              <a:rPr sz="800" b="0" i="0">
                <a:solidFill>
                  <a:srgbClr val="2B2B2B"/>
                </a:solidFill>
                <a:latin typeface="Arial"/>
              </a:rPr>
              <a:t>. Un parcours en 8 étapes pour tout comprendre, de zéro à expert :</a:t>
            </a:r>
          </a:p>
        </p:txBody>
      </p:sp>
      <p:sp>
        <p:nvSpPr>
          <p:cNvPr id="12" name="Rectangle 11"/>
          <p:cNvSpPr/>
          <p:nvPr/>
        </p:nvSpPr>
        <p:spPr>
          <a:xfrm>
            <a:off x="529200" y="3484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9200" y="34848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63200" y="37800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3200" y="3780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0:06</a:t>
            </a:r>
          </a:p>
        </p:txBody>
      </p:sp>
      <p:sp>
        <p:nvSpPr>
          <p:cNvPr id="16" name="TextBox 15"/>
          <p:cNvSpPr txBox="1"/>
          <p:nvPr/>
        </p:nvSpPr>
        <p:spPr>
          <a:xfrm>
            <a:off x="1303200" y="3549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Pourquoi suivre son budget ?</a:t>
            </a:r>
          </a:p>
          <a:p>
            <a:pPr algn="l">
              <a:spcBef>
                <a:spcPts val="0"/>
              </a:spcBef>
              <a:spcAft>
                <a:spcPts val="100"/>
              </a:spcAft>
            </a:pPr>
            <a:r>
              <a:rPr sz="800" b="0" i="0">
                <a:solidFill>
                  <a:srgbClr val="2B2B2B"/>
                </a:solidFill>
                <a:latin typeface="Arial"/>
              </a:rPr>
              <a:t>. Beaucoup d'entre nous finissent le mois en se demandant où est passé l'argent. Sans suivi, les petites dépenses s'accumulent silencieusement. Un budget bien tenu, c'est la liberté de faire des choix éclairés.</a:t>
            </a:r>
          </a:p>
        </p:txBody>
      </p:sp>
      <p:sp>
        <p:nvSpPr>
          <p:cNvPr id="17" name="Rectangle 16"/>
          <p:cNvSpPr/>
          <p:nvPr/>
        </p:nvSpPr>
        <p:spPr>
          <a:xfrm>
            <a:off x="529200" y="42336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29200" y="42336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63200" y="45288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3200" y="45288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0:14</a:t>
            </a:r>
          </a:p>
        </p:txBody>
      </p:sp>
      <p:sp>
        <p:nvSpPr>
          <p:cNvPr id="21" name="TextBox 20"/>
          <p:cNvSpPr txBox="1"/>
          <p:nvPr/>
        </p:nvSpPr>
        <p:spPr>
          <a:xfrm>
            <a:off x="1303200" y="42984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Tour d'horizon des applications de budget</a:t>
            </a:r>
          </a:p>
          <a:p>
            <a:pPr algn="l">
              <a:spcBef>
                <a:spcPts val="0"/>
              </a:spcBef>
              <a:spcAft>
                <a:spcPts val="100"/>
              </a:spcAft>
            </a:pPr>
            <a:r>
              <a:rPr sz="800" b="0" i="0">
                <a:solidFill>
                  <a:srgbClr val="2B2B2B"/>
                </a:solidFill>
                <a:latin typeface="Arial"/>
              </a:rPr>
              <a:t>. Il existe aujourd'hui des dizaines d'applications pour gérer ses finances. Voici les plus populaires</a:t>
            </a:r>
          </a:p>
        </p:txBody>
      </p:sp>
      <p:sp>
        <p:nvSpPr>
          <p:cNvPr id="22" name="Rectangle 21"/>
          <p:cNvSpPr/>
          <p:nvPr/>
        </p:nvSpPr>
        <p:spPr>
          <a:xfrm>
            <a:off x="529200" y="49824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29200" y="49824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63200" y="52776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63200" y="52776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0:22</a:t>
            </a:r>
          </a:p>
        </p:txBody>
      </p:sp>
      <p:sp>
        <p:nvSpPr>
          <p:cNvPr id="26" name="TextBox 25"/>
          <p:cNvSpPr txBox="1"/>
          <p:nvPr/>
        </p:nvSpPr>
        <p:spPr>
          <a:xfrm>
            <a:off x="1303200" y="50472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Applications gratuites vs. payantes</a:t>
            </a:r>
          </a:p>
          <a:p>
            <a:pPr algn="l">
              <a:spcBef>
                <a:spcPts val="0"/>
              </a:spcBef>
              <a:spcAft>
                <a:spcPts val="100"/>
              </a:spcAft>
            </a:pPr>
            <a:r>
              <a:rPr sz="800" b="0" i="0">
                <a:solidFill>
                  <a:srgbClr val="2B2B2B"/>
                </a:solidFill>
                <a:latin typeface="Arial"/>
              </a:rPr>
              <a:t>. Pas besoin de dépenser de l'argent pour gérer son argent ! La plupart des outils proposent une version gratuite très complète. Voici comment choisir :</a:t>
            </a:r>
          </a:p>
        </p:txBody>
      </p:sp>
      <p:sp>
        <p:nvSpPr>
          <p:cNvPr id="27" name="Rectangle 26"/>
          <p:cNvSpPr/>
          <p:nvPr/>
        </p:nvSpPr>
        <p:spPr>
          <a:xfrm>
            <a:off x="529200" y="57312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29200" y="57312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63200" y="60263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63200" y="60263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0:30</a:t>
            </a:r>
          </a:p>
        </p:txBody>
      </p:sp>
      <p:sp>
        <p:nvSpPr>
          <p:cNvPr id="31" name="TextBox 30"/>
          <p:cNvSpPr txBox="1"/>
          <p:nvPr/>
        </p:nvSpPr>
        <p:spPr>
          <a:xfrm>
            <a:off x="1303200" y="57960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2 min</a:t>
            </a:r>
          </a:p>
          <a:p>
            <a:pPr algn="l">
              <a:spcBef>
                <a:spcPts val="0"/>
              </a:spcBef>
              <a:spcAft>
                <a:spcPts val="100"/>
              </a:spcAft>
            </a:pPr>
            <a:r>
              <a:rPr sz="900" b="1" i="0">
                <a:solidFill>
                  <a:srgbClr val="2B2B2B"/>
                </a:solidFill>
                <a:latin typeface="Arial"/>
              </a:rPr>
              <a:t>Comment bien démarrer : les premières étapes</a:t>
            </a:r>
          </a:p>
          <a:p>
            <a:pPr algn="l">
              <a:spcBef>
                <a:spcPts val="0"/>
              </a:spcBef>
              <a:spcAft>
                <a:spcPts val="100"/>
              </a:spcAft>
            </a:pPr>
            <a:r>
              <a:rPr sz="800" b="0" i="0">
                <a:solidFill>
                  <a:srgbClr val="2B2B2B"/>
                </a:solidFill>
                <a:latin typeface="Arial"/>
              </a:rPr>
              <a:t>. Se lancer dans la gestion budgétaire numérique ne prend que quelques minutes. Suivez ces étapes simples_x000B_pour démarrer sur de bonnes bases :</a:t>
            </a:r>
          </a:p>
        </p:txBody>
      </p:sp>
      <p:sp>
        <p:nvSpPr>
          <p:cNvPr id="32" name="Rectangle 31"/>
          <p:cNvSpPr/>
          <p:nvPr/>
        </p:nvSpPr>
        <p:spPr>
          <a:xfrm>
            <a:off x="529200" y="6480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29200" y="6480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763200" y="6775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63200" y="6775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0:32</a:t>
            </a:r>
          </a:p>
        </p:txBody>
      </p:sp>
      <p:sp>
        <p:nvSpPr>
          <p:cNvPr id="36" name="TextBox 35"/>
          <p:cNvSpPr txBox="1"/>
          <p:nvPr/>
        </p:nvSpPr>
        <p:spPr>
          <a:xfrm>
            <a:off x="1303200" y="6544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Astuces pour optimiser son budget</a:t>
            </a:r>
          </a:p>
          <a:p>
            <a:pPr algn="l">
              <a:spcBef>
                <a:spcPts val="0"/>
              </a:spcBef>
              <a:spcAft>
                <a:spcPts val="100"/>
              </a:spcAft>
            </a:pPr>
            <a:r>
              <a:rPr sz="800" b="0" i="0">
                <a:solidFill>
                  <a:srgbClr val="2B2B2B"/>
                </a:solidFill>
                <a:latin typeface="Arial"/>
              </a:rPr>
              <a:t>. Au-delà des applications, quelques méthodes éprouvées permettent de transformer ses habitudes_x000B_financières en profondeur :</a:t>
            </a:r>
          </a:p>
        </p:txBody>
      </p:sp>
      <p:sp>
        <p:nvSpPr>
          <p:cNvPr id="37" name="Rectangle 36"/>
          <p:cNvSpPr/>
          <p:nvPr/>
        </p:nvSpPr>
        <p:spPr>
          <a:xfrm>
            <a:off x="529200" y="72287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29200" y="7228799"/>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63200" y="7523999"/>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3200" y="75239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0:40</a:t>
            </a:r>
          </a:p>
        </p:txBody>
      </p:sp>
      <p:sp>
        <p:nvSpPr>
          <p:cNvPr id="41" name="TextBox 40"/>
          <p:cNvSpPr txBox="1"/>
          <p:nvPr/>
        </p:nvSpPr>
        <p:spPr>
          <a:xfrm>
            <a:off x="1303200" y="72935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Bons plans &amp; outils pour dépenser moins</a:t>
            </a:r>
          </a:p>
          <a:p>
            <a:pPr algn="l">
              <a:spcBef>
                <a:spcPts val="0"/>
              </a:spcBef>
              <a:spcAft>
                <a:spcPts val="100"/>
              </a:spcAft>
            </a:pPr>
            <a:r>
              <a:rPr sz="800" b="0" i="0">
                <a:solidFill>
                  <a:srgbClr val="2B2B2B"/>
                </a:solidFill>
                <a:latin typeface="Arial"/>
              </a:rPr>
              <a:t>. La gestion de budget ne se limite pas au suivi des dépenses. Il existe aussi d'excellents outils numériques pour payer moins cher au quotidien :</a:t>
            </a:r>
          </a:p>
        </p:txBody>
      </p:sp>
      <p:sp>
        <p:nvSpPr>
          <p:cNvPr id="42" name="Rectangle 41"/>
          <p:cNvSpPr/>
          <p:nvPr/>
        </p:nvSpPr>
        <p:spPr>
          <a:xfrm>
            <a:off x="529200" y="79775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529200" y="7977599"/>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63200" y="8272799"/>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63200" y="82727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0:48</a:t>
            </a:r>
          </a:p>
        </p:txBody>
      </p:sp>
      <p:sp>
        <p:nvSpPr>
          <p:cNvPr id="46" name="TextBox 45"/>
          <p:cNvSpPr txBox="1"/>
          <p:nvPr/>
        </p:nvSpPr>
        <p:spPr>
          <a:xfrm>
            <a:off x="1303200" y="80423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Sécurité &amp; confidentialité : ce qu'il faut savoi…</a:t>
            </a:r>
          </a:p>
          <a:p>
            <a:pPr algn="l">
              <a:spcBef>
                <a:spcPts val="0"/>
              </a:spcBef>
              <a:spcAft>
                <a:spcPts val="100"/>
              </a:spcAft>
            </a:pPr>
            <a:r>
              <a:rPr sz="800" b="0" i="0">
                <a:solidFill>
                  <a:srgbClr val="2B2B2B"/>
                </a:solidFill>
                <a:latin typeface="Arial"/>
              </a:rPr>
              <a:t>. La principale réticence à utiliser ces outils est souvent la question de la sécurité. Voici les éléments_x000B_essentiels pour faire des choix éclairés et serein :</a:t>
            </a:r>
          </a:p>
        </p:txBody>
      </p:sp>
      <p:sp>
        <p:nvSpPr>
          <p:cNvPr id="47" name="Rectangle 46"/>
          <p:cNvSpPr/>
          <p:nvPr/>
        </p:nvSpPr>
        <p:spPr>
          <a:xfrm>
            <a:off x="529200" y="87263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529200" y="8726399"/>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763200" y="90215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763200" y="90215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0:56</a:t>
            </a:r>
          </a:p>
        </p:txBody>
      </p:sp>
      <p:sp>
        <p:nvSpPr>
          <p:cNvPr id="51" name="TextBox 50"/>
          <p:cNvSpPr txBox="1"/>
          <p:nvPr/>
        </p:nvSpPr>
        <p:spPr>
          <a:xfrm>
            <a:off x="1303200" y="87911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Vous êtes prête à vous lancer !</a:t>
            </a:r>
          </a:p>
          <a:p>
            <a:pPr algn="l">
              <a:spcBef>
                <a:spcPts val="0"/>
              </a:spcBef>
              <a:spcAft>
                <a:spcPts val="100"/>
              </a:spcAft>
            </a:pPr>
            <a:r>
              <a:rPr sz="800" b="0" i="0">
                <a:solidFill>
                  <a:srgbClr val="2B2B2B"/>
                </a:solidFill>
                <a:latin typeface="Arial"/>
              </a:rPr>
              <a:t>. La gestion de budget numérique n'est pas réservée aux experts en finance. Avec les bons outils, quelques minutes par semaine suffisent pour transformer votre relation à l'argent.</a:t>
            </a:r>
          </a:p>
        </p:txBody>
      </p:sp>
      <p:sp>
        <p:nvSpPr>
          <p:cNvPr id="52" name="Rectangle 51"/>
          <p:cNvSpPr/>
          <p:nvPr/>
        </p:nvSpPr>
        <p:spPr>
          <a:xfrm>
            <a:off x="529200" y="9684000"/>
            <a:ext cx="6498000" cy="43200"/>
          </a:xfrm>
          <a:prstGeom prst="rect">
            <a:avLst/>
          </a:prstGeom>
          <a:solidFill>
            <a:srgbClr val="F8A8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619200" y="9748800"/>
            <a:ext cx="6354000" cy="827999"/>
          </a:xfrm>
          <a:prstGeom prst="rect">
            <a:avLst/>
          </a:prstGeom>
          <a:noFill/>
        </p:spPr>
        <p:txBody>
          <a:bodyPr wrap="square" tIns="0" bIns="0" lIns="18000" rIns="18000">
            <a:spAutoFit/>
          </a:bodyPr>
          <a:lstStyle/>
          <a:p>
            <a:pPr algn="l">
              <a:spcBef>
                <a:spcPts val="0"/>
              </a:spcBef>
              <a:spcAft>
                <a:spcPts val="100"/>
              </a:spcAft>
            </a:pPr>
            <a:r>
              <a:rPr sz="950" b="1" i="0">
                <a:solidFill>
                  <a:srgbClr val="2B2B2B"/>
                </a:solidFill>
                <a:latin typeface="Arial"/>
              </a:rPr>
              <a:t>Conseils pour une bonne animation</a:t>
            </a:r>
          </a:p>
          <a:p>
            <a:pPr algn="l">
              <a:spcBef>
                <a:spcPts val="0"/>
              </a:spcBef>
              <a:spcAft>
                <a:spcPts val="100"/>
              </a:spcAft>
            </a:pPr>
            <a:r>
              <a:rPr sz="850" b="0" i="0">
                <a:solidFill>
                  <a:srgbClr val="2B2B2B"/>
                </a:solidFill>
                <a:latin typeface="Arial"/>
              </a:rPr>
              <a:t>&gt; Adapter le rythme selon le niveau du groupe.</a:t>
            </a:r>
          </a:p>
          <a:p>
            <a:pPr algn="l">
              <a:spcBef>
                <a:spcPts val="0"/>
              </a:spcBef>
              <a:spcAft>
                <a:spcPts val="100"/>
              </a:spcAft>
            </a:pPr>
            <a:r>
              <a:rPr sz="850" b="0" i="0">
                <a:solidFill>
                  <a:srgbClr val="2B2B2B"/>
                </a:solidFill>
                <a:latin typeface="Arial"/>
              </a:rPr>
              <a:t>&gt; Laisser les participants manipuler dès que possible.</a:t>
            </a:r>
          </a:p>
          <a:p>
            <a:pPr algn="l">
              <a:spcBef>
                <a:spcPts val="0"/>
              </a:spcBef>
              <a:spcAft>
                <a:spcPts val="100"/>
              </a:spcAft>
            </a:pPr>
            <a:r>
              <a:rPr sz="850" b="0" i="0">
                <a:solidFill>
                  <a:srgbClr val="2B2B2B"/>
                </a:solidFill>
                <a:latin typeface="Arial"/>
              </a:rPr>
              <a:t>&gt; Prévoir un compte de démonstration pour ne pas exposer de données personnelles.</a:t>
            </a:r>
          </a:p>
          <a:p>
            <a:pPr algn="l">
              <a:spcBef>
                <a:spcPts val="0"/>
              </a:spcBef>
              <a:spcAft>
                <a:spcPts val="100"/>
              </a:spcAft>
            </a:pPr>
            <a:r>
              <a:rPr sz="850" b="0" i="0">
                <a:solidFill>
                  <a:srgbClr val="2B2B2B"/>
                </a:solidFill>
                <a:latin typeface="Arial"/>
              </a:rPr>
              <a:t>&gt; Terminer en distribuant la fiche mémo — c'est le support qu'ils garderont.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