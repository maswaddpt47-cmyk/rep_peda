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7556399"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blipFill>
          <a:blip r:embed="rId2"/>
          <a:stretch>
            <a:fillRect/>
          </a:stretch>
        </a:blipFill>
        <a:effectLst/>
      </p:bgPr>
    </p:bg>
    <p:spTree>
      <p:nvGrpSpPr>
        <p:cNvPr id="1" name=""/>
        <p:cNvGrpSpPr/>
        <p:nvPr/>
      </p:nvGrpSpPr>
      <p:grpSpPr/>
      <p:sp>
        <p:nvSpPr>
          <p:cNvPr id="2" name="TextBox 1"/>
          <p:cNvSpPr txBox="1"/>
          <p:nvPr/>
        </p:nvSpPr>
        <p:spPr>
          <a:xfrm>
            <a:off x="529200" y="1224000"/>
            <a:ext cx="6498000" cy="468000"/>
          </a:xfrm>
          <a:prstGeom prst="rect">
            <a:avLst/>
          </a:prstGeom>
          <a:noFill/>
        </p:spPr>
        <p:txBody>
          <a:bodyPr wrap="square" tIns="0" bIns="0" lIns="18000" rIns="18000">
            <a:spAutoFit/>
          </a:bodyPr>
          <a:lstStyle/>
          <a:p>
            <a:pPr algn="ctr">
              <a:spcBef>
                <a:spcPts val="0"/>
              </a:spcBef>
              <a:spcAft>
                <a:spcPts val="100"/>
              </a:spcAft>
            </a:pPr>
            <a:r>
              <a:rPr sz="1700" b="1" i="0">
                <a:solidFill>
                  <a:srgbClr val="4388BC"/>
                </a:solidFill>
                <a:latin typeface="Arial"/>
              </a:rPr>
              <a:t>Les démarches administratives en ligne</a:t>
            </a:r>
          </a:p>
          <a:p>
            <a:pPr algn="ctr">
              <a:spcBef>
                <a:spcPts val="0"/>
              </a:spcBef>
              <a:spcAft>
                <a:spcPts val="100"/>
              </a:spcAft>
            </a:pPr>
            <a:r>
              <a:rPr sz="800" b="0" i="0">
                <a:solidFill>
                  <a:srgbClr val="6E6E6D"/>
                </a:solidFill>
                <a:latin typeface="Arial"/>
              </a:rPr>
              <a:t>Fiche Action | 1h10 | Guide d'animation — Conseillers Numériques CD47</a:t>
            </a:r>
          </a:p>
        </p:txBody>
      </p:sp>
      <p:sp>
        <p:nvSpPr>
          <p:cNvPr id="3" name="Rectangle 2"/>
          <p:cNvSpPr/>
          <p:nvPr/>
        </p:nvSpPr>
        <p:spPr>
          <a:xfrm>
            <a:off x="529200" y="1764000"/>
            <a:ext cx="3024000" cy="900000"/>
          </a:xfrm>
          <a:prstGeom prst="rect">
            <a:avLst/>
          </a:prstGeom>
          <a:solidFill>
            <a:srgbClr val="ECF5FF"/>
          </a:solidFill>
          <a:ln w="12700">
            <a:solidFill>
              <a:srgbClr val="4388BC"/>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19200" y="1818000"/>
            <a:ext cx="2880000" cy="827999"/>
          </a:xfrm>
          <a:prstGeom prst="rect">
            <a:avLst/>
          </a:prstGeom>
          <a:noFill/>
        </p:spPr>
        <p:txBody>
          <a:bodyPr wrap="square" tIns="0" bIns="0" lIns="18000" rIns="18000">
            <a:spAutoFit/>
          </a:bodyPr>
          <a:lstStyle/>
          <a:p>
            <a:pPr algn="l">
              <a:spcBef>
                <a:spcPts val="0"/>
              </a:spcBef>
              <a:spcAft>
                <a:spcPts val="100"/>
              </a:spcAft>
            </a:pPr>
            <a:r>
              <a:rPr sz="950" b="1" i="0">
                <a:solidFill>
                  <a:srgbClr val="4388BC"/>
                </a:solidFill>
                <a:latin typeface="Arial"/>
              </a:rPr>
              <a:t>Objectifs</a:t>
            </a:r>
          </a:p>
          <a:p>
            <a:pPr algn="l">
              <a:spcBef>
                <a:spcPts val="0"/>
              </a:spcBef>
              <a:spcAft>
                <a:spcPts val="100"/>
              </a:spcAft>
            </a:pPr>
            <a:r>
              <a:rPr sz="850" b="0" i="0">
                <a:solidFill>
                  <a:srgbClr val="2B2B2B"/>
                </a:solidFill>
                <a:latin typeface="Arial"/>
              </a:rPr>
              <a:t>&gt; Pourquoi les démarches en ligne semblent compliquées</a:t>
            </a:r>
          </a:p>
          <a:p>
            <a:pPr algn="l">
              <a:spcBef>
                <a:spcPts val="0"/>
              </a:spcBef>
              <a:spcAft>
                <a:spcPts val="100"/>
              </a:spcAft>
            </a:pPr>
            <a:r>
              <a:rPr sz="850" b="0" i="0">
                <a:solidFill>
                  <a:srgbClr val="2B2B2B"/>
                </a:solidFill>
                <a:latin typeface="Arial"/>
              </a:rPr>
              <a:t>&gt; Service-public.fr : votre portail officiel</a:t>
            </a:r>
          </a:p>
          <a:p>
            <a:pPr algn="l">
              <a:spcBef>
                <a:spcPts val="0"/>
              </a:spcBef>
              <a:spcAft>
                <a:spcPts val="100"/>
              </a:spcAft>
            </a:pPr>
            <a:r>
              <a:rPr sz="850" b="0" i="0">
                <a:solidFill>
                  <a:srgbClr val="2B2B2B"/>
                </a:solidFill>
                <a:latin typeface="Arial"/>
              </a:rPr>
              <a:t>&gt; Comment naviguer sur service-public.fr</a:t>
            </a:r>
          </a:p>
          <a:p>
            <a:pPr algn="l">
              <a:spcBef>
                <a:spcPts val="0"/>
              </a:spcBef>
              <a:spcAft>
                <a:spcPts val="100"/>
              </a:spcAft>
            </a:pPr>
            <a:r>
              <a:rPr sz="850" b="0" i="0">
                <a:solidFill>
                  <a:srgbClr val="2B2B2B"/>
                </a:solidFill>
                <a:latin typeface="Arial"/>
              </a:rPr>
              <a:t>&gt; La Boussole des jeunes : pour les 16–30 ans</a:t>
            </a:r>
          </a:p>
        </p:txBody>
      </p:sp>
      <p:sp>
        <p:nvSpPr>
          <p:cNvPr id="5" name="Rectangle 4"/>
          <p:cNvSpPr/>
          <p:nvPr/>
        </p:nvSpPr>
        <p:spPr>
          <a:xfrm>
            <a:off x="4003200" y="1764000"/>
            <a:ext cx="3024000" cy="900000"/>
          </a:xfrm>
          <a:prstGeom prst="rect">
            <a:avLst/>
          </a:prstGeom>
          <a:solidFill>
            <a:srgbClr val="EBF7F6"/>
          </a:solidFill>
          <a:ln w="12700">
            <a:solidFill>
              <a:srgbClr val="187C88"/>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093200" y="1818000"/>
            <a:ext cx="2880000" cy="827999"/>
          </a:xfrm>
          <a:prstGeom prst="rect">
            <a:avLst/>
          </a:prstGeom>
          <a:noFill/>
        </p:spPr>
        <p:txBody>
          <a:bodyPr wrap="square" tIns="0" bIns="0" lIns="18000" rIns="18000">
            <a:spAutoFit/>
          </a:bodyPr>
          <a:lstStyle/>
          <a:p>
            <a:pPr algn="l">
              <a:spcBef>
                <a:spcPts val="0"/>
              </a:spcBef>
              <a:spcAft>
                <a:spcPts val="100"/>
              </a:spcAft>
            </a:pPr>
            <a:r>
              <a:rPr sz="950" b="1" i="0">
                <a:solidFill>
                  <a:srgbClr val="187C88"/>
                </a:solidFill>
                <a:latin typeface="Arial"/>
              </a:rPr>
              <a:t>Matériel nécessaire</a:t>
            </a:r>
          </a:p>
          <a:p>
            <a:pPr algn="l">
              <a:spcBef>
                <a:spcPts val="0"/>
              </a:spcBef>
              <a:spcAft>
                <a:spcPts val="100"/>
              </a:spcAft>
            </a:pPr>
            <a:r>
              <a:rPr sz="850" b="0" i="0">
                <a:solidFill>
                  <a:srgbClr val="2B2B2B"/>
                </a:solidFill>
                <a:latin typeface="Arial"/>
              </a:rPr>
              <a:t>&gt; 1 PC ou tablette par participant</a:t>
            </a:r>
          </a:p>
          <a:p>
            <a:pPr algn="l">
              <a:spcBef>
                <a:spcPts val="0"/>
              </a:spcBef>
              <a:spcAft>
                <a:spcPts val="100"/>
              </a:spcAft>
            </a:pPr>
            <a:r>
              <a:rPr sz="850" b="0" i="0">
                <a:solidFill>
                  <a:srgbClr val="2B2B2B"/>
                </a:solidFill>
                <a:latin typeface="Arial"/>
              </a:rPr>
              <a:t>&gt; Connexion Wi-Fi stable</a:t>
            </a:r>
          </a:p>
          <a:p>
            <a:pPr algn="l">
              <a:spcBef>
                <a:spcPts val="0"/>
              </a:spcBef>
              <a:spcAft>
                <a:spcPts val="100"/>
              </a:spcAft>
            </a:pPr>
            <a:r>
              <a:rPr sz="850" b="0" i="0">
                <a:solidFill>
                  <a:srgbClr val="2B2B2B"/>
                </a:solidFill>
                <a:latin typeface="Arial"/>
              </a:rPr>
              <a:t>&gt; Grand écran / vidéoprojecteur</a:t>
            </a:r>
          </a:p>
          <a:p>
            <a:pPr algn="l">
              <a:spcBef>
                <a:spcPts val="0"/>
              </a:spcBef>
              <a:spcAft>
                <a:spcPts val="100"/>
              </a:spcAft>
            </a:pPr>
            <a:r>
              <a:rPr sz="850" b="0" i="0">
                <a:solidFill>
                  <a:srgbClr val="2B2B2B"/>
                </a:solidFill>
                <a:latin typeface="Arial"/>
              </a:rPr>
              <a:t>&gt; Fiches mémo (1 par participant)</a:t>
            </a:r>
          </a:p>
        </p:txBody>
      </p:sp>
      <p:sp>
        <p:nvSpPr>
          <p:cNvPr id="7" name="Rectangle 6"/>
          <p:cNvSpPr/>
          <p:nvPr/>
        </p:nvSpPr>
        <p:spPr>
          <a:xfrm>
            <a:off x="529200" y="27360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29200" y="2736000"/>
            <a:ext cx="198000" cy="7488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63200" y="3031200"/>
            <a:ext cx="468000" cy="1584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3200" y="30312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0:02</a:t>
            </a:r>
          </a:p>
        </p:txBody>
      </p:sp>
      <p:sp>
        <p:nvSpPr>
          <p:cNvPr id="11" name="TextBox 10"/>
          <p:cNvSpPr txBox="1"/>
          <p:nvPr/>
        </p:nvSpPr>
        <p:spPr>
          <a:xfrm>
            <a:off x="1303200" y="28008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5EB3D2"/>
                </a:solidFill>
                <a:latin typeface="Arial"/>
              </a:rPr>
              <a:t>8 min</a:t>
            </a:r>
          </a:p>
          <a:p>
            <a:pPr algn="l">
              <a:spcBef>
                <a:spcPts val="0"/>
              </a:spcBef>
              <a:spcAft>
                <a:spcPts val="100"/>
              </a:spcAft>
            </a:pPr>
            <a:r>
              <a:rPr sz="900" b="1" i="0">
                <a:solidFill>
                  <a:srgbClr val="2B2B2B"/>
                </a:solidFill>
                <a:latin typeface="Arial"/>
              </a:rPr>
              <a:t>Pourquoi les démarches en ligne semblent compliq…</a:t>
            </a:r>
          </a:p>
          <a:p>
            <a:pPr algn="l">
              <a:spcBef>
                <a:spcPts val="0"/>
              </a:spcBef>
              <a:spcAft>
                <a:spcPts val="100"/>
              </a:spcAft>
            </a:pPr>
            <a:r>
              <a:rPr sz="800" b="0" i="0">
                <a:solidFill>
                  <a:srgbClr val="2B2B2B"/>
                </a:solidFill>
                <a:latin typeface="Arial"/>
              </a:rPr>
              <a:t>. Beaucoup de personnes hésitent à effectuer leurs démarches administratives en ligne. Et c'est tout à fait normal ! Les sites sont nombreux, les formulaires parfois longs, et la peur de faire une erreur peut bloquer.</a:t>
            </a:r>
          </a:p>
        </p:txBody>
      </p:sp>
      <p:sp>
        <p:nvSpPr>
          <p:cNvPr id="12" name="Rectangle 11"/>
          <p:cNvSpPr/>
          <p:nvPr/>
        </p:nvSpPr>
        <p:spPr>
          <a:xfrm>
            <a:off x="529200" y="34848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29200" y="3484800"/>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63200" y="3780000"/>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63200" y="37800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0:10</a:t>
            </a:r>
          </a:p>
        </p:txBody>
      </p:sp>
      <p:sp>
        <p:nvSpPr>
          <p:cNvPr id="16" name="TextBox 15"/>
          <p:cNvSpPr txBox="1"/>
          <p:nvPr/>
        </p:nvSpPr>
        <p:spPr>
          <a:xfrm>
            <a:off x="1303200" y="35496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4 min</a:t>
            </a:r>
          </a:p>
          <a:p>
            <a:pPr algn="l">
              <a:spcBef>
                <a:spcPts val="0"/>
              </a:spcBef>
              <a:spcAft>
                <a:spcPts val="100"/>
              </a:spcAft>
            </a:pPr>
            <a:r>
              <a:rPr sz="900" b="1" i="0">
                <a:solidFill>
                  <a:srgbClr val="2B2B2B"/>
                </a:solidFill>
                <a:latin typeface="Arial"/>
              </a:rPr>
              <a:t>Au programme de cet atelier</a:t>
            </a:r>
          </a:p>
          <a:p>
            <a:pPr algn="l">
              <a:spcBef>
                <a:spcPts val="0"/>
              </a:spcBef>
              <a:spcAft>
                <a:spcPts val="100"/>
              </a:spcAft>
            </a:pPr>
            <a:r>
              <a:rPr sz="800" b="0" i="0">
                <a:solidFill>
                  <a:srgbClr val="2B2B2B"/>
                </a:solidFill>
                <a:latin typeface="Arial"/>
              </a:rPr>
              <a:t>. Voici les grandes étapes que nous allons explorer ensemble aujourd'hui. Chaque partie est conçue pour vous donner des repères concrets et des outils immédiatement utilisables.</a:t>
            </a:r>
          </a:p>
        </p:txBody>
      </p:sp>
      <p:sp>
        <p:nvSpPr>
          <p:cNvPr id="17" name="Rectangle 16"/>
          <p:cNvSpPr/>
          <p:nvPr/>
        </p:nvSpPr>
        <p:spPr>
          <a:xfrm>
            <a:off x="529200" y="42336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29200" y="4233600"/>
            <a:ext cx="198000" cy="748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63200" y="4528800"/>
            <a:ext cx="468000" cy="15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63200" y="45288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0:14</a:t>
            </a:r>
          </a:p>
        </p:txBody>
      </p:sp>
      <p:sp>
        <p:nvSpPr>
          <p:cNvPr id="21" name="TextBox 20"/>
          <p:cNvSpPr txBox="1"/>
          <p:nvPr/>
        </p:nvSpPr>
        <p:spPr>
          <a:xfrm>
            <a:off x="1303200" y="42984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187C88"/>
                </a:solidFill>
                <a:latin typeface="Arial"/>
              </a:rPr>
              <a:t>8 min</a:t>
            </a:r>
          </a:p>
          <a:p>
            <a:pPr algn="l">
              <a:spcBef>
                <a:spcPts val="0"/>
              </a:spcBef>
              <a:spcAft>
                <a:spcPts val="100"/>
              </a:spcAft>
            </a:pPr>
            <a:r>
              <a:rPr sz="900" b="1" i="0">
                <a:solidFill>
                  <a:srgbClr val="2B2B2B"/>
                </a:solidFill>
                <a:latin typeface="Arial"/>
              </a:rPr>
              <a:t>Service-public.fr : votre portail officiel</a:t>
            </a:r>
          </a:p>
          <a:p>
            <a:pPr algn="l">
              <a:spcBef>
                <a:spcPts val="0"/>
              </a:spcBef>
              <a:spcAft>
                <a:spcPts val="100"/>
              </a:spcAft>
            </a:pPr>
            <a:r>
              <a:rPr sz="800" b="0" i="0">
                <a:solidFill>
                  <a:srgbClr val="2B2B2B"/>
                </a:solidFill>
                <a:latin typeface="Arial"/>
              </a:rPr>
              <a:t>. Service-public.fr est le site officiel de l'administration française. Géré par la Direction de l'information légale et administrative (DILA), c'est votre point d'entrée unique et fiable pour toutes vos démarches. Il remplace les longues files d'attente en préfecture ou en mairie.</a:t>
            </a:r>
          </a:p>
        </p:txBody>
      </p:sp>
      <p:sp>
        <p:nvSpPr>
          <p:cNvPr id="22" name="Rectangle 21"/>
          <p:cNvSpPr/>
          <p:nvPr/>
        </p:nvSpPr>
        <p:spPr>
          <a:xfrm>
            <a:off x="529200" y="49824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29200" y="4982400"/>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763200" y="5277600"/>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63200" y="52776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0:22</a:t>
            </a:r>
          </a:p>
        </p:txBody>
      </p:sp>
      <p:sp>
        <p:nvSpPr>
          <p:cNvPr id="26" name="TextBox 25"/>
          <p:cNvSpPr txBox="1"/>
          <p:nvPr/>
        </p:nvSpPr>
        <p:spPr>
          <a:xfrm>
            <a:off x="1303200" y="50472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8 min</a:t>
            </a:r>
          </a:p>
          <a:p>
            <a:pPr algn="l">
              <a:spcBef>
                <a:spcPts val="0"/>
              </a:spcBef>
              <a:spcAft>
                <a:spcPts val="100"/>
              </a:spcAft>
            </a:pPr>
            <a:r>
              <a:rPr sz="900" b="1" i="0">
                <a:solidFill>
                  <a:srgbClr val="2B2B2B"/>
                </a:solidFill>
                <a:latin typeface="Arial"/>
              </a:rPr>
              <a:t>Comment naviguer sur service-public.fr</a:t>
            </a:r>
          </a:p>
          <a:p>
            <a:pPr algn="l">
              <a:spcBef>
                <a:spcPts val="0"/>
              </a:spcBef>
              <a:spcAft>
                <a:spcPts val="100"/>
              </a:spcAft>
            </a:pPr>
            <a:r>
              <a:rPr sz="800" b="0" i="0">
                <a:solidFill>
                  <a:srgbClr val="2B2B2B"/>
                </a:solidFill>
                <a:latin typeface="Arial"/>
              </a:rPr>
              <a:t>. Le site est organisé de manière logique. Voici comment l'utiliser efficacement, étape par étape, même si vous n'êtes pas à l'aise avec Internet.</a:t>
            </a:r>
          </a:p>
        </p:txBody>
      </p:sp>
      <p:sp>
        <p:nvSpPr>
          <p:cNvPr id="27" name="Rectangle 26"/>
          <p:cNvSpPr/>
          <p:nvPr/>
        </p:nvSpPr>
        <p:spPr>
          <a:xfrm>
            <a:off x="529200" y="57312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529200" y="5731200"/>
            <a:ext cx="198000" cy="748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763200" y="6026399"/>
            <a:ext cx="468000" cy="15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63200" y="60263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0:30</a:t>
            </a:r>
          </a:p>
        </p:txBody>
      </p:sp>
      <p:sp>
        <p:nvSpPr>
          <p:cNvPr id="31" name="TextBox 30"/>
          <p:cNvSpPr txBox="1"/>
          <p:nvPr/>
        </p:nvSpPr>
        <p:spPr>
          <a:xfrm>
            <a:off x="1303200" y="57960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187C88"/>
                </a:solidFill>
                <a:latin typeface="Arial"/>
              </a:rPr>
              <a:t>8 min</a:t>
            </a:r>
          </a:p>
          <a:p>
            <a:pPr algn="l">
              <a:spcBef>
                <a:spcPts val="0"/>
              </a:spcBef>
              <a:spcAft>
                <a:spcPts val="100"/>
              </a:spcAft>
            </a:pPr>
            <a:r>
              <a:rPr sz="900" b="1" i="0">
                <a:solidFill>
                  <a:srgbClr val="2B2B2B"/>
                </a:solidFill>
                <a:latin typeface="Arial"/>
              </a:rPr>
              <a:t>La Boussole des jeunes : pour les 16–30 ans</a:t>
            </a:r>
          </a:p>
          <a:p>
            <a:pPr algn="l">
              <a:spcBef>
                <a:spcPts val="0"/>
              </a:spcBef>
              <a:spcAft>
                <a:spcPts val="100"/>
              </a:spcAft>
            </a:pPr>
            <a:r>
              <a:rPr sz="800" b="0" i="0">
                <a:solidFill>
                  <a:srgbClr val="2B2B2B"/>
                </a:solidFill>
                <a:latin typeface="Arial"/>
              </a:rPr>
              <a:t>. boussole.jeunes.gouv.fr est un outil numérique gratuit conçu spécifiquement pour aider les jeunes de 16 à 30 ans à s'orienter dans leurs démarches administratives, sociales et professionnelles. En quelques questions simples, il vous dirige vers les aides et dispositifs qui correspondent à votre situation.</a:t>
            </a:r>
          </a:p>
        </p:txBody>
      </p:sp>
      <p:sp>
        <p:nvSpPr>
          <p:cNvPr id="32" name="Rectangle 31"/>
          <p:cNvSpPr/>
          <p:nvPr/>
        </p:nvSpPr>
        <p:spPr>
          <a:xfrm>
            <a:off x="529200" y="64800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529200" y="6480000"/>
            <a:ext cx="198000" cy="7488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763200" y="6775200"/>
            <a:ext cx="468000" cy="1584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63200" y="67752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0:38</a:t>
            </a:r>
          </a:p>
        </p:txBody>
      </p:sp>
      <p:sp>
        <p:nvSpPr>
          <p:cNvPr id="36" name="TextBox 35"/>
          <p:cNvSpPr txBox="1"/>
          <p:nvPr/>
        </p:nvSpPr>
        <p:spPr>
          <a:xfrm>
            <a:off x="1303200" y="65448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5EB3D2"/>
                </a:solidFill>
                <a:latin typeface="Arial"/>
              </a:rPr>
              <a:t>8 min</a:t>
            </a:r>
          </a:p>
          <a:p>
            <a:pPr algn="l">
              <a:spcBef>
                <a:spcPts val="0"/>
              </a:spcBef>
              <a:spcAft>
                <a:spcPts val="100"/>
              </a:spcAft>
            </a:pPr>
            <a:r>
              <a:rPr sz="900" b="1" i="0">
                <a:solidFill>
                  <a:srgbClr val="2B2B2B"/>
                </a:solidFill>
                <a:latin typeface="Arial"/>
              </a:rPr>
              <a:t>FranceConnect : une clé pour tous les services</a:t>
            </a:r>
          </a:p>
          <a:p>
            <a:pPr algn="l">
              <a:spcBef>
                <a:spcPts val="0"/>
              </a:spcBef>
              <a:spcAft>
                <a:spcPts val="100"/>
              </a:spcAft>
            </a:pPr>
            <a:r>
              <a:rPr sz="800" b="0" i="0">
                <a:solidFill>
                  <a:srgbClr val="2B2B2B"/>
                </a:solidFill>
                <a:latin typeface="Arial"/>
              </a:rPr>
              <a:t>. FranceConnect est un dispositif officiel de l'État qui vous permet de vous connecter à la majorité des services publics en ligne avec un seul identifiant. Plus besoin de retenir des dizaines de mots de passe différents !</a:t>
            </a:r>
          </a:p>
        </p:txBody>
      </p:sp>
      <p:sp>
        <p:nvSpPr>
          <p:cNvPr id="37" name="Rectangle 36"/>
          <p:cNvSpPr/>
          <p:nvPr/>
        </p:nvSpPr>
        <p:spPr>
          <a:xfrm>
            <a:off x="529200" y="7228799"/>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529200" y="7228799"/>
            <a:ext cx="198000" cy="7488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763200" y="7523999"/>
            <a:ext cx="468000" cy="1584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63200" y="75239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0:46</a:t>
            </a:r>
          </a:p>
        </p:txBody>
      </p:sp>
      <p:sp>
        <p:nvSpPr>
          <p:cNvPr id="41" name="TextBox 40"/>
          <p:cNvSpPr txBox="1"/>
          <p:nvPr/>
        </p:nvSpPr>
        <p:spPr>
          <a:xfrm>
            <a:off x="1303200" y="7293599"/>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5EB3D2"/>
                </a:solidFill>
                <a:latin typeface="Arial"/>
              </a:rPr>
              <a:t>8 min</a:t>
            </a:r>
          </a:p>
          <a:p>
            <a:pPr algn="l">
              <a:spcBef>
                <a:spcPts val="0"/>
              </a:spcBef>
              <a:spcAft>
                <a:spcPts val="100"/>
              </a:spcAft>
            </a:pPr>
            <a:r>
              <a:rPr sz="900" b="1" i="0">
                <a:solidFill>
                  <a:srgbClr val="2B2B2B"/>
                </a:solidFill>
                <a:latin typeface="Arial"/>
              </a:rPr>
              <a:t>Les principaux sites par thème</a:t>
            </a:r>
          </a:p>
          <a:p>
            <a:pPr algn="l">
              <a:spcBef>
                <a:spcPts val="0"/>
              </a:spcBef>
              <a:spcAft>
                <a:spcPts val="100"/>
              </a:spcAft>
            </a:pPr>
            <a:r>
              <a:rPr sz="800" b="0" i="0">
                <a:solidFill>
                  <a:srgbClr val="2B2B2B"/>
                </a:solidFill>
                <a:latin typeface="Arial"/>
              </a:rPr>
              <a:t>. Voici un panorama des sites officiels les plus utiles au quotidien. Tous sont gratuits et accessibles depuis un ordinateur, une tablette ou un smartphone.</a:t>
            </a:r>
          </a:p>
        </p:txBody>
      </p:sp>
      <p:sp>
        <p:nvSpPr>
          <p:cNvPr id="42" name="Rectangle 41"/>
          <p:cNvSpPr/>
          <p:nvPr/>
        </p:nvSpPr>
        <p:spPr>
          <a:xfrm>
            <a:off x="529200" y="7977599"/>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529200" y="7977599"/>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763200" y="8272799"/>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63200" y="82727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0:54</a:t>
            </a:r>
          </a:p>
        </p:txBody>
      </p:sp>
      <p:sp>
        <p:nvSpPr>
          <p:cNvPr id="46" name="TextBox 45"/>
          <p:cNvSpPr txBox="1"/>
          <p:nvPr/>
        </p:nvSpPr>
        <p:spPr>
          <a:xfrm>
            <a:off x="1303200" y="8042399"/>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8 min</a:t>
            </a:r>
          </a:p>
          <a:p>
            <a:pPr algn="l">
              <a:spcBef>
                <a:spcPts val="0"/>
              </a:spcBef>
              <a:spcAft>
                <a:spcPts val="100"/>
              </a:spcAft>
            </a:pPr>
            <a:r>
              <a:rPr sz="900" b="1" i="0">
                <a:solidFill>
                  <a:srgbClr val="2B2B2B"/>
                </a:solidFill>
                <a:latin typeface="Arial"/>
              </a:rPr>
              <a:t>Vous n'êtes pas seule : les lieux d'aide</a:t>
            </a:r>
          </a:p>
          <a:p>
            <a:pPr algn="l">
              <a:spcBef>
                <a:spcPts val="0"/>
              </a:spcBef>
              <a:spcAft>
                <a:spcPts val="100"/>
              </a:spcAft>
            </a:pPr>
            <a:r>
              <a:rPr sz="800" b="0" i="0">
                <a:solidFill>
                  <a:srgbClr val="2B2B2B"/>
                </a:solidFill>
                <a:latin typeface="Arial"/>
              </a:rPr>
              <a:t>. Effectuer des démarches en ligne ne veut pas dire être seul face à l'écran. De nombreux professionnels et bénévoles sont là pour vous accompagner, gratuitement, près de chez vous.</a:t>
            </a:r>
          </a:p>
        </p:txBody>
      </p:sp>
      <p:sp>
        <p:nvSpPr>
          <p:cNvPr id="47" name="Rectangle 46"/>
          <p:cNvSpPr/>
          <p:nvPr/>
        </p:nvSpPr>
        <p:spPr>
          <a:xfrm>
            <a:off x="529200" y="8726399"/>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529200" y="8726399"/>
            <a:ext cx="198000" cy="748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763200" y="9021599"/>
            <a:ext cx="468000" cy="15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763200" y="90215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1:02</a:t>
            </a:r>
          </a:p>
        </p:txBody>
      </p:sp>
      <p:sp>
        <p:nvSpPr>
          <p:cNvPr id="51" name="TextBox 50"/>
          <p:cNvSpPr txBox="1"/>
          <p:nvPr/>
        </p:nvSpPr>
        <p:spPr>
          <a:xfrm>
            <a:off x="1303200" y="8791199"/>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187C88"/>
                </a:solidFill>
                <a:latin typeface="Arial"/>
              </a:rPr>
              <a:t>8 min</a:t>
            </a:r>
          </a:p>
          <a:p>
            <a:pPr algn="l">
              <a:spcBef>
                <a:spcPts val="0"/>
              </a:spcBef>
              <a:spcAft>
                <a:spcPts val="100"/>
              </a:spcAft>
            </a:pPr>
            <a:r>
              <a:rPr sz="900" b="1" i="0">
                <a:solidFill>
                  <a:srgbClr val="2B2B2B"/>
                </a:solidFill>
                <a:latin typeface="Arial"/>
              </a:rPr>
              <a:t>Ce que vous pouvez faire dès aujourd'hui</a:t>
            </a:r>
          </a:p>
          <a:p>
            <a:pPr algn="l">
              <a:spcBef>
                <a:spcPts val="0"/>
              </a:spcBef>
              <a:spcAft>
                <a:spcPts val="100"/>
              </a:spcAft>
            </a:pPr>
            <a:r>
              <a:rPr sz="800" b="0" i="0">
                <a:solidFill>
                  <a:srgbClr val="2B2B2B"/>
                </a:solidFill>
                <a:latin typeface="Arial"/>
              </a:rPr>
              <a:t>. Vous avez maintenant tous les repères pour commencer. Voici les premières actions concrètes à entreprendre — à votre rythme, sans pression. Chaque petit pas compte !</a:t>
            </a:r>
          </a:p>
        </p:txBody>
      </p:sp>
      <p:sp>
        <p:nvSpPr>
          <p:cNvPr id="52" name="Rectangle 51"/>
          <p:cNvSpPr/>
          <p:nvPr/>
        </p:nvSpPr>
        <p:spPr>
          <a:xfrm>
            <a:off x="529200" y="9684000"/>
            <a:ext cx="6498000" cy="43200"/>
          </a:xfrm>
          <a:prstGeom prst="rect">
            <a:avLst/>
          </a:prstGeom>
          <a:solidFill>
            <a:srgbClr val="F8A82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619200" y="9748800"/>
            <a:ext cx="6354000" cy="827999"/>
          </a:xfrm>
          <a:prstGeom prst="rect">
            <a:avLst/>
          </a:prstGeom>
          <a:noFill/>
        </p:spPr>
        <p:txBody>
          <a:bodyPr wrap="square" tIns="0" bIns="0" lIns="18000" rIns="18000">
            <a:spAutoFit/>
          </a:bodyPr>
          <a:lstStyle/>
          <a:p>
            <a:pPr algn="l">
              <a:spcBef>
                <a:spcPts val="0"/>
              </a:spcBef>
              <a:spcAft>
                <a:spcPts val="100"/>
              </a:spcAft>
            </a:pPr>
            <a:r>
              <a:rPr sz="950" b="1" i="0">
                <a:solidFill>
                  <a:srgbClr val="2B2B2B"/>
                </a:solidFill>
                <a:latin typeface="Arial"/>
              </a:rPr>
              <a:t>Conseils pour une bonne animation</a:t>
            </a:r>
          </a:p>
          <a:p>
            <a:pPr algn="l">
              <a:spcBef>
                <a:spcPts val="0"/>
              </a:spcBef>
              <a:spcAft>
                <a:spcPts val="100"/>
              </a:spcAft>
            </a:pPr>
            <a:r>
              <a:rPr sz="850" b="0" i="0">
                <a:solidFill>
                  <a:srgbClr val="2B2B2B"/>
                </a:solidFill>
                <a:latin typeface="Arial"/>
              </a:rPr>
              <a:t>&gt; Adapter le rythme selon le niveau du groupe.</a:t>
            </a:r>
          </a:p>
          <a:p>
            <a:pPr algn="l">
              <a:spcBef>
                <a:spcPts val="0"/>
              </a:spcBef>
              <a:spcAft>
                <a:spcPts val="100"/>
              </a:spcAft>
            </a:pPr>
            <a:r>
              <a:rPr sz="850" b="0" i="0">
                <a:solidFill>
                  <a:srgbClr val="2B2B2B"/>
                </a:solidFill>
                <a:latin typeface="Arial"/>
              </a:rPr>
              <a:t>&gt; Laisser les participants manipuler dès que possible.</a:t>
            </a:r>
          </a:p>
          <a:p>
            <a:pPr algn="l">
              <a:spcBef>
                <a:spcPts val="0"/>
              </a:spcBef>
              <a:spcAft>
                <a:spcPts val="100"/>
              </a:spcAft>
            </a:pPr>
            <a:r>
              <a:rPr sz="850" b="0" i="0">
                <a:solidFill>
                  <a:srgbClr val="2B2B2B"/>
                </a:solidFill>
                <a:latin typeface="Arial"/>
              </a:rPr>
              <a:t>&gt; Prévoir un compte de démonstration pour ne pas exposer de données personnelles.</a:t>
            </a:r>
          </a:p>
          <a:p>
            <a:pPr algn="l">
              <a:spcBef>
                <a:spcPts val="0"/>
              </a:spcBef>
              <a:spcAft>
                <a:spcPts val="100"/>
              </a:spcAft>
            </a:pPr>
            <a:r>
              <a:rPr sz="850" b="0" i="0">
                <a:solidFill>
                  <a:srgbClr val="2B2B2B"/>
                </a:solidFill>
                <a:latin typeface="Arial"/>
              </a:rPr>
              <a:t>&gt; Terminer en distribuant la fiche mémo — c'est le support qu'ils garderont.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