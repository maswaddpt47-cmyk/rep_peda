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7556399"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bg-p1.png"/>
          <p:cNvPicPr>
            <a:picLocks noChangeAspect="1"/>
          </p:cNvPicPr>
          <p:nvPr/>
        </p:nvPicPr>
        <p:blipFill>
          <a:blip r:embed="rId2">
            <a:alphaModFix amt="80000"/>
          </a:blip>
          <a:stretch>
            <a:fillRect/>
          </a:stretch>
        </p:blipFill>
        <p:spPr>
          <a:xfrm>
            <a:off x="0" y="0"/>
            <a:ext cx="7556399" cy="10692000"/>
          </a:xfrm>
          <a:prstGeom prst="rect">
            <a:avLst/>
          </a:prstGeom>
        </p:spPr>
      </p:pic>
      <p:sp>
        <p:nvSpPr>
          <p:cNvPr id="3" name="TextBox 2"/>
          <p:cNvSpPr txBox="1"/>
          <p:nvPr/>
        </p:nvSpPr>
        <p:spPr>
          <a:xfrm>
            <a:off x="529200" y="1224000"/>
            <a:ext cx="6498000" cy="468000"/>
          </a:xfrm>
          <a:prstGeom prst="rect">
            <a:avLst/>
          </a:prstGeom>
          <a:noFill/>
        </p:spPr>
        <p:txBody>
          <a:bodyPr wrap="square" tIns="0" bIns="0" lIns="18000" rIns="18000">
            <a:spAutoFit/>
          </a:bodyPr>
          <a:lstStyle/>
          <a:p>
            <a:pPr algn="ctr">
              <a:spcBef>
                <a:spcPts val="0"/>
              </a:spcBef>
              <a:spcAft>
                <a:spcPts val="100"/>
              </a:spcAft>
            </a:pPr>
            <a:r>
              <a:rPr sz="1700" b="1" i="0">
                <a:solidFill>
                  <a:srgbClr val="4388BC"/>
                </a:solidFill>
                <a:latin typeface="Arial"/>
              </a:rPr>
              <a:t>Les démarches administratives en ligne</a:t>
            </a:r>
          </a:p>
          <a:p>
            <a:pPr algn="ctr">
              <a:spcBef>
                <a:spcPts val="0"/>
              </a:spcBef>
              <a:spcAft>
                <a:spcPts val="100"/>
              </a:spcAft>
            </a:pPr>
            <a:r>
              <a:rPr sz="800" b="0" i="0">
                <a:solidFill>
                  <a:srgbClr val="6E6E6D"/>
                </a:solidFill>
                <a:latin typeface="Arial"/>
              </a:rPr>
              <a:t>Fiche Action | 1h10 | Guide d'animation — Conseillers Numériques CD47</a:t>
            </a:r>
          </a:p>
        </p:txBody>
      </p:sp>
      <p:sp>
        <p:nvSpPr>
          <p:cNvPr id="4" name="Rectangle 3"/>
          <p:cNvSpPr/>
          <p:nvPr/>
        </p:nvSpPr>
        <p:spPr>
          <a:xfrm>
            <a:off x="529200" y="1764000"/>
            <a:ext cx="3024000" cy="900000"/>
          </a:xfrm>
          <a:prstGeom prst="rect">
            <a:avLst/>
          </a:prstGeom>
          <a:solidFill>
            <a:srgbClr val="ECF5FF"/>
          </a:solidFill>
          <a:ln w="12700">
            <a:solidFill>
              <a:srgbClr val="4388B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19200" y="1818000"/>
            <a:ext cx="2880000" cy="827999"/>
          </a:xfrm>
          <a:prstGeom prst="rect">
            <a:avLst/>
          </a:prstGeom>
          <a:noFill/>
        </p:spPr>
        <p:txBody>
          <a:bodyPr wrap="square" tIns="0" bIns="0" lIns="18000" rIns="18000">
            <a:spAutoFit/>
          </a:bodyPr>
          <a:lstStyle/>
          <a:p>
            <a:pPr algn="l">
              <a:spcBef>
                <a:spcPts val="0"/>
              </a:spcBef>
              <a:spcAft>
                <a:spcPts val="100"/>
              </a:spcAft>
            </a:pPr>
            <a:r>
              <a:rPr sz="950" b="1" i="0">
                <a:solidFill>
                  <a:srgbClr val="4388BC"/>
                </a:solidFill>
                <a:latin typeface="Arial"/>
              </a:rPr>
              <a:t>Objectifs</a:t>
            </a:r>
          </a:p>
          <a:p>
            <a:pPr algn="l">
              <a:spcBef>
                <a:spcPts val="0"/>
              </a:spcBef>
              <a:spcAft>
                <a:spcPts val="100"/>
              </a:spcAft>
            </a:pPr>
            <a:r>
              <a:rPr sz="850" b="0" i="0">
                <a:solidFill>
                  <a:srgbClr val="2B2B2B"/>
                </a:solidFill>
                <a:latin typeface="Arial"/>
              </a:rPr>
              <a:t>&gt; Pourquoi les démarches en ligne semblent compliquées</a:t>
            </a:r>
          </a:p>
          <a:p>
            <a:pPr algn="l">
              <a:spcBef>
                <a:spcPts val="0"/>
              </a:spcBef>
              <a:spcAft>
                <a:spcPts val="100"/>
              </a:spcAft>
            </a:pPr>
            <a:r>
              <a:rPr sz="850" b="0" i="0">
                <a:solidFill>
                  <a:srgbClr val="2B2B2B"/>
                </a:solidFill>
                <a:latin typeface="Arial"/>
              </a:rPr>
              <a:t>&gt; Service-public.fr : votre portail officiel</a:t>
            </a:r>
          </a:p>
          <a:p>
            <a:pPr algn="l">
              <a:spcBef>
                <a:spcPts val="0"/>
              </a:spcBef>
              <a:spcAft>
                <a:spcPts val="100"/>
              </a:spcAft>
            </a:pPr>
            <a:r>
              <a:rPr sz="850" b="0" i="0">
                <a:solidFill>
                  <a:srgbClr val="2B2B2B"/>
                </a:solidFill>
                <a:latin typeface="Arial"/>
              </a:rPr>
              <a:t>&gt; Comment naviguer sur service-public.fr</a:t>
            </a:r>
          </a:p>
          <a:p>
            <a:pPr algn="l">
              <a:spcBef>
                <a:spcPts val="0"/>
              </a:spcBef>
              <a:spcAft>
                <a:spcPts val="100"/>
              </a:spcAft>
            </a:pPr>
            <a:r>
              <a:rPr sz="850" b="0" i="0">
                <a:solidFill>
                  <a:srgbClr val="2B2B2B"/>
                </a:solidFill>
                <a:latin typeface="Arial"/>
              </a:rPr>
              <a:t>&gt; La Boussole des jeunes : pour les 16–30 ans</a:t>
            </a:r>
          </a:p>
        </p:txBody>
      </p:sp>
      <p:sp>
        <p:nvSpPr>
          <p:cNvPr id="6" name="Rectangle 5"/>
          <p:cNvSpPr/>
          <p:nvPr/>
        </p:nvSpPr>
        <p:spPr>
          <a:xfrm>
            <a:off x="4003200" y="1764000"/>
            <a:ext cx="3024000" cy="900000"/>
          </a:xfrm>
          <a:prstGeom prst="rect">
            <a:avLst/>
          </a:prstGeom>
          <a:solidFill>
            <a:srgbClr val="EBF7F6"/>
          </a:solidFill>
          <a:ln w="12700">
            <a:solidFill>
              <a:srgbClr val="187C88"/>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4093200" y="1818000"/>
            <a:ext cx="2880000" cy="827999"/>
          </a:xfrm>
          <a:prstGeom prst="rect">
            <a:avLst/>
          </a:prstGeom>
          <a:noFill/>
        </p:spPr>
        <p:txBody>
          <a:bodyPr wrap="square" tIns="0" bIns="0" lIns="18000" rIns="18000">
            <a:spAutoFit/>
          </a:bodyPr>
          <a:lstStyle/>
          <a:p>
            <a:pPr algn="l">
              <a:spcBef>
                <a:spcPts val="0"/>
              </a:spcBef>
              <a:spcAft>
                <a:spcPts val="100"/>
              </a:spcAft>
            </a:pPr>
            <a:r>
              <a:rPr sz="950" b="1" i="0">
                <a:solidFill>
                  <a:srgbClr val="187C88"/>
                </a:solidFill>
                <a:latin typeface="Arial"/>
              </a:rPr>
              <a:t>Matériel nécessaire</a:t>
            </a:r>
          </a:p>
          <a:p>
            <a:pPr algn="l">
              <a:spcBef>
                <a:spcPts val="0"/>
              </a:spcBef>
              <a:spcAft>
                <a:spcPts val="100"/>
              </a:spcAft>
            </a:pPr>
            <a:r>
              <a:rPr sz="850" b="0" i="0">
                <a:solidFill>
                  <a:srgbClr val="2B2B2B"/>
                </a:solidFill>
                <a:latin typeface="Arial"/>
              </a:rPr>
              <a:t>&gt; 1 PC ou tablette par participant</a:t>
            </a:r>
          </a:p>
          <a:p>
            <a:pPr algn="l">
              <a:spcBef>
                <a:spcPts val="0"/>
              </a:spcBef>
              <a:spcAft>
                <a:spcPts val="100"/>
              </a:spcAft>
            </a:pPr>
            <a:r>
              <a:rPr sz="850" b="0" i="0">
                <a:solidFill>
                  <a:srgbClr val="2B2B2B"/>
                </a:solidFill>
                <a:latin typeface="Arial"/>
              </a:rPr>
              <a:t>&gt; Connexion Wi-Fi stable</a:t>
            </a:r>
          </a:p>
          <a:p>
            <a:pPr algn="l">
              <a:spcBef>
                <a:spcPts val="0"/>
              </a:spcBef>
              <a:spcAft>
                <a:spcPts val="100"/>
              </a:spcAft>
            </a:pPr>
            <a:r>
              <a:rPr sz="850" b="0" i="0">
                <a:solidFill>
                  <a:srgbClr val="2B2B2B"/>
                </a:solidFill>
                <a:latin typeface="Arial"/>
              </a:rPr>
              <a:t>&gt; Grand écran / vidéoprojecteur</a:t>
            </a:r>
          </a:p>
          <a:p>
            <a:pPr algn="l">
              <a:spcBef>
                <a:spcPts val="0"/>
              </a:spcBef>
              <a:spcAft>
                <a:spcPts val="100"/>
              </a:spcAft>
            </a:pPr>
            <a:r>
              <a:rPr sz="850" b="0" i="0">
                <a:solidFill>
                  <a:srgbClr val="2B2B2B"/>
                </a:solidFill>
                <a:latin typeface="Arial"/>
              </a:rPr>
              <a:t>&gt; Fiches mémo (1 par participant)</a:t>
            </a:r>
          </a:p>
        </p:txBody>
      </p:sp>
      <p:sp>
        <p:nvSpPr>
          <p:cNvPr id="8" name="Rectangle 7"/>
          <p:cNvSpPr/>
          <p:nvPr/>
        </p:nvSpPr>
        <p:spPr>
          <a:xfrm>
            <a:off x="529200" y="27360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29200" y="2736000"/>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63200" y="3031200"/>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63200" y="30312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0:02</a:t>
            </a:r>
          </a:p>
        </p:txBody>
      </p:sp>
      <p:sp>
        <p:nvSpPr>
          <p:cNvPr id="12" name="TextBox 11"/>
          <p:cNvSpPr txBox="1"/>
          <p:nvPr/>
        </p:nvSpPr>
        <p:spPr>
          <a:xfrm>
            <a:off x="1303200" y="28008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Pourquoi les démarches en ligne semblent compliq…</a:t>
            </a:r>
          </a:p>
          <a:p>
            <a:pPr algn="l">
              <a:spcBef>
                <a:spcPts val="0"/>
              </a:spcBef>
              <a:spcAft>
                <a:spcPts val="100"/>
              </a:spcAft>
            </a:pPr>
            <a:r>
              <a:rPr sz="800" b="0" i="0">
                <a:solidFill>
                  <a:srgbClr val="2B2B2B"/>
                </a:solidFill>
                <a:latin typeface="Arial"/>
              </a:rPr>
              <a:t>. Beaucoup de personnes hésitent à effectuer leurs démarches administratives en ligne. Et c'est tout à fait normal ! Les sites sont nombreux, les formulaires parfois longs, et la peur de faire une erreur peut bloquer.</a:t>
            </a:r>
          </a:p>
        </p:txBody>
      </p:sp>
      <p:sp>
        <p:nvSpPr>
          <p:cNvPr id="13" name="Rectangle 12"/>
          <p:cNvSpPr/>
          <p:nvPr/>
        </p:nvSpPr>
        <p:spPr>
          <a:xfrm>
            <a:off x="529200" y="34848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29200" y="34848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763200" y="37800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63200" y="37800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0:10</a:t>
            </a:r>
          </a:p>
        </p:txBody>
      </p:sp>
      <p:sp>
        <p:nvSpPr>
          <p:cNvPr id="17" name="TextBox 16"/>
          <p:cNvSpPr txBox="1"/>
          <p:nvPr/>
        </p:nvSpPr>
        <p:spPr>
          <a:xfrm>
            <a:off x="1303200" y="35496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4 min</a:t>
            </a:r>
          </a:p>
          <a:p>
            <a:pPr algn="l">
              <a:spcBef>
                <a:spcPts val="0"/>
              </a:spcBef>
              <a:spcAft>
                <a:spcPts val="100"/>
              </a:spcAft>
            </a:pPr>
            <a:r>
              <a:rPr sz="900" b="1" i="0">
                <a:solidFill>
                  <a:srgbClr val="2B2B2B"/>
                </a:solidFill>
                <a:latin typeface="Arial"/>
              </a:rPr>
              <a:t>Au programme de cet atelier</a:t>
            </a:r>
          </a:p>
          <a:p>
            <a:pPr algn="l">
              <a:spcBef>
                <a:spcPts val="0"/>
              </a:spcBef>
              <a:spcAft>
                <a:spcPts val="100"/>
              </a:spcAft>
            </a:pPr>
            <a:r>
              <a:rPr sz="800" b="0" i="0">
                <a:solidFill>
                  <a:srgbClr val="2B2B2B"/>
                </a:solidFill>
                <a:latin typeface="Arial"/>
              </a:rPr>
              <a:t>. Voici les grandes étapes que nous allons explorer ensemble aujourd'hui. Chaque partie est conçue pour vous donner des repères concrets et des outils immédiatement utilisables.</a:t>
            </a:r>
          </a:p>
        </p:txBody>
      </p:sp>
      <p:sp>
        <p:nvSpPr>
          <p:cNvPr id="18" name="Rectangle 17"/>
          <p:cNvSpPr/>
          <p:nvPr/>
        </p:nvSpPr>
        <p:spPr>
          <a:xfrm>
            <a:off x="529200" y="42336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29200" y="4233600"/>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763200" y="4528800"/>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63200" y="45288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0:14</a:t>
            </a:r>
          </a:p>
        </p:txBody>
      </p:sp>
      <p:sp>
        <p:nvSpPr>
          <p:cNvPr id="22" name="TextBox 21"/>
          <p:cNvSpPr txBox="1"/>
          <p:nvPr/>
        </p:nvSpPr>
        <p:spPr>
          <a:xfrm>
            <a:off x="1303200" y="42984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Service-public.fr : votre portail officiel</a:t>
            </a:r>
          </a:p>
          <a:p>
            <a:pPr algn="l">
              <a:spcBef>
                <a:spcPts val="0"/>
              </a:spcBef>
              <a:spcAft>
                <a:spcPts val="100"/>
              </a:spcAft>
            </a:pPr>
            <a:r>
              <a:rPr sz="800" b="0" i="0">
                <a:solidFill>
                  <a:srgbClr val="2B2B2B"/>
                </a:solidFill>
                <a:latin typeface="Arial"/>
              </a:rPr>
              <a:t>. Service-public.fr est le site officiel de l'administration française. Géré par la Direction de l'information légale et administrative (DILA), c'est votre point d'entrée unique et fiable pour toutes vos démarches. Il remplace les longues files d'attente en préfecture ou en mairie.</a:t>
            </a:r>
          </a:p>
        </p:txBody>
      </p:sp>
      <p:sp>
        <p:nvSpPr>
          <p:cNvPr id="23" name="Rectangle 22"/>
          <p:cNvSpPr/>
          <p:nvPr/>
        </p:nvSpPr>
        <p:spPr>
          <a:xfrm>
            <a:off x="529200" y="49824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529200" y="49824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63200" y="52776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63200" y="52776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0:22</a:t>
            </a:r>
          </a:p>
        </p:txBody>
      </p:sp>
      <p:sp>
        <p:nvSpPr>
          <p:cNvPr id="27" name="TextBox 26"/>
          <p:cNvSpPr txBox="1"/>
          <p:nvPr/>
        </p:nvSpPr>
        <p:spPr>
          <a:xfrm>
            <a:off x="1303200" y="50472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Comment naviguer sur service-public.fr</a:t>
            </a:r>
          </a:p>
          <a:p>
            <a:pPr algn="l">
              <a:spcBef>
                <a:spcPts val="0"/>
              </a:spcBef>
              <a:spcAft>
                <a:spcPts val="100"/>
              </a:spcAft>
            </a:pPr>
            <a:r>
              <a:rPr sz="800" b="0" i="0">
                <a:solidFill>
                  <a:srgbClr val="2B2B2B"/>
                </a:solidFill>
                <a:latin typeface="Arial"/>
              </a:rPr>
              <a:t>. Le site est organisé de manière logique. Voici comment l'utiliser efficacement, étape par étape, même si vous n'êtes pas à l'aise avec Internet.</a:t>
            </a:r>
          </a:p>
        </p:txBody>
      </p:sp>
      <p:sp>
        <p:nvSpPr>
          <p:cNvPr id="28" name="Rectangle 27"/>
          <p:cNvSpPr/>
          <p:nvPr/>
        </p:nvSpPr>
        <p:spPr>
          <a:xfrm>
            <a:off x="529200" y="57312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529200" y="5731200"/>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763200" y="6026399"/>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63200" y="60263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0:30</a:t>
            </a:r>
          </a:p>
        </p:txBody>
      </p:sp>
      <p:sp>
        <p:nvSpPr>
          <p:cNvPr id="32" name="TextBox 31"/>
          <p:cNvSpPr txBox="1"/>
          <p:nvPr/>
        </p:nvSpPr>
        <p:spPr>
          <a:xfrm>
            <a:off x="1303200" y="57960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La Boussole des jeunes : pour les 16–30 ans</a:t>
            </a:r>
          </a:p>
          <a:p>
            <a:pPr algn="l">
              <a:spcBef>
                <a:spcPts val="0"/>
              </a:spcBef>
              <a:spcAft>
                <a:spcPts val="100"/>
              </a:spcAft>
            </a:pPr>
            <a:r>
              <a:rPr sz="800" b="0" i="0">
                <a:solidFill>
                  <a:srgbClr val="2B2B2B"/>
                </a:solidFill>
                <a:latin typeface="Arial"/>
              </a:rPr>
              <a:t>. boussole.jeunes.gouv.fr est un outil numérique gratuit conçu spécifiquement pour aider les jeunes de 16 à 30 ans à s'orienter dans leurs démarches administratives, sociales et professionnelles. En quelques questions simples, il vous dirige vers les aides et dispositifs qui correspondent à votre situation.</a:t>
            </a:r>
          </a:p>
        </p:txBody>
      </p:sp>
      <p:sp>
        <p:nvSpPr>
          <p:cNvPr id="33" name="Rectangle 32"/>
          <p:cNvSpPr/>
          <p:nvPr/>
        </p:nvSpPr>
        <p:spPr>
          <a:xfrm>
            <a:off x="529200" y="64800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529200" y="6480000"/>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763200" y="6775200"/>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763200" y="67752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0:38</a:t>
            </a:r>
          </a:p>
        </p:txBody>
      </p:sp>
      <p:sp>
        <p:nvSpPr>
          <p:cNvPr id="37" name="TextBox 36"/>
          <p:cNvSpPr txBox="1"/>
          <p:nvPr/>
        </p:nvSpPr>
        <p:spPr>
          <a:xfrm>
            <a:off x="1303200" y="65448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FranceConnect : une clé pour tous les services</a:t>
            </a:r>
          </a:p>
          <a:p>
            <a:pPr algn="l">
              <a:spcBef>
                <a:spcPts val="0"/>
              </a:spcBef>
              <a:spcAft>
                <a:spcPts val="100"/>
              </a:spcAft>
            </a:pPr>
            <a:r>
              <a:rPr sz="800" b="0" i="0">
                <a:solidFill>
                  <a:srgbClr val="2B2B2B"/>
                </a:solidFill>
                <a:latin typeface="Arial"/>
              </a:rPr>
              <a:t>. FranceConnect est un dispositif officiel de l'État qui vous permet de vous connecter à la majorité des services publics en ligne avec un seul identifiant. Plus besoin de retenir des dizaines de mots de passe différents !</a:t>
            </a:r>
          </a:p>
        </p:txBody>
      </p:sp>
      <p:sp>
        <p:nvSpPr>
          <p:cNvPr id="38" name="Rectangle 37"/>
          <p:cNvSpPr/>
          <p:nvPr/>
        </p:nvSpPr>
        <p:spPr>
          <a:xfrm>
            <a:off x="529200" y="72287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529200" y="7228799"/>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763200" y="7523999"/>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763200" y="75239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0:46</a:t>
            </a:r>
          </a:p>
        </p:txBody>
      </p:sp>
      <p:sp>
        <p:nvSpPr>
          <p:cNvPr id="42" name="TextBox 41"/>
          <p:cNvSpPr txBox="1"/>
          <p:nvPr/>
        </p:nvSpPr>
        <p:spPr>
          <a:xfrm>
            <a:off x="1303200" y="72935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Les principaux sites par thème</a:t>
            </a:r>
          </a:p>
          <a:p>
            <a:pPr algn="l">
              <a:spcBef>
                <a:spcPts val="0"/>
              </a:spcBef>
              <a:spcAft>
                <a:spcPts val="100"/>
              </a:spcAft>
            </a:pPr>
            <a:r>
              <a:rPr sz="800" b="0" i="0">
                <a:solidFill>
                  <a:srgbClr val="2B2B2B"/>
                </a:solidFill>
                <a:latin typeface="Arial"/>
              </a:rPr>
              <a:t>. Voici un panorama des sites officiels les plus utiles au quotidien. Tous sont gratuits et accessibles depuis un ordinateur, une tablette ou un smartphone.</a:t>
            </a:r>
          </a:p>
        </p:txBody>
      </p:sp>
      <p:sp>
        <p:nvSpPr>
          <p:cNvPr id="43" name="Rectangle 42"/>
          <p:cNvSpPr/>
          <p:nvPr/>
        </p:nvSpPr>
        <p:spPr>
          <a:xfrm>
            <a:off x="529200" y="79775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529200" y="7977599"/>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763200" y="8272799"/>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763200" y="82727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0:54</a:t>
            </a:r>
          </a:p>
        </p:txBody>
      </p:sp>
      <p:sp>
        <p:nvSpPr>
          <p:cNvPr id="47" name="TextBox 46"/>
          <p:cNvSpPr txBox="1"/>
          <p:nvPr/>
        </p:nvSpPr>
        <p:spPr>
          <a:xfrm>
            <a:off x="1303200" y="80423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Vous n'êtes pas seule : les lieux d'aide</a:t>
            </a:r>
          </a:p>
          <a:p>
            <a:pPr algn="l">
              <a:spcBef>
                <a:spcPts val="0"/>
              </a:spcBef>
              <a:spcAft>
                <a:spcPts val="100"/>
              </a:spcAft>
            </a:pPr>
            <a:r>
              <a:rPr sz="800" b="0" i="0">
                <a:solidFill>
                  <a:srgbClr val="2B2B2B"/>
                </a:solidFill>
                <a:latin typeface="Arial"/>
              </a:rPr>
              <a:t>. Effectuer des démarches en ligne ne veut pas dire être seul face à l'écran. De nombreux professionnels et bénévoles sont là pour vous accompagner, gratuitement, près de chez vous.</a:t>
            </a:r>
          </a:p>
        </p:txBody>
      </p:sp>
      <p:sp>
        <p:nvSpPr>
          <p:cNvPr id="48" name="Rectangle 47"/>
          <p:cNvSpPr/>
          <p:nvPr/>
        </p:nvSpPr>
        <p:spPr>
          <a:xfrm>
            <a:off x="529200" y="87263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529200" y="8726399"/>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Rectangle 49"/>
          <p:cNvSpPr/>
          <p:nvPr/>
        </p:nvSpPr>
        <p:spPr>
          <a:xfrm>
            <a:off x="763200" y="9021599"/>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763200" y="90215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1:02</a:t>
            </a:r>
          </a:p>
        </p:txBody>
      </p:sp>
      <p:sp>
        <p:nvSpPr>
          <p:cNvPr id="52" name="TextBox 51"/>
          <p:cNvSpPr txBox="1"/>
          <p:nvPr/>
        </p:nvSpPr>
        <p:spPr>
          <a:xfrm>
            <a:off x="1303200" y="87911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Ce que vous pouvez faire dès aujourd'hui</a:t>
            </a:r>
          </a:p>
          <a:p>
            <a:pPr algn="l">
              <a:spcBef>
                <a:spcPts val="0"/>
              </a:spcBef>
              <a:spcAft>
                <a:spcPts val="100"/>
              </a:spcAft>
            </a:pPr>
            <a:r>
              <a:rPr sz="800" b="0" i="0">
                <a:solidFill>
                  <a:srgbClr val="2B2B2B"/>
                </a:solidFill>
                <a:latin typeface="Arial"/>
              </a:rPr>
              <a:t>. Vous avez maintenant tous les repères pour commencer. Voici les premières actions concrètes à entreprendre — à votre rythme, sans pression. Chaque petit pas compte !</a:t>
            </a:r>
          </a:p>
        </p:txBody>
      </p:sp>
      <p:sp>
        <p:nvSpPr>
          <p:cNvPr id="53" name="Rectangle 52"/>
          <p:cNvSpPr/>
          <p:nvPr/>
        </p:nvSpPr>
        <p:spPr>
          <a:xfrm>
            <a:off x="529200" y="9684000"/>
            <a:ext cx="6498000" cy="43200"/>
          </a:xfrm>
          <a:prstGeom prst="rect">
            <a:avLst/>
          </a:prstGeom>
          <a:solidFill>
            <a:srgbClr val="F8A82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19200" y="9748800"/>
            <a:ext cx="6354000" cy="827999"/>
          </a:xfrm>
          <a:prstGeom prst="rect">
            <a:avLst/>
          </a:prstGeom>
          <a:noFill/>
        </p:spPr>
        <p:txBody>
          <a:bodyPr wrap="square" tIns="0" bIns="0" lIns="18000" rIns="18000">
            <a:spAutoFit/>
          </a:bodyPr>
          <a:lstStyle/>
          <a:p>
            <a:pPr algn="l">
              <a:spcBef>
                <a:spcPts val="0"/>
              </a:spcBef>
              <a:spcAft>
                <a:spcPts val="100"/>
              </a:spcAft>
            </a:pPr>
            <a:r>
              <a:rPr sz="950" b="1" i="0">
                <a:solidFill>
                  <a:srgbClr val="2B2B2B"/>
                </a:solidFill>
                <a:latin typeface="Arial"/>
              </a:rPr>
              <a:t>Conseils pour une bonne animation</a:t>
            </a:r>
          </a:p>
          <a:p>
            <a:pPr algn="l">
              <a:spcBef>
                <a:spcPts val="0"/>
              </a:spcBef>
              <a:spcAft>
                <a:spcPts val="100"/>
              </a:spcAft>
            </a:pPr>
            <a:r>
              <a:rPr sz="850" b="0" i="0">
                <a:solidFill>
                  <a:srgbClr val="2B2B2B"/>
                </a:solidFill>
                <a:latin typeface="Arial"/>
              </a:rPr>
              <a:t>&gt; Adapter le rythme selon le niveau du groupe.</a:t>
            </a:r>
          </a:p>
          <a:p>
            <a:pPr algn="l">
              <a:spcBef>
                <a:spcPts val="0"/>
              </a:spcBef>
              <a:spcAft>
                <a:spcPts val="100"/>
              </a:spcAft>
            </a:pPr>
            <a:r>
              <a:rPr sz="850" b="0" i="0">
                <a:solidFill>
                  <a:srgbClr val="2B2B2B"/>
                </a:solidFill>
                <a:latin typeface="Arial"/>
              </a:rPr>
              <a:t>&gt; Laisser les participants manipuler dès que possible.</a:t>
            </a:r>
          </a:p>
          <a:p>
            <a:pPr algn="l">
              <a:spcBef>
                <a:spcPts val="0"/>
              </a:spcBef>
              <a:spcAft>
                <a:spcPts val="100"/>
              </a:spcAft>
            </a:pPr>
            <a:r>
              <a:rPr sz="850" b="0" i="0">
                <a:solidFill>
                  <a:srgbClr val="2B2B2B"/>
                </a:solidFill>
                <a:latin typeface="Arial"/>
              </a:rPr>
              <a:t>&gt; Prévoir un compte de démonstration pour ne pas exposer de données personnelles.</a:t>
            </a:r>
          </a:p>
          <a:p>
            <a:pPr algn="l">
              <a:spcBef>
                <a:spcPts val="0"/>
              </a:spcBef>
              <a:spcAft>
                <a:spcPts val="100"/>
              </a:spcAft>
            </a:pPr>
            <a:r>
              <a:rPr sz="850" b="0" i="0">
                <a:solidFill>
                  <a:srgbClr val="2B2B2B"/>
                </a:solidFill>
                <a:latin typeface="Arial"/>
              </a:rPr>
              <a:t>&gt; Terminer en distribuant la fiche mémo — c'est le support qu'ils garderont.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