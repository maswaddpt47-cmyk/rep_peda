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p1.png"/>
          <p:cNvPicPr>
            <a:picLocks noChangeAspect="1"/>
          </p:cNvPicPr>
          <p:nvPr/>
        </p:nvPicPr>
        <p:blipFill>
          <a:blip r:embed="rId2">
            <a:alphaModFix amt="80000"/>
          </a:blip>
          <a:stretch>
            <a:fillRect/>
          </a:stretch>
        </p:blipFill>
        <p:spPr>
          <a:xfrm>
            <a:off x="0" y="0"/>
            <a:ext cx="7556399" cy="10692000"/>
          </a:xfrm>
          <a:prstGeom prst="rect">
            <a:avLst/>
          </a:prstGeom>
        </p:spPr>
      </p:pic>
      <p:sp>
        <p:nvSpPr>
          <p:cNvPr id="3" name="TextBox 2"/>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Numérique &amp; Environnement</a:t>
            </a:r>
          </a:p>
          <a:p>
            <a:pPr algn="ctr">
              <a:spcBef>
                <a:spcPts val="0"/>
              </a:spcBef>
              <a:spcAft>
                <a:spcPts val="100"/>
              </a:spcAft>
            </a:pPr>
            <a:r>
              <a:rPr sz="800" b="0" i="0">
                <a:solidFill>
                  <a:srgbClr val="6E6E6D"/>
                </a:solidFill>
                <a:latin typeface="Arial"/>
              </a:rPr>
              <a:t>Fiche Action | 1h48 | Guide d'animation — Conseillers Numériques CD47</a:t>
            </a:r>
          </a:p>
        </p:txBody>
      </p:sp>
      <p:sp>
        <p:nvSpPr>
          <p:cNvPr id="4" name="Rectangle 3"/>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Le numérique : un secteur qui pèse lourd</a:t>
            </a:r>
          </a:p>
          <a:p>
            <a:pPr algn="l">
              <a:spcBef>
                <a:spcPts val="0"/>
              </a:spcBef>
              <a:spcAft>
                <a:spcPts val="100"/>
              </a:spcAft>
            </a:pPr>
            <a:r>
              <a:rPr sz="850" b="0" i="0">
                <a:solidFill>
                  <a:srgbClr val="2B2B2B"/>
                </a:solidFill>
                <a:latin typeface="Arial"/>
              </a:rPr>
              <a:t>&gt; Nos appareils : le cœur du problème</a:t>
            </a:r>
          </a:p>
          <a:p>
            <a:pPr algn="l">
              <a:spcBef>
                <a:spcPts val="0"/>
              </a:spcBef>
              <a:spcAft>
                <a:spcPts val="100"/>
              </a:spcAft>
            </a:pPr>
            <a:r>
              <a:rPr sz="850" b="0" i="0">
                <a:solidFill>
                  <a:srgbClr val="2B2B2B"/>
                </a:solidFill>
                <a:latin typeface="Arial"/>
              </a:rPr>
              <a:t>&gt; L'usage quotidien : des impacts souvent invisibles</a:t>
            </a:r>
          </a:p>
          <a:p>
            <a:pPr algn="l">
              <a:spcBef>
                <a:spcPts val="0"/>
              </a:spcBef>
              <a:spcAft>
                <a:spcPts val="100"/>
              </a:spcAft>
            </a:pPr>
            <a:r>
              <a:rPr sz="850" b="0" i="0">
                <a:solidFill>
                  <a:srgbClr val="2B2B2B"/>
                </a:solidFill>
                <a:latin typeface="Arial"/>
              </a:rPr>
              <a:t>&gt; Les data centers : des usines énergivores</a:t>
            </a:r>
          </a:p>
        </p:txBody>
      </p:sp>
      <p:sp>
        <p:nvSpPr>
          <p:cNvPr id="6" name="Rectangle 5"/>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8" name="Rectangle 7"/>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2" name="TextBox 11"/>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 numérique : un secteur qui pèse lourd</a:t>
            </a:r>
          </a:p>
          <a:p>
            <a:pPr algn="l">
              <a:spcBef>
                <a:spcPts val="0"/>
              </a:spcBef>
              <a:spcAft>
                <a:spcPts val="100"/>
              </a:spcAft>
            </a:pPr>
            <a:r>
              <a:rPr sz="800" b="0" i="0">
                <a:solidFill>
                  <a:srgbClr val="2B2B2B"/>
                </a:solidFill>
                <a:latin typeface="Arial"/>
              </a:rPr>
              <a:t>. On l'oublie souvent, mais le numérique est l'un des secteurs les plus émetteurs de gaz à effet de serre au monde. Et sa croissance est rapide.</a:t>
            </a:r>
          </a:p>
        </p:txBody>
      </p:sp>
      <p:sp>
        <p:nvSpPr>
          <p:cNvPr id="13" name="Rectangle 12"/>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7" name="TextBox 16"/>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Nos appareils : le cœur du problème</a:t>
            </a:r>
          </a:p>
          <a:p>
            <a:pPr algn="l">
              <a:spcBef>
                <a:spcPts val="0"/>
              </a:spcBef>
              <a:spcAft>
                <a:spcPts val="100"/>
              </a:spcAft>
            </a:pPr>
            <a:r>
              <a:rPr sz="800" b="0" i="0">
                <a:solidFill>
                  <a:srgbClr val="2B2B2B"/>
                </a:solidFill>
                <a:latin typeface="Arial"/>
              </a:rPr>
              <a:t>. La fabrication de nos appareils numériques est de loin la source d'impact la plus importante — bien plus que leur utilisation quotidienne.</a:t>
            </a:r>
          </a:p>
        </p:txBody>
      </p:sp>
      <p:sp>
        <p:nvSpPr>
          <p:cNvPr id="18" name="Rectangle 17"/>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2" name="TextBox 21"/>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L'usage quotidien : des impacts souvent invisibl…</a:t>
            </a:r>
          </a:p>
          <a:p>
            <a:pPr algn="l">
              <a:spcBef>
                <a:spcPts val="0"/>
              </a:spcBef>
              <a:spcAft>
                <a:spcPts val="100"/>
              </a:spcAft>
            </a:pPr>
            <a:r>
              <a:rPr sz="800" b="0" i="0">
                <a:solidFill>
                  <a:srgbClr val="2B2B2B"/>
                </a:solidFill>
                <a:latin typeface="Arial"/>
              </a:rPr>
              <a:t>. Streaming vidéo</a:t>
            </a:r>
          </a:p>
        </p:txBody>
      </p:sp>
      <p:sp>
        <p:nvSpPr>
          <p:cNvPr id="23" name="Rectangle 22"/>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7" name="TextBox 26"/>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Les data centers : des usines énergivores</a:t>
            </a:r>
          </a:p>
          <a:p>
            <a:pPr algn="l">
              <a:spcBef>
                <a:spcPts val="0"/>
              </a:spcBef>
              <a:spcAft>
                <a:spcPts val="100"/>
              </a:spcAft>
            </a:pPr>
            <a:r>
              <a:rPr sz="8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p:txBody>
      </p:sp>
      <p:sp>
        <p:nvSpPr>
          <p:cNvPr id="28" name="Rectangle 27"/>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0:39</a:t>
            </a:r>
          </a:p>
        </p:txBody>
      </p:sp>
      <p:sp>
        <p:nvSpPr>
          <p:cNvPr id="32" name="TextBox 31"/>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montagne de déchets électroniques</a:t>
            </a:r>
          </a:p>
          <a:p>
            <a:pPr algn="l">
              <a:spcBef>
                <a:spcPts val="0"/>
              </a:spcBef>
              <a:spcAft>
                <a:spcPts val="100"/>
              </a:spcAft>
            </a:pPr>
            <a:r>
              <a:rPr sz="8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p:txBody>
      </p:sp>
      <p:sp>
        <p:nvSpPr>
          <p:cNvPr id="33" name="Rectangle 32"/>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0:47</a:t>
            </a:r>
          </a:p>
        </p:txBody>
      </p:sp>
      <p:sp>
        <p:nvSpPr>
          <p:cNvPr id="37" name="TextBox 36"/>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L'obsolescence : le piège du renouvellement</a:t>
            </a:r>
          </a:p>
          <a:p>
            <a:pPr algn="l">
              <a:spcBef>
                <a:spcPts val="0"/>
              </a:spcBef>
              <a:spcAft>
                <a:spcPts val="100"/>
              </a:spcAft>
            </a:pPr>
            <a:r>
              <a:rPr sz="8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p:txBody>
      </p:sp>
      <p:sp>
        <p:nvSpPr>
          <p:cNvPr id="38" name="Rectangle 37"/>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0:55</a:t>
            </a:r>
          </a:p>
        </p:txBody>
      </p:sp>
      <p:sp>
        <p:nvSpPr>
          <p:cNvPr id="42" name="TextBox 41"/>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Allonger la vie de ses appareils</a:t>
            </a:r>
          </a:p>
          <a:p>
            <a:pPr algn="l">
              <a:spcBef>
                <a:spcPts val="0"/>
              </a:spcBef>
              <a:spcAft>
                <a:spcPts val="100"/>
              </a:spcAft>
            </a:pPr>
            <a:r>
              <a:rPr sz="8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p:txBody>
      </p:sp>
      <p:sp>
        <p:nvSpPr>
          <p:cNvPr id="43" name="Rectangle 42"/>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1:03</a:t>
            </a:r>
          </a:p>
        </p:txBody>
      </p:sp>
      <p:sp>
        <p:nvSpPr>
          <p:cNvPr id="47" name="TextBox 46"/>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sobriété numérique au quotidien</a:t>
            </a:r>
          </a:p>
          <a:p>
            <a:pPr algn="l">
              <a:spcBef>
                <a:spcPts val="0"/>
              </a:spcBef>
              <a:spcAft>
                <a:spcPts val="100"/>
              </a:spcAft>
            </a:pPr>
            <a:r>
              <a:rPr sz="800" b="0" i="0">
                <a:solidFill>
                  <a:srgbClr val="2B2B2B"/>
                </a:solidFill>
                <a:latin typeface="Arial"/>
              </a:rPr>
              <a:t>. Adopter de petits gestes au quotidien peut avoir un impact significatif sur la réduction de votre empreinte numérique. Chaque action compte pour une consommation plus responsable des ressources.</a:t>
            </a:r>
          </a:p>
        </p:txBody>
      </p:sp>
      <p:sp>
        <p:nvSpPr>
          <p:cNvPr id="48" name="Rectangle 47"/>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1:11</a:t>
            </a:r>
          </a:p>
        </p:txBody>
      </p:sp>
      <p:sp>
        <p:nvSpPr>
          <p:cNvPr id="52" name="TextBox 51"/>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L'IA : un appétit énergétique démesuré</a:t>
            </a:r>
          </a:p>
          <a:p>
            <a:pPr algn="l">
              <a:spcBef>
                <a:spcPts val="0"/>
              </a:spcBef>
              <a:spcAft>
                <a:spcPts val="100"/>
              </a:spcAft>
            </a:pPr>
            <a:r>
              <a:rPr sz="800" b="0" i="0">
                <a:solidFill>
                  <a:srgbClr val="2B2B2B"/>
                </a:solidFill>
                <a:latin typeface="Arial"/>
              </a:rPr>
              <a:t>. L'intelligence artificielle, en particulier l'IA générative, est une technologie révolutionnaire mais aussi une gourmande insatiable en énergie et en ressources. Son empreinte environnementale croissante est une préoccupation majeure.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p2.png"/>
          <p:cNvPicPr>
            <a:picLocks noChangeAspect="1"/>
          </p:cNvPicPr>
          <p:nvPr/>
        </p:nvPicPr>
        <p:blipFill>
          <a:blip r:embed="rId2">
            <a:alphaModFix amt="80000"/>
          </a:blip>
          <a:stretch>
            <a:fillRect/>
          </a:stretch>
        </p:blipFill>
        <p:spPr>
          <a:xfrm>
            <a:off x="0" y="0"/>
            <a:ext cx="7556399" cy="10692000"/>
          </a:xfrm>
          <a:prstGeom prst="rect">
            <a:avLst/>
          </a:prstGeom>
        </p:spPr>
      </p:pic>
      <p:sp>
        <p:nvSpPr>
          <p:cNvPr id="3" name="Rectangle 2"/>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1:27</a:t>
            </a:r>
          </a:p>
        </p:txBody>
      </p:sp>
      <p:sp>
        <p:nvSpPr>
          <p:cNvPr id="7" name="TextBox 6"/>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Des solutions collectives et réglementaires</a:t>
            </a:r>
          </a:p>
          <a:p>
            <a:pPr algn="l">
              <a:spcBef>
                <a:spcPts val="0"/>
              </a:spcBef>
              <a:spcAft>
                <a:spcPts val="100"/>
              </a:spcAft>
            </a:pPr>
            <a:r>
              <a:rPr sz="800" b="0" i="0">
                <a:solidFill>
                  <a:srgbClr val="2B2B2B"/>
                </a:solidFill>
                <a:latin typeface="Arial"/>
              </a:rPr>
              <a:t>. Face aux enjeux du numérique, des cadres réglementaires et des initiatives collectives émergent pour encourager des pratiques plus durables. Ces efforts visent à transformer en profondeur nos modes de production et de consommation.</a:t>
            </a:r>
          </a:p>
        </p:txBody>
      </p:sp>
      <p:sp>
        <p:nvSpPr>
          <p:cNvPr id="8" name="Rectangle 7"/>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1:35</a:t>
            </a:r>
          </a:p>
        </p:txBody>
      </p:sp>
      <p:sp>
        <p:nvSpPr>
          <p:cNvPr id="12" name="TextBox 11"/>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À vous de jouer !</a:t>
            </a:r>
          </a:p>
          <a:p>
            <a:pPr algn="l">
              <a:spcBef>
                <a:spcPts val="0"/>
              </a:spcBef>
              <a:spcAft>
                <a:spcPts val="100"/>
              </a:spcAft>
            </a:pPr>
            <a:r>
              <a:rPr sz="800" b="0" i="0">
                <a:solidFill>
                  <a:srgbClr val="2B2B2B"/>
                </a:solidFill>
                <a:latin typeface="Arial"/>
              </a:rPr>
              <a:t>. Répondez à ces questions individuellement ou en petits groupes, puis partagez vos réflexions avec le reste de l'atelier.</a:t>
            </a:r>
          </a:p>
        </p:txBody>
      </p:sp>
      <p:sp>
        <p:nvSpPr>
          <p:cNvPr id="13" name="Rectangle 12"/>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