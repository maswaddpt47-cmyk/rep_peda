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2h04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administratifs_x000B_en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gérer_x000B_votre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documents._x000B_Voici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dont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financières._x000B_Prenez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1:32</a:t>
            </a:r>
          </a:p>
        </p:txBody>
      </p:sp>
      <p:sp>
        <p:nvSpPr>
          <p:cNvPr id="21" name="TextBox 20"/>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bons réflexes à adopter</a:t>
            </a:r>
          </a:p>
          <a:p>
            <a:pPr algn="l">
              <a:spcBef>
                <a:spcPts val="0"/>
              </a:spcBef>
              <a:spcAft>
                <a:spcPts val="100"/>
              </a:spcAft>
            </a:pPr>
            <a:r>
              <a:rPr sz="800" b="0" i="0">
                <a:solidFill>
                  <a:srgbClr val="2B2B2B"/>
                </a:solidFill>
                <a:latin typeface="Arial"/>
              </a:rPr>
              <a:t>. Maintenant que votre espace est créé, voici quelques habitudes simples pour l'utiliser en toute sécurité_x000B_et en tirer le meilleur parti :</a:t>
            </a:r>
          </a:p>
        </p:txBody>
      </p:sp>
      <p:sp>
        <p:nvSpPr>
          <p:cNvPr id="22" name="Rectangle 21"/>
          <p:cNvSpPr/>
          <p:nvPr/>
        </p:nvSpPr>
        <p:spPr>
          <a:xfrm>
            <a:off x="529200" y="3535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35352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38304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38304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1:40</a:t>
            </a:r>
          </a:p>
        </p:txBody>
      </p:sp>
      <p:sp>
        <p:nvSpPr>
          <p:cNvPr id="26" name="TextBox 25"/>
          <p:cNvSpPr txBox="1"/>
          <p:nvPr/>
        </p:nvSpPr>
        <p:spPr>
          <a:xfrm>
            <a:off x="1303200" y="3600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êtes prête !</a:t>
            </a:r>
          </a:p>
          <a:p>
            <a:pPr algn="l">
              <a:spcBef>
                <a:spcPts val="0"/>
              </a:spcBef>
              <a:spcAft>
                <a:spcPts val="100"/>
              </a:spcAft>
            </a:pPr>
            <a:r>
              <a:rPr sz="800" b="0" i="0">
                <a:solidFill>
                  <a:srgbClr val="2B2B2B"/>
                </a:solidFill>
                <a:latin typeface="Arial"/>
              </a:rPr>
              <a:t>. Créer et gérer votre espace personnel en ligne, c'est franchir un pas important vers plus d'autonomie dans vos démarches administratives. Plus de files d'attente, plus de formulaires papier perdus — tout est accessible, à toute heure, depuis chez vous.</a:t>
            </a:r>
          </a:p>
        </p:txBody>
      </p:sp>
      <p:sp>
        <p:nvSpPr>
          <p:cNvPr id="27" name="Rectangle 26"/>
          <p:cNvSpPr/>
          <p:nvPr/>
        </p:nvSpPr>
        <p:spPr>
          <a:xfrm>
            <a:off x="529200" y="4284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42840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45792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4579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1:48</a:t>
            </a:r>
          </a:p>
        </p:txBody>
      </p:sp>
      <p:sp>
        <p:nvSpPr>
          <p:cNvPr id="31" name="TextBox 30"/>
          <p:cNvSpPr txBox="1"/>
          <p:nvPr/>
        </p:nvSpPr>
        <p:spPr>
          <a:xfrm>
            <a:off x="1303200" y="4348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Offre départementale d’Inclusion Numérique</a:t>
            </a:r>
          </a:p>
          <a:p>
            <a:pPr algn="l">
              <a:spcBef>
                <a:spcPts val="0"/>
              </a:spcBef>
              <a:spcAft>
                <a:spcPts val="100"/>
              </a:spcAft>
            </a:pPr>
            <a:r>
              <a:rPr sz="800" b="0" i="0">
                <a:solidFill>
                  <a:srgbClr val="2B2B2B"/>
                </a:solidFill>
                <a:latin typeface="Arial"/>
              </a:rPr>
              <a:t>. Voici les 5 offres et services dispensés par l’équipe départementale</a:t>
            </a:r>
          </a:p>
        </p:txBody>
      </p:sp>
      <p:sp>
        <p:nvSpPr>
          <p:cNvPr id="32" name="Rectangle 31"/>
          <p:cNvSpPr/>
          <p:nvPr/>
        </p:nvSpPr>
        <p:spPr>
          <a:xfrm>
            <a:off x="529200" y="5032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5032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5328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5328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1:56</a:t>
            </a:r>
          </a:p>
        </p:txBody>
      </p:sp>
      <p:sp>
        <p:nvSpPr>
          <p:cNvPr id="36" name="TextBox 35"/>
          <p:cNvSpPr txBox="1"/>
          <p:nvPr/>
        </p:nvSpPr>
        <p:spPr>
          <a:xfrm>
            <a:off x="1303200" y="5097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Besoin d'aide ? Nous sommes là !</a:t>
            </a:r>
          </a:p>
          <a:p>
            <a:pPr algn="l">
              <a:spcBef>
                <a:spcPts val="0"/>
              </a:spcBef>
              <a:spcAft>
                <a:spcPts val="100"/>
              </a:spcAft>
            </a:pPr>
            <a:r>
              <a:rPr sz="800" b="0" i="0">
                <a:solidFill>
                  <a:srgbClr val="2B2B2B"/>
                </a:solidFill>
                <a:latin typeface="Arial"/>
              </a:rPr>
              <a:t>. Pour nous joindre</a:t>
            </a:r>
          </a:p>
        </p:txBody>
      </p:sp>
      <p:sp>
        <p:nvSpPr>
          <p:cNvPr id="37" name="Rectangle 3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