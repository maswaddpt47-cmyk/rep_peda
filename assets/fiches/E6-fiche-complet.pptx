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Numérique &amp; Environnement</a:t>
            </a:r>
          </a:p>
          <a:p>
            <a:pPr algn="ctr">
              <a:spcBef>
                <a:spcPts val="0"/>
              </a:spcBef>
              <a:spcAft>
                <a:spcPts val="100"/>
              </a:spcAft>
            </a:pPr>
            <a:r>
              <a:rPr sz="800" b="0" i="0">
                <a:solidFill>
                  <a:srgbClr val="6E6E6D"/>
                </a:solidFill>
                <a:latin typeface="Arial"/>
              </a:rPr>
              <a:t>Fiche Action | 1h48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Le numérique : un secteur qui pèse lourd</a:t>
            </a:r>
          </a:p>
          <a:p>
            <a:pPr algn="l">
              <a:spcBef>
                <a:spcPts val="0"/>
              </a:spcBef>
              <a:spcAft>
                <a:spcPts val="100"/>
              </a:spcAft>
            </a:pPr>
            <a:r>
              <a:rPr sz="850" b="0" i="0">
                <a:solidFill>
                  <a:srgbClr val="2B2B2B"/>
                </a:solidFill>
                <a:latin typeface="Arial"/>
              </a:rPr>
              <a:t>&gt; Nos appareils : le cœur du problème</a:t>
            </a:r>
          </a:p>
          <a:p>
            <a:pPr algn="l">
              <a:spcBef>
                <a:spcPts val="0"/>
              </a:spcBef>
              <a:spcAft>
                <a:spcPts val="100"/>
              </a:spcAft>
            </a:pPr>
            <a:r>
              <a:rPr sz="850" b="0" i="0">
                <a:solidFill>
                  <a:srgbClr val="2B2B2B"/>
                </a:solidFill>
                <a:latin typeface="Arial"/>
              </a:rPr>
              <a:t>&gt; L'usage quotidien : des impacts souvent invisibles</a:t>
            </a:r>
          </a:p>
          <a:p>
            <a:pPr algn="l">
              <a:spcBef>
                <a:spcPts val="0"/>
              </a:spcBef>
              <a:spcAft>
                <a:spcPts val="100"/>
              </a:spcAft>
            </a:pPr>
            <a:r>
              <a:rPr sz="850" b="0" i="0">
                <a:solidFill>
                  <a:srgbClr val="2B2B2B"/>
                </a:solidFill>
                <a:latin typeface="Arial"/>
              </a:rPr>
              <a:t>&gt; Les data centers : des usines énergivores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 numérique : un secteur qui pèse lourd</a:t>
            </a:r>
          </a:p>
          <a:p>
            <a:pPr algn="l">
              <a:spcBef>
                <a:spcPts val="0"/>
              </a:spcBef>
              <a:spcAft>
                <a:spcPts val="100"/>
              </a:spcAft>
            </a:pPr>
            <a:r>
              <a:rPr sz="800" b="0" i="0">
                <a:solidFill>
                  <a:srgbClr val="2B2B2B"/>
                </a:solidFill>
                <a:latin typeface="Arial"/>
              </a:rPr>
              <a:t>. On l'oublie souvent, mais le numérique est l'un des secteurs les plus émetteurs de gaz à effet de serre au monde. Et sa croissance est rapide.</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Nos appareils : le cœur du problème</a:t>
            </a:r>
          </a:p>
          <a:p>
            <a:pPr algn="l">
              <a:spcBef>
                <a:spcPts val="0"/>
              </a:spcBef>
              <a:spcAft>
                <a:spcPts val="100"/>
              </a:spcAft>
            </a:pPr>
            <a:r>
              <a:rPr sz="800" b="0" i="0">
                <a:solidFill>
                  <a:srgbClr val="2B2B2B"/>
                </a:solidFill>
                <a:latin typeface="Arial"/>
              </a:rPr>
              <a:t>. La fabrication de nos appareils numériques est de loin la source d'impact la plus importante — bien plus que leur utilisation quotidienne.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L'usage quotidien : des impacts souvent invisibl…</a:t>
            </a:r>
          </a:p>
          <a:p>
            <a:pPr algn="l">
              <a:spcBef>
                <a:spcPts val="0"/>
              </a:spcBef>
              <a:spcAft>
                <a:spcPts val="100"/>
              </a:spcAft>
            </a:pPr>
            <a:r>
              <a:rPr sz="800" b="0" i="0">
                <a:solidFill>
                  <a:srgbClr val="2B2B2B"/>
                </a:solidFill>
                <a:latin typeface="Arial"/>
              </a:rPr>
              <a:t>. Streaming vidéo</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Les data centers : des usines énergivores</a:t>
            </a:r>
          </a:p>
          <a:p>
            <a:pPr algn="l">
              <a:spcBef>
                <a:spcPts val="0"/>
              </a:spcBef>
              <a:spcAft>
                <a:spcPts val="100"/>
              </a:spcAft>
            </a:pPr>
            <a:r>
              <a:rPr sz="800" b="0" i="0">
                <a:solidFill>
                  <a:srgbClr val="2B2B2B"/>
                </a:solidFill>
                <a:latin typeface="Arial"/>
              </a:rPr>
              <a:t>. Ces infrastructures discrètes sont le moteur de notre monde numérique, hébergeant nos données et applications. Cependant, leur fonctionnement est incroyablement gourmand en ressources, notamment pour le refroidissement des serveurs et le maintien d'une température stable.</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0:39</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montagne de déchets électroniques</a:t>
            </a:r>
          </a:p>
          <a:p>
            <a:pPr algn="l">
              <a:spcBef>
                <a:spcPts val="0"/>
              </a:spcBef>
              <a:spcAft>
                <a:spcPts val="100"/>
              </a:spcAft>
            </a:pPr>
            <a:r>
              <a:rPr sz="800" b="0" i="0">
                <a:solidFill>
                  <a:srgbClr val="2B2B2B"/>
                </a:solidFill>
                <a:latin typeface="Arial"/>
              </a:rPr>
              <a:t>. Les Déchets d'Équipements Électriques et Électroniques (DEEE), ou "e-waste", représentent aujourd'hui le flux de déchets qui croît le plus rapidement dans le monde. C'est une problématique environnementale et sanitaire majeure.</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0:47</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L'obsolescence : le piège du renouvellement</a:t>
            </a:r>
          </a:p>
          <a:p>
            <a:pPr algn="l">
              <a:spcBef>
                <a:spcPts val="0"/>
              </a:spcBef>
              <a:spcAft>
                <a:spcPts val="100"/>
              </a:spcAft>
            </a:pPr>
            <a:r>
              <a:rPr sz="800" b="0" i="0">
                <a:solidFill>
                  <a:srgbClr val="2B2B2B"/>
                </a:solidFill>
                <a:latin typeface="Arial"/>
              </a:rPr>
              <a:t>. L'obsolescence, qu'elle soit programmée ou perçue, est un facteur majeur de l'empreinte environnementale du numérique. Elle nous pousse à renouveler nos appareils bien avant la fin de leur durée de vie potentielle.</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0:55</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Allonger la vie de ses appareils</a:t>
            </a:r>
          </a:p>
          <a:p>
            <a:pPr algn="l">
              <a:spcBef>
                <a:spcPts val="0"/>
              </a:spcBef>
              <a:spcAft>
                <a:spcPts val="100"/>
              </a:spcAft>
            </a:pPr>
            <a:r>
              <a:rPr sz="800" b="0" i="0">
                <a:solidFill>
                  <a:srgbClr val="2B2B2B"/>
                </a:solidFill>
                <a:latin typeface="Arial"/>
              </a:rPr>
              <a:t>. Plutôt que de céder à l'obsolescence programmée ou perçue, adoptons des gestes simples pour prolonger la durée de vie de nos équipements. Chaque année gagnée, c'est une réduction significative de leur empreinte environnementale.</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1:03</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La sobriété numérique au quotidien</a:t>
            </a:r>
          </a:p>
          <a:p>
            <a:pPr algn="l">
              <a:spcBef>
                <a:spcPts val="0"/>
              </a:spcBef>
              <a:spcAft>
                <a:spcPts val="100"/>
              </a:spcAft>
            </a:pPr>
            <a:r>
              <a:rPr sz="800" b="0" i="0">
                <a:solidFill>
                  <a:srgbClr val="2B2B2B"/>
                </a:solidFill>
                <a:latin typeface="Arial"/>
              </a:rPr>
              <a:t>. Adopter de petits gestes au quotidien peut avoir un impact significatif sur la réduction de votre empreinte numérique. Chaque action compte pour une consommation plus responsable des ressources.</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1:11</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L'IA : un appétit énergétique démesuré</a:t>
            </a:r>
          </a:p>
          <a:p>
            <a:pPr algn="l">
              <a:spcBef>
                <a:spcPts val="0"/>
              </a:spcBef>
              <a:spcAft>
                <a:spcPts val="100"/>
              </a:spcAft>
            </a:pPr>
            <a:r>
              <a:rPr sz="800" b="0" i="0">
                <a:solidFill>
                  <a:srgbClr val="2B2B2B"/>
                </a:solidFill>
                <a:latin typeface="Arial"/>
              </a:rPr>
              <a:t>. L'intelligence artificielle, en particulier l'IA générative, est une technologie révolutionnaire mais aussi une gourmande insatiable en énergie et en ressources. Son empreinte environnementale croissante est une préoccupation majeure.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1:27</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Des solutions collectives et réglementaires</a:t>
            </a:r>
          </a:p>
          <a:p>
            <a:pPr algn="l">
              <a:spcBef>
                <a:spcPts val="0"/>
              </a:spcBef>
              <a:spcAft>
                <a:spcPts val="100"/>
              </a:spcAft>
            </a:pPr>
            <a:r>
              <a:rPr sz="800" b="0" i="0">
                <a:solidFill>
                  <a:srgbClr val="2B2B2B"/>
                </a:solidFill>
                <a:latin typeface="Arial"/>
              </a:rPr>
              <a:t>. Face aux enjeux du numérique, des cadres réglementaires et des initiatives collectives émergent pour encourager des pratiques plus durables. Ces efforts visent à transformer en profondeur nos modes de production et de consommation.</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1:35</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À vous de jouer !</a:t>
            </a:r>
          </a:p>
          <a:p>
            <a:pPr algn="l">
              <a:spcBef>
                <a:spcPts val="0"/>
              </a:spcBef>
              <a:spcAft>
                <a:spcPts val="100"/>
              </a:spcAft>
            </a:pPr>
            <a:r>
              <a:rPr sz="800" b="0" i="0">
                <a:solidFill>
                  <a:srgbClr val="2B2B2B"/>
                </a:solidFill>
                <a:latin typeface="Arial"/>
              </a:rPr>
              <a:t>. Répondez à ces questions individuellement ou en petits groupes, puis partagez vos réflexions avec le reste de l'atelier.</a:t>
            </a:r>
          </a:p>
        </p:txBody>
      </p:sp>
      <p:sp>
        <p:nvSpPr>
          <p:cNvPr id="12" name="Rectangle 11"/>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