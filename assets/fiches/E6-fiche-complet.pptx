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7556399"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blipFill>
          <a:blip r:embed="rId2"/>
          <a:stretch>
            <a:fillRect/>
          </a:stretch>
        </a:blipFill>
        <a:effectLst/>
      </p:bgPr>
    </p:bg>
    <p:spTree>
      <p:nvGrpSpPr>
        <p:cNvPr id="1" name=""/>
        <p:cNvGrpSpPr/>
        <p:nvPr/>
      </p:nvGrpSpPr>
      <p:grpSpPr/>
      <p:sp>
        <p:nvSpPr>
          <p:cNvPr id="2" name="TextBox 1"/>
          <p:cNvSpPr txBox="1"/>
          <p:nvPr/>
        </p:nvSpPr>
        <p:spPr>
          <a:xfrm>
            <a:off x="529200" y="1224000"/>
            <a:ext cx="6498000" cy="468000"/>
          </a:xfrm>
          <a:prstGeom prst="rect">
            <a:avLst/>
          </a:prstGeom>
          <a:noFill/>
        </p:spPr>
        <p:txBody>
          <a:bodyPr wrap="square" tIns="0" bIns="0" lIns="18000" rIns="18000">
            <a:spAutoFit/>
          </a:bodyPr>
          <a:lstStyle/>
          <a:p>
            <a:pPr algn="ctr">
              <a:spcBef>
                <a:spcPts val="0"/>
              </a:spcBef>
              <a:spcAft>
                <a:spcPts val="100"/>
              </a:spcAft>
            </a:pPr>
            <a:r>
              <a:rPr sz="1700" b="1" i="0">
                <a:solidFill>
                  <a:srgbClr val="4388BC"/>
                </a:solidFill>
                <a:latin typeface="Arial"/>
              </a:rPr>
              <a:t>Numérique &amp; Environnement</a:t>
            </a:r>
          </a:p>
          <a:p>
            <a:pPr algn="ctr">
              <a:spcBef>
                <a:spcPts val="0"/>
              </a:spcBef>
              <a:spcAft>
                <a:spcPts val="100"/>
              </a:spcAft>
            </a:pPr>
            <a:r>
              <a:rPr sz="800" b="0" i="0">
                <a:solidFill>
                  <a:srgbClr val="6E6E6D"/>
                </a:solidFill>
                <a:latin typeface="Arial"/>
              </a:rPr>
              <a:t>Fiche Action | 1h48 | Guide d'animation — Conseillers Numériques CD47</a:t>
            </a:r>
          </a:p>
        </p:txBody>
      </p:sp>
      <p:sp>
        <p:nvSpPr>
          <p:cNvPr id="3" name="Rectangle 2"/>
          <p:cNvSpPr/>
          <p:nvPr/>
        </p:nvSpPr>
        <p:spPr>
          <a:xfrm>
            <a:off x="529200" y="1764000"/>
            <a:ext cx="3024000" cy="900000"/>
          </a:xfrm>
          <a:prstGeom prst="rect">
            <a:avLst/>
          </a:prstGeom>
          <a:solidFill>
            <a:srgbClr val="ECF5FF"/>
          </a:solidFill>
          <a:ln w="12700">
            <a:solidFill>
              <a:srgbClr val="4388BC"/>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19200" y="1818000"/>
            <a:ext cx="2880000" cy="827999"/>
          </a:xfrm>
          <a:prstGeom prst="rect">
            <a:avLst/>
          </a:prstGeom>
          <a:noFill/>
        </p:spPr>
        <p:txBody>
          <a:bodyPr wrap="square" tIns="0" bIns="0" lIns="18000" rIns="18000">
            <a:spAutoFit/>
          </a:bodyPr>
          <a:lstStyle/>
          <a:p>
            <a:pPr algn="l">
              <a:spcBef>
                <a:spcPts val="0"/>
              </a:spcBef>
              <a:spcAft>
                <a:spcPts val="100"/>
              </a:spcAft>
            </a:pPr>
            <a:r>
              <a:rPr sz="950" b="1" i="0">
                <a:solidFill>
                  <a:srgbClr val="4388BC"/>
                </a:solidFill>
                <a:latin typeface="Arial"/>
              </a:rPr>
              <a:t>Objectifs</a:t>
            </a:r>
          </a:p>
          <a:p>
            <a:pPr algn="l">
              <a:spcBef>
                <a:spcPts val="0"/>
              </a:spcBef>
              <a:spcAft>
                <a:spcPts val="100"/>
              </a:spcAft>
            </a:pPr>
            <a:r>
              <a:rPr sz="850" b="0" i="0">
                <a:solidFill>
                  <a:srgbClr val="2B2B2B"/>
                </a:solidFill>
                <a:latin typeface="Arial"/>
              </a:rPr>
              <a:t>&gt; Le numérique : un secteur qui pèse lourd</a:t>
            </a:r>
          </a:p>
          <a:p>
            <a:pPr algn="l">
              <a:spcBef>
                <a:spcPts val="0"/>
              </a:spcBef>
              <a:spcAft>
                <a:spcPts val="100"/>
              </a:spcAft>
            </a:pPr>
            <a:r>
              <a:rPr sz="850" b="0" i="0">
                <a:solidFill>
                  <a:srgbClr val="2B2B2B"/>
                </a:solidFill>
                <a:latin typeface="Arial"/>
              </a:rPr>
              <a:t>&gt; Nos appareils : le cœur du problème</a:t>
            </a:r>
          </a:p>
          <a:p>
            <a:pPr algn="l">
              <a:spcBef>
                <a:spcPts val="0"/>
              </a:spcBef>
              <a:spcAft>
                <a:spcPts val="100"/>
              </a:spcAft>
            </a:pPr>
            <a:r>
              <a:rPr sz="850" b="0" i="0">
                <a:solidFill>
                  <a:srgbClr val="2B2B2B"/>
                </a:solidFill>
                <a:latin typeface="Arial"/>
              </a:rPr>
              <a:t>&gt; L'usage quotidien : des impacts souvent invisibles</a:t>
            </a:r>
          </a:p>
          <a:p>
            <a:pPr algn="l">
              <a:spcBef>
                <a:spcPts val="0"/>
              </a:spcBef>
              <a:spcAft>
                <a:spcPts val="100"/>
              </a:spcAft>
            </a:pPr>
            <a:r>
              <a:rPr sz="850" b="0" i="0">
                <a:solidFill>
                  <a:srgbClr val="2B2B2B"/>
                </a:solidFill>
                <a:latin typeface="Arial"/>
              </a:rPr>
              <a:t>&gt; Les data centers : des usines énergivores</a:t>
            </a:r>
          </a:p>
        </p:txBody>
      </p:sp>
      <p:sp>
        <p:nvSpPr>
          <p:cNvPr id="5" name="Rectangle 4"/>
          <p:cNvSpPr/>
          <p:nvPr/>
        </p:nvSpPr>
        <p:spPr>
          <a:xfrm>
            <a:off x="4003200" y="1764000"/>
            <a:ext cx="3024000" cy="900000"/>
          </a:xfrm>
          <a:prstGeom prst="rect">
            <a:avLst/>
          </a:prstGeom>
          <a:solidFill>
            <a:srgbClr val="EBF7F6"/>
          </a:solidFill>
          <a:ln w="12700">
            <a:solidFill>
              <a:srgbClr val="187C88"/>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093200" y="1818000"/>
            <a:ext cx="2880000" cy="827999"/>
          </a:xfrm>
          <a:prstGeom prst="rect">
            <a:avLst/>
          </a:prstGeom>
          <a:noFill/>
        </p:spPr>
        <p:txBody>
          <a:bodyPr wrap="square" tIns="0" bIns="0" lIns="18000" rIns="18000">
            <a:spAutoFit/>
          </a:bodyPr>
          <a:lstStyle/>
          <a:p>
            <a:pPr algn="l">
              <a:spcBef>
                <a:spcPts val="0"/>
              </a:spcBef>
              <a:spcAft>
                <a:spcPts val="100"/>
              </a:spcAft>
            </a:pPr>
            <a:r>
              <a:rPr sz="950" b="1" i="0">
                <a:solidFill>
                  <a:srgbClr val="187C88"/>
                </a:solidFill>
                <a:latin typeface="Arial"/>
              </a:rPr>
              <a:t>Matériel nécessaire</a:t>
            </a:r>
          </a:p>
          <a:p>
            <a:pPr algn="l">
              <a:spcBef>
                <a:spcPts val="0"/>
              </a:spcBef>
              <a:spcAft>
                <a:spcPts val="100"/>
              </a:spcAft>
            </a:pPr>
            <a:r>
              <a:rPr sz="850" b="0" i="0">
                <a:solidFill>
                  <a:srgbClr val="2B2B2B"/>
                </a:solidFill>
                <a:latin typeface="Arial"/>
              </a:rPr>
              <a:t>&gt; 1 PC ou tablette par participant</a:t>
            </a:r>
          </a:p>
          <a:p>
            <a:pPr algn="l">
              <a:spcBef>
                <a:spcPts val="0"/>
              </a:spcBef>
              <a:spcAft>
                <a:spcPts val="100"/>
              </a:spcAft>
            </a:pPr>
            <a:r>
              <a:rPr sz="850" b="0" i="0">
                <a:solidFill>
                  <a:srgbClr val="2B2B2B"/>
                </a:solidFill>
                <a:latin typeface="Arial"/>
              </a:rPr>
              <a:t>&gt; Connexion Wi-Fi stable</a:t>
            </a:r>
          </a:p>
          <a:p>
            <a:pPr algn="l">
              <a:spcBef>
                <a:spcPts val="0"/>
              </a:spcBef>
              <a:spcAft>
                <a:spcPts val="100"/>
              </a:spcAft>
            </a:pPr>
            <a:r>
              <a:rPr sz="850" b="0" i="0">
                <a:solidFill>
                  <a:srgbClr val="2B2B2B"/>
                </a:solidFill>
                <a:latin typeface="Arial"/>
              </a:rPr>
              <a:t>&gt; Grand écran / vidéoprojecteur</a:t>
            </a:r>
          </a:p>
          <a:p>
            <a:pPr algn="l">
              <a:spcBef>
                <a:spcPts val="0"/>
              </a:spcBef>
              <a:spcAft>
                <a:spcPts val="100"/>
              </a:spcAft>
            </a:pPr>
            <a:r>
              <a:rPr sz="850" b="0" i="0">
                <a:solidFill>
                  <a:srgbClr val="2B2B2B"/>
                </a:solidFill>
                <a:latin typeface="Arial"/>
              </a:rPr>
              <a:t>&gt; Fiches mémo (1 par participant)</a:t>
            </a:r>
          </a:p>
        </p:txBody>
      </p:sp>
      <p:sp>
        <p:nvSpPr>
          <p:cNvPr id="7" name="Rectangle 6"/>
          <p:cNvSpPr/>
          <p:nvPr/>
        </p:nvSpPr>
        <p:spPr>
          <a:xfrm>
            <a:off x="529200" y="27360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29200" y="2736000"/>
            <a:ext cx="198000" cy="7488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63200" y="3031200"/>
            <a:ext cx="468000" cy="1584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3200" y="30312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0:02</a:t>
            </a:r>
          </a:p>
        </p:txBody>
      </p:sp>
      <p:sp>
        <p:nvSpPr>
          <p:cNvPr id="11" name="TextBox 10"/>
          <p:cNvSpPr txBox="1"/>
          <p:nvPr/>
        </p:nvSpPr>
        <p:spPr>
          <a:xfrm>
            <a:off x="1303200" y="28008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5EB3D2"/>
                </a:solidFill>
                <a:latin typeface="Arial"/>
              </a:rPr>
              <a:t>8 min</a:t>
            </a:r>
          </a:p>
          <a:p>
            <a:pPr algn="l">
              <a:spcBef>
                <a:spcPts val="0"/>
              </a:spcBef>
              <a:spcAft>
                <a:spcPts val="100"/>
              </a:spcAft>
            </a:pPr>
            <a:r>
              <a:rPr sz="900" b="1" i="0">
                <a:solidFill>
                  <a:srgbClr val="2B2B2B"/>
                </a:solidFill>
                <a:latin typeface="Arial"/>
              </a:rPr>
              <a:t>Le numérique : un secteur qui pèse lourd</a:t>
            </a:r>
          </a:p>
          <a:p>
            <a:pPr algn="l">
              <a:spcBef>
                <a:spcPts val="0"/>
              </a:spcBef>
              <a:spcAft>
                <a:spcPts val="100"/>
              </a:spcAft>
            </a:pPr>
            <a:r>
              <a:rPr sz="800" b="0" i="0">
                <a:solidFill>
                  <a:srgbClr val="2B2B2B"/>
                </a:solidFill>
                <a:latin typeface="Arial"/>
              </a:rPr>
              <a:t>. On l'oublie souvent, mais le numérique est l'un des secteurs les plus émetteurs de gaz à effet de serre au monde. Et sa croissance est rapide.</a:t>
            </a:r>
          </a:p>
        </p:txBody>
      </p:sp>
      <p:sp>
        <p:nvSpPr>
          <p:cNvPr id="12" name="Rectangle 11"/>
          <p:cNvSpPr/>
          <p:nvPr/>
        </p:nvSpPr>
        <p:spPr>
          <a:xfrm>
            <a:off x="529200" y="34848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29200" y="3484800"/>
            <a:ext cx="198000" cy="748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63200" y="3780000"/>
            <a:ext cx="468000" cy="158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63200" y="37800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0:10</a:t>
            </a:r>
          </a:p>
        </p:txBody>
      </p:sp>
      <p:sp>
        <p:nvSpPr>
          <p:cNvPr id="16" name="TextBox 15"/>
          <p:cNvSpPr txBox="1"/>
          <p:nvPr/>
        </p:nvSpPr>
        <p:spPr>
          <a:xfrm>
            <a:off x="1303200" y="35496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4388BC"/>
                </a:solidFill>
                <a:latin typeface="Arial"/>
              </a:rPr>
              <a:t>8 min</a:t>
            </a:r>
          </a:p>
          <a:p>
            <a:pPr algn="l">
              <a:spcBef>
                <a:spcPts val="0"/>
              </a:spcBef>
              <a:spcAft>
                <a:spcPts val="100"/>
              </a:spcAft>
            </a:pPr>
            <a:r>
              <a:rPr sz="900" b="1" i="0">
                <a:solidFill>
                  <a:srgbClr val="2B2B2B"/>
                </a:solidFill>
                <a:latin typeface="Arial"/>
              </a:rPr>
              <a:t>Nos appareils : le cœur du problème</a:t>
            </a:r>
          </a:p>
          <a:p>
            <a:pPr algn="l">
              <a:spcBef>
                <a:spcPts val="0"/>
              </a:spcBef>
              <a:spcAft>
                <a:spcPts val="100"/>
              </a:spcAft>
            </a:pPr>
            <a:r>
              <a:rPr sz="800" b="0" i="0">
                <a:solidFill>
                  <a:srgbClr val="2B2B2B"/>
                </a:solidFill>
                <a:latin typeface="Arial"/>
              </a:rPr>
              <a:t>. La fabrication de nos appareils numériques est de loin la source d'impact la plus importante — bien plus que leur utilisation quotidienne.</a:t>
            </a:r>
          </a:p>
        </p:txBody>
      </p:sp>
      <p:sp>
        <p:nvSpPr>
          <p:cNvPr id="17" name="Rectangle 16"/>
          <p:cNvSpPr/>
          <p:nvPr/>
        </p:nvSpPr>
        <p:spPr>
          <a:xfrm>
            <a:off x="529200" y="42336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29200" y="4233600"/>
            <a:ext cx="198000" cy="7488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63200" y="4528800"/>
            <a:ext cx="468000" cy="158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63200" y="45288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0:18</a:t>
            </a:r>
          </a:p>
        </p:txBody>
      </p:sp>
      <p:sp>
        <p:nvSpPr>
          <p:cNvPr id="21" name="TextBox 20"/>
          <p:cNvSpPr txBox="1"/>
          <p:nvPr/>
        </p:nvSpPr>
        <p:spPr>
          <a:xfrm>
            <a:off x="1303200" y="42984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187C88"/>
                </a:solidFill>
                <a:latin typeface="Arial"/>
              </a:rPr>
              <a:t>8 min</a:t>
            </a:r>
          </a:p>
          <a:p>
            <a:pPr algn="l">
              <a:spcBef>
                <a:spcPts val="0"/>
              </a:spcBef>
              <a:spcAft>
                <a:spcPts val="100"/>
              </a:spcAft>
            </a:pPr>
            <a:r>
              <a:rPr sz="900" b="1" i="0">
                <a:solidFill>
                  <a:srgbClr val="2B2B2B"/>
                </a:solidFill>
                <a:latin typeface="Arial"/>
              </a:rPr>
              <a:t>L'usage quotidien : des impacts souvent invisibl…</a:t>
            </a:r>
          </a:p>
          <a:p>
            <a:pPr algn="l">
              <a:spcBef>
                <a:spcPts val="0"/>
              </a:spcBef>
              <a:spcAft>
                <a:spcPts val="100"/>
              </a:spcAft>
            </a:pPr>
            <a:r>
              <a:rPr sz="800" b="0" i="0">
                <a:solidFill>
                  <a:srgbClr val="2B2B2B"/>
                </a:solidFill>
                <a:latin typeface="Arial"/>
              </a:rPr>
              <a:t>. Streaming vidéo</a:t>
            </a:r>
          </a:p>
        </p:txBody>
      </p:sp>
      <p:sp>
        <p:nvSpPr>
          <p:cNvPr id="22" name="Rectangle 21"/>
          <p:cNvSpPr/>
          <p:nvPr/>
        </p:nvSpPr>
        <p:spPr>
          <a:xfrm>
            <a:off x="529200" y="49824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529200" y="4982400"/>
            <a:ext cx="198000" cy="748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763200" y="5277600"/>
            <a:ext cx="468000" cy="158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63200" y="52776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0:26</a:t>
            </a:r>
          </a:p>
        </p:txBody>
      </p:sp>
      <p:sp>
        <p:nvSpPr>
          <p:cNvPr id="26" name="TextBox 25"/>
          <p:cNvSpPr txBox="1"/>
          <p:nvPr/>
        </p:nvSpPr>
        <p:spPr>
          <a:xfrm>
            <a:off x="1303200" y="50472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4388BC"/>
                </a:solidFill>
                <a:latin typeface="Arial"/>
              </a:rPr>
              <a:t>8 min</a:t>
            </a:r>
          </a:p>
          <a:p>
            <a:pPr algn="l">
              <a:spcBef>
                <a:spcPts val="0"/>
              </a:spcBef>
              <a:spcAft>
                <a:spcPts val="100"/>
              </a:spcAft>
            </a:pPr>
            <a:r>
              <a:rPr sz="900" b="1" i="0">
                <a:solidFill>
                  <a:srgbClr val="2B2B2B"/>
                </a:solidFill>
                <a:latin typeface="Arial"/>
              </a:rPr>
              <a:t>Les data centers : des usines énergivores</a:t>
            </a:r>
          </a:p>
          <a:p>
            <a:pPr algn="l">
              <a:spcBef>
                <a:spcPts val="0"/>
              </a:spcBef>
              <a:spcAft>
                <a:spcPts val="100"/>
              </a:spcAft>
            </a:pPr>
            <a:r>
              <a:rPr sz="800" b="0" i="0">
                <a:solidFill>
                  <a:srgbClr val="2B2B2B"/>
                </a:solidFill>
                <a:latin typeface="Arial"/>
              </a:rPr>
              <a:t>. Ces infrastructures discrètes sont le moteur de notre monde numérique, hébergeant nos données et applications. Cependant, leur fonctionnement est incroyablement gourmand en ressources, notamment pour le refroidissement des serveurs et le maintien d'une température stable.</a:t>
            </a:r>
          </a:p>
        </p:txBody>
      </p:sp>
      <p:sp>
        <p:nvSpPr>
          <p:cNvPr id="27" name="Rectangle 26"/>
          <p:cNvSpPr/>
          <p:nvPr/>
        </p:nvSpPr>
        <p:spPr>
          <a:xfrm>
            <a:off x="529200" y="57312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529200" y="5731200"/>
            <a:ext cx="198000" cy="7488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763200" y="6026399"/>
            <a:ext cx="468000" cy="158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63200" y="6026399"/>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0:39</a:t>
            </a:r>
          </a:p>
        </p:txBody>
      </p:sp>
      <p:sp>
        <p:nvSpPr>
          <p:cNvPr id="31" name="TextBox 30"/>
          <p:cNvSpPr txBox="1"/>
          <p:nvPr/>
        </p:nvSpPr>
        <p:spPr>
          <a:xfrm>
            <a:off x="1303200" y="57960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187C88"/>
                </a:solidFill>
                <a:latin typeface="Arial"/>
              </a:rPr>
              <a:t>8 min</a:t>
            </a:r>
          </a:p>
          <a:p>
            <a:pPr algn="l">
              <a:spcBef>
                <a:spcPts val="0"/>
              </a:spcBef>
              <a:spcAft>
                <a:spcPts val="100"/>
              </a:spcAft>
            </a:pPr>
            <a:r>
              <a:rPr sz="900" b="1" i="0">
                <a:solidFill>
                  <a:srgbClr val="2B2B2B"/>
                </a:solidFill>
                <a:latin typeface="Arial"/>
              </a:rPr>
              <a:t>La montagne de déchets électroniques</a:t>
            </a:r>
          </a:p>
          <a:p>
            <a:pPr algn="l">
              <a:spcBef>
                <a:spcPts val="0"/>
              </a:spcBef>
              <a:spcAft>
                <a:spcPts val="100"/>
              </a:spcAft>
            </a:pPr>
            <a:r>
              <a:rPr sz="800" b="0" i="0">
                <a:solidFill>
                  <a:srgbClr val="2B2B2B"/>
                </a:solidFill>
                <a:latin typeface="Arial"/>
              </a:rPr>
              <a:t>. Les Déchets d'Équipements Électriques et Électroniques (DEEE), ou "e-waste", représentent aujourd'hui le flux de déchets qui croît le plus rapidement dans le monde. C'est une problématique environnementale et sanitaire majeure.</a:t>
            </a:r>
          </a:p>
        </p:txBody>
      </p:sp>
      <p:sp>
        <p:nvSpPr>
          <p:cNvPr id="32" name="Rectangle 31"/>
          <p:cNvSpPr/>
          <p:nvPr/>
        </p:nvSpPr>
        <p:spPr>
          <a:xfrm>
            <a:off x="529200" y="64800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529200" y="6480000"/>
            <a:ext cx="198000" cy="7488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763200" y="6775200"/>
            <a:ext cx="468000" cy="1584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63200" y="67752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0:47</a:t>
            </a:r>
          </a:p>
        </p:txBody>
      </p:sp>
      <p:sp>
        <p:nvSpPr>
          <p:cNvPr id="36" name="TextBox 35"/>
          <p:cNvSpPr txBox="1"/>
          <p:nvPr/>
        </p:nvSpPr>
        <p:spPr>
          <a:xfrm>
            <a:off x="1303200" y="65448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5EB3D2"/>
                </a:solidFill>
                <a:latin typeface="Arial"/>
              </a:rPr>
              <a:t>8 min</a:t>
            </a:r>
          </a:p>
          <a:p>
            <a:pPr algn="l">
              <a:spcBef>
                <a:spcPts val="0"/>
              </a:spcBef>
              <a:spcAft>
                <a:spcPts val="100"/>
              </a:spcAft>
            </a:pPr>
            <a:r>
              <a:rPr sz="900" b="1" i="0">
                <a:solidFill>
                  <a:srgbClr val="2B2B2B"/>
                </a:solidFill>
                <a:latin typeface="Arial"/>
              </a:rPr>
              <a:t>L'obsolescence : le piège du renouvellement</a:t>
            </a:r>
          </a:p>
          <a:p>
            <a:pPr algn="l">
              <a:spcBef>
                <a:spcPts val="0"/>
              </a:spcBef>
              <a:spcAft>
                <a:spcPts val="100"/>
              </a:spcAft>
            </a:pPr>
            <a:r>
              <a:rPr sz="800" b="0" i="0">
                <a:solidFill>
                  <a:srgbClr val="2B2B2B"/>
                </a:solidFill>
                <a:latin typeface="Arial"/>
              </a:rPr>
              <a:t>. L'obsolescence, qu'elle soit programmée ou perçue, est un facteur majeur de l'empreinte environnementale du numérique. Elle nous pousse à renouveler nos appareils bien avant la fin de leur durée de vie potentielle.</a:t>
            </a:r>
          </a:p>
        </p:txBody>
      </p:sp>
      <p:sp>
        <p:nvSpPr>
          <p:cNvPr id="37" name="Rectangle 36"/>
          <p:cNvSpPr/>
          <p:nvPr/>
        </p:nvSpPr>
        <p:spPr>
          <a:xfrm>
            <a:off x="529200" y="7228799"/>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529200" y="7228799"/>
            <a:ext cx="198000" cy="7488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763200" y="7523999"/>
            <a:ext cx="468000" cy="1584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63200" y="7523999"/>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0:55</a:t>
            </a:r>
          </a:p>
        </p:txBody>
      </p:sp>
      <p:sp>
        <p:nvSpPr>
          <p:cNvPr id="41" name="TextBox 40"/>
          <p:cNvSpPr txBox="1"/>
          <p:nvPr/>
        </p:nvSpPr>
        <p:spPr>
          <a:xfrm>
            <a:off x="1303200" y="7293599"/>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5EB3D2"/>
                </a:solidFill>
                <a:latin typeface="Arial"/>
              </a:rPr>
              <a:t>8 min</a:t>
            </a:r>
          </a:p>
          <a:p>
            <a:pPr algn="l">
              <a:spcBef>
                <a:spcPts val="0"/>
              </a:spcBef>
              <a:spcAft>
                <a:spcPts val="100"/>
              </a:spcAft>
            </a:pPr>
            <a:r>
              <a:rPr sz="900" b="1" i="0">
                <a:solidFill>
                  <a:srgbClr val="2B2B2B"/>
                </a:solidFill>
                <a:latin typeface="Arial"/>
              </a:rPr>
              <a:t>Allonger la vie de ses appareils</a:t>
            </a:r>
          </a:p>
          <a:p>
            <a:pPr algn="l">
              <a:spcBef>
                <a:spcPts val="0"/>
              </a:spcBef>
              <a:spcAft>
                <a:spcPts val="100"/>
              </a:spcAft>
            </a:pPr>
            <a:r>
              <a:rPr sz="800" b="0" i="0">
                <a:solidFill>
                  <a:srgbClr val="2B2B2B"/>
                </a:solidFill>
                <a:latin typeface="Arial"/>
              </a:rPr>
              <a:t>. Plutôt que de céder à l'obsolescence programmée ou perçue, adoptons des gestes simples pour prolonger la durée de vie de nos équipements. Chaque année gagnée, c'est une réduction significative de leur empreinte environnementale.</a:t>
            </a:r>
          </a:p>
        </p:txBody>
      </p:sp>
      <p:sp>
        <p:nvSpPr>
          <p:cNvPr id="42" name="Rectangle 41"/>
          <p:cNvSpPr/>
          <p:nvPr/>
        </p:nvSpPr>
        <p:spPr>
          <a:xfrm>
            <a:off x="529200" y="7977599"/>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529200" y="7977599"/>
            <a:ext cx="198000" cy="748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763200" y="8272799"/>
            <a:ext cx="468000" cy="158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63200" y="8272799"/>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1:03</a:t>
            </a:r>
          </a:p>
        </p:txBody>
      </p:sp>
      <p:sp>
        <p:nvSpPr>
          <p:cNvPr id="46" name="TextBox 45"/>
          <p:cNvSpPr txBox="1"/>
          <p:nvPr/>
        </p:nvSpPr>
        <p:spPr>
          <a:xfrm>
            <a:off x="1303200" y="8042399"/>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4388BC"/>
                </a:solidFill>
                <a:latin typeface="Arial"/>
              </a:rPr>
              <a:t>8 min</a:t>
            </a:r>
          </a:p>
          <a:p>
            <a:pPr algn="l">
              <a:spcBef>
                <a:spcPts val="0"/>
              </a:spcBef>
              <a:spcAft>
                <a:spcPts val="100"/>
              </a:spcAft>
            </a:pPr>
            <a:r>
              <a:rPr sz="900" b="1" i="0">
                <a:solidFill>
                  <a:srgbClr val="2B2B2B"/>
                </a:solidFill>
                <a:latin typeface="Arial"/>
              </a:rPr>
              <a:t>La sobriété numérique au quotidien</a:t>
            </a:r>
          </a:p>
          <a:p>
            <a:pPr algn="l">
              <a:spcBef>
                <a:spcPts val="0"/>
              </a:spcBef>
              <a:spcAft>
                <a:spcPts val="100"/>
              </a:spcAft>
            </a:pPr>
            <a:r>
              <a:rPr sz="800" b="0" i="0">
                <a:solidFill>
                  <a:srgbClr val="2B2B2B"/>
                </a:solidFill>
                <a:latin typeface="Arial"/>
              </a:rPr>
              <a:t>. Adopter de petits gestes au quotidien peut avoir un impact significatif sur la réduction de votre empreinte numérique. Chaque action compte pour une consommation plus responsable des ressources.</a:t>
            </a:r>
          </a:p>
        </p:txBody>
      </p:sp>
      <p:sp>
        <p:nvSpPr>
          <p:cNvPr id="47" name="Rectangle 46"/>
          <p:cNvSpPr/>
          <p:nvPr/>
        </p:nvSpPr>
        <p:spPr>
          <a:xfrm>
            <a:off x="529200" y="8726399"/>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529200" y="8726399"/>
            <a:ext cx="198000" cy="7488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763200" y="9021599"/>
            <a:ext cx="468000" cy="158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763200" y="9021599"/>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1:11</a:t>
            </a:r>
          </a:p>
        </p:txBody>
      </p:sp>
      <p:sp>
        <p:nvSpPr>
          <p:cNvPr id="51" name="TextBox 50"/>
          <p:cNvSpPr txBox="1"/>
          <p:nvPr/>
        </p:nvSpPr>
        <p:spPr>
          <a:xfrm>
            <a:off x="1303200" y="8791199"/>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187C88"/>
                </a:solidFill>
                <a:latin typeface="Arial"/>
              </a:rPr>
              <a:t>8 min</a:t>
            </a:r>
          </a:p>
          <a:p>
            <a:pPr algn="l">
              <a:spcBef>
                <a:spcPts val="0"/>
              </a:spcBef>
              <a:spcAft>
                <a:spcPts val="100"/>
              </a:spcAft>
            </a:pPr>
            <a:r>
              <a:rPr sz="900" b="1" i="0">
                <a:solidFill>
                  <a:srgbClr val="2B2B2B"/>
                </a:solidFill>
                <a:latin typeface="Arial"/>
              </a:rPr>
              <a:t>L'IA : un appétit énergétique démesuré</a:t>
            </a:r>
          </a:p>
          <a:p>
            <a:pPr algn="l">
              <a:spcBef>
                <a:spcPts val="0"/>
              </a:spcBef>
              <a:spcAft>
                <a:spcPts val="100"/>
              </a:spcAft>
            </a:pPr>
            <a:r>
              <a:rPr sz="800" b="0" i="0">
                <a:solidFill>
                  <a:srgbClr val="2B2B2B"/>
                </a:solidFill>
                <a:latin typeface="Arial"/>
              </a:rPr>
              <a:t>. L'intelligence artificielle, en particulier l'IA générative, est une technologie révolutionnaire mais aussi une gourmande insatiable en énergie et en ressources. Son empreinte environnementale croissante est une préoccupation majeure.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blipFill>
          <a:blip r:embed="rId2"/>
          <a:stretch>
            <a:fillRect/>
          </a:stretch>
        </a:blipFill>
        <a:effectLst/>
      </p:bgPr>
    </p:bg>
    <p:spTree>
      <p:nvGrpSpPr>
        <p:cNvPr id="1" name=""/>
        <p:cNvGrpSpPr/>
        <p:nvPr/>
      </p:nvGrpSpPr>
      <p:grpSpPr/>
      <p:sp>
        <p:nvSpPr>
          <p:cNvPr id="2" name="Rectangle 1"/>
          <p:cNvSpPr/>
          <p:nvPr/>
        </p:nvSpPr>
        <p:spPr>
          <a:xfrm>
            <a:off x="529200" y="5400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29200" y="540000"/>
            <a:ext cx="198000" cy="748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63200" y="835200"/>
            <a:ext cx="468000" cy="158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63200" y="8352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1:27</a:t>
            </a:r>
          </a:p>
        </p:txBody>
      </p:sp>
      <p:sp>
        <p:nvSpPr>
          <p:cNvPr id="6" name="TextBox 5"/>
          <p:cNvSpPr txBox="1"/>
          <p:nvPr/>
        </p:nvSpPr>
        <p:spPr>
          <a:xfrm>
            <a:off x="1303200" y="6048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4388BC"/>
                </a:solidFill>
                <a:latin typeface="Arial"/>
              </a:rPr>
              <a:t>8 min</a:t>
            </a:r>
          </a:p>
          <a:p>
            <a:pPr algn="l">
              <a:spcBef>
                <a:spcPts val="0"/>
              </a:spcBef>
              <a:spcAft>
                <a:spcPts val="100"/>
              </a:spcAft>
            </a:pPr>
            <a:r>
              <a:rPr sz="900" b="1" i="0">
                <a:solidFill>
                  <a:srgbClr val="2B2B2B"/>
                </a:solidFill>
                <a:latin typeface="Arial"/>
              </a:rPr>
              <a:t>Des solutions collectives et réglementaires</a:t>
            </a:r>
          </a:p>
          <a:p>
            <a:pPr algn="l">
              <a:spcBef>
                <a:spcPts val="0"/>
              </a:spcBef>
              <a:spcAft>
                <a:spcPts val="100"/>
              </a:spcAft>
            </a:pPr>
            <a:r>
              <a:rPr sz="800" b="0" i="0">
                <a:solidFill>
                  <a:srgbClr val="2B2B2B"/>
                </a:solidFill>
                <a:latin typeface="Arial"/>
              </a:rPr>
              <a:t>. Face aux enjeux du numérique, des cadres réglementaires et des initiatives collectives émergent pour encourager des pratiques plus durables. Ces efforts visent à transformer en profondeur nos modes de production et de consommation.</a:t>
            </a:r>
          </a:p>
        </p:txBody>
      </p:sp>
      <p:sp>
        <p:nvSpPr>
          <p:cNvPr id="7" name="Rectangle 6"/>
          <p:cNvSpPr/>
          <p:nvPr/>
        </p:nvSpPr>
        <p:spPr>
          <a:xfrm>
            <a:off x="529200" y="12888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29200" y="1288800"/>
            <a:ext cx="198000" cy="7488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63200" y="1584000"/>
            <a:ext cx="468000" cy="158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3200" y="15840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1:35</a:t>
            </a:r>
          </a:p>
        </p:txBody>
      </p:sp>
      <p:sp>
        <p:nvSpPr>
          <p:cNvPr id="11" name="TextBox 10"/>
          <p:cNvSpPr txBox="1"/>
          <p:nvPr/>
        </p:nvSpPr>
        <p:spPr>
          <a:xfrm>
            <a:off x="1303200" y="13536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187C88"/>
                </a:solidFill>
                <a:latin typeface="Arial"/>
              </a:rPr>
              <a:t>8 min</a:t>
            </a:r>
          </a:p>
          <a:p>
            <a:pPr algn="l">
              <a:spcBef>
                <a:spcPts val="0"/>
              </a:spcBef>
              <a:spcAft>
                <a:spcPts val="100"/>
              </a:spcAft>
            </a:pPr>
            <a:r>
              <a:rPr sz="900" b="1" i="0">
                <a:solidFill>
                  <a:srgbClr val="2B2B2B"/>
                </a:solidFill>
                <a:latin typeface="Arial"/>
              </a:rPr>
              <a:t>À vous de jouer !</a:t>
            </a:r>
          </a:p>
          <a:p>
            <a:pPr algn="l">
              <a:spcBef>
                <a:spcPts val="0"/>
              </a:spcBef>
              <a:spcAft>
                <a:spcPts val="100"/>
              </a:spcAft>
            </a:pPr>
            <a:r>
              <a:rPr sz="800" b="0" i="0">
                <a:solidFill>
                  <a:srgbClr val="2B2B2B"/>
                </a:solidFill>
                <a:latin typeface="Arial"/>
              </a:rPr>
              <a:t>. Répondez à ces questions individuellement ou en petits groupes, puis partagez vos réflexions avec le reste de l'atelier.</a:t>
            </a:r>
          </a:p>
        </p:txBody>
      </p:sp>
      <p:sp>
        <p:nvSpPr>
          <p:cNvPr id="12" name="Rectangle 11"/>
          <p:cNvSpPr/>
          <p:nvPr/>
        </p:nvSpPr>
        <p:spPr>
          <a:xfrm>
            <a:off x="529200" y="9684000"/>
            <a:ext cx="6498000" cy="43200"/>
          </a:xfrm>
          <a:prstGeom prst="rect">
            <a:avLst/>
          </a:prstGeom>
          <a:solidFill>
            <a:srgbClr val="F8A82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19200" y="9748800"/>
            <a:ext cx="6354000" cy="827999"/>
          </a:xfrm>
          <a:prstGeom prst="rect">
            <a:avLst/>
          </a:prstGeom>
          <a:noFill/>
        </p:spPr>
        <p:txBody>
          <a:bodyPr wrap="square" tIns="0" bIns="0" lIns="18000" rIns="18000">
            <a:spAutoFit/>
          </a:bodyPr>
          <a:lstStyle/>
          <a:p>
            <a:pPr algn="l">
              <a:spcBef>
                <a:spcPts val="0"/>
              </a:spcBef>
              <a:spcAft>
                <a:spcPts val="100"/>
              </a:spcAft>
            </a:pPr>
            <a:r>
              <a:rPr sz="950" b="1" i="0">
                <a:solidFill>
                  <a:srgbClr val="2B2B2B"/>
                </a:solidFill>
                <a:latin typeface="Arial"/>
              </a:rPr>
              <a:t>Conseils pour une bonne animation</a:t>
            </a:r>
          </a:p>
          <a:p>
            <a:pPr algn="l">
              <a:spcBef>
                <a:spcPts val="0"/>
              </a:spcBef>
              <a:spcAft>
                <a:spcPts val="100"/>
              </a:spcAft>
            </a:pPr>
            <a:r>
              <a:rPr sz="850" b="0" i="0">
                <a:solidFill>
                  <a:srgbClr val="2B2B2B"/>
                </a:solidFill>
                <a:latin typeface="Arial"/>
              </a:rPr>
              <a:t>&gt; Adapter le rythme selon le niveau du groupe.</a:t>
            </a:r>
          </a:p>
          <a:p>
            <a:pPr algn="l">
              <a:spcBef>
                <a:spcPts val="0"/>
              </a:spcBef>
              <a:spcAft>
                <a:spcPts val="100"/>
              </a:spcAft>
            </a:pPr>
            <a:r>
              <a:rPr sz="850" b="0" i="0">
                <a:solidFill>
                  <a:srgbClr val="2B2B2B"/>
                </a:solidFill>
                <a:latin typeface="Arial"/>
              </a:rPr>
              <a:t>&gt; Laisser les participants manipuler dès que possible.</a:t>
            </a:r>
          </a:p>
          <a:p>
            <a:pPr algn="l">
              <a:spcBef>
                <a:spcPts val="0"/>
              </a:spcBef>
              <a:spcAft>
                <a:spcPts val="100"/>
              </a:spcAft>
            </a:pPr>
            <a:r>
              <a:rPr sz="850" b="0" i="0">
                <a:solidFill>
                  <a:srgbClr val="2B2B2B"/>
                </a:solidFill>
                <a:latin typeface="Arial"/>
              </a:rPr>
              <a:t>&gt; Prévoir un compte de démonstration pour ne pas exposer de données personnelles.</a:t>
            </a:r>
          </a:p>
          <a:p>
            <a:pPr algn="l">
              <a:spcBef>
                <a:spcPts val="0"/>
              </a:spcBef>
              <a:spcAft>
                <a:spcPts val="100"/>
              </a:spcAft>
            </a:pPr>
            <a:r>
              <a:rPr sz="850" b="0" i="0">
                <a:solidFill>
                  <a:srgbClr val="2B2B2B"/>
                </a:solidFill>
                <a:latin typeface="Arial"/>
              </a:rPr>
              <a:t>&gt; Terminer en distribuant la fiche mémo — c'est le support qu'ils garderont.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