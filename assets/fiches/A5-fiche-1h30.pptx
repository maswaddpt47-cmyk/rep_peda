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Naviguer sur Internet</a:t>
            </a:r>
          </a:p>
          <a:p>
            <a:pPr algn="ctr">
              <a:spcBef>
                <a:spcPts val="0"/>
              </a:spcBef>
              <a:spcAft>
                <a:spcPts val="100"/>
              </a:spcAft>
            </a:pPr>
            <a:r>
              <a:rPr sz="800" b="0" i="0">
                <a:solidFill>
                  <a:srgbClr val="6E6E6D"/>
                </a:solidFill>
                <a:latin typeface="Arial"/>
              </a:rPr>
              <a:t>Fiche Action | 1h34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Qu'est-ce qu'Internet ?</a:t>
            </a:r>
          </a:p>
          <a:p>
            <a:pPr algn="l">
              <a:spcBef>
                <a:spcPts val="0"/>
              </a:spcBef>
              <a:spcAft>
                <a:spcPts val="100"/>
              </a:spcAft>
            </a:pPr>
            <a:r>
              <a:rPr sz="850" b="0" i="0">
                <a:solidFill>
                  <a:srgbClr val="2B2B2B"/>
                </a:solidFill>
                <a:latin typeface="Arial"/>
              </a:rPr>
              <a:t>&gt; Se connecter au Wi-Fi — Mode d'emploi</a:t>
            </a:r>
          </a:p>
          <a:p>
            <a:pPr algn="l">
              <a:spcBef>
                <a:spcPts val="0"/>
              </a:spcBef>
              <a:spcAft>
                <a:spcPts val="100"/>
              </a:spcAft>
            </a:pPr>
            <a:r>
              <a:rPr sz="850" b="0" i="0">
                <a:solidFill>
                  <a:srgbClr val="2B2B2B"/>
                </a:solidFill>
                <a:latin typeface="Arial"/>
              </a:rPr>
              <a:t>&gt; Le navigateur web : votre porte d'entrée</a:t>
            </a:r>
          </a:p>
          <a:p>
            <a:pPr algn="l">
              <a:spcBef>
                <a:spcPts val="0"/>
              </a:spcBef>
              <a:spcAft>
                <a:spcPts val="100"/>
              </a:spcAft>
            </a:pPr>
            <a:r>
              <a:rPr sz="850" b="0" i="0">
                <a:solidFill>
                  <a:srgbClr val="2B2B2B"/>
                </a:solidFill>
                <a:latin typeface="Arial"/>
              </a:rPr>
              <a:t>&gt; Anatomie d'une page web</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4 min</a:t>
            </a:r>
          </a:p>
          <a:p>
            <a:pPr algn="l">
              <a:spcBef>
                <a:spcPts val="0"/>
              </a:spcBef>
              <a:spcAft>
                <a:spcPts val="100"/>
              </a:spcAft>
            </a:pPr>
            <a:r>
              <a:rPr sz="900" b="1" i="0">
                <a:solidFill>
                  <a:srgbClr val="2B2B2B"/>
                </a:solidFill>
                <a:latin typeface="Arial"/>
              </a:rPr>
              <a:t>Au programme aujourd'hui</a:t>
            </a:r>
          </a:p>
          <a:p>
            <a:pPr algn="l">
              <a:spcBef>
                <a:spcPts val="0"/>
              </a:spcBef>
              <a:spcAft>
                <a:spcPts val="100"/>
              </a:spcAft>
            </a:pPr>
            <a:r>
              <a:rPr sz="800" b="0" i="0">
                <a:solidFill>
                  <a:srgbClr val="2B2B2B"/>
                </a:solidFill>
                <a:latin typeface="Arial"/>
              </a:rPr>
              <a:t>. Voici les grandes étapes que nous allons explorer ensemble durant cet atelier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0:06</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Qu'est-ce qu'Internet ?</a:t>
            </a:r>
          </a:p>
          <a:p>
            <a:pPr algn="l">
              <a:spcBef>
                <a:spcPts val="0"/>
              </a:spcBef>
              <a:spcAft>
                <a:spcPts val="100"/>
              </a:spcAft>
            </a:pPr>
            <a:r>
              <a:rPr sz="800" b="0" i="0">
                <a:solidFill>
                  <a:srgbClr val="2B2B2B"/>
                </a:solidFill>
                <a:latin typeface="Arial"/>
              </a:rPr>
              <a:t>. Internet, c'est un immense réseau mondial d'ordinateurs, de téléphones et d'appareils connectés entre eux, qui échangent des informations en permanence. On peut l'imaginer comme une gigantesque toile d'araignée planétaire.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Se connecter au Wi-Fi — Mode d'emploi</a:t>
            </a:r>
          </a:p>
          <a:p>
            <a:pPr algn="l">
              <a:spcBef>
                <a:spcPts val="0"/>
              </a:spcBef>
              <a:spcAft>
                <a:spcPts val="100"/>
              </a:spcAft>
            </a:pPr>
            <a:r>
              <a:rPr sz="800" b="0" i="0">
                <a:solidFill>
                  <a:srgbClr val="2B2B2B"/>
                </a:solidFill>
                <a:latin typeface="Arial"/>
              </a:rPr>
              <a:t>. Ouvrir Réglages</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 navigateur web : votre porte d'entrée</a:t>
            </a:r>
          </a:p>
          <a:p>
            <a:pPr algn="l">
              <a:spcBef>
                <a:spcPts val="0"/>
              </a:spcBef>
              <a:spcAft>
                <a:spcPts val="100"/>
              </a:spcAft>
            </a:pPr>
            <a:r>
              <a:rPr sz="800" b="0" i="0">
                <a:solidFill>
                  <a:srgbClr val="2B2B2B"/>
                </a:solidFill>
                <a:latin typeface="Arial"/>
              </a:rPr>
              <a:t>. Un navigateur web, c'est le programme que vous utilisez pour afficher des pages Internet. C'est lui qui "traduit" les données du réseau en images, textes et vidéos lisibles à l'écran.</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Anatomie d'une page web</a:t>
            </a:r>
          </a:p>
          <a:p>
            <a:pPr algn="l">
              <a:spcBef>
                <a:spcPts val="0"/>
              </a:spcBef>
              <a:spcAft>
                <a:spcPts val="100"/>
              </a:spcAft>
            </a:pPr>
            <a:r>
              <a:rPr sz="800" b="0" i="0">
                <a:solidFill>
                  <a:srgbClr val="2B2B2B"/>
                </a:solidFill>
                <a:latin typeface="Arial"/>
              </a:rPr>
              <a:t>. Quand vous ouvrez votre navigateur, voici les éléments essentiels à connaître pour vous repérer :</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0:38</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moteurs de recherche : comment ça marche ?</a:t>
            </a:r>
          </a:p>
          <a:p>
            <a:pPr algn="l">
              <a:spcBef>
                <a:spcPts val="0"/>
              </a:spcBef>
              <a:spcAft>
                <a:spcPts val="100"/>
              </a:spcAft>
            </a:pPr>
            <a:r>
              <a:rPr sz="800" b="0" i="0">
                <a:solidFill>
                  <a:srgbClr val="2B2B2B"/>
                </a:solidFill>
                <a:latin typeface="Arial"/>
              </a:rPr>
              <a:t>. Un moteur de recherche est un service en ligne qui explore et indexe des milliards de pages web pour vous retourner les résultats les plus pertinents selon vos mots-clés.</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0:46</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Bien formuler sa recherche</a:t>
            </a:r>
          </a:p>
          <a:p>
            <a:pPr algn="l">
              <a:spcBef>
                <a:spcPts val="0"/>
              </a:spcBef>
              <a:spcAft>
                <a:spcPts val="100"/>
              </a:spcAft>
            </a:pPr>
            <a:r>
              <a:rPr sz="800" b="0" i="0">
                <a:solidFill>
                  <a:srgbClr val="2B2B2B"/>
                </a:solidFill>
                <a:latin typeface="Arial"/>
              </a:rPr>
              <a:t>. La qualité de vos résultats dépend directement des mots que vous tapez. Quelques astuces simples pour mieux chercher :</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0:54</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Comprendre une adresse web (URL)</a:t>
            </a:r>
          </a:p>
          <a:p>
            <a:pPr algn="l">
              <a:spcBef>
                <a:spcPts val="0"/>
              </a:spcBef>
              <a:spcAft>
                <a:spcPts val="100"/>
              </a:spcAft>
            </a:pPr>
            <a:r>
              <a:rPr sz="800" b="0" i="0">
                <a:solidFill>
                  <a:srgbClr val="2B2B2B"/>
                </a:solidFill>
                <a:latin typeface="Arial"/>
              </a:rPr>
              <a:t>. Une adresse web, ou URL (Uniform Resource Locator), c'est comme l'adresse postale d'une page sur Internet. Elle est unique et permet à votre navigateur de trouver exactement ce que vous cherchez.</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1:02</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Reconnaître un site fiable</a:t>
            </a:r>
          </a:p>
          <a:p>
            <a:pPr algn="l">
              <a:spcBef>
                <a:spcPts val="0"/>
              </a:spcBef>
              <a:spcAft>
                <a:spcPts val="100"/>
              </a:spcAft>
            </a:pPr>
            <a:r>
              <a:rPr sz="800" b="0" i="0">
                <a:solidFill>
                  <a:srgbClr val="2B2B2B"/>
                </a:solidFill>
                <a:latin typeface="Arial"/>
              </a:rPr>
              <a:t>. Sur Internet, il est essentiel de savoir distinguer un site digne de confiance d'un site potentiellement douteux. Voici les points clés à vérifier pour naviguer en toute sérénité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1:10</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Attention aux arnaques en ligne (phishing)</a:t>
            </a:r>
          </a:p>
          <a:p>
            <a:pPr algn="l">
              <a:spcBef>
                <a:spcPts val="0"/>
              </a:spcBef>
              <a:spcAft>
                <a:spcPts val="100"/>
              </a:spcAft>
            </a:pPr>
            <a:r>
              <a:rPr sz="800" b="0" i="0">
                <a:solidFill>
                  <a:srgbClr val="2B2B2B"/>
                </a:solidFill>
                <a:latin typeface="Arial"/>
              </a:rPr>
              <a:t>. Le "phishing" (ou hameçonnage) est une technique frauduleuse très courante. Des escrocs se font passer pour une entité de confiance (banque, administration, opérateur téléphonique, etc.) pour vous soutirer des informations personnelles comme vos mots de passe ou numéros de carte bancaire. Ils utilisent généralement de faux emails, SMS ou de faux sites web très réalistes.</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1:18</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Créer un mot de passe solide</a:t>
            </a:r>
          </a:p>
          <a:p>
            <a:pPr algn="l">
              <a:spcBef>
                <a:spcPts val="0"/>
              </a:spcBef>
              <a:spcAft>
                <a:spcPts val="100"/>
              </a:spcAft>
            </a:pPr>
            <a:r>
              <a:rPr sz="800" b="0" i="0">
                <a:solidFill>
                  <a:srgbClr val="2B2B2B"/>
                </a:solidFill>
                <a:latin typeface="Arial"/>
              </a:rPr>
              <a:t>. Un mot de passe fort est votre première ligne de défense contre les cyberattaques. Apprenez à en créer un qui protège efficacement vos données personnelles.</a:t>
            </a:r>
          </a:p>
        </p:txBody>
      </p:sp>
      <p:sp>
        <p:nvSpPr>
          <p:cNvPr id="12" name="Rectangle 11"/>
          <p:cNvSpPr/>
          <p:nvPr/>
        </p:nvSpPr>
        <p:spPr>
          <a:xfrm>
            <a:off x="529200" y="2037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20376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23328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2332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1:26</a:t>
            </a:r>
          </a:p>
        </p:txBody>
      </p:sp>
      <p:sp>
        <p:nvSpPr>
          <p:cNvPr id="16" name="TextBox 15"/>
          <p:cNvSpPr txBox="1"/>
          <p:nvPr/>
        </p:nvSpPr>
        <p:spPr>
          <a:xfrm>
            <a:off x="1303200" y="2102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cookies et votre vie privée</a:t>
            </a:r>
          </a:p>
          <a:p>
            <a:pPr algn="l">
              <a:spcBef>
                <a:spcPts val="0"/>
              </a:spcBef>
              <a:spcAft>
                <a:spcPts val="100"/>
              </a:spcAft>
            </a:pPr>
            <a:r>
              <a:rPr sz="800" b="0" i="0">
                <a:solidFill>
                  <a:srgbClr val="2B2B2B"/>
                </a:solidFill>
                <a:latin typeface="Arial"/>
              </a:rPr>
              <a:t>. Les cookies sont de minuscules fichiers que les sites web stockent sur votre ordinateur ou smartphone. Ils servent à "se souvenir" de vous et de vos préférences pour améliorer votre expérience de navigation. C'est grâce à eux qu'un site peut, par exemple, garder les articles dans votre panier ou retenir la langue que vous avez choisie.</a:t>
            </a:r>
          </a:p>
        </p:txBody>
      </p:sp>
      <p:sp>
        <p:nvSpPr>
          <p:cNvPr id="17" name="Rectangle 16"/>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