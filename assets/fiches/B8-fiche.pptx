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.jpg" ContentType="image/jpg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7556500" cy="10693400"/>
  <p:notesSz cx="7556500" cy="106934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58" d="100"/>
          <a:sy n="58" d="100"/>
        </p:scale>
        <p:origin x="2458" y="77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567213" y="3314954"/>
            <a:ext cx="6428422" cy="224561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134427" y="5988304"/>
            <a:ext cx="5293995" cy="26733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378142" y="2459482"/>
            <a:ext cx="3289839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3894867" y="2459482"/>
            <a:ext cx="3289839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Relationship Id="rId7" Type="http://schemas.openxmlformats.org/officeDocument/2006/relationships/image" Target="../media/image1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0" y="0"/>
            <a:ext cx="7559999" cy="10664918"/>
          </a:xfrm>
          <a:prstGeom prst="rect">
            <a:avLst/>
          </a:prstGeom>
        </p:spPr>
      </p:pic>
      <p:sp>
        <p:nvSpPr>
          <p:cNvPr id="17" name="bg object 17"/>
          <p:cNvSpPr/>
          <p:nvPr/>
        </p:nvSpPr>
        <p:spPr>
          <a:xfrm>
            <a:off x="406400" y="1217800"/>
            <a:ext cx="6743700" cy="8483600"/>
          </a:xfrm>
          <a:custGeom>
            <a:avLst/>
            <a:gdLst/>
            <a:ahLst/>
            <a:cxnLst/>
            <a:rect l="l" t="t" r="r" b="b"/>
            <a:pathLst>
              <a:path w="6743700" h="8483600">
                <a:moveTo>
                  <a:pt x="6642100" y="0"/>
                </a:moveTo>
                <a:lnTo>
                  <a:pt x="101600" y="0"/>
                </a:lnTo>
                <a:lnTo>
                  <a:pt x="62032" y="7977"/>
                </a:lnTo>
                <a:lnTo>
                  <a:pt x="29740" y="29740"/>
                </a:lnTo>
                <a:lnTo>
                  <a:pt x="7977" y="62032"/>
                </a:lnTo>
                <a:lnTo>
                  <a:pt x="0" y="101600"/>
                </a:lnTo>
                <a:lnTo>
                  <a:pt x="0" y="8382000"/>
                </a:lnTo>
                <a:lnTo>
                  <a:pt x="7977" y="8421567"/>
                </a:lnTo>
                <a:lnTo>
                  <a:pt x="29740" y="8453859"/>
                </a:lnTo>
                <a:lnTo>
                  <a:pt x="62032" y="8475622"/>
                </a:lnTo>
                <a:lnTo>
                  <a:pt x="101600" y="8483600"/>
                </a:lnTo>
                <a:lnTo>
                  <a:pt x="6642100" y="8483600"/>
                </a:lnTo>
                <a:lnTo>
                  <a:pt x="6681667" y="8475622"/>
                </a:lnTo>
                <a:lnTo>
                  <a:pt x="6713959" y="8453859"/>
                </a:lnTo>
                <a:lnTo>
                  <a:pt x="6735722" y="8421567"/>
                </a:lnTo>
                <a:lnTo>
                  <a:pt x="6743700" y="8382000"/>
                </a:lnTo>
                <a:lnTo>
                  <a:pt x="6743700" y="101600"/>
                </a:lnTo>
                <a:lnTo>
                  <a:pt x="6735722" y="62032"/>
                </a:lnTo>
                <a:lnTo>
                  <a:pt x="6713959" y="29740"/>
                </a:lnTo>
                <a:lnTo>
                  <a:pt x="6681667" y="7977"/>
                </a:lnTo>
                <a:lnTo>
                  <a:pt x="6642100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bg object 18"/>
          <p:cNvSpPr/>
          <p:nvPr/>
        </p:nvSpPr>
        <p:spPr>
          <a:xfrm>
            <a:off x="406400" y="1217800"/>
            <a:ext cx="6743700" cy="8483600"/>
          </a:xfrm>
          <a:custGeom>
            <a:avLst/>
            <a:gdLst/>
            <a:ahLst/>
            <a:cxnLst/>
            <a:rect l="l" t="t" r="r" b="b"/>
            <a:pathLst>
              <a:path w="6743700" h="8483600">
                <a:moveTo>
                  <a:pt x="101600" y="8483600"/>
                </a:moveTo>
                <a:lnTo>
                  <a:pt x="6642100" y="8483600"/>
                </a:lnTo>
                <a:lnTo>
                  <a:pt x="6681667" y="8475622"/>
                </a:lnTo>
                <a:lnTo>
                  <a:pt x="6713959" y="8453859"/>
                </a:lnTo>
                <a:lnTo>
                  <a:pt x="6735722" y="8421567"/>
                </a:lnTo>
                <a:lnTo>
                  <a:pt x="6743700" y="8382000"/>
                </a:lnTo>
                <a:lnTo>
                  <a:pt x="6743700" y="101600"/>
                </a:lnTo>
                <a:lnTo>
                  <a:pt x="6735722" y="62032"/>
                </a:lnTo>
                <a:lnTo>
                  <a:pt x="6713959" y="29740"/>
                </a:lnTo>
                <a:lnTo>
                  <a:pt x="6681667" y="7977"/>
                </a:lnTo>
                <a:lnTo>
                  <a:pt x="6642100" y="0"/>
                </a:lnTo>
                <a:lnTo>
                  <a:pt x="101600" y="0"/>
                </a:lnTo>
                <a:lnTo>
                  <a:pt x="62032" y="7977"/>
                </a:lnTo>
                <a:lnTo>
                  <a:pt x="29740" y="29740"/>
                </a:lnTo>
                <a:lnTo>
                  <a:pt x="7977" y="62032"/>
                </a:lnTo>
                <a:lnTo>
                  <a:pt x="0" y="101600"/>
                </a:lnTo>
                <a:lnTo>
                  <a:pt x="0" y="8382000"/>
                </a:lnTo>
                <a:lnTo>
                  <a:pt x="7977" y="8421567"/>
                </a:lnTo>
                <a:lnTo>
                  <a:pt x="29740" y="8453859"/>
                </a:lnTo>
                <a:lnTo>
                  <a:pt x="62032" y="8475622"/>
                </a:lnTo>
                <a:lnTo>
                  <a:pt x="101600" y="8483600"/>
                </a:lnTo>
                <a:close/>
              </a:path>
            </a:pathLst>
          </a:custGeom>
          <a:ln w="6350">
            <a:solidFill>
              <a:srgbClr val="DFDFD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378142" y="427736"/>
            <a:ext cx="6806565" cy="17109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378142" y="2459482"/>
            <a:ext cx="6806565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2571369" y="9944862"/>
            <a:ext cx="2420112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378142" y="9944862"/>
            <a:ext cx="1739455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5445252" y="9944862"/>
            <a:ext cx="1739455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486077" y="1192400"/>
            <a:ext cx="4588510" cy="4965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2000" b="1" dirty="0">
                <a:solidFill>
                  <a:srgbClr val="4388BC"/>
                </a:solidFill>
                <a:latin typeface="Arial"/>
                <a:cs typeface="Arial"/>
              </a:rPr>
              <a:t>Fiche Action - Atelier Gérer son budget à l'ère numérique</a:t>
            </a:r>
            <a:endParaRPr sz="2000">
              <a:latin typeface="Arial"/>
              <a:cs typeface="Arial"/>
            </a:endParaRPr>
          </a:p>
          <a:p>
            <a:pPr algn="ctr">
              <a:lnSpc>
                <a:spcPct val="100000"/>
              </a:lnSpc>
              <a:spcBef>
                <a:spcPts val="50"/>
              </a:spcBef>
            </a:pPr>
            <a:r>
              <a:rPr sz="1050" dirty="0">
                <a:solidFill>
                  <a:srgbClr val="6E6E6D"/>
                </a:solidFill>
                <a:latin typeface="Arial"/>
                <a:cs typeface="Arial"/>
              </a:rPr>
              <a:t>1h04 | Guide d'animation pour les Conseillers Numériques CD47</a:t>
            </a:r>
            <a:endParaRPr sz="1050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530225" y="1738500"/>
            <a:ext cx="5514975" cy="1108075"/>
            <a:chOff x="530225" y="1738500"/>
            <a:chExt cx="5514975" cy="1108075"/>
          </a:xfrm>
        </p:grpSpPr>
        <p:sp>
          <p:nvSpPr>
            <p:cNvPr id="4" name="object 4"/>
            <p:cNvSpPr/>
            <p:nvPr/>
          </p:nvSpPr>
          <p:spPr>
            <a:xfrm>
              <a:off x="1524000" y="1751200"/>
              <a:ext cx="4508500" cy="0"/>
            </a:xfrm>
            <a:custGeom>
              <a:avLst/>
              <a:gdLst/>
              <a:ahLst/>
              <a:cxnLst/>
              <a:rect l="l" t="t" r="r" b="b"/>
              <a:pathLst>
                <a:path w="4508500">
                  <a:moveTo>
                    <a:pt x="0" y="0"/>
                  </a:moveTo>
                  <a:lnTo>
                    <a:pt x="4508500" y="0"/>
                  </a:lnTo>
                </a:path>
              </a:pathLst>
            </a:custGeom>
            <a:ln w="25400">
              <a:solidFill>
                <a:srgbClr val="B6C83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533400" y="1802000"/>
              <a:ext cx="3136900" cy="1041400"/>
            </a:xfrm>
            <a:custGeom>
              <a:avLst/>
              <a:gdLst/>
              <a:ahLst/>
              <a:cxnLst/>
              <a:rect l="l" t="t" r="r" b="b"/>
              <a:pathLst>
                <a:path w="3136900" h="1041400">
                  <a:moveTo>
                    <a:pt x="30734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lnTo>
                    <a:pt x="3073400" y="1041400"/>
                  </a:lnTo>
                  <a:lnTo>
                    <a:pt x="3098130" y="1036414"/>
                  </a:lnTo>
                  <a:lnTo>
                    <a:pt x="3118313" y="1022813"/>
                  </a:lnTo>
                  <a:lnTo>
                    <a:pt x="3131914" y="1002630"/>
                  </a:lnTo>
                  <a:lnTo>
                    <a:pt x="3136900" y="977900"/>
                  </a:lnTo>
                  <a:lnTo>
                    <a:pt x="3136900" y="63500"/>
                  </a:lnTo>
                  <a:lnTo>
                    <a:pt x="3131914" y="38769"/>
                  </a:lnTo>
                  <a:lnTo>
                    <a:pt x="3118313" y="18586"/>
                  </a:lnTo>
                  <a:lnTo>
                    <a:pt x="3098130" y="4985"/>
                  </a:lnTo>
                  <a:lnTo>
                    <a:pt x="3073400" y="0"/>
                  </a:lnTo>
                  <a:close/>
                </a:path>
              </a:pathLst>
            </a:custGeom>
            <a:solidFill>
              <a:srgbClr val="ECF5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533400" y="1802000"/>
              <a:ext cx="3136900" cy="1041400"/>
            </a:xfrm>
            <a:custGeom>
              <a:avLst/>
              <a:gdLst/>
              <a:ahLst/>
              <a:cxnLst/>
              <a:rect l="l" t="t" r="r" b="b"/>
              <a:pathLst>
                <a:path w="3136900" h="1041400">
                  <a:moveTo>
                    <a:pt x="63500" y="1041400"/>
                  </a:moveTo>
                  <a:lnTo>
                    <a:pt x="3073400" y="1041400"/>
                  </a:lnTo>
                  <a:lnTo>
                    <a:pt x="3098130" y="1036414"/>
                  </a:lnTo>
                  <a:lnTo>
                    <a:pt x="3118313" y="1022813"/>
                  </a:lnTo>
                  <a:lnTo>
                    <a:pt x="3131914" y="1002630"/>
                  </a:lnTo>
                  <a:lnTo>
                    <a:pt x="3136900" y="977900"/>
                  </a:lnTo>
                  <a:lnTo>
                    <a:pt x="3136900" y="63500"/>
                  </a:lnTo>
                  <a:lnTo>
                    <a:pt x="3131914" y="38769"/>
                  </a:lnTo>
                  <a:lnTo>
                    <a:pt x="3118313" y="18586"/>
                  </a:lnTo>
                  <a:lnTo>
                    <a:pt x="3098130" y="4985"/>
                  </a:lnTo>
                  <a:lnTo>
                    <a:pt x="30734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close/>
                </a:path>
              </a:pathLst>
            </a:custGeom>
            <a:ln w="6350">
              <a:solidFill>
                <a:srgbClr val="4388BC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/>
          <p:cNvSpPr txBox="1"/>
          <p:nvPr/>
        </p:nvSpPr>
        <p:spPr>
          <a:xfrm>
            <a:off x="647700" y="1778124"/>
            <a:ext cx="2041525" cy="862330"/>
          </a:xfrm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5"/>
              </a:spcBef>
            </a:pPr>
            <a:r>
              <a:rPr sz="1100" b="1" spc="-10" dirty="0">
                <a:solidFill>
                  <a:srgbClr val="4388BC"/>
                </a:solidFill>
                <a:latin typeface="Arial"/>
                <a:cs typeface="Arial"/>
              </a:rPr>
              <a:t>Objectifs</a:t>
            </a:r>
            <a:endParaRPr sz="11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8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Pourquoi suivre son budget ?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Tour d'horizon des applications de budget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Applications gratuites vs. payantes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Comment bien démarrer : les premières étapes</a:t>
            </a:r>
            <a:endParaRPr sz="1000" dirty="0">
              <a:latin typeface="Arial"/>
              <a:cs typeface="Arial"/>
            </a:endParaRPr>
          </a:p>
        </p:txBody>
      </p:sp>
      <p:grpSp>
        <p:nvGrpSpPr>
          <p:cNvPr id="8" name="object 8"/>
          <p:cNvGrpSpPr/>
          <p:nvPr/>
        </p:nvGrpSpPr>
        <p:grpSpPr>
          <a:xfrm>
            <a:off x="3794125" y="1798825"/>
            <a:ext cx="3105150" cy="1047750"/>
            <a:chOff x="3794125" y="1798825"/>
            <a:chExt cx="3105150" cy="1047750"/>
          </a:xfrm>
        </p:grpSpPr>
        <p:sp>
          <p:nvSpPr>
            <p:cNvPr id="9" name="object 9"/>
            <p:cNvSpPr/>
            <p:nvPr/>
          </p:nvSpPr>
          <p:spPr>
            <a:xfrm>
              <a:off x="3797300" y="1802000"/>
              <a:ext cx="3098800" cy="1041400"/>
            </a:xfrm>
            <a:custGeom>
              <a:avLst/>
              <a:gdLst/>
              <a:ahLst/>
              <a:cxnLst/>
              <a:rect l="l" t="t" r="r" b="b"/>
              <a:pathLst>
                <a:path w="3098800" h="1041400">
                  <a:moveTo>
                    <a:pt x="30353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lnTo>
                    <a:pt x="3035300" y="1041400"/>
                  </a:lnTo>
                  <a:lnTo>
                    <a:pt x="3060030" y="1036414"/>
                  </a:lnTo>
                  <a:lnTo>
                    <a:pt x="3080213" y="1022813"/>
                  </a:lnTo>
                  <a:lnTo>
                    <a:pt x="3093814" y="1002630"/>
                  </a:lnTo>
                  <a:lnTo>
                    <a:pt x="3098800" y="977900"/>
                  </a:lnTo>
                  <a:lnTo>
                    <a:pt x="3098800" y="63500"/>
                  </a:lnTo>
                  <a:lnTo>
                    <a:pt x="3093814" y="38769"/>
                  </a:lnTo>
                  <a:lnTo>
                    <a:pt x="3080213" y="18586"/>
                  </a:lnTo>
                  <a:lnTo>
                    <a:pt x="3060030" y="4985"/>
                  </a:lnTo>
                  <a:lnTo>
                    <a:pt x="3035300" y="0"/>
                  </a:lnTo>
                  <a:close/>
                </a:path>
              </a:pathLst>
            </a:custGeom>
            <a:solidFill>
              <a:srgbClr val="EBF7F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3797300" y="1802000"/>
              <a:ext cx="3098800" cy="1041400"/>
            </a:xfrm>
            <a:custGeom>
              <a:avLst/>
              <a:gdLst/>
              <a:ahLst/>
              <a:cxnLst/>
              <a:rect l="l" t="t" r="r" b="b"/>
              <a:pathLst>
                <a:path w="3098800" h="1041400">
                  <a:moveTo>
                    <a:pt x="63500" y="1041400"/>
                  </a:moveTo>
                  <a:lnTo>
                    <a:pt x="3035300" y="1041400"/>
                  </a:lnTo>
                  <a:lnTo>
                    <a:pt x="3060030" y="1036414"/>
                  </a:lnTo>
                  <a:lnTo>
                    <a:pt x="3080213" y="1022813"/>
                  </a:lnTo>
                  <a:lnTo>
                    <a:pt x="3093814" y="1002630"/>
                  </a:lnTo>
                  <a:lnTo>
                    <a:pt x="3098800" y="977900"/>
                  </a:lnTo>
                  <a:lnTo>
                    <a:pt x="3098800" y="63500"/>
                  </a:lnTo>
                  <a:lnTo>
                    <a:pt x="3093814" y="38769"/>
                  </a:lnTo>
                  <a:lnTo>
                    <a:pt x="3080213" y="18586"/>
                  </a:lnTo>
                  <a:lnTo>
                    <a:pt x="3060030" y="4985"/>
                  </a:lnTo>
                  <a:lnTo>
                    <a:pt x="30353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close/>
                </a:path>
              </a:pathLst>
            </a:custGeom>
            <a:ln w="6350">
              <a:solidFill>
                <a:srgbClr val="187C8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1" name="object 11"/>
          <p:cNvSpPr txBox="1"/>
          <p:nvPr/>
        </p:nvSpPr>
        <p:spPr>
          <a:xfrm>
            <a:off x="3911600" y="1778124"/>
            <a:ext cx="1927860" cy="862330"/>
          </a:xfrm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5"/>
              </a:spcBef>
            </a:pPr>
            <a:r>
              <a:rPr sz="1100" b="1" dirty="0">
                <a:solidFill>
                  <a:srgbClr val="187C88"/>
                </a:solidFill>
                <a:latin typeface="Arial"/>
                <a:cs typeface="Arial"/>
              </a:rPr>
              <a:t>Materiel </a:t>
            </a:r>
            <a:r>
              <a:rPr sz="1100" b="1" spc="-10" dirty="0">
                <a:solidFill>
                  <a:srgbClr val="187C88"/>
                </a:solidFill>
                <a:latin typeface="Arial"/>
                <a:cs typeface="Arial"/>
              </a:rPr>
              <a:t>necessaire</a:t>
            </a:r>
            <a:endParaRPr sz="11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8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1 PC ou tablette par participant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Connexion Wi-Fi stable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Grand écran / vidéoprojecteur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Fiches mémo (1 par participant)</a:t>
            </a:r>
            <a:endParaRPr sz="1000" dirty="0">
              <a:latin typeface="Arial"/>
              <a:cs typeface="Arial"/>
            </a:endParaRPr>
          </a:p>
        </p:txBody>
      </p:sp>
      <p:grpSp>
        <p:nvGrpSpPr>
          <p:cNvPr id="12" name="object 12"/>
          <p:cNvGrpSpPr/>
          <p:nvPr/>
        </p:nvGrpSpPr>
        <p:grpSpPr>
          <a:xfrm>
            <a:off x="530859" y="2904360"/>
            <a:ext cx="6494780" cy="728980"/>
            <a:chOff x="530859" y="2904360"/>
            <a:chExt cx="6494780" cy="728980"/>
          </a:xfrm>
        </p:grpSpPr>
        <p:sp>
          <p:nvSpPr>
            <p:cNvPr id="13" name="object 13"/>
            <p:cNvSpPr/>
            <p:nvPr/>
          </p:nvSpPr>
          <p:spPr>
            <a:xfrm>
              <a:off x="533399" y="2906900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533399" y="2906900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533400" y="29068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5EB3D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6" name="object 16"/>
          <p:cNvSpPr txBox="1"/>
          <p:nvPr/>
        </p:nvSpPr>
        <p:spPr>
          <a:xfrm>
            <a:off x="774636" y="31863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0:02</a:t>
            </a:r>
            <a:endParaRPr sz="1000">
              <a:latin typeface="Arial"/>
              <a:cs typeface="Arial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1308100" y="2913250"/>
            <a:ext cx="282130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5EB3D2"/>
                </a:solidFill>
                <a:latin typeface="Arial"/>
                <a:cs typeface="Arial"/>
              </a:rPr>
              <a:t>4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Au programme de cet atelier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Un parcours en 8 étapes pour tout comprendre, de zéro à expert :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18" name="object 18"/>
          <p:cNvGrpSpPr/>
          <p:nvPr/>
        </p:nvGrpSpPr>
        <p:grpSpPr>
          <a:xfrm>
            <a:off x="530859" y="3653659"/>
            <a:ext cx="6494780" cy="728980"/>
            <a:chOff x="530859" y="3653659"/>
            <a:chExt cx="6494780" cy="728980"/>
          </a:xfrm>
        </p:grpSpPr>
        <p:sp>
          <p:nvSpPr>
            <p:cNvPr id="19" name="object 19"/>
            <p:cNvSpPr/>
            <p:nvPr/>
          </p:nvSpPr>
          <p:spPr>
            <a:xfrm>
              <a:off x="533399" y="36561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" name="object 20"/>
            <p:cNvSpPr/>
            <p:nvPr/>
          </p:nvSpPr>
          <p:spPr>
            <a:xfrm>
              <a:off x="533399" y="36561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533400" y="36561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4388B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2" name="object 22"/>
          <p:cNvSpPr txBox="1"/>
          <p:nvPr/>
        </p:nvSpPr>
        <p:spPr>
          <a:xfrm>
            <a:off x="774636" y="39356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0:06</a:t>
            </a:r>
            <a:endParaRPr sz="1000">
              <a:latin typeface="Arial"/>
              <a:cs typeface="Arial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1308100" y="3662550"/>
            <a:ext cx="277685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4388BC"/>
                </a:solidFill>
                <a:latin typeface="Arial"/>
                <a:cs typeface="Arial"/>
              </a:rPr>
              <a:t>8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Pourquoi suivre son budget ?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Beaucoup d'entre nous finissent le mois en se demandant où est passé l'argent. Sans suivi,…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24" name="object 24"/>
          <p:cNvGrpSpPr/>
          <p:nvPr/>
        </p:nvGrpSpPr>
        <p:grpSpPr>
          <a:xfrm>
            <a:off x="530859" y="4402959"/>
            <a:ext cx="6494780" cy="728980"/>
            <a:chOff x="530859" y="4402959"/>
            <a:chExt cx="6494780" cy="728980"/>
          </a:xfrm>
        </p:grpSpPr>
        <p:sp>
          <p:nvSpPr>
            <p:cNvPr id="25" name="object 25"/>
            <p:cNvSpPr/>
            <p:nvPr/>
          </p:nvSpPr>
          <p:spPr>
            <a:xfrm>
              <a:off x="533399" y="44054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6" name="object 26"/>
            <p:cNvSpPr/>
            <p:nvPr/>
          </p:nvSpPr>
          <p:spPr>
            <a:xfrm>
              <a:off x="533399" y="44054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7" name="object 27"/>
            <p:cNvSpPr/>
            <p:nvPr/>
          </p:nvSpPr>
          <p:spPr>
            <a:xfrm>
              <a:off x="533400" y="44054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187C8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8" name="object 28"/>
          <p:cNvSpPr txBox="1"/>
          <p:nvPr/>
        </p:nvSpPr>
        <p:spPr>
          <a:xfrm>
            <a:off x="774636" y="46849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0:14</a:t>
            </a:r>
            <a:endParaRPr sz="1000">
              <a:latin typeface="Arial"/>
              <a:cs typeface="Arial"/>
            </a:endParaRPr>
          </a:p>
        </p:txBody>
      </p:sp>
      <p:sp>
        <p:nvSpPr>
          <p:cNvPr id="29" name="object 29"/>
          <p:cNvSpPr txBox="1"/>
          <p:nvPr/>
        </p:nvSpPr>
        <p:spPr>
          <a:xfrm>
            <a:off x="1308100" y="4411850"/>
            <a:ext cx="2608580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187C88"/>
                </a:solidFill>
                <a:latin typeface="Arial"/>
                <a:cs typeface="Arial"/>
              </a:rPr>
              <a:t>8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spc="-10" dirty="0">
                <a:solidFill>
                  <a:srgbClr val="2B2B2B"/>
                </a:solidFill>
                <a:latin typeface="Arial"/>
                <a:cs typeface="Arial"/>
              </a:rPr>
              <a:t>Tour d'horizon des applications de budget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Il existe aujourd'hui des dizaines d'applications pour gérer ses finances. Voici les plus …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30" name="object 30"/>
          <p:cNvGrpSpPr/>
          <p:nvPr/>
        </p:nvGrpSpPr>
        <p:grpSpPr>
          <a:xfrm>
            <a:off x="530859" y="5152259"/>
            <a:ext cx="6494780" cy="728980"/>
            <a:chOff x="530859" y="5152259"/>
            <a:chExt cx="6494780" cy="728980"/>
          </a:xfrm>
        </p:grpSpPr>
        <p:sp>
          <p:nvSpPr>
            <p:cNvPr id="31" name="object 31"/>
            <p:cNvSpPr/>
            <p:nvPr/>
          </p:nvSpPr>
          <p:spPr>
            <a:xfrm>
              <a:off x="533399" y="51547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2" name="object 32"/>
            <p:cNvSpPr/>
            <p:nvPr/>
          </p:nvSpPr>
          <p:spPr>
            <a:xfrm>
              <a:off x="533399" y="51547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3" name="object 33"/>
            <p:cNvSpPr/>
            <p:nvPr/>
          </p:nvSpPr>
          <p:spPr>
            <a:xfrm>
              <a:off x="533400" y="51547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4388B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4" name="object 34"/>
          <p:cNvSpPr txBox="1"/>
          <p:nvPr/>
        </p:nvSpPr>
        <p:spPr>
          <a:xfrm>
            <a:off x="774636" y="54342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0:22</a:t>
            </a:r>
            <a:endParaRPr sz="1000">
              <a:latin typeface="Arial"/>
              <a:cs typeface="Arial"/>
            </a:endParaRPr>
          </a:p>
        </p:txBody>
      </p:sp>
      <p:sp>
        <p:nvSpPr>
          <p:cNvPr id="35" name="object 35"/>
          <p:cNvSpPr txBox="1"/>
          <p:nvPr/>
        </p:nvSpPr>
        <p:spPr>
          <a:xfrm>
            <a:off x="1308100" y="5161150"/>
            <a:ext cx="3103880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4388BC"/>
                </a:solidFill>
                <a:latin typeface="Arial"/>
                <a:cs typeface="Arial"/>
              </a:rPr>
              <a:t>8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Applications gratuites vs. payantes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Pas besoin de dépenser de l'argent pour gérer son argent ! La plupart des outils proposent…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36" name="object 36"/>
          <p:cNvGrpSpPr/>
          <p:nvPr/>
        </p:nvGrpSpPr>
        <p:grpSpPr>
          <a:xfrm>
            <a:off x="530859" y="5901559"/>
            <a:ext cx="6494780" cy="728980"/>
            <a:chOff x="530859" y="5901559"/>
            <a:chExt cx="6494780" cy="728980"/>
          </a:xfrm>
        </p:grpSpPr>
        <p:sp>
          <p:nvSpPr>
            <p:cNvPr id="37" name="object 37"/>
            <p:cNvSpPr/>
            <p:nvPr/>
          </p:nvSpPr>
          <p:spPr>
            <a:xfrm>
              <a:off x="533399" y="59040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8" name="object 38"/>
            <p:cNvSpPr/>
            <p:nvPr/>
          </p:nvSpPr>
          <p:spPr>
            <a:xfrm>
              <a:off x="533399" y="59040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9" name="object 39"/>
            <p:cNvSpPr/>
            <p:nvPr/>
          </p:nvSpPr>
          <p:spPr>
            <a:xfrm>
              <a:off x="533400" y="59040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187C8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0" name="object 40"/>
          <p:cNvSpPr txBox="1"/>
          <p:nvPr/>
        </p:nvSpPr>
        <p:spPr>
          <a:xfrm>
            <a:off x="774636" y="61835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0:30</a:t>
            </a:r>
            <a:endParaRPr sz="1000">
              <a:latin typeface="Arial"/>
              <a:cs typeface="Arial"/>
            </a:endParaRPr>
          </a:p>
        </p:txBody>
      </p:sp>
      <p:sp>
        <p:nvSpPr>
          <p:cNvPr id="41" name="object 41"/>
          <p:cNvSpPr txBox="1"/>
          <p:nvPr/>
        </p:nvSpPr>
        <p:spPr>
          <a:xfrm>
            <a:off x="1308100" y="5910450"/>
            <a:ext cx="3103245" cy="5816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187C88"/>
                </a:solidFill>
                <a:latin typeface="Arial"/>
                <a:cs typeface="Arial"/>
              </a:rPr>
              <a:t>2 min</a:t>
            </a:r>
            <a:endParaRPr sz="85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Comment bien démarrer : les premières étapes</a:t>
            </a:r>
            <a:endParaRPr sz="105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Se lancer dans la gestion budgétaire numérique ne prend que quelques minutes. Suivez ces é…</a:t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</p:txBody>
      </p:sp>
      <p:grpSp>
        <p:nvGrpSpPr>
          <p:cNvPr id="42" name="object 42"/>
          <p:cNvGrpSpPr/>
          <p:nvPr/>
        </p:nvGrpSpPr>
        <p:grpSpPr>
          <a:xfrm>
            <a:off x="530859" y="6650859"/>
            <a:ext cx="6494780" cy="728980"/>
            <a:chOff x="530859" y="6650859"/>
            <a:chExt cx="6494780" cy="728980"/>
          </a:xfrm>
        </p:grpSpPr>
        <p:sp>
          <p:nvSpPr>
            <p:cNvPr id="43" name="object 43"/>
            <p:cNvSpPr/>
            <p:nvPr/>
          </p:nvSpPr>
          <p:spPr>
            <a:xfrm>
              <a:off x="533399" y="66533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4" name="object 44"/>
            <p:cNvSpPr/>
            <p:nvPr/>
          </p:nvSpPr>
          <p:spPr>
            <a:xfrm>
              <a:off x="533399" y="66533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5" name="object 45"/>
            <p:cNvSpPr/>
            <p:nvPr/>
          </p:nvSpPr>
          <p:spPr>
            <a:xfrm>
              <a:off x="533400" y="66533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5EB3D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6" name="object 46"/>
          <p:cNvSpPr txBox="1"/>
          <p:nvPr/>
        </p:nvSpPr>
        <p:spPr>
          <a:xfrm>
            <a:off x="774636" y="69328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0:32</a:t>
            </a:r>
            <a:endParaRPr sz="1000">
              <a:latin typeface="Arial"/>
              <a:cs typeface="Arial"/>
            </a:endParaRPr>
          </a:p>
        </p:txBody>
      </p:sp>
      <p:sp>
        <p:nvSpPr>
          <p:cNvPr id="47" name="object 47"/>
          <p:cNvSpPr txBox="1"/>
          <p:nvPr/>
        </p:nvSpPr>
        <p:spPr>
          <a:xfrm>
            <a:off x="1308100" y="6659750"/>
            <a:ext cx="324675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5EB3D2"/>
                </a:solidFill>
                <a:latin typeface="Arial"/>
                <a:cs typeface="Arial"/>
              </a:rPr>
              <a:t>8 min</a:t>
            </a:r>
            <a:endParaRPr sz="85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Astuces pour optimiser son budget</a:t>
            </a:r>
            <a:endParaRPr sz="105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Au-delà des applications, quelques méthodes éprouvées permettent de transformer ses habitu…</a:t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</p:txBody>
      </p:sp>
      <p:grpSp>
        <p:nvGrpSpPr>
          <p:cNvPr id="48" name="object 48"/>
          <p:cNvGrpSpPr/>
          <p:nvPr/>
        </p:nvGrpSpPr>
        <p:grpSpPr>
          <a:xfrm>
            <a:off x="533400" y="8101200"/>
            <a:ext cx="6489700" cy="1422400"/>
            <a:chOff x="533400" y="8101200"/>
            <a:chExt cx="6489700" cy="1422400"/>
          </a:xfrm>
        </p:grpSpPr>
        <p:sp>
          <p:nvSpPr>
            <p:cNvPr id="49" name="object 49"/>
            <p:cNvSpPr/>
            <p:nvPr/>
          </p:nvSpPr>
          <p:spPr>
            <a:xfrm>
              <a:off x="533400" y="8101200"/>
              <a:ext cx="6489700" cy="698500"/>
            </a:xfrm>
            <a:custGeom>
              <a:avLst/>
              <a:gdLst/>
              <a:ahLst/>
              <a:cxnLst/>
              <a:rect l="l" t="t" r="r" b="b"/>
              <a:pathLst>
                <a:path w="6489700" h="6985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47700"/>
                  </a:lnTo>
                  <a:lnTo>
                    <a:pt x="3988" y="667483"/>
                  </a:lnTo>
                  <a:lnTo>
                    <a:pt x="14870" y="683629"/>
                  </a:lnTo>
                  <a:lnTo>
                    <a:pt x="31016" y="694511"/>
                  </a:lnTo>
                  <a:lnTo>
                    <a:pt x="50800" y="698500"/>
                  </a:lnTo>
                  <a:lnTo>
                    <a:pt x="6438900" y="698500"/>
                  </a:lnTo>
                  <a:lnTo>
                    <a:pt x="6458683" y="694511"/>
                  </a:lnTo>
                  <a:lnTo>
                    <a:pt x="6474829" y="683629"/>
                  </a:lnTo>
                  <a:lnTo>
                    <a:pt x="6485711" y="667483"/>
                  </a:lnTo>
                  <a:lnTo>
                    <a:pt x="6489700" y="6477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FF8E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0" name="object 50"/>
            <p:cNvSpPr/>
            <p:nvPr/>
          </p:nvSpPr>
          <p:spPr>
            <a:xfrm>
              <a:off x="635000" y="8329800"/>
              <a:ext cx="571500" cy="241300"/>
            </a:xfrm>
            <a:custGeom>
              <a:avLst/>
              <a:gdLst/>
              <a:ahLst/>
              <a:cxnLst/>
              <a:rect l="l" t="t" r="r" b="b"/>
              <a:pathLst>
                <a:path w="571500" h="241300">
                  <a:moveTo>
                    <a:pt x="533400" y="0"/>
                  </a:moveTo>
                  <a:lnTo>
                    <a:pt x="38100" y="0"/>
                  </a:lnTo>
                  <a:lnTo>
                    <a:pt x="23263" y="2992"/>
                  </a:lnTo>
                  <a:lnTo>
                    <a:pt x="11153" y="11153"/>
                  </a:lnTo>
                  <a:lnTo>
                    <a:pt x="2992" y="23263"/>
                  </a:lnTo>
                  <a:lnTo>
                    <a:pt x="0" y="38100"/>
                  </a:lnTo>
                  <a:lnTo>
                    <a:pt x="0" y="203200"/>
                  </a:lnTo>
                  <a:lnTo>
                    <a:pt x="2992" y="218036"/>
                  </a:lnTo>
                  <a:lnTo>
                    <a:pt x="11153" y="230146"/>
                  </a:lnTo>
                  <a:lnTo>
                    <a:pt x="23263" y="238307"/>
                  </a:lnTo>
                  <a:lnTo>
                    <a:pt x="38100" y="241300"/>
                  </a:lnTo>
                  <a:lnTo>
                    <a:pt x="533400" y="241300"/>
                  </a:lnTo>
                  <a:lnTo>
                    <a:pt x="548236" y="238307"/>
                  </a:lnTo>
                  <a:lnTo>
                    <a:pt x="560346" y="230146"/>
                  </a:lnTo>
                  <a:lnTo>
                    <a:pt x="568507" y="218036"/>
                  </a:lnTo>
                  <a:lnTo>
                    <a:pt x="571500" y="203200"/>
                  </a:lnTo>
                  <a:lnTo>
                    <a:pt x="571500" y="38100"/>
                  </a:lnTo>
                  <a:lnTo>
                    <a:pt x="568507" y="23263"/>
                  </a:lnTo>
                  <a:lnTo>
                    <a:pt x="560346" y="11153"/>
                  </a:lnTo>
                  <a:lnTo>
                    <a:pt x="548236" y="2992"/>
                  </a:lnTo>
                  <a:lnTo>
                    <a:pt x="533400" y="0"/>
                  </a:lnTo>
                  <a:close/>
                </a:path>
              </a:pathLst>
            </a:custGeom>
            <a:solidFill>
              <a:srgbClr val="E67D2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1" name="object 51"/>
            <p:cNvSpPr/>
            <p:nvPr/>
          </p:nvSpPr>
          <p:spPr>
            <a:xfrm>
              <a:off x="533400" y="8825100"/>
              <a:ext cx="6489700" cy="698500"/>
            </a:xfrm>
            <a:custGeom>
              <a:avLst/>
              <a:gdLst/>
              <a:ahLst/>
              <a:cxnLst/>
              <a:rect l="l" t="t" r="r" b="b"/>
              <a:pathLst>
                <a:path w="6489700" h="6985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47700"/>
                  </a:lnTo>
                  <a:lnTo>
                    <a:pt x="3988" y="667483"/>
                  </a:lnTo>
                  <a:lnTo>
                    <a:pt x="14870" y="683629"/>
                  </a:lnTo>
                  <a:lnTo>
                    <a:pt x="31016" y="694511"/>
                  </a:lnTo>
                  <a:lnTo>
                    <a:pt x="50800" y="698500"/>
                  </a:lnTo>
                  <a:lnTo>
                    <a:pt x="6438900" y="698500"/>
                  </a:lnTo>
                  <a:lnTo>
                    <a:pt x="6458683" y="694511"/>
                  </a:lnTo>
                  <a:lnTo>
                    <a:pt x="6474829" y="683629"/>
                  </a:lnTo>
                  <a:lnTo>
                    <a:pt x="6485711" y="667483"/>
                  </a:lnTo>
                  <a:lnTo>
                    <a:pt x="6489700" y="6477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FF8E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2" name="object 52"/>
            <p:cNvSpPr/>
            <p:nvPr/>
          </p:nvSpPr>
          <p:spPr>
            <a:xfrm>
              <a:off x="635000" y="9053700"/>
              <a:ext cx="571500" cy="241300"/>
            </a:xfrm>
            <a:custGeom>
              <a:avLst/>
              <a:gdLst/>
              <a:ahLst/>
              <a:cxnLst/>
              <a:rect l="l" t="t" r="r" b="b"/>
              <a:pathLst>
                <a:path w="571500" h="241300">
                  <a:moveTo>
                    <a:pt x="533400" y="0"/>
                  </a:moveTo>
                  <a:lnTo>
                    <a:pt x="38100" y="0"/>
                  </a:lnTo>
                  <a:lnTo>
                    <a:pt x="23263" y="2992"/>
                  </a:lnTo>
                  <a:lnTo>
                    <a:pt x="11153" y="11153"/>
                  </a:lnTo>
                  <a:lnTo>
                    <a:pt x="2992" y="23263"/>
                  </a:lnTo>
                  <a:lnTo>
                    <a:pt x="0" y="38100"/>
                  </a:lnTo>
                  <a:lnTo>
                    <a:pt x="0" y="203200"/>
                  </a:lnTo>
                  <a:lnTo>
                    <a:pt x="2992" y="218036"/>
                  </a:lnTo>
                  <a:lnTo>
                    <a:pt x="11153" y="230146"/>
                  </a:lnTo>
                  <a:lnTo>
                    <a:pt x="23263" y="238307"/>
                  </a:lnTo>
                  <a:lnTo>
                    <a:pt x="38100" y="241300"/>
                  </a:lnTo>
                  <a:lnTo>
                    <a:pt x="533400" y="241300"/>
                  </a:lnTo>
                  <a:lnTo>
                    <a:pt x="548236" y="238307"/>
                  </a:lnTo>
                  <a:lnTo>
                    <a:pt x="560346" y="230146"/>
                  </a:lnTo>
                  <a:lnTo>
                    <a:pt x="568507" y="218036"/>
                  </a:lnTo>
                  <a:lnTo>
                    <a:pt x="571500" y="203200"/>
                  </a:lnTo>
                  <a:lnTo>
                    <a:pt x="571500" y="38100"/>
                  </a:lnTo>
                  <a:lnTo>
                    <a:pt x="568507" y="23263"/>
                  </a:lnTo>
                  <a:lnTo>
                    <a:pt x="560346" y="11153"/>
                  </a:lnTo>
                  <a:lnTo>
                    <a:pt x="548236" y="2992"/>
                  </a:lnTo>
                  <a:lnTo>
                    <a:pt x="533400" y="0"/>
                  </a:lnTo>
                  <a:close/>
                </a:path>
              </a:pathLst>
            </a:custGeom>
            <a:solidFill>
              <a:srgbClr val="E67D2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aphicFrame>
        <p:nvGraphicFramePr>
          <p:cNvPr id="53" name="object 53"/>
          <p:cNvGraphicFramePr>
            <a:graphicFrameLocks noGrp="1"/>
          </p:cNvGraphicFramePr>
          <p:nvPr/>
        </p:nvGraphicFramePr>
        <p:xfrm>
          <a:off x="533400" y="7868790"/>
          <a:ext cx="6457950" cy="1663063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4579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14629">
                <a:tc>
                  <a:txBody>
                    <a:bodyPr/>
                    <a:lstStyle/>
                    <a:p>
                      <a:pPr marR="20320" algn="ctr">
                        <a:lnSpc>
                          <a:spcPct val="100000"/>
                        </a:lnSpc>
                        <a:spcBef>
                          <a:spcPts val="350"/>
                        </a:spcBef>
                      </a:pP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Blocs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optionnels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-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A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aborder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si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le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temps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le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spc="-1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permet</a:t>
                      </a:r>
                      <a:endParaRPr sz="850">
                        <a:latin typeface="Arial"/>
                        <a:cs typeface="Arial"/>
                      </a:endParaRPr>
                    </a:p>
                  </a:txBody>
                  <a:tcPr marL="0" marR="0" marT="44450" marB="0">
                    <a:lnL w="57150">
                      <a:solidFill>
                        <a:srgbClr val="E67D21"/>
                      </a:solidFill>
                      <a:prstDash val="solid"/>
                    </a:lnL>
                    <a:lnR w="9525">
                      <a:solidFill>
                        <a:srgbClr val="E67D21"/>
                      </a:solidFill>
                      <a:prstDash val="solid"/>
                    </a:lnR>
                    <a:lnT w="9525">
                      <a:solidFill>
                        <a:srgbClr val="E67D21"/>
                      </a:solidFill>
                      <a:prstDash val="solid"/>
                    </a:lnT>
                    <a:lnB w="28575">
                      <a:solidFill>
                        <a:srgbClr val="E67D21"/>
                      </a:solidFill>
                      <a:prstDash val="solid"/>
                    </a:lnB>
                    <a:solidFill>
                      <a:srgbClr val="FFF3D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24535">
                <a:tc>
                  <a:txBody>
                    <a:bodyPr/>
                    <a:lstStyle/>
                    <a:p>
                      <a:pPr marL="755650">
                        <a:lnSpc>
                          <a:spcPts val="960"/>
                        </a:lnSpc>
                        <a:spcBef>
                          <a:spcPts val="254"/>
                        </a:spcBef>
                      </a:pP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/>
                      </a:r>
                      <a:endParaRPr sz="85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200"/>
                        </a:lnSpc>
                      </a:pPr>
                      <a:r>
                        <a:rPr sz="1050" b="1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/>
                      </a:r>
                      <a:endParaRPr sz="1050">
                        <a:latin typeface="Arial"/>
                        <a:cs typeface="Arial"/>
                      </a:endParaRPr>
                    </a:p>
                    <a:p>
                      <a:pPr marL="230504">
                        <a:lnSpc>
                          <a:spcPts val="1065"/>
                        </a:lnSpc>
                        <a:spcBef>
                          <a:spcPts val="90"/>
                        </a:spcBef>
                        <a:tabLst>
                          <a:tab pos="755015" algn="l"/>
                        </a:tabLst>
                      </a:pPr>
                      <a:r>
                        <a:rPr sz="1200" b="1" spc="-30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/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050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/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985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/>
                      </a:r>
                      <a:endParaRPr sz="900">
                        <a:latin typeface="Arial"/>
                        <a:cs typeface="Arial"/>
                      </a:endParaRPr>
                    </a:p>
                  </a:txBody>
                  <a:tcPr marL="0" marR="0" marT="32384" marB="0">
                    <a:lnL w="76200">
                      <a:solidFill>
                        <a:srgbClr val="E67D21"/>
                      </a:solidFill>
                      <a:prstDash val="solid"/>
                    </a:lnL>
                    <a:lnR w="6350">
                      <a:solidFill>
                        <a:srgbClr val="EFC799"/>
                      </a:solidFill>
                      <a:prstDash val="solid"/>
                    </a:lnR>
                    <a:lnT w="28575">
                      <a:solidFill>
                        <a:srgbClr val="E67D21"/>
                      </a:solidFill>
                      <a:prstDash val="solid"/>
                    </a:lnT>
                    <a:lnB w="19050">
                      <a:solidFill>
                        <a:srgbClr val="EFC799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11200">
                <a:tc>
                  <a:txBody>
                    <a:bodyPr/>
                    <a:lstStyle/>
                    <a:p>
                      <a:pPr marL="755650">
                        <a:lnSpc>
                          <a:spcPts val="960"/>
                        </a:lnSpc>
                        <a:spcBef>
                          <a:spcPts val="250"/>
                        </a:spcBef>
                      </a:pP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/>
                      </a:r>
                      <a:endParaRPr sz="85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200"/>
                        </a:lnSpc>
                      </a:pPr>
                      <a:r>
                        <a:rPr sz="1050" b="1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/>
                      </a:r>
                      <a:endParaRPr sz="1050">
                        <a:latin typeface="Arial"/>
                        <a:cs typeface="Arial"/>
                      </a:endParaRPr>
                    </a:p>
                    <a:p>
                      <a:pPr marR="3022600" algn="r">
                        <a:lnSpc>
                          <a:spcPts val="1065"/>
                        </a:lnSpc>
                        <a:spcBef>
                          <a:spcPts val="90"/>
                        </a:spcBef>
                        <a:tabLst>
                          <a:tab pos="524510" algn="l"/>
                        </a:tabLst>
                      </a:pPr>
                      <a:r>
                        <a:rPr sz="1200" b="1" spc="-30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/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R="3035300" algn="r">
                        <a:lnSpc>
                          <a:spcPts val="1050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/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885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/>
                      </a:r>
                      <a:endParaRPr sz="900">
                        <a:latin typeface="Arial"/>
                        <a:cs typeface="Arial"/>
                      </a:endParaRPr>
                    </a:p>
                  </a:txBody>
                  <a:tcPr marL="0" marR="0" marT="31750" marB="0">
                    <a:lnL w="76200">
                      <a:solidFill>
                        <a:srgbClr val="E67D21"/>
                      </a:solidFill>
                      <a:prstDash val="solid"/>
                    </a:lnL>
                    <a:lnT w="19050">
                      <a:solidFill>
                        <a:srgbClr val="EFC799"/>
                      </a:solidFill>
                      <a:prstDash val="solid"/>
                    </a:lnT>
                    <a:lnB w="9525">
                      <a:solidFill>
                        <a:srgbClr val="EFC799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pSp>
        <p:nvGrpSpPr>
          <p:cNvPr id="54" name="object 54"/>
          <p:cNvGrpSpPr/>
          <p:nvPr/>
        </p:nvGrpSpPr>
        <p:grpSpPr>
          <a:xfrm>
            <a:off x="528955" y="9569955"/>
            <a:ext cx="6498590" cy="72390"/>
            <a:chOff x="528955" y="9569955"/>
            <a:chExt cx="6498590" cy="72390"/>
          </a:xfrm>
        </p:grpSpPr>
        <p:sp>
          <p:nvSpPr>
            <p:cNvPr id="55" name="object 55"/>
            <p:cNvSpPr/>
            <p:nvPr/>
          </p:nvSpPr>
          <p:spPr>
            <a:xfrm>
              <a:off x="533400" y="9574400"/>
              <a:ext cx="6489700" cy="63500"/>
            </a:xfrm>
            <a:custGeom>
              <a:avLst/>
              <a:gdLst/>
              <a:ahLst/>
              <a:cxnLst/>
              <a:rect l="l" t="t" r="r" b="b"/>
              <a:pathLst>
                <a:path w="6489700" h="63500">
                  <a:moveTo>
                    <a:pt x="0" y="0"/>
                  </a:moveTo>
                  <a:lnTo>
                    <a:pt x="0" y="63500"/>
                  </a:lnTo>
                  <a:lnTo>
                    <a:pt x="4985" y="38769"/>
                  </a:lnTo>
                  <a:lnTo>
                    <a:pt x="9715" y="31750"/>
                  </a:lnTo>
                  <a:lnTo>
                    <a:pt x="4985" y="24730"/>
                  </a:lnTo>
                  <a:lnTo>
                    <a:pt x="0" y="0"/>
                  </a:lnTo>
                  <a:close/>
                </a:path>
                <a:path w="6489700" h="63500">
                  <a:moveTo>
                    <a:pt x="64262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9715" y="31750"/>
                  </a:lnTo>
                  <a:lnTo>
                    <a:pt x="18586" y="44913"/>
                  </a:lnTo>
                  <a:lnTo>
                    <a:pt x="38769" y="58514"/>
                  </a:lnTo>
                  <a:lnTo>
                    <a:pt x="63500" y="63500"/>
                  </a:lnTo>
                  <a:lnTo>
                    <a:pt x="6426200" y="63500"/>
                  </a:lnTo>
                  <a:lnTo>
                    <a:pt x="6450930" y="58514"/>
                  </a:lnTo>
                  <a:lnTo>
                    <a:pt x="6471113" y="44913"/>
                  </a:lnTo>
                  <a:lnTo>
                    <a:pt x="6479984" y="31750"/>
                  </a:lnTo>
                  <a:lnTo>
                    <a:pt x="6471113" y="18586"/>
                  </a:lnTo>
                  <a:lnTo>
                    <a:pt x="6450930" y="4985"/>
                  </a:lnTo>
                  <a:lnTo>
                    <a:pt x="6426200" y="0"/>
                  </a:lnTo>
                  <a:close/>
                </a:path>
                <a:path w="6489700" h="63500">
                  <a:moveTo>
                    <a:pt x="6489700" y="0"/>
                  </a:moveTo>
                  <a:lnTo>
                    <a:pt x="6484714" y="24730"/>
                  </a:lnTo>
                  <a:lnTo>
                    <a:pt x="6479984" y="31750"/>
                  </a:lnTo>
                  <a:lnTo>
                    <a:pt x="6484714" y="38769"/>
                  </a:lnTo>
                  <a:lnTo>
                    <a:pt x="6489700" y="63500"/>
                  </a:lnTo>
                  <a:lnTo>
                    <a:pt x="6489700" y="0"/>
                  </a:lnTo>
                  <a:close/>
                </a:path>
              </a:pathLst>
            </a:custGeom>
            <a:solidFill>
              <a:srgbClr val="FFFCE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6" name="object 56"/>
            <p:cNvSpPr/>
            <p:nvPr/>
          </p:nvSpPr>
          <p:spPr>
            <a:xfrm>
              <a:off x="533400" y="9574400"/>
              <a:ext cx="6489700" cy="63500"/>
            </a:xfrm>
            <a:custGeom>
              <a:avLst/>
              <a:gdLst/>
              <a:ahLst/>
              <a:cxnLst/>
              <a:rect l="l" t="t" r="r" b="b"/>
              <a:pathLst>
                <a:path w="6489700" h="63500">
                  <a:moveTo>
                    <a:pt x="63500" y="63500"/>
                  </a:moveTo>
                  <a:lnTo>
                    <a:pt x="6426200" y="63500"/>
                  </a:lnTo>
                  <a:lnTo>
                    <a:pt x="6450930" y="58514"/>
                  </a:lnTo>
                  <a:lnTo>
                    <a:pt x="6471113" y="44913"/>
                  </a:lnTo>
                  <a:lnTo>
                    <a:pt x="6484714" y="24730"/>
                  </a:lnTo>
                  <a:lnTo>
                    <a:pt x="6489700" y="0"/>
                  </a:lnTo>
                  <a:lnTo>
                    <a:pt x="6489700" y="63500"/>
                  </a:lnTo>
                  <a:lnTo>
                    <a:pt x="6484714" y="38769"/>
                  </a:lnTo>
                  <a:lnTo>
                    <a:pt x="6471113" y="18586"/>
                  </a:lnTo>
                  <a:lnTo>
                    <a:pt x="6450930" y="4985"/>
                  </a:lnTo>
                  <a:lnTo>
                    <a:pt x="64262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0"/>
                  </a:lnTo>
                  <a:lnTo>
                    <a:pt x="4985" y="24730"/>
                  </a:lnTo>
                  <a:lnTo>
                    <a:pt x="18586" y="44913"/>
                  </a:lnTo>
                  <a:lnTo>
                    <a:pt x="38769" y="58514"/>
                  </a:lnTo>
                  <a:lnTo>
                    <a:pt x="63500" y="63500"/>
                  </a:lnTo>
                  <a:close/>
                </a:path>
              </a:pathLst>
            </a:custGeom>
            <a:ln w="8890">
              <a:solidFill>
                <a:srgbClr val="F8A824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7" name="object 57"/>
          <p:cNvSpPr txBox="1"/>
          <p:nvPr/>
        </p:nvSpPr>
        <p:spPr>
          <a:xfrm>
            <a:off x="609600" y="9571577"/>
            <a:ext cx="4641850" cy="826135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50800">
              <a:lnSpc>
                <a:spcPct val="100000"/>
              </a:lnSpc>
              <a:spcBef>
                <a:spcPts val="320"/>
              </a:spcBef>
            </a:pP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Conseils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pour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une</a:t>
            </a:r>
            <a:r>
              <a:rPr sz="1000" b="1" spc="-10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bonne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spc="-10" dirty="0">
                <a:solidFill>
                  <a:srgbClr val="5D4037"/>
                </a:solidFill>
                <a:latin typeface="Arial"/>
                <a:cs typeface="Arial"/>
              </a:rPr>
              <a:t>animation</a:t>
            </a:r>
            <a:endParaRPr sz="10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20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Adapter le rythme selon le niveau du groupe.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Laisser les participants manipuler dès que possible.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Prévoir un compte de démonstration pour ne pas exposer de données personnelles.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Terminer en distribuant la fiche mémo — c'est le support qu'ils garderont.</a:t>
            </a:r>
            <a:endParaRPr sz="900">
              <a:latin typeface="Arial"/>
              <a:cs typeface="Arial"/>
            </a:endParaRPr>
          </a:p>
        </p:txBody>
      </p:sp>
      <p:pic>
        <p:nvPicPr>
          <p:cNvPr id="58" name="object 58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46820" y="314131"/>
            <a:ext cx="3224784" cy="606551"/>
          </a:xfrm>
          <a:prstGeom prst="rect">
            <a:avLst/>
          </a:prstGeom>
        </p:spPr>
      </p:pic>
    </p:spTree>
  </p:cSld>
  <p:clrMapOvr>
    <a:masterClrMapping/>
  </p:clrMapOvr>
  <p:transition>
    <p:cut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15</TotalTime>
  <Words>392</Words>
  <Application>Microsoft Office PowerPoint</Application>
  <PresentationFormat>Personnalisé</PresentationFormat>
  <Paragraphs>63</Paragraphs>
  <Slides>1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2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Présentation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untitled</dc:title>
  <dc:subject>unspecified</dc:subject>
  <dc:creator>anonymous</dc:creator>
  <cp:lastModifiedBy>Aswad Michel</cp:lastModifiedBy>
  <cp:revision>1</cp:revision>
  <dcterms:created xsi:type="dcterms:W3CDTF">2026-05-05T14:40:57Z</dcterms:created>
  <dcterms:modified xsi:type="dcterms:W3CDTF">2026-06-17T13:09:11Z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2026-05-05T00:00:00Z</vt:filetime>
  </property>
  <property fmtid="{D5CDD505-2E9C-101B-9397-08002B2CF9AE}" pid="3" name="Creator">
    <vt:lpwstr>anonymous</vt:lpwstr>
  </property>
  <property fmtid="{D5CDD505-2E9C-101B-9397-08002B2CF9AE}" pid="4" name="LastSaved">
    <vt:filetime>2026-05-05T00:00:00Z</vt:filetime>
  </property>
  <property fmtid="{D5CDD505-2E9C-101B-9397-08002B2CF9AE}" pid="5" name="Producer">
    <vt:lpwstr>ReportLab PDF Library - (opensource)</vt:lpwstr>
  </property>
</Properties>
</file>