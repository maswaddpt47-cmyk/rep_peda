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63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9200" y="1224000"/>
            <a:ext cx="6498000" cy="468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4388BC"/>
                </a:solidFill>
                <a:latin typeface="Arial"/>
              </a:rPr>
              <a:t>Doctolib &amp; Téléconsultation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6E6E6D"/>
                </a:solidFill>
                <a:latin typeface="Arial"/>
              </a:rPr>
              <a:t>Fiche Action | 1h17 | Guide d'animation — Conseillers Numériques CD47</a:t>
            </a:r>
          </a:p>
        </p:txBody>
      </p:sp>
      <p:sp>
        <p:nvSpPr>
          <p:cNvPr id="3" name="Rectangle 2"/>
          <p:cNvSpPr/>
          <p:nvPr/>
        </p:nvSpPr>
        <p:spPr>
          <a:xfrm>
            <a:off x="529200" y="1764000"/>
            <a:ext cx="3024000" cy="900000"/>
          </a:xfrm>
          <a:prstGeom prst="rect">
            <a:avLst/>
          </a:prstGeom>
          <a:solidFill>
            <a:srgbClr val="ECF5FF"/>
          </a:solidFill>
          <a:ln w="12700">
            <a:solidFill>
              <a:srgbClr val="438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19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4388BC"/>
                </a:solidFill>
                <a:latin typeface="Arial"/>
              </a:rPr>
              <a:t>Objectifs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1 — La plateforme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Pourquoi l'utiliser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Sécurité &amp; confiance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Chapitre 2 — Naviguer sur le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3200" y="1764000"/>
            <a:ext cx="3024000" cy="900000"/>
          </a:xfrm>
          <a:prstGeom prst="rect">
            <a:avLst/>
          </a:prstGeom>
          <a:solidFill>
            <a:srgbClr val="EBF7F6"/>
          </a:solidFill>
          <a:ln w="12700">
            <a:solidFill>
              <a:srgbClr val="187C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093200" y="1818000"/>
            <a:ext cx="2880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187C88"/>
                </a:solidFill>
                <a:latin typeface="Arial"/>
              </a:rPr>
              <a:t>Matériel nécessaire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1 PC ou tablette par participant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Connexion Wi-Fi stable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Grand écran / vidéoprojecteur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Fiches mémo (1 par participant)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2736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2736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3031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2800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4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Au programme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nous allons découvrir ensemble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3484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34848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3780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3549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1 — La plateforme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Doctolib, c'est quoi exactement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4233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42336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3200" y="4528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3200" y="4298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Pourquoi l'utiliser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Les avantages concrets pour vous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49824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29200" y="49824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200" y="52776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3200" y="50472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Sécurité &amp; confiance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Vos données de santé sont-elles en sécurité 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9200" y="57312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529200" y="57312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63200" y="60263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3200" y="57960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2 — Naviguer sur le site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Créer votre compte Doctolib pas à pas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9200" y="648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29200" y="64800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63200" y="677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3200" y="654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Trouver un professionnel de santé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Chercher et choisir son médecin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9200" y="72287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29200" y="7228799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63200" y="75239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03200" y="72935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Prendre rendez-vous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De la recherche à la confirmation en 4 clics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9200" y="79775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529200" y="7977599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63200" y="82727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3200" y="80423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3 — La téléconsultation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Consulter un médecin depuis votre canapé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9200" y="8726399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29200" y="8726399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63200" y="9021599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0:44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03200" y="8791199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Comment ça se passe concrètement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Déroulé d'une téléconsultation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9200" y="5400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29200" y="540000"/>
            <a:ext cx="198000" cy="7488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solidFill>
            <a:srgbClr val="438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3200" y="8352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0:52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3200" y="6048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4388BC"/>
                </a:solidFill>
                <a:latin typeface="Arial"/>
              </a:rPr>
              <a:t>8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Remboursement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Est-ce que c'est remboursé par la Sécurité sociale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529200" y="12888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29200" y="1288800"/>
            <a:ext cx="198000" cy="7488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solidFill>
            <a:srgbClr val="187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200" y="15840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3200" y="13536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187C88"/>
                </a:solidFill>
                <a:latin typeface="Arial"/>
              </a:rPr>
              <a:t>12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Bonnes pratiques numériques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Comment adopter un usage éco-conscient de Doctolib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9200" y="2037600"/>
            <a:ext cx="6498000" cy="748800"/>
          </a:xfrm>
          <a:prstGeom prst="rect">
            <a:avLst/>
          </a:prstGeom>
          <a:solidFill>
            <a:srgbClr val="F8F9FD"/>
          </a:solidFill>
          <a:ln w="6350">
            <a:solidFill>
              <a:srgbClr val="DD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29200" y="2037600"/>
            <a:ext cx="198000" cy="7488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solidFill>
            <a:srgbClr val="5EB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3200" y="2332800"/>
            <a:ext cx="468000" cy="1584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1:12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3200" y="2102400"/>
            <a:ext cx="5652000" cy="6552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5EB3D2"/>
                </a:solidFill>
                <a:latin typeface="Arial"/>
              </a:rPr>
              <a:t>5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Questions fréquentes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Ce que vous nous demandez le plus souvent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9200" y="2876400"/>
            <a:ext cx="6498000" cy="1897199"/>
          </a:xfrm>
          <a:prstGeom prst="rect">
            <a:avLst/>
          </a:prstGeom>
          <a:solidFill>
            <a:srgbClr val="FFF8EF"/>
          </a:solidFill>
          <a:ln w="19050">
            <a:solidFill>
              <a:srgbClr val="E67D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29200" y="2876400"/>
            <a:ext cx="6498000" cy="198000"/>
          </a:xfrm>
          <a:prstGeom prst="rect">
            <a:avLst/>
          </a:prstGeom>
          <a:solidFill>
            <a:srgbClr val="E67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1200" y="2905200"/>
            <a:ext cx="6354000" cy="1620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Blocs optionnels — À aborder si le temps le permet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9200" y="3074400"/>
            <a:ext cx="6498000" cy="14400"/>
          </a:xfrm>
          <a:prstGeom prst="rect">
            <a:avLst/>
          </a:prstGeom>
          <a:solidFill>
            <a:srgbClr val="E67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7200" y="3117600"/>
            <a:ext cx="6300000" cy="766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E67D21"/>
                </a:solidFill>
                <a:latin typeface="Arial"/>
              </a:rPr>
              <a:t>2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Chapitre 4 — Numérique responsable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E67D21"/>
                </a:solidFill>
                <a:latin typeface="Arial"/>
              </a:rPr>
              <a:t>OPT.  </a:t>
            </a:r>
            <a:r>
              <a:rPr sz="800">
                <a:solidFill>
                  <a:srgbClr val="2B2B2B"/>
                </a:solidFill>
                <a:latin typeface="Arial"/>
              </a:rPr>
              <a:t>. Quel est l'impact environnemental du numérique médical 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Le numérique n'est pas neutre pour la planète. Un data center, une connexion internet, un smartphone — tout cela consomme de l'énergie. Mais comparé aux déplacements en voiture qu'il évite, le bilan peut être très favorable.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Un trajet évité = gros gain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9200" y="3906000"/>
            <a:ext cx="6498000" cy="14400"/>
          </a:xfrm>
          <a:prstGeom prst="rect">
            <a:avLst/>
          </a:prstGeom>
          <a:solidFill>
            <a:srgbClr val="E67D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37200" y="3949200"/>
            <a:ext cx="6300000" cy="766800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1" i="0">
                <a:solidFill>
                  <a:srgbClr val="E67D21"/>
                </a:solidFill>
                <a:latin typeface="Arial"/>
              </a:rPr>
              <a:t>5 min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2B2B2B"/>
                </a:solidFill>
                <a:latin typeface="Arial"/>
              </a:rPr>
              <a:t>Pour aller plus loin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E67D21"/>
                </a:solidFill>
                <a:latin typeface="Arial"/>
              </a:rPr>
              <a:t>OPT.  </a:t>
            </a:r>
            <a:r>
              <a:rPr sz="800">
                <a:solidFill>
                  <a:srgbClr val="2B2B2B"/>
                </a:solidFill>
                <a:latin typeface="Arial"/>
              </a:rPr>
              <a:t>. Ce que vous pouvez faire dès aujourd'hui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Vous avez maintenant toutes les clés pour utiliser Doctolib sereinement. Voici comment passer à l'action dès la fin de cet atelier 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00" b="0" i="0">
                <a:solidFill>
                  <a:srgbClr val="2B2B2B"/>
                </a:solidFill>
                <a:latin typeface="Arial"/>
              </a:rPr>
              <a:t>. 1. Créez votre compte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9200" y="9684000"/>
            <a:ext cx="6498000" cy="43200"/>
          </a:xfrm>
          <a:prstGeom prst="rect">
            <a:avLst/>
          </a:prstGeom>
          <a:solidFill>
            <a:srgbClr val="F8A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19200" y="9748800"/>
            <a:ext cx="6354000" cy="827999"/>
          </a:xfrm>
          <a:prstGeom prst="rect">
            <a:avLst/>
          </a:prstGeom>
          <a:noFill/>
        </p:spPr>
        <p:txBody>
          <a:bodyPr wrap="square" tIns="0" bIns="0" lIns="18000" rIns="180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 i="0">
                <a:solidFill>
                  <a:srgbClr val="2B2B2B"/>
                </a:solidFill>
                <a:latin typeface="Arial"/>
              </a:rPr>
              <a:t>Conseils pour une bonne animation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Adapter le rythme selon le niveau du groupe.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Laisser les participants manipuler dès que possible.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Prévoir un compte de démonstration pour ne pas exposer de données personnelles.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B2B2B"/>
                </a:solidFill>
                <a:latin typeface="Arial"/>
              </a:rPr>
              <a:t>&gt; Terminer en distribuant la fiche mémo — c'est le support qu'ils garderont.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