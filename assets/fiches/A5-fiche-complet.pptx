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Lst>
  <p:sldSz cx="7556399" cy="10692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bg>
      <p:bgPr>
        <a:blipFill>
          <a:blip r:embed="rId2"/>
          <a:stretch>
            <a:fillRect/>
          </a:stretch>
        </a:blipFill>
        <a:effectLst/>
      </p:bgPr>
    </p:bg>
    <p:spTree>
      <p:nvGrpSpPr>
        <p:cNvPr id="1" name=""/>
        <p:cNvGrpSpPr/>
        <p:nvPr/>
      </p:nvGrpSpPr>
      <p:grpSpPr/>
      <p:sp>
        <p:nvSpPr>
          <p:cNvPr id="2" name="TextBox 1"/>
          <p:cNvSpPr txBox="1"/>
          <p:nvPr/>
        </p:nvSpPr>
        <p:spPr>
          <a:xfrm>
            <a:off x="529200" y="1224000"/>
            <a:ext cx="6498000" cy="468000"/>
          </a:xfrm>
          <a:prstGeom prst="rect">
            <a:avLst/>
          </a:prstGeom>
          <a:noFill/>
        </p:spPr>
        <p:txBody>
          <a:bodyPr wrap="square" tIns="0" bIns="0" lIns="18000" rIns="18000">
            <a:spAutoFit/>
          </a:bodyPr>
          <a:lstStyle/>
          <a:p>
            <a:pPr algn="ctr">
              <a:spcBef>
                <a:spcPts val="0"/>
              </a:spcBef>
              <a:spcAft>
                <a:spcPts val="100"/>
              </a:spcAft>
            </a:pPr>
            <a:r>
              <a:rPr sz="1700" b="1" i="0">
                <a:solidFill>
                  <a:srgbClr val="4388BC"/>
                </a:solidFill>
                <a:latin typeface="Arial"/>
              </a:rPr>
              <a:t>Naviguer sur Internet</a:t>
            </a:r>
          </a:p>
          <a:p>
            <a:pPr algn="ctr">
              <a:spcBef>
                <a:spcPts val="0"/>
              </a:spcBef>
              <a:spcAft>
                <a:spcPts val="100"/>
              </a:spcAft>
            </a:pPr>
            <a:r>
              <a:rPr sz="800" b="0" i="0">
                <a:solidFill>
                  <a:srgbClr val="6E6E6D"/>
                </a:solidFill>
                <a:latin typeface="Arial"/>
              </a:rPr>
              <a:t>Fiche Action | 1h42 | Guide d'animation — Conseillers Numériques CD47</a:t>
            </a:r>
          </a:p>
        </p:txBody>
      </p:sp>
      <p:sp>
        <p:nvSpPr>
          <p:cNvPr id="3" name="Rectangle 2"/>
          <p:cNvSpPr/>
          <p:nvPr/>
        </p:nvSpPr>
        <p:spPr>
          <a:xfrm>
            <a:off x="529200" y="1764000"/>
            <a:ext cx="3024000" cy="900000"/>
          </a:xfrm>
          <a:prstGeom prst="rect">
            <a:avLst/>
          </a:prstGeom>
          <a:solidFill>
            <a:srgbClr val="ECF5FF"/>
          </a:solidFill>
          <a:ln w="12700">
            <a:solidFill>
              <a:srgbClr val="4388BC"/>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619200" y="1818000"/>
            <a:ext cx="2880000" cy="827999"/>
          </a:xfrm>
          <a:prstGeom prst="rect">
            <a:avLst/>
          </a:prstGeom>
          <a:noFill/>
        </p:spPr>
        <p:txBody>
          <a:bodyPr wrap="square" tIns="0" bIns="0" lIns="18000" rIns="18000">
            <a:spAutoFit/>
          </a:bodyPr>
          <a:lstStyle/>
          <a:p>
            <a:pPr algn="l">
              <a:spcBef>
                <a:spcPts val="0"/>
              </a:spcBef>
              <a:spcAft>
                <a:spcPts val="100"/>
              </a:spcAft>
            </a:pPr>
            <a:r>
              <a:rPr sz="950" b="1" i="0">
                <a:solidFill>
                  <a:srgbClr val="4388BC"/>
                </a:solidFill>
                <a:latin typeface="Arial"/>
              </a:rPr>
              <a:t>Objectifs</a:t>
            </a:r>
          </a:p>
          <a:p>
            <a:pPr algn="l">
              <a:spcBef>
                <a:spcPts val="0"/>
              </a:spcBef>
              <a:spcAft>
                <a:spcPts val="100"/>
              </a:spcAft>
            </a:pPr>
            <a:r>
              <a:rPr sz="850" b="0" i="0">
                <a:solidFill>
                  <a:srgbClr val="2B2B2B"/>
                </a:solidFill>
                <a:latin typeface="Arial"/>
              </a:rPr>
              <a:t>&gt; Qu'est-ce qu'Internet ?</a:t>
            </a:r>
          </a:p>
          <a:p>
            <a:pPr algn="l">
              <a:spcBef>
                <a:spcPts val="0"/>
              </a:spcBef>
              <a:spcAft>
                <a:spcPts val="100"/>
              </a:spcAft>
            </a:pPr>
            <a:r>
              <a:rPr sz="850" b="0" i="0">
                <a:solidFill>
                  <a:srgbClr val="2B2B2B"/>
                </a:solidFill>
                <a:latin typeface="Arial"/>
              </a:rPr>
              <a:t>&gt; Se connecter au Wi-Fi — Mode d'emploi</a:t>
            </a:r>
          </a:p>
          <a:p>
            <a:pPr algn="l">
              <a:spcBef>
                <a:spcPts val="0"/>
              </a:spcBef>
              <a:spcAft>
                <a:spcPts val="100"/>
              </a:spcAft>
            </a:pPr>
            <a:r>
              <a:rPr sz="850" b="0" i="0">
                <a:solidFill>
                  <a:srgbClr val="2B2B2B"/>
                </a:solidFill>
                <a:latin typeface="Arial"/>
              </a:rPr>
              <a:t>&gt; Le navigateur web : votre porte d'entrée</a:t>
            </a:r>
          </a:p>
          <a:p>
            <a:pPr algn="l">
              <a:spcBef>
                <a:spcPts val="0"/>
              </a:spcBef>
              <a:spcAft>
                <a:spcPts val="100"/>
              </a:spcAft>
            </a:pPr>
            <a:r>
              <a:rPr sz="850" b="0" i="0">
                <a:solidFill>
                  <a:srgbClr val="2B2B2B"/>
                </a:solidFill>
                <a:latin typeface="Arial"/>
              </a:rPr>
              <a:t>&gt; Anatomie d'une page web</a:t>
            </a:r>
          </a:p>
        </p:txBody>
      </p:sp>
      <p:sp>
        <p:nvSpPr>
          <p:cNvPr id="5" name="Rectangle 4"/>
          <p:cNvSpPr/>
          <p:nvPr/>
        </p:nvSpPr>
        <p:spPr>
          <a:xfrm>
            <a:off x="4003200" y="1764000"/>
            <a:ext cx="3024000" cy="900000"/>
          </a:xfrm>
          <a:prstGeom prst="rect">
            <a:avLst/>
          </a:prstGeom>
          <a:solidFill>
            <a:srgbClr val="EBF7F6"/>
          </a:solidFill>
          <a:ln w="12700">
            <a:solidFill>
              <a:srgbClr val="187C88"/>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4093200" y="1818000"/>
            <a:ext cx="2880000" cy="827999"/>
          </a:xfrm>
          <a:prstGeom prst="rect">
            <a:avLst/>
          </a:prstGeom>
          <a:noFill/>
        </p:spPr>
        <p:txBody>
          <a:bodyPr wrap="square" tIns="0" bIns="0" lIns="18000" rIns="18000">
            <a:spAutoFit/>
          </a:bodyPr>
          <a:lstStyle/>
          <a:p>
            <a:pPr algn="l">
              <a:spcBef>
                <a:spcPts val="0"/>
              </a:spcBef>
              <a:spcAft>
                <a:spcPts val="100"/>
              </a:spcAft>
            </a:pPr>
            <a:r>
              <a:rPr sz="950" b="1" i="0">
                <a:solidFill>
                  <a:srgbClr val="187C88"/>
                </a:solidFill>
                <a:latin typeface="Arial"/>
              </a:rPr>
              <a:t>Matériel nécessaire</a:t>
            </a:r>
          </a:p>
          <a:p>
            <a:pPr algn="l">
              <a:spcBef>
                <a:spcPts val="0"/>
              </a:spcBef>
              <a:spcAft>
                <a:spcPts val="100"/>
              </a:spcAft>
            </a:pPr>
            <a:r>
              <a:rPr sz="850" b="0" i="0">
                <a:solidFill>
                  <a:srgbClr val="2B2B2B"/>
                </a:solidFill>
                <a:latin typeface="Arial"/>
              </a:rPr>
              <a:t>&gt; 1 PC ou tablette par participant</a:t>
            </a:r>
          </a:p>
          <a:p>
            <a:pPr algn="l">
              <a:spcBef>
                <a:spcPts val="0"/>
              </a:spcBef>
              <a:spcAft>
                <a:spcPts val="100"/>
              </a:spcAft>
            </a:pPr>
            <a:r>
              <a:rPr sz="850" b="0" i="0">
                <a:solidFill>
                  <a:srgbClr val="2B2B2B"/>
                </a:solidFill>
                <a:latin typeface="Arial"/>
              </a:rPr>
              <a:t>&gt; Connexion Wi-Fi stable</a:t>
            </a:r>
          </a:p>
          <a:p>
            <a:pPr algn="l">
              <a:spcBef>
                <a:spcPts val="0"/>
              </a:spcBef>
              <a:spcAft>
                <a:spcPts val="100"/>
              </a:spcAft>
            </a:pPr>
            <a:r>
              <a:rPr sz="850" b="0" i="0">
                <a:solidFill>
                  <a:srgbClr val="2B2B2B"/>
                </a:solidFill>
                <a:latin typeface="Arial"/>
              </a:rPr>
              <a:t>&gt; Grand écran / vidéoprojecteur</a:t>
            </a:r>
          </a:p>
          <a:p>
            <a:pPr algn="l">
              <a:spcBef>
                <a:spcPts val="0"/>
              </a:spcBef>
              <a:spcAft>
                <a:spcPts val="100"/>
              </a:spcAft>
            </a:pPr>
            <a:r>
              <a:rPr sz="850" b="0" i="0">
                <a:solidFill>
                  <a:srgbClr val="2B2B2B"/>
                </a:solidFill>
                <a:latin typeface="Arial"/>
              </a:rPr>
              <a:t>&gt; Fiches mémo (1 par participant)</a:t>
            </a:r>
          </a:p>
        </p:txBody>
      </p:sp>
      <p:sp>
        <p:nvSpPr>
          <p:cNvPr id="7" name="Rectangle 6"/>
          <p:cNvSpPr/>
          <p:nvPr/>
        </p:nvSpPr>
        <p:spPr>
          <a:xfrm>
            <a:off x="529200" y="2736000"/>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29200" y="2736000"/>
            <a:ext cx="198000" cy="748800"/>
          </a:xfrm>
          <a:prstGeom prst="rect">
            <a:avLst/>
          </a:prstGeom>
          <a:solidFill>
            <a:srgbClr val="5EB3D2"/>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63200" y="3031200"/>
            <a:ext cx="468000" cy="158400"/>
          </a:xfrm>
          <a:prstGeom prst="rect">
            <a:avLst/>
          </a:prstGeom>
          <a:solidFill>
            <a:srgbClr val="5EB3D2"/>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763200" y="3031200"/>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0:02</a:t>
            </a:r>
          </a:p>
        </p:txBody>
      </p:sp>
      <p:sp>
        <p:nvSpPr>
          <p:cNvPr id="11" name="TextBox 10"/>
          <p:cNvSpPr txBox="1"/>
          <p:nvPr/>
        </p:nvSpPr>
        <p:spPr>
          <a:xfrm>
            <a:off x="1303200" y="2800800"/>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5EB3D2"/>
                </a:solidFill>
                <a:latin typeface="Arial"/>
              </a:rPr>
              <a:t>4 min</a:t>
            </a:r>
          </a:p>
          <a:p>
            <a:pPr algn="l">
              <a:spcBef>
                <a:spcPts val="0"/>
              </a:spcBef>
              <a:spcAft>
                <a:spcPts val="100"/>
              </a:spcAft>
            </a:pPr>
            <a:r>
              <a:rPr sz="900" b="1" i="0">
                <a:solidFill>
                  <a:srgbClr val="2B2B2B"/>
                </a:solidFill>
                <a:latin typeface="Arial"/>
              </a:rPr>
              <a:t>Au programme aujourd'hui</a:t>
            </a:r>
          </a:p>
          <a:p>
            <a:pPr algn="l">
              <a:spcBef>
                <a:spcPts val="0"/>
              </a:spcBef>
              <a:spcAft>
                <a:spcPts val="100"/>
              </a:spcAft>
            </a:pPr>
            <a:r>
              <a:rPr sz="800" b="0" i="0">
                <a:solidFill>
                  <a:srgbClr val="2B2B2B"/>
                </a:solidFill>
                <a:latin typeface="Arial"/>
              </a:rPr>
              <a:t>. Voici les grandes étapes que nous allons explorer ensemble durant cet atelier :</a:t>
            </a:r>
          </a:p>
        </p:txBody>
      </p:sp>
      <p:sp>
        <p:nvSpPr>
          <p:cNvPr id="12" name="Rectangle 11"/>
          <p:cNvSpPr/>
          <p:nvPr/>
        </p:nvSpPr>
        <p:spPr>
          <a:xfrm>
            <a:off x="529200" y="3484800"/>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529200" y="3484800"/>
            <a:ext cx="198000" cy="7488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763200" y="3780000"/>
            <a:ext cx="468000" cy="1584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763200" y="3780000"/>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0:06</a:t>
            </a:r>
          </a:p>
        </p:txBody>
      </p:sp>
      <p:sp>
        <p:nvSpPr>
          <p:cNvPr id="16" name="TextBox 15"/>
          <p:cNvSpPr txBox="1"/>
          <p:nvPr/>
        </p:nvSpPr>
        <p:spPr>
          <a:xfrm>
            <a:off x="1303200" y="3549600"/>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4388BC"/>
                </a:solidFill>
                <a:latin typeface="Arial"/>
              </a:rPr>
              <a:t>8 min</a:t>
            </a:r>
          </a:p>
          <a:p>
            <a:pPr algn="l">
              <a:spcBef>
                <a:spcPts val="0"/>
              </a:spcBef>
              <a:spcAft>
                <a:spcPts val="100"/>
              </a:spcAft>
            </a:pPr>
            <a:r>
              <a:rPr sz="900" b="1" i="0">
                <a:solidFill>
                  <a:srgbClr val="2B2B2B"/>
                </a:solidFill>
                <a:latin typeface="Arial"/>
              </a:rPr>
              <a:t>Qu'est-ce qu'Internet ?</a:t>
            </a:r>
          </a:p>
          <a:p>
            <a:pPr algn="l">
              <a:spcBef>
                <a:spcPts val="0"/>
              </a:spcBef>
              <a:spcAft>
                <a:spcPts val="100"/>
              </a:spcAft>
            </a:pPr>
            <a:r>
              <a:rPr sz="800" b="0" i="0">
                <a:solidFill>
                  <a:srgbClr val="2B2B2B"/>
                </a:solidFill>
                <a:latin typeface="Arial"/>
              </a:rPr>
              <a:t>. Internet, c'est un immense réseau mondial d'ordinateurs, de téléphones et d'appareils connectés entre eux, qui échangent des informations en permanence. On peut l'imaginer comme une gigantesque toile d'araignée planétaire.</a:t>
            </a:r>
          </a:p>
        </p:txBody>
      </p:sp>
      <p:sp>
        <p:nvSpPr>
          <p:cNvPr id="17" name="Rectangle 16"/>
          <p:cNvSpPr/>
          <p:nvPr/>
        </p:nvSpPr>
        <p:spPr>
          <a:xfrm>
            <a:off x="529200" y="4233600"/>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529200" y="4233600"/>
            <a:ext cx="198000" cy="748800"/>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763200" y="4528800"/>
            <a:ext cx="468000" cy="158400"/>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763200" y="4528800"/>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0:14</a:t>
            </a:r>
          </a:p>
        </p:txBody>
      </p:sp>
      <p:sp>
        <p:nvSpPr>
          <p:cNvPr id="21" name="TextBox 20"/>
          <p:cNvSpPr txBox="1"/>
          <p:nvPr/>
        </p:nvSpPr>
        <p:spPr>
          <a:xfrm>
            <a:off x="1303200" y="4298400"/>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187C88"/>
                </a:solidFill>
                <a:latin typeface="Arial"/>
              </a:rPr>
              <a:t>8 min</a:t>
            </a:r>
          </a:p>
          <a:p>
            <a:pPr algn="l">
              <a:spcBef>
                <a:spcPts val="0"/>
              </a:spcBef>
              <a:spcAft>
                <a:spcPts val="100"/>
              </a:spcAft>
            </a:pPr>
            <a:r>
              <a:rPr sz="900" b="1" i="0">
                <a:solidFill>
                  <a:srgbClr val="2B2B2B"/>
                </a:solidFill>
                <a:latin typeface="Arial"/>
              </a:rPr>
              <a:t>Se connecter au Wi-Fi — Mode d'emploi</a:t>
            </a:r>
          </a:p>
          <a:p>
            <a:pPr algn="l">
              <a:spcBef>
                <a:spcPts val="0"/>
              </a:spcBef>
              <a:spcAft>
                <a:spcPts val="100"/>
              </a:spcAft>
            </a:pPr>
            <a:r>
              <a:rPr sz="800" b="0" i="0">
                <a:solidFill>
                  <a:srgbClr val="2B2B2B"/>
                </a:solidFill>
                <a:latin typeface="Arial"/>
              </a:rPr>
              <a:t>. Ouvrir Réglages</a:t>
            </a:r>
          </a:p>
        </p:txBody>
      </p:sp>
      <p:sp>
        <p:nvSpPr>
          <p:cNvPr id="22" name="Rectangle 21"/>
          <p:cNvSpPr/>
          <p:nvPr/>
        </p:nvSpPr>
        <p:spPr>
          <a:xfrm>
            <a:off x="529200" y="4982400"/>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529200" y="4982400"/>
            <a:ext cx="198000" cy="7488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763200" y="5277600"/>
            <a:ext cx="468000" cy="1584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763200" y="5277600"/>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0:22</a:t>
            </a:r>
          </a:p>
        </p:txBody>
      </p:sp>
      <p:sp>
        <p:nvSpPr>
          <p:cNvPr id="26" name="TextBox 25"/>
          <p:cNvSpPr txBox="1"/>
          <p:nvPr/>
        </p:nvSpPr>
        <p:spPr>
          <a:xfrm>
            <a:off x="1303200" y="5047200"/>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4388BC"/>
                </a:solidFill>
                <a:latin typeface="Arial"/>
              </a:rPr>
              <a:t>8 min</a:t>
            </a:r>
          </a:p>
          <a:p>
            <a:pPr algn="l">
              <a:spcBef>
                <a:spcPts val="0"/>
              </a:spcBef>
              <a:spcAft>
                <a:spcPts val="100"/>
              </a:spcAft>
            </a:pPr>
            <a:r>
              <a:rPr sz="900" b="1" i="0">
                <a:solidFill>
                  <a:srgbClr val="2B2B2B"/>
                </a:solidFill>
                <a:latin typeface="Arial"/>
              </a:rPr>
              <a:t>Le navigateur web : votre porte d'entrée</a:t>
            </a:r>
          </a:p>
          <a:p>
            <a:pPr algn="l">
              <a:spcBef>
                <a:spcPts val="0"/>
              </a:spcBef>
              <a:spcAft>
                <a:spcPts val="100"/>
              </a:spcAft>
            </a:pPr>
            <a:r>
              <a:rPr sz="800" b="0" i="0">
                <a:solidFill>
                  <a:srgbClr val="2B2B2B"/>
                </a:solidFill>
                <a:latin typeface="Arial"/>
              </a:rPr>
              <a:t>. Un navigateur web, c'est le programme que vous utilisez pour afficher des pages Internet. C'est lui qui "traduit" les données du réseau en images, textes et vidéos lisibles à l'écran.</a:t>
            </a:r>
          </a:p>
        </p:txBody>
      </p:sp>
      <p:sp>
        <p:nvSpPr>
          <p:cNvPr id="27" name="Rectangle 26"/>
          <p:cNvSpPr/>
          <p:nvPr/>
        </p:nvSpPr>
        <p:spPr>
          <a:xfrm>
            <a:off x="529200" y="5731200"/>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529200" y="5731200"/>
            <a:ext cx="198000" cy="748800"/>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763200" y="6026399"/>
            <a:ext cx="468000" cy="158400"/>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763200" y="6026399"/>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0:30</a:t>
            </a:r>
          </a:p>
        </p:txBody>
      </p:sp>
      <p:sp>
        <p:nvSpPr>
          <p:cNvPr id="31" name="TextBox 30"/>
          <p:cNvSpPr txBox="1"/>
          <p:nvPr/>
        </p:nvSpPr>
        <p:spPr>
          <a:xfrm>
            <a:off x="1303200" y="5796000"/>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187C88"/>
                </a:solidFill>
                <a:latin typeface="Arial"/>
              </a:rPr>
              <a:t>8 min</a:t>
            </a:r>
          </a:p>
          <a:p>
            <a:pPr algn="l">
              <a:spcBef>
                <a:spcPts val="0"/>
              </a:spcBef>
              <a:spcAft>
                <a:spcPts val="100"/>
              </a:spcAft>
            </a:pPr>
            <a:r>
              <a:rPr sz="900" b="1" i="0">
                <a:solidFill>
                  <a:srgbClr val="2B2B2B"/>
                </a:solidFill>
                <a:latin typeface="Arial"/>
              </a:rPr>
              <a:t>Anatomie d'une page web</a:t>
            </a:r>
          </a:p>
          <a:p>
            <a:pPr algn="l">
              <a:spcBef>
                <a:spcPts val="0"/>
              </a:spcBef>
              <a:spcAft>
                <a:spcPts val="100"/>
              </a:spcAft>
            </a:pPr>
            <a:r>
              <a:rPr sz="800" b="0" i="0">
                <a:solidFill>
                  <a:srgbClr val="2B2B2B"/>
                </a:solidFill>
                <a:latin typeface="Arial"/>
              </a:rPr>
              <a:t>. Quand vous ouvrez votre navigateur, voici les éléments essentiels à connaître pour vous repérer :</a:t>
            </a:r>
          </a:p>
        </p:txBody>
      </p:sp>
      <p:sp>
        <p:nvSpPr>
          <p:cNvPr id="32" name="Rectangle 31"/>
          <p:cNvSpPr/>
          <p:nvPr/>
        </p:nvSpPr>
        <p:spPr>
          <a:xfrm>
            <a:off x="529200" y="6480000"/>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529200" y="6480000"/>
            <a:ext cx="198000" cy="748800"/>
          </a:xfrm>
          <a:prstGeom prst="rect">
            <a:avLst/>
          </a:prstGeom>
          <a:solidFill>
            <a:srgbClr val="5EB3D2"/>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Rectangle 33"/>
          <p:cNvSpPr/>
          <p:nvPr/>
        </p:nvSpPr>
        <p:spPr>
          <a:xfrm>
            <a:off x="763200" y="6775200"/>
            <a:ext cx="468000" cy="158400"/>
          </a:xfrm>
          <a:prstGeom prst="rect">
            <a:avLst/>
          </a:prstGeom>
          <a:solidFill>
            <a:srgbClr val="5EB3D2"/>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763200" y="6775200"/>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0:38</a:t>
            </a:r>
          </a:p>
        </p:txBody>
      </p:sp>
      <p:sp>
        <p:nvSpPr>
          <p:cNvPr id="36" name="TextBox 35"/>
          <p:cNvSpPr txBox="1"/>
          <p:nvPr/>
        </p:nvSpPr>
        <p:spPr>
          <a:xfrm>
            <a:off x="1303200" y="6544800"/>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5EB3D2"/>
                </a:solidFill>
                <a:latin typeface="Arial"/>
              </a:rPr>
              <a:t>8 min</a:t>
            </a:r>
          </a:p>
          <a:p>
            <a:pPr algn="l">
              <a:spcBef>
                <a:spcPts val="0"/>
              </a:spcBef>
              <a:spcAft>
                <a:spcPts val="100"/>
              </a:spcAft>
            </a:pPr>
            <a:r>
              <a:rPr sz="900" b="1" i="0">
                <a:solidFill>
                  <a:srgbClr val="2B2B2B"/>
                </a:solidFill>
                <a:latin typeface="Arial"/>
              </a:rPr>
              <a:t>Les moteurs de recherche : comment ça marche ?</a:t>
            </a:r>
          </a:p>
          <a:p>
            <a:pPr algn="l">
              <a:spcBef>
                <a:spcPts val="0"/>
              </a:spcBef>
              <a:spcAft>
                <a:spcPts val="100"/>
              </a:spcAft>
            </a:pPr>
            <a:r>
              <a:rPr sz="800" b="0" i="0">
                <a:solidFill>
                  <a:srgbClr val="2B2B2B"/>
                </a:solidFill>
                <a:latin typeface="Arial"/>
              </a:rPr>
              <a:t>. Un moteur de recherche est un service en ligne qui explore et indexe des milliards de pages web pour vous retourner les résultats les plus pertinents selon vos mots-clés.</a:t>
            </a:r>
          </a:p>
        </p:txBody>
      </p:sp>
      <p:sp>
        <p:nvSpPr>
          <p:cNvPr id="37" name="Rectangle 36"/>
          <p:cNvSpPr/>
          <p:nvPr/>
        </p:nvSpPr>
        <p:spPr>
          <a:xfrm>
            <a:off x="529200" y="7228799"/>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Rectangle 37"/>
          <p:cNvSpPr/>
          <p:nvPr/>
        </p:nvSpPr>
        <p:spPr>
          <a:xfrm>
            <a:off x="529200" y="7228799"/>
            <a:ext cx="198000" cy="748800"/>
          </a:xfrm>
          <a:prstGeom prst="rect">
            <a:avLst/>
          </a:prstGeom>
          <a:solidFill>
            <a:srgbClr val="5EB3D2"/>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Rectangle 38"/>
          <p:cNvSpPr/>
          <p:nvPr/>
        </p:nvSpPr>
        <p:spPr>
          <a:xfrm>
            <a:off x="763200" y="7523999"/>
            <a:ext cx="468000" cy="158400"/>
          </a:xfrm>
          <a:prstGeom prst="rect">
            <a:avLst/>
          </a:prstGeom>
          <a:solidFill>
            <a:srgbClr val="5EB3D2"/>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763200" y="7523999"/>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0:46</a:t>
            </a:r>
          </a:p>
        </p:txBody>
      </p:sp>
      <p:sp>
        <p:nvSpPr>
          <p:cNvPr id="41" name="TextBox 40"/>
          <p:cNvSpPr txBox="1"/>
          <p:nvPr/>
        </p:nvSpPr>
        <p:spPr>
          <a:xfrm>
            <a:off x="1303200" y="7293599"/>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5EB3D2"/>
                </a:solidFill>
                <a:latin typeface="Arial"/>
              </a:rPr>
              <a:t>8 min</a:t>
            </a:r>
          </a:p>
          <a:p>
            <a:pPr algn="l">
              <a:spcBef>
                <a:spcPts val="0"/>
              </a:spcBef>
              <a:spcAft>
                <a:spcPts val="100"/>
              </a:spcAft>
            </a:pPr>
            <a:r>
              <a:rPr sz="900" b="1" i="0">
                <a:solidFill>
                  <a:srgbClr val="2B2B2B"/>
                </a:solidFill>
                <a:latin typeface="Arial"/>
              </a:rPr>
              <a:t>Bien formuler sa recherche</a:t>
            </a:r>
          </a:p>
          <a:p>
            <a:pPr algn="l">
              <a:spcBef>
                <a:spcPts val="0"/>
              </a:spcBef>
              <a:spcAft>
                <a:spcPts val="100"/>
              </a:spcAft>
            </a:pPr>
            <a:r>
              <a:rPr sz="800" b="0" i="0">
                <a:solidFill>
                  <a:srgbClr val="2B2B2B"/>
                </a:solidFill>
                <a:latin typeface="Arial"/>
              </a:rPr>
              <a:t>. La qualité de vos résultats dépend directement des mots que vous tapez. Quelques astuces simples pour mieux chercher :</a:t>
            </a:r>
          </a:p>
        </p:txBody>
      </p:sp>
      <p:sp>
        <p:nvSpPr>
          <p:cNvPr id="42" name="Rectangle 41"/>
          <p:cNvSpPr/>
          <p:nvPr/>
        </p:nvSpPr>
        <p:spPr>
          <a:xfrm>
            <a:off x="529200" y="7977599"/>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Rectangle 42"/>
          <p:cNvSpPr/>
          <p:nvPr/>
        </p:nvSpPr>
        <p:spPr>
          <a:xfrm>
            <a:off x="529200" y="7977599"/>
            <a:ext cx="198000" cy="7488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Rectangle 43"/>
          <p:cNvSpPr/>
          <p:nvPr/>
        </p:nvSpPr>
        <p:spPr>
          <a:xfrm>
            <a:off x="763200" y="8272799"/>
            <a:ext cx="468000" cy="1584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763200" y="8272799"/>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0:54</a:t>
            </a:r>
          </a:p>
        </p:txBody>
      </p:sp>
      <p:sp>
        <p:nvSpPr>
          <p:cNvPr id="46" name="TextBox 45"/>
          <p:cNvSpPr txBox="1"/>
          <p:nvPr/>
        </p:nvSpPr>
        <p:spPr>
          <a:xfrm>
            <a:off x="1303200" y="8042399"/>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4388BC"/>
                </a:solidFill>
                <a:latin typeface="Arial"/>
              </a:rPr>
              <a:t>8 min</a:t>
            </a:r>
          </a:p>
          <a:p>
            <a:pPr algn="l">
              <a:spcBef>
                <a:spcPts val="0"/>
              </a:spcBef>
              <a:spcAft>
                <a:spcPts val="100"/>
              </a:spcAft>
            </a:pPr>
            <a:r>
              <a:rPr sz="900" b="1" i="0">
                <a:solidFill>
                  <a:srgbClr val="2B2B2B"/>
                </a:solidFill>
                <a:latin typeface="Arial"/>
              </a:rPr>
              <a:t>Comprendre une adresse web (URL)</a:t>
            </a:r>
          </a:p>
          <a:p>
            <a:pPr algn="l">
              <a:spcBef>
                <a:spcPts val="0"/>
              </a:spcBef>
              <a:spcAft>
                <a:spcPts val="100"/>
              </a:spcAft>
            </a:pPr>
            <a:r>
              <a:rPr sz="800" b="0" i="0">
                <a:solidFill>
                  <a:srgbClr val="2B2B2B"/>
                </a:solidFill>
                <a:latin typeface="Arial"/>
              </a:rPr>
              <a:t>. Une adresse web, ou URL (Uniform Resource Locator), c'est comme l'adresse postale d'une page sur Internet. Elle est unique et permet à votre navigateur de trouver exactement ce que vous cherchez.</a:t>
            </a:r>
          </a:p>
        </p:txBody>
      </p:sp>
      <p:sp>
        <p:nvSpPr>
          <p:cNvPr id="47" name="Rectangle 46"/>
          <p:cNvSpPr/>
          <p:nvPr/>
        </p:nvSpPr>
        <p:spPr>
          <a:xfrm>
            <a:off x="529200" y="8726399"/>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Rectangle 47"/>
          <p:cNvSpPr/>
          <p:nvPr/>
        </p:nvSpPr>
        <p:spPr>
          <a:xfrm>
            <a:off x="529200" y="8726399"/>
            <a:ext cx="198000" cy="748800"/>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Rectangle 48"/>
          <p:cNvSpPr/>
          <p:nvPr/>
        </p:nvSpPr>
        <p:spPr>
          <a:xfrm>
            <a:off x="763200" y="9021599"/>
            <a:ext cx="468000" cy="158400"/>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Box 49"/>
          <p:cNvSpPr txBox="1"/>
          <p:nvPr/>
        </p:nvSpPr>
        <p:spPr>
          <a:xfrm>
            <a:off x="763200" y="9021599"/>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1:02</a:t>
            </a:r>
          </a:p>
        </p:txBody>
      </p:sp>
      <p:sp>
        <p:nvSpPr>
          <p:cNvPr id="51" name="TextBox 50"/>
          <p:cNvSpPr txBox="1"/>
          <p:nvPr/>
        </p:nvSpPr>
        <p:spPr>
          <a:xfrm>
            <a:off x="1303200" y="8791199"/>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187C88"/>
                </a:solidFill>
                <a:latin typeface="Arial"/>
              </a:rPr>
              <a:t>8 min</a:t>
            </a:r>
          </a:p>
          <a:p>
            <a:pPr algn="l">
              <a:spcBef>
                <a:spcPts val="0"/>
              </a:spcBef>
              <a:spcAft>
                <a:spcPts val="100"/>
              </a:spcAft>
            </a:pPr>
            <a:r>
              <a:rPr sz="900" b="1" i="0">
                <a:solidFill>
                  <a:srgbClr val="2B2B2B"/>
                </a:solidFill>
                <a:latin typeface="Arial"/>
              </a:rPr>
              <a:t>Reconnaître un site fiable</a:t>
            </a:r>
          </a:p>
          <a:p>
            <a:pPr algn="l">
              <a:spcBef>
                <a:spcPts val="0"/>
              </a:spcBef>
              <a:spcAft>
                <a:spcPts val="100"/>
              </a:spcAft>
            </a:pPr>
            <a:r>
              <a:rPr sz="800" b="0" i="0">
                <a:solidFill>
                  <a:srgbClr val="2B2B2B"/>
                </a:solidFill>
                <a:latin typeface="Arial"/>
              </a:rPr>
              <a:t>. Sur Internet, il est essentiel de savoir distinguer un site digne de confiance d'un site potentiellement douteux. Voici les points clés à vérifier pour naviguer en toute sérénité :</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blipFill>
          <a:blip r:embed="rId2"/>
          <a:stretch>
            <a:fillRect/>
          </a:stretch>
        </a:blipFill>
        <a:effectLst/>
      </p:bgPr>
    </p:bg>
    <p:spTree>
      <p:nvGrpSpPr>
        <p:cNvPr id="1" name=""/>
        <p:cNvGrpSpPr/>
        <p:nvPr/>
      </p:nvGrpSpPr>
      <p:grpSpPr/>
      <p:sp>
        <p:nvSpPr>
          <p:cNvPr id="2" name="Rectangle 1"/>
          <p:cNvSpPr/>
          <p:nvPr/>
        </p:nvSpPr>
        <p:spPr>
          <a:xfrm>
            <a:off x="529200" y="540000"/>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529200" y="540000"/>
            <a:ext cx="198000" cy="7488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763200" y="835200"/>
            <a:ext cx="468000" cy="1584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763200" y="835200"/>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1:10</a:t>
            </a:r>
          </a:p>
        </p:txBody>
      </p:sp>
      <p:sp>
        <p:nvSpPr>
          <p:cNvPr id="6" name="TextBox 5"/>
          <p:cNvSpPr txBox="1"/>
          <p:nvPr/>
        </p:nvSpPr>
        <p:spPr>
          <a:xfrm>
            <a:off x="1303200" y="604800"/>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4388BC"/>
                </a:solidFill>
                <a:latin typeface="Arial"/>
              </a:rPr>
              <a:t>8 min</a:t>
            </a:r>
          </a:p>
          <a:p>
            <a:pPr algn="l">
              <a:spcBef>
                <a:spcPts val="0"/>
              </a:spcBef>
              <a:spcAft>
                <a:spcPts val="100"/>
              </a:spcAft>
            </a:pPr>
            <a:r>
              <a:rPr sz="900" b="1" i="0">
                <a:solidFill>
                  <a:srgbClr val="2B2B2B"/>
                </a:solidFill>
                <a:latin typeface="Arial"/>
              </a:rPr>
              <a:t>Attention aux arnaques en ligne (phishing)</a:t>
            </a:r>
          </a:p>
          <a:p>
            <a:pPr algn="l">
              <a:spcBef>
                <a:spcPts val="0"/>
              </a:spcBef>
              <a:spcAft>
                <a:spcPts val="100"/>
              </a:spcAft>
            </a:pPr>
            <a:r>
              <a:rPr sz="800" b="0" i="0">
                <a:solidFill>
                  <a:srgbClr val="2B2B2B"/>
                </a:solidFill>
                <a:latin typeface="Arial"/>
              </a:rPr>
              <a:t>. Le "phishing" (ou hameçonnage) est une technique frauduleuse très courante. Des escrocs se font passer pour une entité de confiance (banque, administration, opérateur téléphonique, etc.) pour vous soutirer des informations personnelles comme vos mots de passe ou numéros de carte bancaire. Ils utilisent généralement de faux emails, SMS ou de faux sites web très réalistes.</a:t>
            </a:r>
          </a:p>
        </p:txBody>
      </p:sp>
      <p:sp>
        <p:nvSpPr>
          <p:cNvPr id="7" name="Rectangle 6"/>
          <p:cNvSpPr/>
          <p:nvPr/>
        </p:nvSpPr>
        <p:spPr>
          <a:xfrm>
            <a:off x="529200" y="1288800"/>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29200" y="1288800"/>
            <a:ext cx="198000" cy="748800"/>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63200" y="1584000"/>
            <a:ext cx="468000" cy="158400"/>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763200" y="1584000"/>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1:18</a:t>
            </a:r>
          </a:p>
        </p:txBody>
      </p:sp>
      <p:sp>
        <p:nvSpPr>
          <p:cNvPr id="11" name="TextBox 10"/>
          <p:cNvSpPr txBox="1"/>
          <p:nvPr/>
        </p:nvSpPr>
        <p:spPr>
          <a:xfrm>
            <a:off x="1303200" y="1353600"/>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187C88"/>
                </a:solidFill>
                <a:latin typeface="Arial"/>
              </a:rPr>
              <a:t>8 min</a:t>
            </a:r>
          </a:p>
          <a:p>
            <a:pPr algn="l">
              <a:spcBef>
                <a:spcPts val="0"/>
              </a:spcBef>
              <a:spcAft>
                <a:spcPts val="100"/>
              </a:spcAft>
            </a:pPr>
            <a:r>
              <a:rPr sz="900" b="1" i="0">
                <a:solidFill>
                  <a:srgbClr val="2B2B2B"/>
                </a:solidFill>
                <a:latin typeface="Arial"/>
              </a:rPr>
              <a:t>Créer un mot de passe solide</a:t>
            </a:r>
          </a:p>
          <a:p>
            <a:pPr algn="l">
              <a:spcBef>
                <a:spcPts val="0"/>
              </a:spcBef>
              <a:spcAft>
                <a:spcPts val="100"/>
              </a:spcAft>
            </a:pPr>
            <a:r>
              <a:rPr sz="800" b="0" i="0">
                <a:solidFill>
                  <a:srgbClr val="2B2B2B"/>
                </a:solidFill>
                <a:latin typeface="Arial"/>
              </a:rPr>
              <a:t>. Un mot de passe fort est votre première ligne de défense contre les cyberattaques. Apprenez à en créer un qui protège efficacement vos données personnelles.</a:t>
            </a:r>
          </a:p>
        </p:txBody>
      </p:sp>
      <p:sp>
        <p:nvSpPr>
          <p:cNvPr id="12" name="Rectangle 11"/>
          <p:cNvSpPr/>
          <p:nvPr/>
        </p:nvSpPr>
        <p:spPr>
          <a:xfrm>
            <a:off x="529200" y="2037600"/>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529200" y="2037600"/>
            <a:ext cx="198000" cy="748800"/>
          </a:xfrm>
          <a:prstGeom prst="rect">
            <a:avLst/>
          </a:prstGeom>
          <a:solidFill>
            <a:srgbClr val="5EB3D2"/>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763200" y="2332800"/>
            <a:ext cx="468000" cy="158400"/>
          </a:xfrm>
          <a:prstGeom prst="rect">
            <a:avLst/>
          </a:prstGeom>
          <a:solidFill>
            <a:srgbClr val="5EB3D2"/>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763200" y="2332800"/>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1:26</a:t>
            </a:r>
          </a:p>
        </p:txBody>
      </p:sp>
      <p:sp>
        <p:nvSpPr>
          <p:cNvPr id="16" name="TextBox 15"/>
          <p:cNvSpPr txBox="1"/>
          <p:nvPr/>
        </p:nvSpPr>
        <p:spPr>
          <a:xfrm>
            <a:off x="1303200" y="2102400"/>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5EB3D2"/>
                </a:solidFill>
                <a:latin typeface="Arial"/>
              </a:rPr>
              <a:t>8 min</a:t>
            </a:r>
          </a:p>
          <a:p>
            <a:pPr algn="l">
              <a:spcBef>
                <a:spcPts val="0"/>
              </a:spcBef>
              <a:spcAft>
                <a:spcPts val="100"/>
              </a:spcAft>
            </a:pPr>
            <a:r>
              <a:rPr sz="900" b="1" i="0">
                <a:solidFill>
                  <a:srgbClr val="2B2B2B"/>
                </a:solidFill>
                <a:latin typeface="Arial"/>
              </a:rPr>
              <a:t>Les cookies et votre vie privée</a:t>
            </a:r>
          </a:p>
          <a:p>
            <a:pPr algn="l">
              <a:spcBef>
                <a:spcPts val="0"/>
              </a:spcBef>
              <a:spcAft>
                <a:spcPts val="100"/>
              </a:spcAft>
            </a:pPr>
            <a:r>
              <a:rPr sz="800" b="0" i="0">
                <a:solidFill>
                  <a:srgbClr val="2B2B2B"/>
                </a:solidFill>
                <a:latin typeface="Arial"/>
              </a:rPr>
              <a:t>. Les cookies sont de minuscules fichiers que les sites web stockent sur votre ordinateur ou smartphone. Ils servent à "se souvenir" de vous et de vos préférences pour améliorer votre expérience de navigation. C'est grâce à eux qu'un site peut, par exemple, garder les articles dans votre panier ou retenir la langue que vous avez choisie.</a:t>
            </a:r>
          </a:p>
        </p:txBody>
      </p:sp>
      <p:sp>
        <p:nvSpPr>
          <p:cNvPr id="17" name="Rectangle 16"/>
          <p:cNvSpPr/>
          <p:nvPr/>
        </p:nvSpPr>
        <p:spPr>
          <a:xfrm>
            <a:off x="529200" y="2786400"/>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529200" y="2786400"/>
            <a:ext cx="198000" cy="748800"/>
          </a:xfrm>
          <a:prstGeom prst="rect">
            <a:avLst/>
          </a:prstGeom>
          <a:solidFill>
            <a:srgbClr val="5EB3D2"/>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763200" y="3081600"/>
            <a:ext cx="468000" cy="158400"/>
          </a:xfrm>
          <a:prstGeom prst="rect">
            <a:avLst/>
          </a:prstGeom>
          <a:solidFill>
            <a:srgbClr val="5EB3D2"/>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763200" y="3081600"/>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1:34</a:t>
            </a:r>
          </a:p>
        </p:txBody>
      </p:sp>
      <p:sp>
        <p:nvSpPr>
          <p:cNvPr id="21" name="TextBox 20"/>
          <p:cNvSpPr txBox="1"/>
          <p:nvPr/>
        </p:nvSpPr>
        <p:spPr>
          <a:xfrm>
            <a:off x="1303200" y="2851200"/>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5EB3D2"/>
                </a:solidFill>
                <a:latin typeface="Arial"/>
              </a:rPr>
              <a:t>8 min</a:t>
            </a:r>
          </a:p>
          <a:p>
            <a:pPr algn="l">
              <a:spcBef>
                <a:spcPts val="0"/>
              </a:spcBef>
              <a:spcAft>
                <a:spcPts val="100"/>
              </a:spcAft>
            </a:pPr>
            <a:r>
              <a:rPr sz="900" b="1" i="0">
                <a:solidFill>
                  <a:srgbClr val="2B2B2B"/>
                </a:solidFill>
                <a:latin typeface="Arial"/>
              </a:rPr>
              <a:t>Les services publics en ligne</a:t>
            </a:r>
          </a:p>
          <a:p>
            <a:pPr algn="l">
              <a:spcBef>
                <a:spcPts val="0"/>
              </a:spcBef>
              <a:spcAft>
                <a:spcPts val="100"/>
              </a:spcAft>
            </a:pPr>
            <a:r>
              <a:rPr sz="800" b="0" i="0">
                <a:solidFill>
                  <a:srgbClr val="2B2B2B"/>
                </a:solidFill>
                <a:latin typeface="Arial"/>
              </a:rPr>
              <a:t>. En France, de nombreux services publics sont accessibles en ligne, simplifiant vos démarches quotidiennes. Il est essentiel de connaître les sites officiels pour éviter les fraudes et accéder aux informations fiables.</a:t>
            </a:r>
          </a:p>
        </p:txBody>
      </p:sp>
      <p:sp>
        <p:nvSpPr>
          <p:cNvPr id="22" name="Rectangle 21"/>
          <p:cNvSpPr/>
          <p:nvPr/>
        </p:nvSpPr>
        <p:spPr>
          <a:xfrm>
            <a:off x="529200" y="9684000"/>
            <a:ext cx="6498000" cy="43200"/>
          </a:xfrm>
          <a:prstGeom prst="rect">
            <a:avLst/>
          </a:prstGeom>
          <a:solidFill>
            <a:srgbClr val="F8A824"/>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19200" y="9748800"/>
            <a:ext cx="6354000" cy="827999"/>
          </a:xfrm>
          <a:prstGeom prst="rect">
            <a:avLst/>
          </a:prstGeom>
          <a:noFill/>
        </p:spPr>
        <p:txBody>
          <a:bodyPr wrap="square" tIns="0" bIns="0" lIns="18000" rIns="18000">
            <a:spAutoFit/>
          </a:bodyPr>
          <a:lstStyle/>
          <a:p>
            <a:pPr algn="l">
              <a:spcBef>
                <a:spcPts val="0"/>
              </a:spcBef>
              <a:spcAft>
                <a:spcPts val="100"/>
              </a:spcAft>
            </a:pPr>
            <a:r>
              <a:rPr sz="950" b="1" i="0">
                <a:solidFill>
                  <a:srgbClr val="2B2B2B"/>
                </a:solidFill>
                <a:latin typeface="Arial"/>
              </a:rPr>
              <a:t>Conseils pour une bonne animation</a:t>
            </a:r>
          </a:p>
          <a:p>
            <a:pPr algn="l">
              <a:spcBef>
                <a:spcPts val="0"/>
              </a:spcBef>
              <a:spcAft>
                <a:spcPts val="100"/>
              </a:spcAft>
            </a:pPr>
            <a:r>
              <a:rPr sz="850" b="0" i="0">
                <a:solidFill>
                  <a:srgbClr val="2B2B2B"/>
                </a:solidFill>
                <a:latin typeface="Arial"/>
              </a:rPr>
              <a:t>&gt; Adapter le rythme selon le niveau du groupe.</a:t>
            </a:r>
          </a:p>
          <a:p>
            <a:pPr algn="l">
              <a:spcBef>
                <a:spcPts val="0"/>
              </a:spcBef>
              <a:spcAft>
                <a:spcPts val="100"/>
              </a:spcAft>
            </a:pPr>
            <a:r>
              <a:rPr sz="850" b="0" i="0">
                <a:solidFill>
                  <a:srgbClr val="2B2B2B"/>
                </a:solidFill>
                <a:latin typeface="Arial"/>
              </a:rPr>
              <a:t>&gt; Laisser les participants manipuler dès que possible.</a:t>
            </a:r>
          </a:p>
          <a:p>
            <a:pPr algn="l">
              <a:spcBef>
                <a:spcPts val="0"/>
              </a:spcBef>
              <a:spcAft>
                <a:spcPts val="100"/>
              </a:spcAft>
            </a:pPr>
            <a:r>
              <a:rPr sz="850" b="0" i="0">
                <a:solidFill>
                  <a:srgbClr val="2B2B2B"/>
                </a:solidFill>
                <a:latin typeface="Arial"/>
              </a:rPr>
              <a:t>&gt; Prévoir un compte de démonstration pour ne pas exposer de données personnelles.</a:t>
            </a:r>
          </a:p>
          <a:p>
            <a:pPr algn="l">
              <a:spcBef>
                <a:spcPts val="0"/>
              </a:spcBef>
              <a:spcAft>
                <a:spcPts val="100"/>
              </a:spcAft>
            </a:pPr>
            <a:r>
              <a:rPr sz="850" b="0" i="0">
                <a:solidFill>
                  <a:srgbClr val="2B2B2B"/>
                </a:solidFill>
                <a:latin typeface="Arial"/>
              </a:rPr>
              <a:t>&gt; Terminer en distribuant la fiche mémo — c'est le support qu'ils garderont.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