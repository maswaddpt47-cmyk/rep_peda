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bg-p1.png"/>
          <p:cNvPicPr>
            <a:picLocks noChangeAspect="1"/>
          </p:cNvPicPr>
          <p:nvPr/>
        </p:nvPicPr>
        <p:blipFill>
          <a:blip r:embed="rId2">
            <a:alphaModFix amt="80000"/>
          </a:blip>
          <a:stretch>
            <a:fillRect/>
          </a:stretch>
        </p:blipFill>
        <p:spPr>
          <a:xfrm>
            <a:off x="0" y="0"/>
            <a:ext cx="7556399" cy="10692000"/>
          </a:xfrm>
          <a:prstGeom prst="rect">
            <a:avLst/>
          </a:prstGeom>
        </p:spPr>
      </p:pic>
      <p:sp>
        <p:nvSpPr>
          <p:cNvPr id="3" name="TextBox 2"/>
          <p:cNvSpPr txBox="1"/>
          <p:nvPr/>
        </p:nvSpPr>
        <p:spPr>
          <a:xfrm>
            <a:off x="529200" y="1224000"/>
            <a:ext cx="6498000" cy="468000"/>
          </a:xfrm>
          <a:prstGeom prst="rect">
            <a:avLst/>
          </a:prstGeom>
          <a:noFill/>
        </p:spPr>
        <p:txBody>
          <a:bodyPr wrap="square" tIns="0" bIns="0" lIns="18000" rIns="18000">
            <a:spAutoFit/>
          </a:bodyPr>
          <a:lstStyle/>
          <a:p>
            <a:pPr algn="ctr">
              <a:spcBef>
                <a:spcPts val="0"/>
              </a:spcBef>
              <a:spcAft>
                <a:spcPts val="100"/>
              </a:spcAft>
            </a:pPr>
            <a:r>
              <a:rPr sz="1700" b="1" i="0">
                <a:solidFill>
                  <a:srgbClr val="4388BC"/>
                </a:solidFill>
                <a:latin typeface="Arial"/>
              </a:rPr>
              <a:t>Naviguer sur Internet</a:t>
            </a:r>
          </a:p>
          <a:p>
            <a:pPr algn="ctr">
              <a:spcBef>
                <a:spcPts val="0"/>
              </a:spcBef>
              <a:spcAft>
                <a:spcPts val="100"/>
              </a:spcAft>
            </a:pPr>
            <a:r>
              <a:rPr sz="800" b="0" i="0">
                <a:solidFill>
                  <a:srgbClr val="6E6E6D"/>
                </a:solidFill>
                <a:latin typeface="Arial"/>
              </a:rPr>
              <a:t>Fiche Action | 1h42 | Guide d'animation — Conseillers Numériques CD47</a:t>
            </a:r>
          </a:p>
        </p:txBody>
      </p:sp>
      <p:sp>
        <p:nvSpPr>
          <p:cNvPr id="4" name="Rectangle 3"/>
          <p:cNvSpPr/>
          <p:nvPr/>
        </p:nvSpPr>
        <p:spPr>
          <a:xfrm>
            <a:off x="529200" y="1764000"/>
            <a:ext cx="3024000" cy="900000"/>
          </a:xfrm>
          <a:prstGeom prst="rect">
            <a:avLst/>
          </a:prstGeom>
          <a:solidFill>
            <a:srgbClr val="ECF5FF"/>
          </a:solidFill>
          <a:ln w="1270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19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4388BC"/>
                </a:solidFill>
                <a:latin typeface="Arial"/>
              </a:rPr>
              <a:t>Objectifs</a:t>
            </a:r>
          </a:p>
          <a:p>
            <a:pPr algn="l">
              <a:spcBef>
                <a:spcPts val="0"/>
              </a:spcBef>
              <a:spcAft>
                <a:spcPts val="100"/>
              </a:spcAft>
            </a:pPr>
            <a:r>
              <a:rPr sz="850" b="0" i="0">
                <a:solidFill>
                  <a:srgbClr val="2B2B2B"/>
                </a:solidFill>
                <a:latin typeface="Arial"/>
              </a:rPr>
              <a:t>&gt; Qu'est-ce qu'Internet ?</a:t>
            </a:r>
          </a:p>
          <a:p>
            <a:pPr algn="l">
              <a:spcBef>
                <a:spcPts val="0"/>
              </a:spcBef>
              <a:spcAft>
                <a:spcPts val="100"/>
              </a:spcAft>
            </a:pPr>
            <a:r>
              <a:rPr sz="850" b="0" i="0">
                <a:solidFill>
                  <a:srgbClr val="2B2B2B"/>
                </a:solidFill>
                <a:latin typeface="Arial"/>
              </a:rPr>
              <a:t>&gt; Se connecter au Wi-Fi — Mode d'emploi</a:t>
            </a:r>
          </a:p>
          <a:p>
            <a:pPr algn="l">
              <a:spcBef>
                <a:spcPts val="0"/>
              </a:spcBef>
              <a:spcAft>
                <a:spcPts val="100"/>
              </a:spcAft>
            </a:pPr>
            <a:r>
              <a:rPr sz="850" b="0" i="0">
                <a:solidFill>
                  <a:srgbClr val="2B2B2B"/>
                </a:solidFill>
                <a:latin typeface="Arial"/>
              </a:rPr>
              <a:t>&gt; Le navigateur web : votre porte d'entrée</a:t>
            </a:r>
          </a:p>
          <a:p>
            <a:pPr algn="l">
              <a:spcBef>
                <a:spcPts val="0"/>
              </a:spcBef>
              <a:spcAft>
                <a:spcPts val="100"/>
              </a:spcAft>
            </a:pPr>
            <a:r>
              <a:rPr sz="850" b="0" i="0">
                <a:solidFill>
                  <a:srgbClr val="2B2B2B"/>
                </a:solidFill>
                <a:latin typeface="Arial"/>
              </a:rPr>
              <a:t>&gt; Anatomie d'une page web</a:t>
            </a:r>
          </a:p>
        </p:txBody>
      </p:sp>
      <p:sp>
        <p:nvSpPr>
          <p:cNvPr id="6" name="Rectangle 5"/>
          <p:cNvSpPr/>
          <p:nvPr/>
        </p:nvSpPr>
        <p:spPr>
          <a:xfrm>
            <a:off x="4003200" y="1764000"/>
            <a:ext cx="3024000" cy="900000"/>
          </a:xfrm>
          <a:prstGeom prst="rect">
            <a:avLst/>
          </a:prstGeom>
          <a:solidFill>
            <a:srgbClr val="EBF7F6"/>
          </a:solidFill>
          <a:ln w="12700">
            <a:solidFill>
              <a:srgbClr val="187C88"/>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093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187C88"/>
                </a:solidFill>
                <a:latin typeface="Arial"/>
              </a:rPr>
              <a:t>Matériel nécessaire</a:t>
            </a:r>
          </a:p>
          <a:p>
            <a:pPr algn="l">
              <a:spcBef>
                <a:spcPts val="0"/>
              </a:spcBef>
              <a:spcAft>
                <a:spcPts val="100"/>
              </a:spcAft>
            </a:pPr>
            <a:r>
              <a:rPr sz="850" b="0" i="0">
                <a:solidFill>
                  <a:srgbClr val="2B2B2B"/>
                </a:solidFill>
                <a:latin typeface="Arial"/>
              </a:rPr>
              <a:t>&gt; 1 PC ou tablette par participant</a:t>
            </a:r>
          </a:p>
          <a:p>
            <a:pPr algn="l">
              <a:spcBef>
                <a:spcPts val="0"/>
              </a:spcBef>
              <a:spcAft>
                <a:spcPts val="100"/>
              </a:spcAft>
            </a:pPr>
            <a:r>
              <a:rPr sz="850" b="0" i="0">
                <a:solidFill>
                  <a:srgbClr val="2B2B2B"/>
                </a:solidFill>
                <a:latin typeface="Arial"/>
              </a:rPr>
              <a:t>&gt; Connexion Wi-Fi stable</a:t>
            </a:r>
          </a:p>
          <a:p>
            <a:pPr algn="l">
              <a:spcBef>
                <a:spcPts val="0"/>
              </a:spcBef>
              <a:spcAft>
                <a:spcPts val="100"/>
              </a:spcAft>
            </a:pPr>
            <a:r>
              <a:rPr sz="850" b="0" i="0">
                <a:solidFill>
                  <a:srgbClr val="2B2B2B"/>
                </a:solidFill>
                <a:latin typeface="Arial"/>
              </a:rPr>
              <a:t>&gt; Grand écran / vidéoprojecteur</a:t>
            </a:r>
          </a:p>
          <a:p>
            <a:pPr algn="l">
              <a:spcBef>
                <a:spcPts val="0"/>
              </a:spcBef>
              <a:spcAft>
                <a:spcPts val="100"/>
              </a:spcAft>
            </a:pPr>
            <a:r>
              <a:rPr sz="850" b="0" i="0">
                <a:solidFill>
                  <a:srgbClr val="2B2B2B"/>
                </a:solidFill>
                <a:latin typeface="Arial"/>
              </a:rPr>
              <a:t>&gt; Fiches mémo (1 par participant)</a:t>
            </a:r>
          </a:p>
        </p:txBody>
      </p:sp>
      <p:sp>
        <p:nvSpPr>
          <p:cNvPr id="8" name="Rectangle 7"/>
          <p:cNvSpPr/>
          <p:nvPr/>
        </p:nvSpPr>
        <p:spPr>
          <a:xfrm>
            <a:off x="529200" y="2736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29200" y="2736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63200" y="3031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63200" y="3031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0:02</a:t>
            </a:r>
          </a:p>
        </p:txBody>
      </p:sp>
      <p:sp>
        <p:nvSpPr>
          <p:cNvPr id="12" name="TextBox 11"/>
          <p:cNvSpPr txBox="1"/>
          <p:nvPr/>
        </p:nvSpPr>
        <p:spPr>
          <a:xfrm>
            <a:off x="1303200" y="2800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4 min</a:t>
            </a:r>
          </a:p>
          <a:p>
            <a:pPr algn="l">
              <a:spcBef>
                <a:spcPts val="0"/>
              </a:spcBef>
              <a:spcAft>
                <a:spcPts val="100"/>
              </a:spcAft>
            </a:pPr>
            <a:r>
              <a:rPr sz="900" b="1" i="0">
                <a:solidFill>
                  <a:srgbClr val="2B2B2B"/>
                </a:solidFill>
                <a:latin typeface="Arial"/>
              </a:rPr>
              <a:t>Au programme aujourd'hui</a:t>
            </a:r>
          </a:p>
          <a:p>
            <a:pPr algn="l">
              <a:spcBef>
                <a:spcPts val="0"/>
              </a:spcBef>
              <a:spcAft>
                <a:spcPts val="100"/>
              </a:spcAft>
            </a:pPr>
            <a:r>
              <a:rPr sz="800" b="0" i="0">
                <a:solidFill>
                  <a:srgbClr val="2B2B2B"/>
                </a:solidFill>
                <a:latin typeface="Arial"/>
              </a:rPr>
              <a:t>. Voici les grandes étapes que nous allons explorer ensemble durant cet atelier :</a:t>
            </a:r>
          </a:p>
        </p:txBody>
      </p:sp>
      <p:sp>
        <p:nvSpPr>
          <p:cNvPr id="13" name="Rectangle 12"/>
          <p:cNvSpPr/>
          <p:nvPr/>
        </p:nvSpPr>
        <p:spPr>
          <a:xfrm>
            <a:off x="529200" y="3484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29200" y="34848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763200" y="37800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63200" y="3780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0:06</a:t>
            </a:r>
          </a:p>
        </p:txBody>
      </p:sp>
      <p:sp>
        <p:nvSpPr>
          <p:cNvPr id="17" name="TextBox 16"/>
          <p:cNvSpPr txBox="1"/>
          <p:nvPr/>
        </p:nvSpPr>
        <p:spPr>
          <a:xfrm>
            <a:off x="1303200" y="3549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Qu'est-ce qu'Internet ?</a:t>
            </a:r>
          </a:p>
          <a:p>
            <a:pPr algn="l">
              <a:spcBef>
                <a:spcPts val="0"/>
              </a:spcBef>
              <a:spcAft>
                <a:spcPts val="100"/>
              </a:spcAft>
            </a:pPr>
            <a:r>
              <a:rPr sz="800" b="0" i="0">
                <a:solidFill>
                  <a:srgbClr val="2B2B2B"/>
                </a:solidFill>
                <a:latin typeface="Arial"/>
              </a:rPr>
              <a:t>. Internet, c'est un immense réseau mondial d'ordinateurs, de téléphones et d'appareils connectés entre eux, qui échangent des informations en permanence. On peut l'imaginer comme une gigantesque toile d'araignée planétaire.</a:t>
            </a:r>
          </a:p>
        </p:txBody>
      </p:sp>
      <p:sp>
        <p:nvSpPr>
          <p:cNvPr id="18" name="Rectangle 17"/>
          <p:cNvSpPr/>
          <p:nvPr/>
        </p:nvSpPr>
        <p:spPr>
          <a:xfrm>
            <a:off x="529200" y="4233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29200" y="42336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63200" y="45288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63200" y="4528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0:14</a:t>
            </a:r>
          </a:p>
        </p:txBody>
      </p:sp>
      <p:sp>
        <p:nvSpPr>
          <p:cNvPr id="22" name="TextBox 21"/>
          <p:cNvSpPr txBox="1"/>
          <p:nvPr/>
        </p:nvSpPr>
        <p:spPr>
          <a:xfrm>
            <a:off x="1303200" y="4298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Se connecter au Wi-Fi — Mode d'emploi</a:t>
            </a:r>
          </a:p>
          <a:p>
            <a:pPr algn="l">
              <a:spcBef>
                <a:spcPts val="0"/>
              </a:spcBef>
              <a:spcAft>
                <a:spcPts val="100"/>
              </a:spcAft>
            </a:pPr>
            <a:r>
              <a:rPr sz="800" b="0" i="0">
                <a:solidFill>
                  <a:srgbClr val="2B2B2B"/>
                </a:solidFill>
                <a:latin typeface="Arial"/>
              </a:rPr>
              <a:t>. Ouvrir Réglages</a:t>
            </a:r>
          </a:p>
        </p:txBody>
      </p:sp>
      <p:sp>
        <p:nvSpPr>
          <p:cNvPr id="23" name="Rectangle 22"/>
          <p:cNvSpPr/>
          <p:nvPr/>
        </p:nvSpPr>
        <p:spPr>
          <a:xfrm>
            <a:off x="529200" y="49824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29200" y="49824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63200" y="52776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3200" y="52776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0:22</a:t>
            </a:r>
          </a:p>
        </p:txBody>
      </p:sp>
      <p:sp>
        <p:nvSpPr>
          <p:cNvPr id="27" name="TextBox 26"/>
          <p:cNvSpPr txBox="1"/>
          <p:nvPr/>
        </p:nvSpPr>
        <p:spPr>
          <a:xfrm>
            <a:off x="1303200" y="50472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Le navigateur web : votre porte d'entrée</a:t>
            </a:r>
          </a:p>
          <a:p>
            <a:pPr algn="l">
              <a:spcBef>
                <a:spcPts val="0"/>
              </a:spcBef>
              <a:spcAft>
                <a:spcPts val="100"/>
              </a:spcAft>
            </a:pPr>
            <a:r>
              <a:rPr sz="800" b="0" i="0">
                <a:solidFill>
                  <a:srgbClr val="2B2B2B"/>
                </a:solidFill>
                <a:latin typeface="Arial"/>
              </a:rPr>
              <a:t>. Un navigateur web, c'est le programme que vous utilisez pour afficher des pages Internet. C'est lui qui "traduit" les données du réseau en images, textes et vidéos lisibles à l'écran.</a:t>
            </a:r>
          </a:p>
        </p:txBody>
      </p:sp>
      <p:sp>
        <p:nvSpPr>
          <p:cNvPr id="28" name="Rectangle 27"/>
          <p:cNvSpPr/>
          <p:nvPr/>
        </p:nvSpPr>
        <p:spPr>
          <a:xfrm>
            <a:off x="529200" y="57312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529200" y="57312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763200" y="60263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63200" y="60263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0:30</a:t>
            </a:r>
          </a:p>
        </p:txBody>
      </p:sp>
      <p:sp>
        <p:nvSpPr>
          <p:cNvPr id="32" name="TextBox 31"/>
          <p:cNvSpPr txBox="1"/>
          <p:nvPr/>
        </p:nvSpPr>
        <p:spPr>
          <a:xfrm>
            <a:off x="1303200" y="57960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Anatomie d'une page web</a:t>
            </a:r>
          </a:p>
          <a:p>
            <a:pPr algn="l">
              <a:spcBef>
                <a:spcPts val="0"/>
              </a:spcBef>
              <a:spcAft>
                <a:spcPts val="100"/>
              </a:spcAft>
            </a:pPr>
            <a:r>
              <a:rPr sz="800" b="0" i="0">
                <a:solidFill>
                  <a:srgbClr val="2B2B2B"/>
                </a:solidFill>
                <a:latin typeface="Arial"/>
              </a:rPr>
              <a:t>. Quand vous ouvrez votre navigateur, voici les éléments essentiels à connaître pour vous repérer :</a:t>
            </a:r>
          </a:p>
        </p:txBody>
      </p:sp>
      <p:sp>
        <p:nvSpPr>
          <p:cNvPr id="33" name="Rectangle 32"/>
          <p:cNvSpPr/>
          <p:nvPr/>
        </p:nvSpPr>
        <p:spPr>
          <a:xfrm>
            <a:off x="529200" y="648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529200" y="6480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763200" y="6775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63200" y="677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0:38</a:t>
            </a:r>
          </a:p>
        </p:txBody>
      </p:sp>
      <p:sp>
        <p:nvSpPr>
          <p:cNvPr id="37" name="TextBox 36"/>
          <p:cNvSpPr txBox="1"/>
          <p:nvPr/>
        </p:nvSpPr>
        <p:spPr>
          <a:xfrm>
            <a:off x="1303200" y="654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Les moteurs de recherche : comment ça marche ?</a:t>
            </a:r>
          </a:p>
          <a:p>
            <a:pPr algn="l">
              <a:spcBef>
                <a:spcPts val="0"/>
              </a:spcBef>
              <a:spcAft>
                <a:spcPts val="100"/>
              </a:spcAft>
            </a:pPr>
            <a:r>
              <a:rPr sz="800" b="0" i="0">
                <a:solidFill>
                  <a:srgbClr val="2B2B2B"/>
                </a:solidFill>
                <a:latin typeface="Arial"/>
              </a:rPr>
              <a:t>. Un moteur de recherche est un service en ligne qui explore et indexe des milliards de pages web pour vous retourner les résultats les plus pertinents selon vos mots-clés.</a:t>
            </a:r>
          </a:p>
        </p:txBody>
      </p:sp>
      <p:sp>
        <p:nvSpPr>
          <p:cNvPr id="38" name="Rectangle 37"/>
          <p:cNvSpPr/>
          <p:nvPr/>
        </p:nvSpPr>
        <p:spPr>
          <a:xfrm>
            <a:off x="529200" y="72287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29200" y="7228799"/>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763200" y="7523999"/>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63200" y="75239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0:46</a:t>
            </a:r>
          </a:p>
        </p:txBody>
      </p:sp>
      <p:sp>
        <p:nvSpPr>
          <p:cNvPr id="42" name="TextBox 41"/>
          <p:cNvSpPr txBox="1"/>
          <p:nvPr/>
        </p:nvSpPr>
        <p:spPr>
          <a:xfrm>
            <a:off x="1303200" y="72935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Bien formuler sa recherche</a:t>
            </a:r>
          </a:p>
          <a:p>
            <a:pPr algn="l">
              <a:spcBef>
                <a:spcPts val="0"/>
              </a:spcBef>
              <a:spcAft>
                <a:spcPts val="100"/>
              </a:spcAft>
            </a:pPr>
            <a:r>
              <a:rPr sz="800" b="0" i="0">
                <a:solidFill>
                  <a:srgbClr val="2B2B2B"/>
                </a:solidFill>
                <a:latin typeface="Arial"/>
              </a:rPr>
              <a:t>. La qualité de vos résultats dépend directement des mots que vous tapez. Quelques astuces simples pour mieux chercher :</a:t>
            </a:r>
          </a:p>
        </p:txBody>
      </p:sp>
      <p:sp>
        <p:nvSpPr>
          <p:cNvPr id="43" name="Rectangle 42"/>
          <p:cNvSpPr/>
          <p:nvPr/>
        </p:nvSpPr>
        <p:spPr>
          <a:xfrm>
            <a:off x="529200" y="79775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529200" y="7977599"/>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763200" y="8272799"/>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763200" y="82727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0:54</a:t>
            </a:r>
          </a:p>
        </p:txBody>
      </p:sp>
      <p:sp>
        <p:nvSpPr>
          <p:cNvPr id="47" name="TextBox 46"/>
          <p:cNvSpPr txBox="1"/>
          <p:nvPr/>
        </p:nvSpPr>
        <p:spPr>
          <a:xfrm>
            <a:off x="1303200" y="80423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Comprendre une adresse web (URL)</a:t>
            </a:r>
          </a:p>
          <a:p>
            <a:pPr algn="l">
              <a:spcBef>
                <a:spcPts val="0"/>
              </a:spcBef>
              <a:spcAft>
                <a:spcPts val="100"/>
              </a:spcAft>
            </a:pPr>
            <a:r>
              <a:rPr sz="800" b="0" i="0">
                <a:solidFill>
                  <a:srgbClr val="2B2B2B"/>
                </a:solidFill>
                <a:latin typeface="Arial"/>
              </a:rPr>
              <a:t>. Une adresse web, ou URL (Uniform Resource Locator), c'est comme l'adresse postale d'une page sur Internet. Elle est unique et permet à votre navigateur de trouver exactement ce que vous cherchez.</a:t>
            </a:r>
          </a:p>
        </p:txBody>
      </p:sp>
      <p:sp>
        <p:nvSpPr>
          <p:cNvPr id="48" name="Rectangle 47"/>
          <p:cNvSpPr/>
          <p:nvPr/>
        </p:nvSpPr>
        <p:spPr>
          <a:xfrm>
            <a:off x="529200" y="87263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529200" y="8726399"/>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763200" y="90215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763200" y="90215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1:02</a:t>
            </a:r>
          </a:p>
        </p:txBody>
      </p:sp>
      <p:sp>
        <p:nvSpPr>
          <p:cNvPr id="52" name="TextBox 51"/>
          <p:cNvSpPr txBox="1"/>
          <p:nvPr/>
        </p:nvSpPr>
        <p:spPr>
          <a:xfrm>
            <a:off x="1303200" y="87911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Reconnaître un site fiable</a:t>
            </a:r>
          </a:p>
          <a:p>
            <a:pPr algn="l">
              <a:spcBef>
                <a:spcPts val="0"/>
              </a:spcBef>
              <a:spcAft>
                <a:spcPts val="100"/>
              </a:spcAft>
            </a:pPr>
            <a:r>
              <a:rPr sz="800" b="0" i="0">
                <a:solidFill>
                  <a:srgbClr val="2B2B2B"/>
                </a:solidFill>
                <a:latin typeface="Arial"/>
              </a:rPr>
              <a:t>. Sur Internet, il est essentiel de savoir distinguer un site digne de confiance d'un site potentiellement douteux. Voici les points clés à vérifier pour naviguer en toute sérénité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bg-p2.png"/>
          <p:cNvPicPr>
            <a:picLocks noChangeAspect="1"/>
          </p:cNvPicPr>
          <p:nvPr/>
        </p:nvPicPr>
        <p:blipFill>
          <a:blip r:embed="rId2">
            <a:alphaModFix amt="80000"/>
          </a:blip>
          <a:stretch>
            <a:fillRect/>
          </a:stretch>
        </p:blipFill>
        <p:spPr>
          <a:xfrm>
            <a:off x="0" y="0"/>
            <a:ext cx="7556399" cy="10692000"/>
          </a:xfrm>
          <a:prstGeom prst="rect">
            <a:avLst/>
          </a:prstGeom>
        </p:spPr>
      </p:pic>
      <p:sp>
        <p:nvSpPr>
          <p:cNvPr id="3" name="Rectangle 2"/>
          <p:cNvSpPr/>
          <p:nvPr/>
        </p:nvSpPr>
        <p:spPr>
          <a:xfrm>
            <a:off x="529200" y="54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29200" y="5400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763200" y="8352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63200" y="83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1:10</a:t>
            </a:r>
          </a:p>
        </p:txBody>
      </p:sp>
      <p:sp>
        <p:nvSpPr>
          <p:cNvPr id="7" name="TextBox 6"/>
          <p:cNvSpPr txBox="1"/>
          <p:nvPr/>
        </p:nvSpPr>
        <p:spPr>
          <a:xfrm>
            <a:off x="1303200" y="60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Attention aux arnaques en ligne (phishing)</a:t>
            </a:r>
          </a:p>
          <a:p>
            <a:pPr algn="l">
              <a:spcBef>
                <a:spcPts val="0"/>
              </a:spcBef>
              <a:spcAft>
                <a:spcPts val="100"/>
              </a:spcAft>
            </a:pPr>
            <a:r>
              <a:rPr sz="800" b="0" i="0">
                <a:solidFill>
                  <a:srgbClr val="2B2B2B"/>
                </a:solidFill>
                <a:latin typeface="Arial"/>
              </a:rPr>
              <a:t>. Le "phishing" (ou hameçonnage) est une technique frauduleuse très courante. Des escrocs se font passer pour une entité de confiance (banque, administration, opérateur téléphonique, etc.) pour vous soutirer des informations personnelles comme vos mots de passe ou numéros de carte bancaire. Ils utilisent généralement de faux emails, SMS ou de faux sites web très réalistes.</a:t>
            </a:r>
          </a:p>
        </p:txBody>
      </p:sp>
      <p:sp>
        <p:nvSpPr>
          <p:cNvPr id="8" name="Rectangle 7"/>
          <p:cNvSpPr/>
          <p:nvPr/>
        </p:nvSpPr>
        <p:spPr>
          <a:xfrm>
            <a:off x="529200" y="1288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29200" y="12888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63200" y="15840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63200" y="1584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1:18</a:t>
            </a:r>
          </a:p>
        </p:txBody>
      </p:sp>
      <p:sp>
        <p:nvSpPr>
          <p:cNvPr id="12" name="TextBox 11"/>
          <p:cNvSpPr txBox="1"/>
          <p:nvPr/>
        </p:nvSpPr>
        <p:spPr>
          <a:xfrm>
            <a:off x="1303200" y="1353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Créer un mot de passe solide</a:t>
            </a:r>
          </a:p>
          <a:p>
            <a:pPr algn="l">
              <a:spcBef>
                <a:spcPts val="0"/>
              </a:spcBef>
              <a:spcAft>
                <a:spcPts val="100"/>
              </a:spcAft>
            </a:pPr>
            <a:r>
              <a:rPr sz="800" b="0" i="0">
                <a:solidFill>
                  <a:srgbClr val="2B2B2B"/>
                </a:solidFill>
                <a:latin typeface="Arial"/>
              </a:rPr>
              <a:t>. Un mot de passe fort est votre première ligne de défense contre les cyberattaques. Apprenez à en créer un qui protège efficacement vos données personnelles.</a:t>
            </a:r>
          </a:p>
        </p:txBody>
      </p:sp>
      <p:sp>
        <p:nvSpPr>
          <p:cNvPr id="13" name="Rectangle 12"/>
          <p:cNvSpPr/>
          <p:nvPr/>
        </p:nvSpPr>
        <p:spPr>
          <a:xfrm>
            <a:off x="529200" y="2037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29200" y="20376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763200" y="23328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63200" y="2332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1:26</a:t>
            </a:r>
          </a:p>
        </p:txBody>
      </p:sp>
      <p:sp>
        <p:nvSpPr>
          <p:cNvPr id="17" name="TextBox 16"/>
          <p:cNvSpPr txBox="1"/>
          <p:nvPr/>
        </p:nvSpPr>
        <p:spPr>
          <a:xfrm>
            <a:off x="1303200" y="2102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Les cookies et votre vie privée</a:t>
            </a:r>
          </a:p>
          <a:p>
            <a:pPr algn="l">
              <a:spcBef>
                <a:spcPts val="0"/>
              </a:spcBef>
              <a:spcAft>
                <a:spcPts val="100"/>
              </a:spcAft>
            </a:pPr>
            <a:r>
              <a:rPr sz="800" b="0" i="0">
                <a:solidFill>
                  <a:srgbClr val="2B2B2B"/>
                </a:solidFill>
                <a:latin typeface="Arial"/>
              </a:rPr>
              <a:t>. Les cookies sont de minuscules fichiers que les sites web stockent sur votre ordinateur ou smartphone. Ils servent à "se souvenir" de vous et de vos préférences pour améliorer votre expérience de navigation. C'est grâce à eux qu'un site peut, par exemple, garder les articles dans votre panier ou retenir la langue que vous avez choisie.</a:t>
            </a:r>
          </a:p>
        </p:txBody>
      </p:sp>
      <p:sp>
        <p:nvSpPr>
          <p:cNvPr id="18" name="Rectangle 17"/>
          <p:cNvSpPr/>
          <p:nvPr/>
        </p:nvSpPr>
        <p:spPr>
          <a:xfrm>
            <a:off x="529200" y="27864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29200" y="27864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63200" y="30816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63200" y="30816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1:34</a:t>
            </a:r>
          </a:p>
        </p:txBody>
      </p:sp>
      <p:sp>
        <p:nvSpPr>
          <p:cNvPr id="22" name="TextBox 21"/>
          <p:cNvSpPr txBox="1"/>
          <p:nvPr/>
        </p:nvSpPr>
        <p:spPr>
          <a:xfrm>
            <a:off x="1303200" y="28512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Les services publics en ligne</a:t>
            </a:r>
          </a:p>
          <a:p>
            <a:pPr algn="l">
              <a:spcBef>
                <a:spcPts val="0"/>
              </a:spcBef>
              <a:spcAft>
                <a:spcPts val="100"/>
              </a:spcAft>
            </a:pPr>
            <a:r>
              <a:rPr sz="800" b="0" i="0">
                <a:solidFill>
                  <a:srgbClr val="2B2B2B"/>
                </a:solidFill>
                <a:latin typeface="Arial"/>
              </a:rPr>
              <a:t>. En France, de nombreux services publics sont accessibles en ligne, simplifiant vos démarches quotidiennes. Il est essentiel de connaître les sites officiels pour éviter les fraudes et accéder aux informations fiables.</a:t>
            </a:r>
          </a:p>
        </p:txBody>
      </p:sp>
      <p:sp>
        <p:nvSpPr>
          <p:cNvPr id="23" name="Rectangle 22"/>
          <p:cNvSpPr/>
          <p:nvPr/>
        </p:nvSpPr>
        <p:spPr>
          <a:xfrm>
            <a:off x="529200" y="9684000"/>
            <a:ext cx="6498000" cy="43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19200" y="9748800"/>
            <a:ext cx="6354000" cy="827999"/>
          </a:xfrm>
          <a:prstGeom prst="rect">
            <a:avLst/>
          </a:prstGeom>
          <a:noFill/>
        </p:spPr>
        <p:txBody>
          <a:bodyPr wrap="square" tIns="0" bIns="0" lIns="18000" rIns="18000">
            <a:spAutoFit/>
          </a:bodyPr>
          <a:lstStyle/>
          <a:p>
            <a:pPr algn="l">
              <a:spcBef>
                <a:spcPts val="0"/>
              </a:spcBef>
              <a:spcAft>
                <a:spcPts val="100"/>
              </a:spcAft>
            </a:pPr>
            <a:r>
              <a:rPr sz="950" b="1" i="0">
                <a:solidFill>
                  <a:srgbClr val="2B2B2B"/>
                </a:solidFill>
                <a:latin typeface="Arial"/>
              </a:rPr>
              <a:t>Conseils pour une bonne animation</a:t>
            </a:r>
          </a:p>
          <a:p>
            <a:pPr algn="l">
              <a:spcBef>
                <a:spcPts val="0"/>
              </a:spcBef>
              <a:spcAft>
                <a:spcPts val="100"/>
              </a:spcAft>
            </a:pPr>
            <a:r>
              <a:rPr sz="850" b="0" i="0">
                <a:solidFill>
                  <a:srgbClr val="2B2B2B"/>
                </a:solidFill>
                <a:latin typeface="Arial"/>
              </a:rPr>
              <a:t>&gt; Adapter le rythme selon le niveau du groupe.</a:t>
            </a:r>
          </a:p>
          <a:p>
            <a:pPr algn="l">
              <a:spcBef>
                <a:spcPts val="0"/>
              </a:spcBef>
              <a:spcAft>
                <a:spcPts val="100"/>
              </a:spcAft>
            </a:pPr>
            <a:r>
              <a:rPr sz="850" b="0" i="0">
                <a:solidFill>
                  <a:srgbClr val="2B2B2B"/>
                </a:solidFill>
                <a:latin typeface="Arial"/>
              </a:rPr>
              <a:t>&gt; Laisser les participants manipuler dès que possible.</a:t>
            </a:r>
          </a:p>
          <a:p>
            <a:pPr algn="l">
              <a:spcBef>
                <a:spcPts val="0"/>
              </a:spcBef>
              <a:spcAft>
                <a:spcPts val="100"/>
              </a:spcAft>
            </a:pPr>
            <a:r>
              <a:rPr sz="850" b="0" i="0">
                <a:solidFill>
                  <a:srgbClr val="2B2B2B"/>
                </a:solidFill>
                <a:latin typeface="Arial"/>
              </a:rPr>
              <a:t>&gt; Prévoir un compte de démonstration pour ne pas exposer de données personnelles.</a:t>
            </a:r>
          </a:p>
          <a:p>
            <a:pPr algn="l">
              <a:spcBef>
                <a:spcPts val="0"/>
              </a:spcBef>
              <a:spcAft>
                <a:spcPts val="100"/>
              </a:spcAft>
            </a:pPr>
            <a:r>
              <a:rPr sz="850" b="0" i="0">
                <a:solidFill>
                  <a:srgbClr val="2B2B2B"/>
                </a:solidFill>
                <a:latin typeface="Arial"/>
              </a:rPr>
              <a:t>&gt; Terminer en distribuant la fiche mémo — c'est le support qu'ils garderont.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