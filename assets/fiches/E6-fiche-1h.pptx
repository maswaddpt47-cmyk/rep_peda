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58 min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2728799"/>
          </a:xfrm>
          <a:prstGeom prst="rect">
            <a:avLst/>
          </a:prstGeom>
          <a:solidFill>
            <a:srgbClr val="FFF8EF"/>
          </a:solidFill>
          <a:ln w="19050">
            <a:solidFill>
              <a:srgbClr val="E67D2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6498000" cy="1980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01200" y="568800"/>
            <a:ext cx="6354000" cy="162000"/>
          </a:xfrm>
          <a:prstGeom prst="rect">
            <a:avLst/>
          </a:prstGeom>
          <a:noFill/>
        </p:spPr>
        <p:txBody>
          <a:bodyPr wrap="square" tIns="0" bIns="0" lIns="18000" rIns="18000">
            <a:spAutoFit/>
          </a:bodyPr>
          <a:lstStyle/>
          <a:p>
            <a:pPr algn="ctr">
              <a:spcBef>
                <a:spcPts val="0"/>
              </a:spcBef>
              <a:spcAft>
                <a:spcPts val="100"/>
              </a:spcAft>
            </a:pPr>
            <a:r>
              <a:rPr sz="850" b="1" i="0">
                <a:solidFill>
                  <a:srgbClr val="FFFFFF"/>
                </a:solidFill>
                <a:latin typeface="Arial"/>
              </a:rPr>
              <a:t>Blocs optionnels — À aborder si le temps le permet</a:t>
            </a:r>
          </a:p>
        </p:txBody>
      </p:sp>
      <p:sp>
        <p:nvSpPr>
          <p:cNvPr id="5" name="Rectangle 4"/>
          <p:cNvSpPr/>
          <p:nvPr/>
        </p:nvSpPr>
        <p:spPr>
          <a:xfrm>
            <a:off x="529200" y="737999"/>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200" y="7812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Des ressources rares et précieuses</a:t>
            </a:r>
          </a:p>
          <a:p>
            <a:pPr>
              <a:spcBef>
                <a:spcPts val="0"/>
              </a:spcBef>
              <a:spcAft>
                <a:spcPts val="100"/>
              </a:spcAft>
            </a:pPr>
            <a:r>
              <a:rPr sz="800" b="1">
                <a:solidFill>
                  <a:srgbClr val="E67D21"/>
                </a:solidFill>
                <a:latin typeface="Arial"/>
              </a:rPr>
              <a:t>OPT.  </a:t>
            </a:r>
            <a:r>
              <a:rPr sz="80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800" b="0" i="0">
                <a:solidFill>
                  <a:srgbClr val="2B2B2B"/>
                </a:solidFill>
                <a:latin typeface="Arial"/>
              </a:rPr>
              <a:t>. Un cocktail de métaux stratégiques</a:t>
            </a:r>
          </a:p>
          <a:p>
            <a:pPr algn="l">
              <a:spcBef>
                <a:spcPts val="0"/>
              </a:spcBef>
              <a:spcAft>
                <a:spcPts val="100"/>
              </a:spcAft>
            </a:pPr>
            <a:r>
              <a:rPr sz="80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p:txBody>
      </p:sp>
      <p:sp>
        <p:nvSpPr>
          <p:cNvPr id="7" name="Rectangle 6"/>
          <p:cNvSpPr/>
          <p:nvPr/>
        </p:nvSpPr>
        <p:spPr>
          <a:xfrm>
            <a:off x="529200" y="1569599"/>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7200" y="16127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8 min</a:t>
            </a:r>
          </a:p>
          <a:p>
            <a:pPr algn="l">
              <a:spcBef>
                <a:spcPts val="0"/>
              </a:spcBef>
              <a:spcAft>
                <a:spcPts val="100"/>
              </a:spcAft>
            </a:pPr>
            <a:r>
              <a:rPr sz="900" b="1" i="0">
                <a:solidFill>
                  <a:srgbClr val="2B2B2B"/>
                </a:solidFill>
                <a:latin typeface="Arial"/>
              </a:rPr>
              <a:t>Le numérique responsable en entreprise</a:t>
            </a:r>
          </a:p>
          <a:p>
            <a:pPr>
              <a:spcBef>
                <a:spcPts val="0"/>
              </a:spcBef>
              <a:spcAft>
                <a:spcPts val="100"/>
              </a:spcAft>
            </a:pPr>
            <a:r>
              <a:rPr sz="800" b="1">
                <a:solidFill>
                  <a:srgbClr val="E67D21"/>
                </a:solidFill>
                <a:latin typeface="Arial"/>
              </a:rPr>
              <a:t>OPT.  </a:t>
            </a:r>
            <a:r>
              <a:rPr sz="80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800" b="0" i="0">
                <a:solidFill>
                  <a:srgbClr val="2B2B2B"/>
                </a:solidFill>
                <a:latin typeface="Arial"/>
              </a:rPr>
              <a:t>. Politique d'achat responsable</a:t>
            </a:r>
          </a:p>
          <a:p>
            <a:pPr algn="l">
              <a:spcBef>
                <a:spcPts val="0"/>
              </a:spcBef>
              <a:spcAft>
                <a:spcPts val="100"/>
              </a:spcAft>
            </a:pPr>
            <a:r>
              <a:rPr sz="800" b="0" i="0">
                <a:solidFill>
                  <a:srgbClr val="2B2B2B"/>
                </a:solidFill>
                <a:latin typeface="Arial"/>
              </a:rPr>
              <a:t>. Privilégiez les équipements reconditionnés ou conçus pour durer. Demandez des garanties de réparabilité et de disponibilité des pièces détachées à vos fournisseurs.</a:t>
            </a:r>
          </a:p>
        </p:txBody>
      </p:sp>
      <p:sp>
        <p:nvSpPr>
          <p:cNvPr id="9" name="Rectangle 8"/>
          <p:cNvSpPr/>
          <p:nvPr/>
        </p:nvSpPr>
        <p:spPr>
          <a:xfrm>
            <a:off x="529200" y="24012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7200" y="24444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Pour aller plus loin — Sources</a:t>
            </a:r>
          </a:p>
          <a:p>
            <a:pPr>
              <a:spcBef>
                <a:spcPts val="0"/>
              </a:spcBef>
              <a:spcAft>
                <a:spcPts val="100"/>
              </a:spcAft>
            </a:pPr>
            <a:r>
              <a:rPr sz="800" b="1">
                <a:solidFill>
                  <a:srgbClr val="E67D21"/>
                </a:solidFill>
                <a:latin typeface="Arial"/>
              </a:rPr>
              <a:t>OPT.  </a:t>
            </a:r>
            <a:r>
              <a:rPr sz="80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80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800" b="0" i="0">
                <a:solidFill>
                  <a:srgbClr val="2B2B2B"/>
                </a:solidFill>
                <a:latin typeface="Arial"/>
              </a:rPr>
              <a:t>. GreenIT.fr, Benchmark Green IT 2024, Novembre 2024 — greenit.fr</a:t>
            </a:r>
          </a:p>
        </p:txBody>
      </p:sp>
      <p:sp>
        <p:nvSpPr>
          <p:cNvPr id="11" name="Rectangle 10"/>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