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Numérique &amp; Environnement</a:t>
            </a:r>
          </a:p>
          <a:p>
            <a:pPr algn="ctr">
              <a:spcBef>
                <a:spcPts val="0"/>
              </a:spcBef>
              <a:spcAft>
                <a:spcPts val="100"/>
              </a:spcAft>
            </a:pPr>
            <a:r>
              <a:rPr sz="800" b="0" i="0">
                <a:solidFill>
                  <a:srgbClr val="6E6E6D"/>
                </a:solidFill>
                <a:latin typeface="Arial"/>
              </a:rPr>
              <a:t>Fiche Action | 58 min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Le numérique : un secteur qui pèse lourd</a:t>
            </a:r>
          </a:p>
          <a:p>
            <a:pPr algn="l">
              <a:spcBef>
                <a:spcPts val="0"/>
              </a:spcBef>
              <a:spcAft>
                <a:spcPts val="100"/>
              </a:spcAft>
            </a:pPr>
            <a:r>
              <a:rPr sz="850" b="0" i="0">
                <a:solidFill>
                  <a:srgbClr val="2B2B2B"/>
                </a:solidFill>
                <a:latin typeface="Arial"/>
              </a:rPr>
              <a:t>&gt; Nos appareils : le cœur du problème</a:t>
            </a:r>
          </a:p>
          <a:p>
            <a:pPr algn="l">
              <a:spcBef>
                <a:spcPts val="0"/>
              </a:spcBef>
              <a:spcAft>
                <a:spcPts val="100"/>
              </a:spcAft>
            </a:pPr>
            <a:r>
              <a:rPr sz="850" b="0" i="0">
                <a:solidFill>
                  <a:srgbClr val="2B2B2B"/>
                </a:solidFill>
                <a:latin typeface="Arial"/>
              </a:rPr>
              <a:t>&gt; L'usage quotidien : des impacts souvent invisibles</a:t>
            </a:r>
          </a:p>
          <a:p>
            <a:pPr algn="l">
              <a:spcBef>
                <a:spcPts val="0"/>
              </a:spcBef>
              <a:spcAft>
                <a:spcPts val="100"/>
              </a:spcAft>
            </a:pPr>
            <a:r>
              <a:rPr sz="850" b="0" i="0">
                <a:solidFill>
                  <a:srgbClr val="2B2B2B"/>
                </a:solidFill>
                <a:latin typeface="Arial"/>
              </a:rPr>
              <a:t>&gt; Les data centers : des usines énergivores</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 numérique : un secteur qui pèse lourd</a:t>
            </a:r>
          </a:p>
          <a:p>
            <a:pPr algn="l">
              <a:spcBef>
                <a:spcPts val="0"/>
              </a:spcBef>
              <a:spcAft>
                <a:spcPts val="100"/>
              </a:spcAft>
            </a:pPr>
            <a:r>
              <a:rPr sz="800" b="0" i="0">
                <a:solidFill>
                  <a:srgbClr val="2B2B2B"/>
                </a:solidFill>
                <a:latin typeface="Arial"/>
              </a:rPr>
              <a:t>. On l'oublie souvent, mais le numérique est l'un des secteurs les plus émetteurs de gaz à effet de serre au monde. Et sa croissance est rapide.</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0:10</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Nos appareils : le cœur du problème</a:t>
            </a:r>
          </a:p>
          <a:p>
            <a:pPr algn="l">
              <a:spcBef>
                <a:spcPts val="0"/>
              </a:spcBef>
              <a:spcAft>
                <a:spcPts val="100"/>
              </a:spcAft>
            </a:pPr>
            <a:r>
              <a:rPr sz="800" b="0" i="0">
                <a:solidFill>
                  <a:srgbClr val="2B2B2B"/>
                </a:solidFill>
                <a:latin typeface="Arial"/>
              </a:rPr>
              <a:t>. La fabrication de nos appareils numériques est de loin la source d'impact la plus importante — bien plus que leur utilisation quotidienne.</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0:18</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L'usage quotidien : des impacts souvent invisibl…</a:t>
            </a:r>
          </a:p>
          <a:p>
            <a:pPr algn="l">
              <a:spcBef>
                <a:spcPts val="0"/>
              </a:spcBef>
              <a:spcAft>
                <a:spcPts val="100"/>
              </a:spcAft>
            </a:pPr>
            <a:r>
              <a:rPr sz="800" b="0" i="0">
                <a:solidFill>
                  <a:srgbClr val="2B2B2B"/>
                </a:solidFill>
                <a:latin typeface="Arial"/>
              </a:rPr>
              <a:t>. Streaming vidéo</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0:26</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Les data centers : des usines énergivores</a:t>
            </a:r>
          </a:p>
          <a:p>
            <a:pPr algn="l">
              <a:spcBef>
                <a:spcPts val="0"/>
              </a:spcBef>
              <a:spcAft>
                <a:spcPts val="100"/>
              </a:spcAft>
            </a:pPr>
            <a:r>
              <a:rPr sz="800" b="0" i="0">
                <a:solidFill>
                  <a:srgbClr val="2B2B2B"/>
                </a:solidFill>
                <a:latin typeface="Arial"/>
              </a:rPr>
              <a:t>. Ces infrastructures discrètes sont le moteur de notre monde numérique, hébergeant nos données et applications. Cependant, leur fonctionnement est incroyablement gourmand en ressources, notamment pour le refroidissement des serveurs et le maintien d'une température stable.</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0:34</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La montagne de déchets électroniques</a:t>
            </a:r>
          </a:p>
          <a:p>
            <a:pPr algn="l">
              <a:spcBef>
                <a:spcPts val="0"/>
              </a:spcBef>
              <a:spcAft>
                <a:spcPts val="100"/>
              </a:spcAft>
            </a:pPr>
            <a:r>
              <a:rPr sz="800" b="0" i="0">
                <a:solidFill>
                  <a:srgbClr val="2B2B2B"/>
                </a:solidFill>
                <a:latin typeface="Arial"/>
              </a:rPr>
              <a:t>. Les Déchets d'Équipements Électriques et Électroniques (DEEE), ou "e-waste", représentent aujourd'hui le flux de déchets qui croît le plus rapidement dans le monde. C'est une problématique environnementale et sanitaire majeure.</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0:42</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L'obsolescence : le piège du renouvellement</a:t>
            </a:r>
          </a:p>
          <a:p>
            <a:pPr algn="l">
              <a:spcBef>
                <a:spcPts val="0"/>
              </a:spcBef>
              <a:spcAft>
                <a:spcPts val="100"/>
              </a:spcAft>
            </a:pPr>
            <a:r>
              <a:rPr sz="800" b="0" i="0">
                <a:solidFill>
                  <a:srgbClr val="2B2B2B"/>
                </a:solidFill>
                <a:latin typeface="Arial"/>
              </a:rPr>
              <a:t>. L'obsolescence, qu'elle soit programmée ou perçue, est un facteur majeur de l'empreinte environnementale du numérique. Elle nous pousse à renouveler nos appareils bien avant la fin de leur durée de vie potentielle.</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0:50</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Allonger la vie de ses appareils</a:t>
            </a:r>
          </a:p>
          <a:p>
            <a:pPr algn="l">
              <a:spcBef>
                <a:spcPts val="0"/>
              </a:spcBef>
              <a:spcAft>
                <a:spcPts val="100"/>
              </a:spcAft>
            </a:pPr>
            <a:r>
              <a:rPr sz="800" b="0" i="0">
                <a:solidFill>
                  <a:srgbClr val="2B2B2B"/>
                </a:solidFill>
                <a:latin typeface="Arial"/>
              </a:rPr>
              <a:t>. Plutôt que de céder à l'obsolescence programmée ou perçue, adoptons des gestes simples pour prolonger la durée de vie de nos équipements. Chaque année gagnée, c'est une réduction significative de leur empreinte environnementale.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Rectangle 1"/>
          <p:cNvSpPr/>
          <p:nvPr/>
        </p:nvSpPr>
        <p:spPr>
          <a:xfrm>
            <a:off x="529200" y="540000"/>
            <a:ext cx="6498000" cy="2728799"/>
          </a:xfrm>
          <a:prstGeom prst="rect">
            <a:avLst/>
          </a:prstGeom>
          <a:solidFill>
            <a:srgbClr val="FFF8EF"/>
          </a:solidFill>
          <a:ln w="19050">
            <a:solidFill>
              <a:srgbClr val="E67D2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29200" y="540000"/>
            <a:ext cx="6498000" cy="1980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01200" y="568800"/>
            <a:ext cx="6354000" cy="162000"/>
          </a:xfrm>
          <a:prstGeom prst="rect">
            <a:avLst/>
          </a:prstGeom>
          <a:noFill/>
        </p:spPr>
        <p:txBody>
          <a:bodyPr wrap="square" tIns="0" bIns="0" lIns="18000" rIns="18000">
            <a:spAutoFit/>
          </a:bodyPr>
          <a:lstStyle/>
          <a:p>
            <a:pPr algn="ctr">
              <a:spcBef>
                <a:spcPts val="0"/>
              </a:spcBef>
              <a:spcAft>
                <a:spcPts val="100"/>
              </a:spcAft>
            </a:pPr>
            <a:r>
              <a:rPr sz="850" b="1" i="0">
                <a:solidFill>
                  <a:srgbClr val="FFFFFF"/>
                </a:solidFill>
                <a:latin typeface="Arial"/>
              </a:rPr>
              <a:t>Blocs optionnels — À aborder si le temps le permet</a:t>
            </a:r>
          </a:p>
        </p:txBody>
      </p:sp>
      <p:sp>
        <p:nvSpPr>
          <p:cNvPr id="5" name="Rectangle 4"/>
          <p:cNvSpPr/>
          <p:nvPr/>
        </p:nvSpPr>
        <p:spPr>
          <a:xfrm>
            <a:off x="529200" y="737999"/>
            <a:ext cx="6498000" cy="144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37200" y="781200"/>
            <a:ext cx="6300000" cy="766800"/>
          </a:xfrm>
          <a:prstGeom prst="rect">
            <a:avLst/>
          </a:prstGeom>
          <a:noFill/>
        </p:spPr>
        <p:txBody>
          <a:bodyPr wrap="square" tIns="0" bIns="0" lIns="18000" rIns="18000">
            <a:spAutoFit/>
          </a:bodyPr>
          <a:lstStyle/>
          <a:p>
            <a:pPr algn="l">
              <a:spcBef>
                <a:spcPts val="0"/>
              </a:spcBef>
              <a:spcAft>
                <a:spcPts val="100"/>
              </a:spcAft>
            </a:pPr>
            <a:r>
              <a:rPr sz="800" b="1" i="0">
                <a:solidFill>
                  <a:srgbClr val="E67D21"/>
                </a:solidFill>
                <a:latin typeface="Arial"/>
              </a:rPr>
              <a:t>5 min</a:t>
            </a:r>
          </a:p>
          <a:p>
            <a:pPr algn="l">
              <a:spcBef>
                <a:spcPts val="0"/>
              </a:spcBef>
              <a:spcAft>
                <a:spcPts val="100"/>
              </a:spcAft>
            </a:pPr>
            <a:r>
              <a:rPr sz="900" b="1" i="0">
                <a:solidFill>
                  <a:srgbClr val="2B2B2B"/>
                </a:solidFill>
                <a:latin typeface="Arial"/>
              </a:rPr>
              <a:t>Des ressources rares et précieuses</a:t>
            </a:r>
          </a:p>
          <a:p>
            <a:pPr>
              <a:spcBef>
                <a:spcPts val="0"/>
              </a:spcBef>
              <a:spcAft>
                <a:spcPts val="100"/>
              </a:spcAft>
            </a:pPr>
            <a:r>
              <a:rPr sz="800" b="1">
                <a:solidFill>
                  <a:srgbClr val="E67D21"/>
                </a:solidFill>
                <a:latin typeface="Arial"/>
              </a:rPr>
              <a:t>OPT.  </a:t>
            </a:r>
            <a:r>
              <a:rPr sz="800">
                <a:solidFill>
                  <a:srgbClr val="2B2B2B"/>
                </a:solidFill>
                <a:latin typeface="Arial"/>
              </a:rPr>
              <a:t>. Derrière chaque écran, chaque circuit imprimé, se cache un monde de minerais et de métaux rares, dont l'extraction a des conséquences environnementales et sociales souvent dramatiques.</a:t>
            </a:r>
          </a:p>
          <a:p>
            <a:pPr algn="l">
              <a:spcBef>
                <a:spcPts val="0"/>
              </a:spcBef>
              <a:spcAft>
                <a:spcPts val="100"/>
              </a:spcAft>
            </a:pPr>
            <a:r>
              <a:rPr sz="800" b="0" i="0">
                <a:solidFill>
                  <a:srgbClr val="2B2B2B"/>
                </a:solidFill>
                <a:latin typeface="Arial"/>
              </a:rPr>
              <a:t>. Un cocktail de métaux stratégiques</a:t>
            </a:r>
          </a:p>
          <a:p>
            <a:pPr algn="l">
              <a:spcBef>
                <a:spcPts val="0"/>
              </a:spcBef>
              <a:spcAft>
                <a:spcPts val="100"/>
              </a:spcAft>
            </a:pPr>
            <a:r>
              <a:rPr sz="800" b="0" i="0">
                <a:solidFill>
                  <a:srgbClr val="2B2B2B"/>
                </a:solidFill>
                <a:latin typeface="Arial"/>
              </a:rPr>
              <a:t>. Nos appareils dépendent de ressources comme le lithium (batteries), le cobalt (batteries, puces), le coltan (condensateurs), l'or, l'argent, le cuivre... L'extraction de ces 70+ métaux est très énergivore et souvent localisée dans des zones politiquement instables.</a:t>
            </a:r>
          </a:p>
        </p:txBody>
      </p:sp>
      <p:sp>
        <p:nvSpPr>
          <p:cNvPr id="7" name="Rectangle 6"/>
          <p:cNvSpPr/>
          <p:nvPr/>
        </p:nvSpPr>
        <p:spPr>
          <a:xfrm>
            <a:off x="529200" y="1569599"/>
            <a:ext cx="6498000" cy="144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37200" y="1612799"/>
            <a:ext cx="6300000" cy="766800"/>
          </a:xfrm>
          <a:prstGeom prst="rect">
            <a:avLst/>
          </a:prstGeom>
          <a:noFill/>
        </p:spPr>
        <p:txBody>
          <a:bodyPr wrap="square" tIns="0" bIns="0" lIns="18000" rIns="18000">
            <a:spAutoFit/>
          </a:bodyPr>
          <a:lstStyle/>
          <a:p>
            <a:pPr algn="l">
              <a:spcBef>
                <a:spcPts val="0"/>
              </a:spcBef>
              <a:spcAft>
                <a:spcPts val="100"/>
              </a:spcAft>
            </a:pPr>
            <a:r>
              <a:rPr sz="800" b="1" i="0">
                <a:solidFill>
                  <a:srgbClr val="E67D21"/>
                </a:solidFill>
                <a:latin typeface="Arial"/>
              </a:rPr>
              <a:t>8 min</a:t>
            </a:r>
          </a:p>
          <a:p>
            <a:pPr algn="l">
              <a:spcBef>
                <a:spcPts val="0"/>
              </a:spcBef>
              <a:spcAft>
                <a:spcPts val="100"/>
              </a:spcAft>
            </a:pPr>
            <a:r>
              <a:rPr sz="900" b="1" i="0">
                <a:solidFill>
                  <a:srgbClr val="2B2B2B"/>
                </a:solidFill>
                <a:latin typeface="Arial"/>
              </a:rPr>
              <a:t>Le numérique responsable en entreprise</a:t>
            </a:r>
          </a:p>
          <a:p>
            <a:pPr>
              <a:spcBef>
                <a:spcPts val="0"/>
              </a:spcBef>
              <a:spcAft>
                <a:spcPts val="100"/>
              </a:spcAft>
            </a:pPr>
            <a:r>
              <a:rPr sz="800" b="1">
                <a:solidFill>
                  <a:srgbClr val="E67D21"/>
                </a:solidFill>
                <a:latin typeface="Arial"/>
              </a:rPr>
              <a:t>OPT.  </a:t>
            </a:r>
            <a:r>
              <a:rPr sz="800">
                <a:solidFill>
                  <a:srgbClr val="2B2B2B"/>
                </a:solidFill>
                <a:latin typeface="Arial"/>
              </a:rPr>
              <a:t>. Intégrer le numérique responsable au sein de votre organisation permet de réduire votre empreinte environnementale tout en optimisant vos coûts et en engageant vos équipes. Voici des pistes concrètes pour agir.</a:t>
            </a:r>
          </a:p>
          <a:p>
            <a:pPr algn="l">
              <a:spcBef>
                <a:spcPts val="0"/>
              </a:spcBef>
              <a:spcAft>
                <a:spcPts val="100"/>
              </a:spcAft>
            </a:pPr>
            <a:r>
              <a:rPr sz="800" b="0" i="0">
                <a:solidFill>
                  <a:srgbClr val="2B2B2B"/>
                </a:solidFill>
                <a:latin typeface="Arial"/>
              </a:rPr>
              <a:t>. Politique d'achat responsable</a:t>
            </a:r>
          </a:p>
          <a:p>
            <a:pPr algn="l">
              <a:spcBef>
                <a:spcPts val="0"/>
              </a:spcBef>
              <a:spcAft>
                <a:spcPts val="100"/>
              </a:spcAft>
            </a:pPr>
            <a:r>
              <a:rPr sz="800" b="0" i="0">
                <a:solidFill>
                  <a:srgbClr val="2B2B2B"/>
                </a:solidFill>
                <a:latin typeface="Arial"/>
              </a:rPr>
              <a:t>. Privilégiez les équipements reconditionnés ou conçus pour durer. Demandez des garanties de réparabilité et de disponibilité des pièces détachées à vos fournisseurs.</a:t>
            </a:r>
          </a:p>
        </p:txBody>
      </p:sp>
      <p:sp>
        <p:nvSpPr>
          <p:cNvPr id="9" name="Rectangle 8"/>
          <p:cNvSpPr/>
          <p:nvPr/>
        </p:nvSpPr>
        <p:spPr>
          <a:xfrm>
            <a:off x="529200" y="2401200"/>
            <a:ext cx="6498000" cy="144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7200" y="2444400"/>
            <a:ext cx="6300000" cy="766800"/>
          </a:xfrm>
          <a:prstGeom prst="rect">
            <a:avLst/>
          </a:prstGeom>
          <a:noFill/>
        </p:spPr>
        <p:txBody>
          <a:bodyPr wrap="square" tIns="0" bIns="0" lIns="18000" rIns="18000">
            <a:spAutoFit/>
          </a:bodyPr>
          <a:lstStyle/>
          <a:p>
            <a:pPr algn="l">
              <a:spcBef>
                <a:spcPts val="0"/>
              </a:spcBef>
              <a:spcAft>
                <a:spcPts val="100"/>
              </a:spcAft>
            </a:pPr>
            <a:r>
              <a:rPr sz="800" b="1" i="0">
                <a:solidFill>
                  <a:srgbClr val="E67D21"/>
                </a:solidFill>
                <a:latin typeface="Arial"/>
              </a:rPr>
              <a:t>5 min</a:t>
            </a:r>
          </a:p>
          <a:p>
            <a:pPr algn="l">
              <a:spcBef>
                <a:spcPts val="0"/>
              </a:spcBef>
              <a:spcAft>
                <a:spcPts val="100"/>
              </a:spcAft>
            </a:pPr>
            <a:r>
              <a:rPr sz="900" b="1" i="0">
                <a:solidFill>
                  <a:srgbClr val="2B2B2B"/>
                </a:solidFill>
                <a:latin typeface="Arial"/>
              </a:rPr>
              <a:t>Pour aller plus loin — Sources</a:t>
            </a:r>
          </a:p>
          <a:p>
            <a:pPr>
              <a:spcBef>
                <a:spcPts val="0"/>
              </a:spcBef>
              <a:spcAft>
                <a:spcPts val="100"/>
              </a:spcAft>
            </a:pPr>
            <a:r>
              <a:rPr sz="800" b="1">
                <a:solidFill>
                  <a:srgbClr val="E67D21"/>
                </a:solidFill>
                <a:latin typeface="Arial"/>
              </a:rPr>
              <a:t>OPT.  </a:t>
            </a:r>
            <a:r>
              <a:rPr sz="800">
                <a:solidFill>
                  <a:srgbClr val="2B2B2B"/>
                </a:solidFill>
                <a:latin typeface="Arial"/>
              </a:rPr>
              <a:t>. Le numérique responsable, c'est l'affaire de tous. Chaque geste compte, chaque appareil prolongé, chaque donnée nettoyée contribue à un avenir plus durable.</a:t>
            </a:r>
          </a:p>
          <a:p>
            <a:pPr algn="l">
              <a:spcBef>
                <a:spcPts val="0"/>
              </a:spcBef>
              <a:spcAft>
                <a:spcPts val="100"/>
              </a:spcAft>
            </a:pPr>
            <a:r>
              <a:rPr sz="800" b="0" i="0">
                <a:solidFill>
                  <a:srgbClr val="2B2B2B"/>
                </a:solidFill>
                <a:latin typeface="Arial"/>
              </a:rPr>
              <a:t>. ADEME-Arcep, Évaluation de l'impact environnemental du numérique en France, Janvier 2025 — librairie.ademe.fr</a:t>
            </a:r>
          </a:p>
          <a:p>
            <a:pPr algn="l">
              <a:spcBef>
                <a:spcPts val="0"/>
              </a:spcBef>
              <a:spcAft>
                <a:spcPts val="100"/>
              </a:spcAft>
            </a:pPr>
            <a:r>
              <a:rPr sz="800" b="0" i="0">
                <a:solidFill>
                  <a:srgbClr val="2B2B2B"/>
                </a:solidFill>
                <a:latin typeface="Arial"/>
              </a:rPr>
              <a:t>. GreenIT.fr, Benchmark Green IT 2024, Novembre 2024 — greenit.fr</a:t>
            </a:r>
          </a:p>
        </p:txBody>
      </p:sp>
      <p:sp>
        <p:nvSpPr>
          <p:cNvPr id="11" name="Rectangle 10"/>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