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7556399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29200" y="1224000"/>
            <a:ext cx="6498000" cy="46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700" b="1" i="0">
                <a:solidFill>
                  <a:srgbClr val="4388BC"/>
                </a:solidFill>
                <a:latin typeface="Arial"/>
              </a:rPr>
              <a:t>Numérique &amp; Environnement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6E6E6D"/>
                </a:solidFill>
                <a:latin typeface="Arial"/>
              </a:rPr>
              <a:t>Fiche Action | 58 min | Guide d'animation — Conseillers Numériques CD47</a:t>
            </a:r>
          </a:p>
        </p:txBody>
      </p:sp>
      <p:sp>
        <p:nvSpPr>
          <p:cNvPr id="3" name="Rectangle 2"/>
          <p:cNvSpPr/>
          <p:nvPr/>
        </p:nvSpPr>
        <p:spPr>
          <a:xfrm>
            <a:off x="529200" y="1764000"/>
            <a:ext cx="3024000" cy="900000"/>
          </a:xfrm>
          <a:prstGeom prst="rect">
            <a:avLst/>
          </a:prstGeom>
          <a:solidFill>
            <a:srgbClr val="ECF5FF"/>
          </a:solidFill>
          <a:ln w="12700">
            <a:solidFill>
              <a:srgbClr val="4388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19200" y="1818000"/>
            <a:ext cx="2880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4388BC"/>
                </a:solidFill>
                <a:latin typeface="Arial"/>
              </a:rPr>
              <a:t>Objectifs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Le numérique : un secteur qui pèse lourd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Nos appareils : le cœur du problème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L'usage quotidien : des impacts souvent invisibles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Les data centers : des usines énergivores</a:t>
            </a:r>
          </a:p>
        </p:txBody>
      </p:sp>
      <p:sp>
        <p:nvSpPr>
          <p:cNvPr id="5" name="Rectangle 4"/>
          <p:cNvSpPr/>
          <p:nvPr/>
        </p:nvSpPr>
        <p:spPr>
          <a:xfrm>
            <a:off x="4003200" y="1764000"/>
            <a:ext cx="3024000" cy="900000"/>
          </a:xfrm>
          <a:prstGeom prst="rect">
            <a:avLst/>
          </a:prstGeom>
          <a:solidFill>
            <a:srgbClr val="EBF7F6"/>
          </a:solidFill>
          <a:ln w="12700">
            <a:solidFill>
              <a:srgbClr val="18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4093200" y="1818000"/>
            <a:ext cx="2880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187C88"/>
                </a:solidFill>
                <a:latin typeface="Arial"/>
              </a:rPr>
              <a:t>Matériel nécessaire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1 PC ou tablette par participant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Connexion Wi-Fi stable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Grand écran / vidéoprojecteur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Fiches mémo (1 par participant)</a:t>
            </a:r>
          </a:p>
        </p:txBody>
      </p:sp>
      <p:sp>
        <p:nvSpPr>
          <p:cNvPr id="7" name="Rectangle 6"/>
          <p:cNvSpPr/>
          <p:nvPr/>
        </p:nvSpPr>
        <p:spPr>
          <a:xfrm>
            <a:off x="529200" y="2736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29200" y="27360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763200" y="30312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63200" y="3031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03200" y="2800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Le numérique : un secteur qui pèse lourd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On l'oublie souvent, mais le numérique est l'un des secteurs les plus émetteurs de gaz à e…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29200" y="34848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29200" y="34848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763200" y="37800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63200" y="37800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0:10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03200" y="35496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Nos appareils : le cœur du problème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La fabrication de nos appareils numériques est de loin la source d'impact la plus importan…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29200" y="42336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529200" y="42336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763200" y="4528800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63200" y="45288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0:18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03200" y="42984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L'usage quotidien : des impacts souvent invisibl…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Streaming vidéo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29200" y="49824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529200" y="49824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763200" y="52776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763200" y="52776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0:26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03200" y="50472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Les data centers : des usines énergivores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Ces infrastructures discrètes sont le moteur de notre monde numérique, hébergeant nos donn…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29200" y="57312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Rectangle 27"/>
          <p:cNvSpPr/>
          <p:nvPr/>
        </p:nvSpPr>
        <p:spPr>
          <a:xfrm>
            <a:off x="529200" y="57312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ectangle 28"/>
          <p:cNvSpPr/>
          <p:nvPr/>
        </p:nvSpPr>
        <p:spPr>
          <a:xfrm>
            <a:off x="763200" y="6026399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763200" y="60263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0:34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03200" y="57960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La montagne de déchets électroniques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Les Déchets d'Équipements Électriques et Électroniques (DEEE), ou "e-waste", représentent …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29200" y="6480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ectangle 32"/>
          <p:cNvSpPr/>
          <p:nvPr/>
        </p:nvSpPr>
        <p:spPr>
          <a:xfrm>
            <a:off x="529200" y="64800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ectangle 33"/>
          <p:cNvSpPr/>
          <p:nvPr/>
        </p:nvSpPr>
        <p:spPr>
          <a:xfrm>
            <a:off x="763200" y="67752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763200" y="6775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0:42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303200" y="6544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L'obsolescence : le piège du renouvellement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L'obsolescence, qu'elle soit programmée ou perçue, est un facteur majeur de l'empreinte en…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29200" y="72287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Rectangle 37"/>
          <p:cNvSpPr/>
          <p:nvPr/>
        </p:nvSpPr>
        <p:spPr>
          <a:xfrm>
            <a:off x="529200" y="7228799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Rectangle 38"/>
          <p:cNvSpPr/>
          <p:nvPr/>
        </p:nvSpPr>
        <p:spPr>
          <a:xfrm>
            <a:off x="763200" y="7523999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763200" y="75239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0:50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303200" y="72935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Allonger la vie de ses appareils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Plutôt que de céder à l'obsolescence programmée ou perçue, adoptons des gestes simples pou…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29200" y="8067599"/>
            <a:ext cx="6498000" cy="828000"/>
          </a:xfrm>
          <a:prstGeom prst="rect">
            <a:avLst/>
          </a:prstGeom>
          <a:solidFill>
            <a:srgbClr val="FFF8EF"/>
          </a:solidFill>
          <a:ln w="19050">
            <a:solidFill>
              <a:srgbClr val="E67D2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Rectangle 42"/>
          <p:cNvSpPr/>
          <p:nvPr/>
        </p:nvSpPr>
        <p:spPr>
          <a:xfrm>
            <a:off x="529200" y="8067599"/>
            <a:ext cx="6498000" cy="198000"/>
          </a:xfrm>
          <a:prstGeom prst="rect">
            <a:avLst/>
          </a:prstGeom>
          <a:solidFill>
            <a:srgbClr val="E67D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TextBox 43"/>
          <p:cNvSpPr txBox="1"/>
          <p:nvPr/>
        </p:nvSpPr>
        <p:spPr>
          <a:xfrm>
            <a:off x="601200" y="8096399"/>
            <a:ext cx="6354000" cy="162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50" b="1" i="0">
                <a:solidFill>
                  <a:srgbClr val="FFFFFF"/>
                </a:solidFill>
                <a:latin typeface="Arial"/>
              </a:rPr>
              <a:t>Blocs optionnels — À aborder si le temps le permet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29200" y="8265599"/>
            <a:ext cx="6498000" cy="14400"/>
          </a:xfrm>
          <a:prstGeom prst="rect">
            <a:avLst/>
          </a:prstGeom>
          <a:solidFill>
            <a:srgbClr val="E67D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TextBox 45"/>
          <p:cNvSpPr txBox="1"/>
          <p:nvPr/>
        </p:nvSpPr>
        <p:spPr>
          <a:xfrm>
            <a:off x="637200" y="8308799"/>
            <a:ext cx="6300000" cy="529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E67D21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Le numérique responsable en entreprise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800" b="1">
                <a:solidFill>
                  <a:srgbClr val="E67D21"/>
                </a:solidFill>
                <a:latin typeface="Arial"/>
              </a:rPr>
              <a:t>OPT.  </a:t>
            </a:r>
            <a:r>
              <a:rPr sz="800">
                <a:solidFill>
                  <a:srgbClr val="2B2B2B"/>
                </a:solidFill>
                <a:latin typeface="Arial"/>
              </a:rPr>
              <a:t>. Intégrer le numérique responsable au sein de votre organisation permet de r…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Politique d'achat responsable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Privilégiez les équipements reconditionnés ou conçus pour durer. Demandez d…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29200" y="9684000"/>
            <a:ext cx="6498000" cy="43200"/>
          </a:xfrm>
          <a:prstGeom prst="rect">
            <a:avLst/>
          </a:prstGeom>
          <a:solidFill>
            <a:srgbClr val="F8A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TextBox 47"/>
          <p:cNvSpPr txBox="1"/>
          <p:nvPr/>
        </p:nvSpPr>
        <p:spPr>
          <a:xfrm>
            <a:off x="619200" y="9748800"/>
            <a:ext cx="6354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2B2B2B"/>
                </a:solidFill>
                <a:latin typeface="Arial"/>
              </a:rPr>
              <a:t>Conseils pour une bonne animation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Adapter le rythme selon le niveau du groupe.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Laisser les participants manipuler dès que possible.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Prévoir un compte de démonstration pour ne pas exposer de données personnelles.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Terminer en distribuant la fiche mémo — c'est le support qu'ils garderont.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