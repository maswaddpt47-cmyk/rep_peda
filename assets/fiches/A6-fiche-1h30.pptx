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7556399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29200" y="1224000"/>
            <a:ext cx="6498000" cy="468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700" b="1" i="0">
                <a:solidFill>
                  <a:srgbClr val="4388BC"/>
                </a:solidFill>
                <a:latin typeface="Arial"/>
              </a:rPr>
              <a:t>Sécuriser son environnement numérique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6E6E6D"/>
                </a:solidFill>
                <a:latin typeface="Arial"/>
              </a:rPr>
              <a:t>Fiche Action | 1h34 | Guide d'animation — Conseillers Numériques CD47</a:t>
            </a:r>
          </a:p>
        </p:txBody>
      </p:sp>
      <p:sp>
        <p:nvSpPr>
          <p:cNvPr id="3" name="Rectangle 2"/>
          <p:cNvSpPr/>
          <p:nvPr/>
        </p:nvSpPr>
        <p:spPr>
          <a:xfrm>
            <a:off x="529200" y="1764000"/>
            <a:ext cx="3024000" cy="900000"/>
          </a:xfrm>
          <a:prstGeom prst="rect">
            <a:avLst/>
          </a:prstGeom>
          <a:solidFill>
            <a:srgbClr val="ECF5FF"/>
          </a:solidFill>
          <a:ln w="12700">
            <a:solidFill>
              <a:srgbClr val="4388B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TextBox 3"/>
          <p:cNvSpPr txBox="1"/>
          <p:nvPr/>
        </p:nvSpPr>
        <p:spPr>
          <a:xfrm>
            <a:off x="619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4388BC"/>
                </a:solidFill>
                <a:latin typeface="Arial"/>
              </a:rPr>
              <a:t>Objectifs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 paysage des menaces numériques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Savoir reconnaître une tentative de phishing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Des mots de passe vraiment solides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Les gestionnaires de mots de passe</a:t>
            </a:r>
          </a:p>
        </p:txBody>
      </p:sp>
      <p:sp>
        <p:nvSpPr>
          <p:cNvPr id="5" name="Rectangle 4"/>
          <p:cNvSpPr/>
          <p:nvPr/>
        </p:nvSpPr>
        <p:spPr>
          <a:xfrm>
            <a:off x="4003200" y="1764000"/>
            <a:ext cx="3024000" cy="900000"/>
          </a:xfrm>
          <a:prstGeom prst="rect">
            <a:avLst/>
          </a:prstGeom>
          <a:solidFill>
            <a:srgbClr val="EBF7F6"/>
          </a:solidFill>
          <a:ln w="12700">
            <a:solidFill>
              <a:srgbClr val="187C8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4093200" y="1818000"/>
            <a:ext cx="2880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187C88"/>
                </a:solidFill>
                <a:latin typeface="Arial"/>
              </a:rPr>
              <a:t>Matériel nécessaire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1 PC ou tablette par participant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Connexion Wi-Fi stable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Grand écran / vidéoprojecteur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Fiches mémo (1 par participant)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2736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2736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3031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2800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4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Au programme aujourd'hui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Ce que nous allons voir ensemble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3484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34848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3780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0:06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3549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 paysage des menaces numériques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Chaque jour, des millions de tentatives d'escroquerie circulent sur internet. Pas besoin d…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4233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42336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Rectangle 18"/>
          <p:cNvSpPr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TextBox 19"/>
          <p:cNvSpPr txBox="1"/>
          <p:nvPr/>
        </p:nvSpPr>
        <p:spPr>
          <a:xfrm>
            <a:off x="763200" y="4528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0:14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03200" y="4298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Savoir reconnaître une tentative de phishing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signaux d'alarme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49824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Rectangle 22"/>
          <p:cNvSpPr/>
          <p:nvPr/>
        </p:nvSpPr>
        <p:spPr>
          <a:xfrm>
            <a:off x="529200" y="49824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Rectangle 23"/>
          <p:cNvSpPr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TextBox 24"/>
          <p:cNvSpPr txBox="1"/>
          <p:nvPr/>
        </p:nvSpPr>
        <p:spPr>
          <a:xfrm>
            <a:off x="763200" y="52776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0:22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303200" y="50472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Des mots de passe vraiment solides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Un mot de passe faible, c'est comme laisser la clé sous le paillasson. Pourtant, "123456" …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29200" y="57312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Rectangle 27"/>
          <p:cNvSpPr/>
          <p:nvPr/>
        </p:nvSpPr>
        <p:spPr>
          <a:xfrm>
            <a:off x="529200" y="57312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ectangle 28"/>
          <p:cNvSpPr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763200" y="60263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03200" y="57960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gestionnaires de mots de passe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Retenir des dizaines de mots de passe complexes et uniques est humainement impossible. C'e…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9200" y="648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Rectangle 32"/>
          <p:cNvSpPr/>
          <p:nvPr/>
        </p:nvSpPr>
        <p:spPr>
          <a:xfrm>
            <a:off x="529200" y="64800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Rectangle 33"/>
          <p:cNvSpPr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TextBox 34"/>
          <p:cNvSpPr txBox="1"/>
          <p:nvPr/>
        </p:nvSpPr>
        <p:spPr>
          <a:xfrm>
            <a:off x="763200" y="677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0:38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303200" y="654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L'authentification à deux facteurs (2FA)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Même avec un mot de passe fort, un compte peut être compromis si ce mot de passe est volé.…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29200" y="72287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8" name="Rectangle 37"/>
          <p:cNvSpPr/>
          <p:nvPr/>
        </p:nvSpPr>
        <p:spPr>
          <a:xfrm>
            <a:off x="529200" y="7228799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Rectangle 38"/>
          <p:cNvSpPr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TextBox 39"/>
          <p:cNvSpPr txBox="1"/>
          <p:nvPr/>
        </p:nvSpPr>
        <p:spPr>
          <a:xfrm>
            <a:off x="763200" y="75239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0:46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303200" y="72935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Protéger ses appareils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Les mises à jour : ennuyeuses mais vitales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29200" y="79775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3" name="Rectangle 42"/>
          <p:cNvSpPr/>
          <p:nvPr/>
        </p:nvSpPr>
        <p:spPr>
          <a:xfrm>
            <a:off x="529200" y="7977599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Rectangle 43"/>
          <p:cNvSpPr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5" name="TextBox 44"/>
          <p:cNvSpPr txBox="1"/>
          <p:nvPr/>
        </p:nvSpPr>
        <p:spPr>
          <a:xfrm>
            <a:off x="763200" y="82727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0:54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303200" y="80423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Sauvegarder ses données : la règle du 3-2-1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Ransomware, panne matérielle, vol d'ordinateur, inondation — les risques de perdre vos don…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29200" y="8726399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Rectangle 47"/>
          <p:cNvSpPr/>
          <p:nvPr/>
        </p:nvSpPr>
        <p:spPr>
          <a:xfrm>
            <a:off x="529200" y="8726399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9" name="Rectangle 48"/>
          <p:cNvSpPr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0" name="TextBox 49"/>
          <p:cNvSpPr txBox="1"/>
          <p:nvPr/>
        </p:nvSpPr>
        <p:spPr>
          <a:xfrm>
            <a:off x="763200" y="9021599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1:02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303200" y="8791199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Les réseaux Wi-Fi publics : terrain miné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Le Wi-Fi gratuit du café ou de l'hôtel est pratique — mais c'est aussi un terrain de chass…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29200" y="5400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Rectangle 2"/>
          <p:cNvSpPr/>
          <p:nvPr/>
        </p:nvSpPr>
        <p:spPr>
          <a:xfrm>
            <a:off x="529200" y="540000"/>
            <a:ext cx="198000" cy="7488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" name="Rectangle 3"/>
          <p:cNvSpPr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solidFill>
            <a:srgbClr val="4388B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5" name="TextBox 4"/>
          <p:cNvSpPr txBox="1"/>
          <p:nvPr/>
        </p:nvSpPr>
        <p:spPr>
          <a:xfrm>
            <a:off x="763200" y="8352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1:10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03200" y="6048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4388BC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Naviguer sur le web en préservant sa vie privée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Votre navigateur vous traque</a:t>
            </a:r>
          </a:p>
        </p:txBody>
      </p:sp>
      <p:sp>
        <p:nvSpPr>
          <p:cNvPr id="7" name="Rectangle 6"/>
          <p:cNvSpPr/>
          <p:nvPr/>
        </p:nvSpPr>
        <p:spPr>
          <a:xfrm>
            <a:off x="529200" y="12888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ectangle 7"/>
          <p:cNvSpPr/>
          <p:nvPr/>
        </p:nvSpPr>
        <p:spPr>
          <a:xfrm>
            <a:off x="529200" y="1288800"/>
            <a:ext cx="198000" cy="7488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ectangle 8"/>
          <p:cNvSpPr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solidFill>
            <a:srgbClr val="187C8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763200" y="15840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1:18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03200" y="13536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187C88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La sécurité sur les réseaux sociaux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Vos réseaux sociaux sont souvent la porte d'entrée la plus facile pour les escrocs et les …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29200" y="2037600"/>
            <a:ext cx="6498000" cy="748800"/>
          </a:xfrm>
          <a:prstGeom prst="rect">
            <a:avLst/>
          </a:prstGeom>
          <a:solidFill>
            <a:srgbClr val="F8F9FD"/>
          </a:solidFill>
          <a:ln w="6350">
            <a:solidFill>
              <a:srgbClr val="DDE6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ectangle 12"/>
          <p:cNvSpPr/>
          <p:nvPr/>
        </p:nvSpPr>
        <p:spPr>
          <a:xfrm>
            <a:off x="529200" y="2037600"/>
            <a:ext cx="198000" cy="7488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Rectangle 13"/>
          <p:cNvSpPr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solidFill>
            <a:srgbClr val="5EB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TextBox 14"/>
          <p:cNvSpPr txBox="1"/>
          <p:nvPr/>
        </p:nvSpPr>
        <p:spPr>
          <a:xfrm>
            <a:off x="763200" y="2332800"/>
            <a:ext cx="468000" cy="1584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FFFFFF"/>
                </a:solidFill>
                <a:latin typeface="Arial"/>
              </a:rPr>
              <a:t>1:26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03200" y="2102400"/>
            <a:ext cx="5652000" cy="655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5EB3D2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Votre kit de survie numérique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Voici une synthèse des outils recommandés lors de cet atelier — tous libres, respectueux d…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29200" y="2876400"/>
            <a:ext cx="6498000" cy="828000"/>
          </a:xfrm>
          <a:prstGeom prst="rect">
            <a:avLst/>
          </a:prstGeom>
          <a:solidFill>
            <a:srgbClr val="FFF8EF"/>
          </a:solidFill>
          <a:ln w="19050">
            <a:solidFill>
              <a:srgbClr val="E67D2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Rectangle 17"/>
          <p:cNvSpPr/>
          <p:nvPr/>
        </p:nvSpPr>
        <p:spPr>
          <a:xfrm>
            <a:off x="529200" y="2876400"/>
            <a:ext cx="6498000" cy="1980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601200" y="2905200"/>
            <a:ext cx="6354000" cy="1620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850" b="1" i="0">
                <a:solidFill>
                  <a:srgbClr val="FFFFFF"/>
                </a:solidFill>
                <a:latin typeface="Arial"/>
              </a:rPr>
              <a:t>Blocs optionnels — À aborder si le temps le permet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9200" y="3074400"/>
            <a:ext cx="6498000" cy="14400"/>
          </a:xfrm>
          <a:prstGeom prst="rect">
            <a:avLst/>
          </a:prstGeom>
          <a:solidFill>
            <a:srgbClr val="E67D2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637200" y="3117600"/>
            <a:ext cx="6300000" cy="529200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1" i="0">
                <a:solidFill>
                  <a:srgbClr val="E67D21"/>
                </a:solidFill>
                <a:latin typeface="Arial"/>
              </a:rPr>
              <a:t>8 min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00" b="1" i="0">
                <a:solidFill>
                  <a:srgbClr val="2B2B2B"/>
                </a:solidFill>
                <a:latin typeface="Arial"/>
              </a:rPr>
              <a:t>Numérique responsable</a:t>
            </a:r>
          </a:p>
          <a:p>
            <a:pPr>
              <a:spcBef>
                <a:spcPts val="0"/>
              </a:spcBef>
              <a:spcAft>
                <a:spcPts val="100"/>
              </a:spcAft>
            </a:pPr>
            <a:r>
              <a:rPr sz="800" b="1">
                <a:solidFill>
                  <a:srgbClr val="E67D21"/>
                </a:solidFill>
                <a:latin typeface="Arial"/>
              </a:rPr>
              <a:t>OPT.  </a:t>
            </a:r>
            <a:r>
              <a:rPr sz="800">
                <a:solidFill>
                  <a:srgbClr val="2B2B2B"/>
                </a:solidFill>
                <a:latin typeface="Arial"/>
              </a:rPr>
              <a:t>. Sécurité et sobriété numérique : deux alliés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La sécurité numérique et la sobriété vont de pair. Moins d'applications ins…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00" b="0" i="0">
                <a:solidFill>
                  <a:srgbClr val="2B2B2B"/>
                </a:solidFill>
                <a:latin typeface="Arial"/>
              </a:rPr>
              <a:t>. Faites le ménage dans vos applications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29200" y="9684000"/>
            <a:ext cx="6498000" cy="43200"/>
          </a:xfrm>
          <a:prstGeom prst="rect">
            <a:avLst/>
          </a:prstGeom>
          <a:solidFill>
            <a:srgbClr val="F8A82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TextBox 22"/>
          <p:cNvSpPr txBox="1"/>
          <p:nvPr/>
        </p:nvSpPr>
        <p:spPr>
          <a:xfrm>
            <a:off x="619200" y="9748800"/>
            <a:ext cx="6354000" cy="827999"/>
          </a:xfrm>
          <a:prstGeom prst="rect">
            <a:avLst/>
          </a:prstGeom>
          <a:noFill/>
        </p:spPr>
        <p:txBody>
          <a:bodyPr wrap="square" tIns="0" bIns="0" lIns="18000" rIns="180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950" b="1" i="0">
                <a:solidFill>
                  <a:srgbClr val="2B2B2B"/>
                </a:solidFill>
                <a:latin typeface="Arial"/>
              </a:rPr>
              <a:t>Conseils pour une bonne animation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Adapter le rythme selon le niveau du groupe.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Laisser les participants manipuler dès que possible.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Prévoir un compte de démonstration pour ne pas exposer de données personnelles.</a:t>
            </a:r>
          </a:p>
          <a:p>
            <a:pPr algn="l">
              <a:spcBef>
                <a:spcPts val="0"/>
              </a:spcBef>
              <a:spcAft>
                <a:spcPts val="100"/>
              </a:spcAft>
            </a:pPr>
            <a:r>
              <a:rPr sz="850" b="0" i="0">
                <a:solidFill>
                  <a:srgbClr val="2B2B2B"/>
                </a:solidFill>
                <a:latin typeface="Arial"/>
              </a:rPr>
              <a:t>&gt; Terminer en distribuant la fiche mémo — c'est le support qu'ils garderont.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